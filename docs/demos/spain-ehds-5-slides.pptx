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54864" y="-18288"/>
            <a:ext cx="12134088" cy="3858768"/>
          </a:xfrm>
          <a:prstGeom prst="rect">
            <a:avLst/>
          </a:prstGeom>
        </p:spPr>
      </p:pic>
      <p:sp>
        <p:nvSpPr>
          <p:cNvPr id="3" name="Rectangle 2"/>
          <p:cNvSpPr/>
          <p:nvPr/>
        </p:nvSpPr>
        <p:spPr>
          <a:xfrm>
            <a:off x="384048" y="868680"/>
            <a:ext cx="9592056" cy="2606040"/>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40480"/>
            <a:ext cx="12188952" cy="22860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069080"/>
            <a:ext cx="12188952" cy="73152"/>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10698480" cy="914400"/>
          </a:xfrm>
          <a:prstGeom prst="rect">
            <a:avLst/>
          </a:prstGeom>
          <a:noFill/>
        </p:spPr>
        <p:txBody>
          <a:bodyPr wrap="square" lIns="0" rIns="0" tIns="0" bIns="0">
            <a:spAutoFit/>
          </a:bodyPr>
          <a:lstStyle/>
          <a:p>
            <a:pPr>
              <a:lnSpc>
                <a:spcPct val="100000"/>
              </a:lnSpc>
            </a:pPr>
            <a:r>
              <a:rPr sz="4200" b="1">
                <a:solidFill>
                  <a:srgbClr val="FFFFFF"/>
                </a:solidFill>
                <a:latin typeface="Calibri"/>
              </a:rPr>
              <a:t>A Connected Health System for Spain</a:t>
            </a:r>
          </a:p>
        </p:txBody>
      </p:sp>
      <p:sp>
        <p:nvSpPr>
          <p:cNvPr id="7" name="TextBox 6"/>
          <p:cNvSpPr txBox="1"/>
          <p:nvPr/>
        </p:nvSpPr>
        <p:spPr>
          <a:xfrm>
            <a:off x="731520" y="2240280"/>
            <a:ext cx="10698480" cy="457200"/>
          </a:xfrm>
          <a:prstGeom prst="rect">
            <a:avLst/>
          </a:prstGeom>
          <a:noFill/>
        </p:spPr>
        <p:txBody>
          <a:bodyPr wrap="square" lIns="0" rIns="0" tIns="0" bIns="0">
            <a:spAutoFit/>
          </a:bodyPr>
          <a:lstStyle/>
          <a:p>
            <a:pPr>
              <a:lnSpc>
                <a:spcPct val="100000"/>
              </a:lnSpc>
            </a:pPr>
            <a:r>
              <a:rPr sz="2200" b="0">
                <a:solidFill>
                  <a:srgbClr val="FFFFFF"/>
                </a:solidFill>
                <a:latin typeface="Calibri"/>
              </a:rPr>
              <a:t>Seventeen regional datasets, one research resource</a:t>
            </a:r>
          </a:p>
        </p:txBody>
      </p:sp>
      <p:sp>
        <p:nvSpPr>
          <p:cNvPr id="8" name="TextBox 7"/>
          <p:cNvSpPr txBox="1"/>
          <p:nvPr/>
        </p:nvSpPr>
        <p:spPr>
          <a:xfrm>
            <a:off x="731520" y="2788920"/>
            <a:ext cx="10698480" cy="457200"/>
          </a:xfrm>
          <a:prstGeom prst="rect">
            <a:avLst/>
          </a:prstGeom>
          <a:noFill/>
        </p:spPr>
        <p:txBody>
          <a:bodyPr wrap="square" lIns="0" rIns="0" tIns="0" bIns="0">
            <a:spAutoFit/>
          </a:bodyPr>
          <a:lstStyle/>
          <a:p>
            <a:pPr>
              <a:lnSpc>
                <a:spcPct val="100000"/>
              </a:lnSpc>
            </a:pPr>
            <a:r>
              <a:rPr sz="2000" b="1">
                <a:solidFill>
                  <a:srgbClr val="E6A817"/>
                </a:solidFill>
                <a:latin typeface="Calibri"/>
              </a:rPr>
              <a:t>secondary use of health data under the EHDS</a:t>
            </a:r>
          </a:p>
        </p:txBody>
      </p:sp>
      <p:sp>
        <p:nvSpPr>
          <p:cNvPr id="9" name="Rounded Rectangle 8"/>
          <p:cNvSpPr/>
          <p:nvPr/>
        </p:nvSpPr>
        <p:spPr>
          <a:xfrm>
            <a:off x="548640" y="438912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389120"/>
            <a:ext cx="3566160" cy="14630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617720"/>
            <a:ext cx="3108960" cy="320040"/>
          </a:xfrm>
          <a:prstGeom prst="rect">
            <a:avLst/>
          </a:prstGeom>
          <a:noFill/>
        </p:spPr>
        <p:txBody>
          <a:bodyPr wrap="square" lIns="0" rIns="0" tIns="0" bIns="0">
            <a:spAutoFit/>
          </a:bodyPr>
          <a:lstStyle/>
          <a:p>
            <a:pPr>
              <a:lnSpc>
                <a:spcPct val="100000"/>
              </a:lnSpc>
            </a:pPr>
            <a:r>
              <a:rPr sz="1700" b="1">
                <a:solidFill>
                  <a:srgbClr val="143D59"/>
                </a:solidFill>
                <a:latin typeface="Calibri"/>
              </a:rPr>
              <a:t>Researchers</a:t>
            </a:r>
          </a:p>
        </p:txBody>
      </p:sp>
      <p:sp>
        <p:nvSpPr>
          <p:cNvPr id="12" name="TextBox 11"/>
          <p:cNvSpPr txBox="1"/>
          <p:nvPr/>
        </p:nvSpPr>
        <p:spPr>
          <a:xfrm>
            <a:off x="777240" y="4983480"/>
            <a:ext cx="3108960" cy="640080"/>
          </a:xfrm>
          <a:prstGeom prst="rect">
            <a:avLst/>
          </a:prstGeom>
          <a:noFill/>
        </p:spPr>
        <p:txBody>
          <a:bodyPr wrap="square" lIns="0" rIns="0" tIns="0" bIns="0">
            <a:spAutoFit/>
          </a:bodyPr>
          <a:lstStyle/>
          <a:p>
            <a:pPr>
              <a:lnSpc>
                <a:spcPct val="108000"/>
              </a:lnSpc>
            </a:pPr>
            <a:r>
              <a:rPr sz="1150" b="0">
                <a:solidFill>
                  <a:srgbClr val="4F5560"/>
                </a:solidFill>
                <a:latin typeface="Calibri"/>
              </a:rPr>
              <a:t>Studying a rare disease across Spain means asking 17 separate regions for permission and for data.</a:t>
            </a:r>
          </a:p>
        </p:txBody>
      </p:sp>
      <p:sp>
        <p:nvSpPr>
          <p:cNvPr id="13" name="TextBox 12"/>
          <p:cNvSpPr txBox="1"/>
          <p:nvPr/>
        </p:nvSpPr>
        <p:spPr>
          <a:xfrm>
            <a:off x="777240" y="5623560"/>
            <a:ext cx="3108960" cy="228600"/>
          </a:xfrm>
          <a:prstGeom prst="rect">
            <a:avLst/>
          </a:prstGeom>
          <a:noFill/>
        </p:spPr>
        <p:txBody>
          <a:bodyPr wrap="square" lIns="0" rIns="0" tIns="0" bIns="0">
            <a:spAutoFit/>
          </a:bodyPr>
          <a:lstStyle/>
          <a:p>
            <a:pPr>
              <a:lnSpc>
                <a:spcPct val="100000"/>
              </a:lnSpc>
            </a:pPr>
            <a:r>
              <a:rPr sz="1100" b="1">
                <a:solidFill>
                  <a:srgbClr val="2A9D8F"/>
                </a:solidFill>
                <a:latin typeface="Calibri"/>
              </a:rPr>
              <a:t>Art. 67: one application</a:t>
            </a:r>
          </a:p>
        </p:txBody>
      </p:sp>
      <p:sp>
        <p:nvSpPr>
          <p:cNvPr id="14" name="Rounded Rectangle 13"/>
          <p:cNvSpPr/>
          <p:nvPr/>
        </p:nvSpPr>
        <p:spPr>
          <a:xfrm>
            <a:off x="4315968" y="438912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4389120"/>
            <a:ext cx="3566160" cy="146304"/>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4617720"/>
            <a:ext cx="3108960" cy="320040"/>
          </a:xfrm>
          <a:prstGeom prst="rect">
            <a:avLst/>
          </a:prstGeom>
          <a:noFill/>
        </p:spPr>
        <p:txBody>
          <a:bodyPr wrap="square" lIns="0" rIns="0" tIns="0" bIns="0">
            <a:spAutoFit/>
          </a:bodyPr>
          <a:lstStyle/>
          <a:p>
            <a:pPr>
              <a:lnSpc>
                <a:spcPct val="100000"/>
              </a:lnSpc>
            </a:pPr>
            <a:r>
              <a:rPr sz="1700" b="1">
                <a:solidFill>
                  <a:srgbClr val="143D59"/>
                </a:solidFill>
                <a:latin typeface="Calibri"/>
              </a:rPr>
              <a:t>Data holders</a:t>
            </a:r>
          </a:p>
        </p:txBody>
      </p:sp>
      <p:sp>
        <p:nvSpPr>
          <p:cNvPr id="17" name="TextBox 16"/>
          <p:cNvSpPr txBox="1"/>
          <p:nvPr/>
        </p:nvSpPr>
        <p:spPr>
          <a:xfrm>
            <a:off x="4544568" y="4983480"/>
            <a:ext cx="3108960" cy="640080"/>
          </a:xfrm>
          <a:prstGeom prst="rect">
            <a:avLst/>
          </a:prstGeom>
          <a:noFill/>
        </p:spPr>
        <p:txBody>
          <a:bodyPr wrap="square" lIns="0" rIns="0" tIns="0" bIns="0">
            <a:spAutoFit/>
          </a:bodyPr>
          <a:lstStyle/>
          <a:p>
            <a:pPr>
              <a:lnSpc>
                <a:spcPct val="108000"/>
              </a:lnSpc>
            </a:pPr>
            <a:r>
              <a:rPr sz="1150" b="0">
                <a:solidFill>
                  <a:srgbClr val="4F5560"/>
                </a:solidFill>
                <a:latin typeface="Calibri"/>
              </a:rPr>
              <a:t>Hospitals and registries hold the data with no way to publish what they hold, or to deliver it on a deadline.</a:t>
            </a:r>
          </a:p>
        </p:txBody>
      </p:sp>
      <p:sp>
        <p:nvSpPr>
          <p:cNvPr id="18" name="TextBox 17"/>
          <p:cNvSpPr txBox="1"/>
          <p:nvPr/>
        </p:nvSpPr>
        <p:spPr>
          <a:xfrm>
            <a:off x="4544568" y="5623560"/>
            <a:ext cx="3108960" cy="228600"/>
          </a:xfrm>
          <a:prstGeom prst="rect">
            <a:avLst/>
          </a:prstGeom>
          <a:noFill/>
        </p:spPr>
        <p:txBody>
          <a:bodyPr wrap="square" lIns="0" rIns="0" tIns="0" bIns="0">
            <a:spAutoFit/>
          </a:bodyPr>
          <a:lstStyle/>
          <a:p>
            <a:pPr>
              <a:lnSpc>
                <a:spcPct val="100000"/>
              </a:lnSpc>
            </a:pPr>
            <a:r>
              <a:rPr sz="1100" b="1">
                <a:solidFill>
                  <a:srgbClr val="E6A817"/>
                </a:solidFill>
                <a:latin typeface="Calibri"/>
              </a:rPr>
              <a:t>Art. 60: three months to deliver</a:t>
            </a:r>
          </a:p>
        </p:txBody>
      </p:sp>
      <p:sp>
        <p:nvSpPr>
          <p:cNvPr id="19" name="Rounded Rectangle 18"/>
          <p:cNvSpPr/>
          <p:nvPr/>
        </p:nvSpPr>
        <p:spPr>
          <a:xfrm>
            <a:off x="8083296" y="4389120"/>
            <a:ext cx="3566160" cy="155448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4389120"/>
            <a:ext cx="3566160" cy="146304"/>
          </a:xfrm>
          <a:prstGeom prst="rect">
            <a:avLst/>
          </a:prstGeom>
          <a:solidFill>
            <a:srgbClr val="C3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1896" y="4617720"/>
            <a:ext cx="3108960" cy="320040"/>
          </a:xfrm>
          <a:prstGeom prst="rect">
            <a:avLst/>
          </a:prstGeom>
          <a:noFill/>
        </p:spPr>
        <p:txBody>
          <a:bodyPr wrap="square" lIns="0" rIns="0" tIns="0" bIns="0">
            <a:spAutoFit/>
          </a:bodyPr>
          <a:lstStyle/>
          <a:p>
            <a:pPr>
              <a:lnSpc>
                <a:spcPct val="100000"/>
              </a:lnSpc>
            </a:pPr>
            <a:r>
              <a:rPr sz="1700" b="1">
                <a:solidFill>
                  <a:srgbClr val="143D59"/>
                </a:solidFill>
                <a:latin typeface="Calibri"/>
              </a:rPr>
              <a:t>The regulator</a:t>
            </a:r>
          </a:p>
        </p:txBody>
      </p:sp>
      <p:sp>
        <p:nvSpPr>
          <p:cNvPr id="22" name="TextBox 21"/>
          <p:cNvSpPr txBox="1"/>
          <p:nvPr/>
        </p:nvSpPr>
        <p:spPr>
          <a:xfrm>
            <a:off x="8311896" y="4983480"/>
            <a:ext cx="3108960" cy="640080"/>
          </a:xfrm>
          <a:prstGeom prst="rect">
            <a:avLst/>
          </a:prstGeom>
          <a:noFill/>
        </p:spPr>
        <p:txBody>
          <a:bodyPr wrap="square" lIns="0" rIns="0" tIns="0" bIns="0">
            <a:spAutoFit/>
          </a:bodyPr>
          <a:lstStyle/>
          <a:p>
            <a:pPr>
              <a:lnSpc>
                <a:spcPct val="108000"/>
              </a:lnSpc>
            </a:pPr>
            <a:r>
              <a:rPr sz="1150" b="0">
                <a:solidFill>
                  <a:srgbClr val="4F5560"/>
                </a:solidFill>
                <a:latin typeface="Calibri"/>
              </a:rPr>
              <a:t>Every approval is bespoke, and nobody outside can see which permits were issued, or why.</a:t>
            </a:r>
          </a:p>
        </p:txBody>
      </p:sp>
      <p:sp>
        <p:nvSpPr>
          <p:cNvPr id="23" name="TextBox 22"/>
          <p:cNvSpPr txBox="1"/>
          <p:nvPr/>
        </p:nvSpPr>
        <p:spPr>
          <a:xfrm>
            <a:off x="8311896" y="5623560"/>
            <a:ext cx="3108960" cy="228600"/>
          </a:xfrm>
          <a:prstGeom prst="rect">
            <a:avLst/>
          </a:prstGeom>
          <a:noFill/>
        </p:spPr>
        <p:txBody>
          <a:bodyPr wrap="square" lIns="0" rIns="0" tIns="0" bIns="0">
            <a:spAutoFit/>
          </a:bodyPr>
          <a:lstStyle/>
          <a:p>
            <a:pPr>
              <a:lnSpc>
                <a:spcPct val="100000"/>
              </a:lnSpc>
            </a:pPr>
            <a:r>
              <a:rPr sz="1100" b="1">
                <a:solidFill>
                  <a:srgbClr val="C31E2E"/>
                </a:solidFill>
                <a:latin typeface="Calibri"/>
              </a:rPr>
              <a:t>Art. 68: one permit, published</a:t>
            </a:r>
          </a:p>
        </p:txBody>
      </p:sp>
      <p:sp>
        <p:nvSpPr>
          <p:cNvPr id="24" name="TextBox 23"/>
          <p:cNvSpPr txBox="1"/>
          <p:nvPr/>
        </p:nvSpPr>
        <p:spPr>
          <a:xfrm>
            <a:off x="548640" y="6080760"/>
            <a:ext cx="7315200" cy="274320"/>
          </a:xfrm>
          <a:prstGeom prst="rect">
            <a:avLst/>
          </a:prstGeom>
          <a:noFill/>
        </p:spPr>
        <p:txBody>
          <a:bodyPr wrap="square" lIns="0" rIns="0" tIns="0" bIns="0">
            <a:spAutoFit/>
          </a:bodyPr>
          <a:lstStyle/>
          <a:p>
            <a:pPr>
              <a:lnSpc>
                <a:spcPct val="100000"/>
              </a:lnSpc>
            </a:pPr>
            <a:r>
              <a:rPr sz="1300" b="1">
                <a:solidFill>
                  <a:srgbClr val="143D59"/>
                </a:solidFill>
                <a:latin typeface="Calibri"/>
              </a:rPr>
              <a:t>Spain's strength is regional autonomy. The cost is fragmentation.</a:t>
            </a:r>
          </a:p>
        </p:txBody>
      </p:sp>
      <p:sp>
        <p:nvSpPr>
          <p:cNvPr id="25" name="TextBox 24"/>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A federated approach for Spain</a:t>
            </a:r>
          </a:p>
        </p:txBody>
      </p:sp>
      <p:sp>
        <p:nvSpPr>
          <p:cNvPr id="26" name="TextBox 25"/>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Secondary use, Chapter IV of Regulation (EU) 2025/327  ·  data.europa.eu/eli/reg/2025/327/oj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502920"/>
          </a:xfrm>
          <a:prstGeom prst="rect">
            <a:avLst/>
          </a:prstGeom>
          <a:noFill/>
        </p:spPr>
        <p:txBody>
          <a:bodyPr wrap="square" lIns="0" rIns="0" tIns="0" bIns="0">
            <a:spAutoFit/>
          </a:bodyPr>
          <a:lstStyle/>
          <a:p>
            <a:pPr>
              <a:lnSpc>
                <a:spcPct val="100000"/>
              </a:lnSpc>
            </a:pPr>
            <a:r>
              <a:rPr sz="2700" b="1">
                <a:solidFill>
                  <a:srgbClr val="143D59"/>
                </a:solidFill>
                <a:latin typeface="Calibri"/>
              </a:rPr>
              <a:t>One question, asked once</a:t>
            </a:r>
          </a:p>
        </p:txBody>
      </p:sp>
      <p:sp>
        <p:nvSpPr>
          <p:cNvPr id="4" name="TextBox 3"/>
          <p:cNvSpPr txBox="1"/>
          <p:nvPr/>
        </p:nvSpPr>
        <p:spPr>
          <a:xfrm>
            <a:off x="548640" y="859536"/>
            <a:ext cx="10972800" cy="365760"/>
          </a:xfrm>
          <a:prstGeom prst="rect">
            <a:avLst/>
          </a:prstGeom>
          <a:noFill/>
        </p:spPr>
        <p:txBody>
          <a:bodyPr wrap="square" lIns="0" rIns="0" tIns="0" bIns="0">
            <a:spAutoFit/>
          </a:bodyPr>
          <a:lstStyle/>
          <a:p>
            <a:pPr>
              <a:lnSpc>
                <a:spcPct val="100000"/>
              </a:lnSpc>
            </a:pPr>
            <a:r>
              <a:rPr sz="1400" b="0">
                <a:solidFill>
                  <a:srgbClr val="4F5560"/>
                </a:solidFill>
                <a:latin typeface="Calibri"/>
              </a:rPr>
              <a:t>What the Regulation requires for secondary use, and what it puts in place to make it work.</a:t>
            </a:r>
          </a:p>
        </p:txBody>
      </p:sp>
      <p:sp>
        <p:nvSpPr>
          <p:cNvPr id="5" name="TextBox 4"/>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A federated approach for Spain</a:t>
            </a:r>
          </a:p>
        </p:txBody>
      </p:sp>
      <p:pic>
        <p:nvPicPr>
          <p:cNvPr id="6" name="Picture 5" descr="image.png"/>
          <p:cNvPicPr>
            <a:picLocks noChangeAspect="1"/>
          </p:cNvPicPr>
          <p:nvPr/>
        </p:nvPicPr>
        <p:blipFill>
          <a:blip r:embed="rId2"/>
          <a:stretch>
            <a:fillRect/>
          </a:stretch>
        </p:blipFill>
        <p:spPr>
          <a:xfrm>
            <a:off x="548640" y="1325880"/>
            <a:ext cx="6583680" cy="4937760"/>
          </a:xfrm>
          <a:prstGeom prst="rect">
            <a:avLst/>
          </a:prstGeom>
        </p:spPr>
      </p:pic>
      <p:sp>
        <p:nvSpPr>
          <p:cNvPr id="7" name="Rounded Rectangle 6"/>
          <p:cNvSpPr/>
          <p:nvPr/>
        </p:nvSpPr>
        <p:spPr>
          <a:xfrm>
            <a:off x="7360920" y="1325880"/>
            <a:ext cx="4279392" cy="320040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60920" y="1325880"/>
            <a:ext cx="4279392" cy="38404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62088" y="1399032"/>
            <a:ext cx="3877055"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What EHDS puts in place</a:t>
            </a:r>
          </a:p>
        </p:txBody>
      </p:sp>
      <p:sp>
        <p:nvSpPr>
          <p:cNvPr id="10" name="TextBox 9"/>
          <p:cNvSpPr txBox="1"/>
          <p:nvPr/>
        </p:nvSpPr>
        <p:spPr>
          <a:xfrm>
            <a:off x="7562088" y="1892807"/>
            <a:ext cx="3877055" cy="2468880"/>
          </a:xfrm>
          <a:prstGeom prst="rect">
            <a:avLst/>
          </a:prstGeom>
          <a:noFill/>
        </p:spPr>
        <p:txBody>
          <a:bodyPr wrap="square" lIns="0" rIns="0" tIns="0" bIns="0">
            <a:spAutoFit/>
          </a:bodyPr>
          <a:lstStyle/>
          <a:p>
            <a:pPr>
              <a:lnSpc>
                <a:spcPct val="108000"/>
              </a:lnSpc>
            </a:pPr>
            <a:r>
              <a:rPr sz="1250" b="0">
                <a:solidFill>
                  <a:srgbClr val="4F5560"/>
                </a:solidFill>
                <a:latin typeface="Calibri"/>
              </a:rPr>
              <a:t>•  One application, however many regions   Art. 67</a:t>
            </a:r>
          </a:p>
          <a:p>
            <a:pPr>
              <a:lnSpc>
                <a:spcPct val="108000"/>
              </a:lnSpc>
            </a:pPr>
            <a:r>
              <a:rPr sz="1250" b="0">
                <a:solidFill>
                  <a:srgbClr val="4F5560"/>
                </a:solidFill>
                <a:latin typeface="Calibri"/>
              </a:rPr>
              <a:t>•  A permit decision in three months   Art. 68(4)</a:t>
            </a:r>
          </a:p>
          <a:p>
            <a:pPr>
              <a:lnSpc>
                <a:spcPct val="108000"/>
              </a:lnSpc>
            </a:pPr>
            <a:r>
              <a:rPr sz="1250" b="0">
                <a:solidFill>
                  <a:srgbClr val="4F5560"/>
                </a:solidFill>
                <a:latin typeface="Calibri"/>
              </a:rPr>
              <a:t>•  Holders deliver within three months   Art. 60(2)</a:t>
            </a:r>
          </a:p>
          <a:p>
            <a:pPr>
              <a:lnSpc>
                <a:spcPct val="108000"/>
              </a:lnSpc>
            </a:pPr>
            <a:r>
              <a:rPr sz="1250" b="0">
                <a:solidFill>
                  <a:srgbClr val="4F5560"/>
                </a:solidFill>
                <a:latin typeface="Calibri"/>
              </a:rPr>
              <a:t>•  Analysis inside a secure environment   Art. 73</a:t>
            </a:r>
          </a:p>
          <a:p>
            <a:pPr>
              <a:lnSpc>
                <a:spcPct val="108000"/>
              </a:lnSpc>
            </a:pPr>
            <a:r>
              <a:rPr sz="1250" b="0">
                <a:solidFill>
                  <a:srgbClr val="4F5560"/>
                </a:solidFill>
                <a:latin typeface="Calibri"/>
              </a:rPr>
              <a:t>•  Only results leave, never the rows   Art. 73(2)</a:t>
            </a:r>
          </a:p>
          <a:p>
            <a:pPr>
              <a:lnSpc>
                <a:spcPct val="108000"/>
              </a:lnSpc>
            </a:pPr>
            <a:r>
              <a:rPr sz="1250" b="0">
                <a:solidFill>
                  <a:srgbClr val="4F5560"/>
                </a:solidFill>
                <a:latin typeface="Calibri"/>
              </a:rPr>
              <a:t>•  Every permit published, with reasons   Art. 57(1)(j)</a:t>
            </a:r>
          </a:p>
        </p:txBody>
      </p:sp>
      <p:sp>
        <p:nvSpPr>
          <p:cNvPr id="11" name="Rounded Rectangle 10"/>
          <p:cNvSpPr/>
          <p:nvPr/>
        </p:nvSpPr>
        <p:spPr>
          <a:xfrm>
            <a:off x="7360920" y="4663440"/>
            <a:ext cx="4279392" cy="160020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4663440"/>
            <a:ext cx="4279392"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4736592"/>
            <a:ext cx="3877055" cy="310896"/>
          </a:xfrm>
          <a:prstGeom prst="rect">
            <a:avLst/>
          </a:prstGeom>
          <a:noFill/>
        </p:spPr>
        <p:txBody>
          <a:bodyPr wrap="square" lIns="0" rIns="0" tIns="0" bIns="0">
            <a:spAutoFit/>
          </a:bodyPr>
          <a:lstStyle/>
          <a:p>
            <a:pPr>
              <a:lnSpc>
                <a:spcPct val="100000"/>
              </a:lnSpc>
            </a:pPr>
            <a:r>
              <a:rPr sz="1500" b="1">
                <a:solidFill>
                  <a:srgbClr val="FFFFFF"/>
                </a:solidFill>
                <a:latin typeface="Calibri"/>
              </a:rPr>
              <a:t>And the price is fixed by law</a:t>
            </a:r>
          </a:p>
        </p:txBody>
      </p:sp>
      <p:sp>
        <p:nvSpPr>
          <p:cNvPr id="14" name="TextBox 13"/>
          <p:cNvSpPr txBox="1"/>
          <p:nvPr/>
        </p:nvSpPr>
        <p:spPr>
          <a:xfrm>
            <a:off x="7562088" y="5230368"/>
            <a:ext cx="3877055" cy="868680"/>
          </a:xfrm>
          <a:prstGeom prst="rect">
            <a:avLst/>
          </a:prstGeom>
          <a:noFill/>
        </p:spPr>
        <p:txBody>
          <a:bodyPr wrap="square" lIns="0" rIns="0" tIns="0" bIns="0">
            <a:spAutoFit/>
          </a:bodyPr>
          <a:lstStyle/>
          <a:p>
            <a:pPr>
              <a:lnSpc>
                <a:spcPct val="108000"/>
              </a:lnSpc>
            </a:pPr>
            <a:r>
              <a:rPr sz="1200" b="0">
                <a:solidFill>
                  <a:srgbClr val="4F5560"/>
                </a:solidFill>
                <a:latin typeface="Calibri"/>
              </a:rPr>
              <a:t>Fees recover cost only, transparent and non-discriminatory, with reduced rates for public bodies and university researchers. Art. 62.</a:t>
            </a:r>
          </a:p>
        </p:txBody>
      </p:sp>
      <p:sp>
        <p:nvSpPr>
          <p:cNvPr id="15" name="TextBox 14"/>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Reg. (EU) 2025/327, Art. 57, 60, 62, 67, 68, 73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502920"/>
          </a:xfrm>
          <a:prstGeom prst="rect">
            <a:avLst/>
          </a:prstGeom>
          <a:noFill/>
        </p:spPr>
        <p:txBody>
          <a:bodyPr wrap="square" lIns="0" rIns="0" tIns="0" bIns="0">
            <a:spAutoFit/>
          </a:bodyPr>
          <a:lstStyle/>
          <a:p>
            <a:pPr>
              <a:lnSpc>
                <a:spcPct val="100000"/>
              </a:lnSpc>
            </a:pPr>
            <a:r>
              <a:rPr sz="2700" b="1">
                <a:solidFill>
                  <a:srgbClr val="143D59"/>
                </a:solidFill>
                <a:latin typeface="Calibri"/>
              </a:rPr>
              <a:t>What the demonstration shows</a:t>
            </a:r>
          </a:p>
        </p:txBody>
      </p:sp>
      <p:sp>
        <p:nvSpPr>
          <p:cNvPr id="4" name="TextBox 3"/>
          <p:cNvSpPr txBox="1"/>
          <p:nvPr/>
        </p:nvSpPr>
        <p:spPr>
          <a:xfrm>
            <a:off x="548640" y="859536"/>
            <a:ext cx="10972800" cy="365760"/>
          </a:xfrm>
          <a:prstGeom prst="rect">
            <a:avLst/>
          </a:prstGeom>
          <a:noFill/>
        </p:spPr>
        <p:txBody>
          <a:bodyPr wrap="square" lIns="0" rIns="0" tIns="0" bIns="0">
            <a:spAutoFit/>
          </a:bodyPr>
          <a:lstStyle/>
          <a:p>
            <a:pPr>
              <a:lnSpc>
                <a:spcPct val="100000"/>
              </a:lnSpc>
            </a:pPr>
            <a:r>
              <a:rPr sz="1400" b="0">
                <a:solidFill>
                  <a:srgbClr val="4F5560"/>
                </a:solidFill>
                <a:latin typeface="Calibri"/>
              </a:rPr>
              <a:t>The whole journey, from registration to an audited result. Synthetic data, real protocols.</a:t>
            </a:r>
          </a:p>
        </p:txBody>
      </p:sp>
      <p:sp>
        <p:nvSpPr>
          <p:cNvPr id="5" name="TextBox 4"/>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A federated approach for Spain</a:t>
            </a:r>
          </a:p>
        </p:txBody>
      </p:sp>
      <p:pic>
        <p:nvPicPr>
          <p:cNvPr id="6" name="Picture 5" descr="ehds-secondary-journey-bilingual.png"/>
          <p:cNvPicPr>
            <a:picLocks noChangeAspect="1"/>
          </p:cNvPicPr>
          <p:nvPr/>
        </p:nvPicPr>
        <p:blipFill>
          <a:blip r:embed="rId2"/>
          <a:stretch>
            <a:fillRect/>
          </a:stretch>
        </p:blipFill>
        <p:spPr>
          <a:xfrm>
            <a:off x="1645920" y="1325880"/>
            <a:ext cx="8897112" cy="4937760"/>
          </a:xfrm>
          <a:prstGeom prst="rect">
            <a:avLst/>
          </a:prstGeom>
        </p:spPr>
      </p:pic>
      <p:sp>
        <p:nvSpPr>
          <p:cNvPr id="7" name="TextBox 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Live: ehds.mabu.red  ·  Mirror: ma3u.github.io/MinimumViableHealthDataspacev2  ·  issue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502920"/>
          </a:xfrm>
          <a:prstGeom prst="rect">
            <a:avLst/>
          </a:prstGeom>
          <a:noFill/>
        </p:spPr>
        <p:txBody>
          <a:bodyPr wrap="square" lIns="0" rIns="0" tIns="0" bIns="0">
            <a:spAutoFit/>
          </a:bodyPr>
          <a:lstStyle/>
          <a:p>
            <a:pPr>
              <a:lnSpc>
                <a:spcPct val="100000"/>
              </a:lnSpc>
            </a:pPr>
            <a:r>
              <a:rPr sz="2700" b="1">
                <a:solidFill>
                  <a:srgbClr val="143D59"/>
                </a:solidFill>
                <a:latin typeface="Calibri"/>
              </a:rPr>
              <a:t>A proposed operating model for the EHDS</a:t>
            </a:r>
          </a:p>
        </p:txBody>
      </p:sp>
      <p:sp>
        <p:nvSpPr>
          <p:cNvPr id="4" name="TextBox 3"/>
          <p:cNvSpPr txBox="1"/>
          <p:nvPr/>
        </p:nvSpPr>
        <p:spPr>
          <a:xfrm>
            <a:off x="548640" y="859536"/>
            <a:ext cx="10972800" cy="365760"/>
          </a:xfrm>
          <a:prstGeom prst="rect">
            <a:avLst/>
          </a:prstGeom>
          <a:noFill/>
        </p:spPr>
        <p:txBody>
          <a:bodyPr wrap="square" lIns="0" rIns="0" tIns="0" bIns="0">
            <a:spAutoFit/>
          </a:bodyPr>
          <a:lstStyle/>
          <a:p>
            <a:pPr>
              <a:lnSpc>
                <a:spcPct val="100000"/>
              </a:lnSpc>
            </a:pPr>
            <a:r>
              <a:rPr sz="1400" b="0">
                <a:solidFill>
                  <a:srgbClr val="4F5560"/>
                </a:solidFill>
                <a:latin typeface="Calibri"/>
              </a:rPr>
              <a:t>The Catena-X operating model, re-cut for Regulation (EU) 2025/327. Two of the three layers are already law.</a:t>
            </a:r>
          </a:p>
        </p:txBody>
      </p:sp>
      <p:sp>
        <p:nvSpPr>
          <p:cNvPr id="5" name="TextBox 4"/>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A federated approach for Spain</a:t>
            </a:r>
          </a:p>
        </p:txBody>
      </p:sp>
      <p:pic>
        <p:nvPicPr>
          <p:cNvPr id="6" name="Picture 5" descr="ehds-operating-model-wide.png"/>
          <p:cNvPicPr>
            <a:picLocks noChangeAspect="1"/>
          </p:cNvPicPr>
          <p:nvPr/>
        </p:nvPicPr>
        <p:blipFill>
          <a:blip r:embed="rId2"/>
          <a:stretch>
            <a:fillRect/>
          </a:stretch>
        </p:blipFill>
        <p:spPr>
          <a:xfrm>
            <a:off x="548640" y="1371600"/>
            <a:ext cx="11091672" cy="4754880"/>
          </a:xfrm>
          <a:prstGeom prst="rect">
            <a:avLst/>
          </a:prstGeom>
        </p:spPr>
      </p:pic>
      <p:sp>
        <p:nvSpPr>
          <p:cNvPr id="7" name="TextBox 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catenax-ev.github.io/docs/operating-model  ·  data.europa.eu/eli/reg/2025/327/oj  ·  cofinity-x.com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spAutoFit/>
          </a:bodyPr>
          <a:lstStyle/>
          <a:p>
            <a:pPr>
              <a:lnSpc>
                <a:spcPct val="100000"/>
              </a:lnSpc>
            </a:pPr>
            <a:r>
              <a:rPr sz="3000" b="1">
                <a:solidFill>
                  <a:srgbClr val="143D59"/>
                </a:solidFill>
                <a:latin typeface="Calibri"/>
              </a:rPr>
              <a:t>The conversation we want to start</a:t>
            </a:r>
          </a:p>
        </p:txBody>
      </p:sp>
      <p:sp>
        <p:nvSpPr>
          <p:cNvPr id="4" name="TextBox 3"/>
          <p:cNvSpPr txBox="1"/>
          <p:nvPr/>
        </p:nvSpPr>
        <p:spPr>
          <a:xfrm>
            <a:off x="548640" y="960120"/>
            <a:ext cx="10972800" cy="411480"/>
          </a:xfrm>
          <a:prstGeom prst="rect">
            <a:avLst/>
          </a:prstGeom>
          <a:noFill/>
        </p:spPr>
        <p:txBody>
          <a:bodyPr wrap="square" lIns="0" rIns="0" tIns="0" bIns="0">
            <a:spAutoFit/>
          </a:bodyPr>
          <a:lstStyle/>
          <a:p>
            <a:pPr>
              <a:lnSpc>
                <a:spcPct val="100000"/>
              </a:lnSpc>
            </a:pPr>
            <a:r>
              <a:rPr sz="1600" b="0">
                <a:solidFill>
                  <a:srgbClr val="4F5560"/>
                </a:solidFill>
                <a:latin typeface="Calibri"/>
              </a:rPr>
              <a:t>Working together with the Ministry and the regions.</a:t>
            </a:r>
          </a:p>
        </p:txBody>
      </p:sp>
      <p:sp>
        <p:nvSpPr>
          <p:cNvPr id="5" name="TextBox 4"/>
          <p:cNvSpPr txBox="1"/>
          <p:nvPr/>
        </p:nvSpPr>
        <p:spPr>
          <a:xfrm>
            <a:off x="548640" y="6446520"/>
            <a:ext cx="5120640" cy="274320"/>
          </a:xfrm>
          <a:prstGeom prst="rect">
            <a:avLst/>
          </a:prstGeom>
          <a:noFill/>
        </p:spPr>
        <p:txBody>
          <a:bodyPr wrap="square" lIns="0" rIns="0" tIns="0" bIns="0">
            <a:spAutoFit/>
          </a:bodyPr>
          <a:lstStyle/>
          <a:p>
            <a:pPr>
              <a:lnSpc>
                <a:spcPct val="100000"/>
              </a:lnSpc>
            </a:pPr>
            <a:r>
              <a:rPr sz="1000" b="0">
                <a:solidFill>
                  <a:srgbClr val="4F5560"/>
                </a:solidFill>
                <a:latin typeface="Calibri"/>
              </a:rPr>
              <a:t>European Health Data Space  ·  A federated approach for Spain</a:t>
            </a:r>
          </a:p>
        </p:txBody>
      </p:sp>
      <p:sp>
        <p:nvSpPr>
          <p:cNvPr id="6" name="Rounded Rectangle 5"/>
          <p:cNvSpPr/>
          <p:nvPr/>
        </p:nvSpPr>
        <p:spPr>
          <a:xfrm>
            <a:off x="548640" y="1691640"/>
            <a:ext cx="5486400" cy="365760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5486400" cy="384048"/>
          </a:xfrm>
          <a:prstGeom prst="rect">
            <a:avLst/>
          </a:prstGeom>
          <a:solidFill>
            <a:srgbClr val="143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64792"/>
            <a:ext cx="508406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Questions for the Ministry</a:t>
            </a:r>
          </a:p>
        </p:txBody>
      </p:sp>
      <p:sp>
        <p:nvSpPr>
          <p:cNvPr id="9" name="TextBox 8"/>
          <p:cNvSpPr txBox="1"/>
          <p:nvPr/>
        </p:nvSpPr>
        <p:spPr>
          <a:xfrm>
            <a:off x="749808" y="2258568"/>
            <a:ext cx="5084064" cy="2926080"/>
          </a:xfrm>
          <a:prstGeom prst="rect">
            <a:avLst/>
          </a:prstGeom>
          <a:noFill/>
        </p:spPr>
        <p:txBody>
          <a:bodyPr wrap="square" lIns="0" rIns="0" tIns="0" bIns="0">
            <a:spAutoFit/>
          </a:bodyPr>
          <a:lstStyle/>
          <a:p>
            <a:pPr>
              <a:lnSpc>
                <a:spcPct val="108000"/>
              </a:lnSpc>
            </a:pPr>
            <a:r>
              <a:rPr sz="1250" b="0">
                <a:solidFill>
                  <a:srgbClr val="4F5560"/>
                </a:solidFill>
                <a:latin typeface="Calibri"/>
              </a:rPr>
              <a:t>•  One access body, or several with a coordinator?   Art. 55(1)</a:t>
            </a:r>
          </a:p>
          <a:p>
            <a:pPr>
              <a:lnSpc>
                <a:spcPct val="108000"/>
              </a:lnSpc>
            </a:pPr>
            <a:r>
              <a:rPr sz="1250" b="0">
                <a:solidFill>
                  <a:srgbClr val="4F5560"/>
                </a:solidFill>
                <a:latin typeface="Calibri"/>
              </a:rPr>
              <a:t>•  Is the national contact point that same body, or separate?   Art. 75(1)</a:t>
            </a:r>
          </a:p>
          <a:p>
            <a:pPr>
              <a:lnSpc>
                <a:spcPct val="108000"/>
              </a:lnSpc>
            </a:pPr>
            <a:r>
              <a:rPr sz="1250" b="0">
                <a:solidFill>
                  <a:srgbClr val="4F5560"/>
                </a:solidFill>
                <a:latin typeface="Calibri"/>
              </a:rPr>
              <a:t>•  Does the March 2027 designation have an owner and a budget line?</a:t>
            </a:r>
          </a:p>
          <a:p>
            <a:pPr>
              <a:lnSpc>
                <a:spcPct val="108000"/>
              </a:lnSpc>
            </a:pPr>
            <a:r>
              <a:rPr sz="1250" b="0">
                <a:solidFill>
                  <a:srgbClr val="4F5560"/>
                </a:solidFill>
                <a:latin typeface="Calibri"/>
              </a:rPr>
              <a:t>•  Who holds the inventory of the Art. 51 data categories?</a:t>
            </a:r>
          </a:p>
          <a:p>
            <a:pPr>
              <a:lnSpc>
                <a:spcPct val="108000"/>
              </a:lnSpc>
            </a:pPr>
            <a:r>
              <a:rPr sz="1250" b="0">
                <a:solidFill>
                  <a:srgbClr val="4F5560"/>
                </a:solidFill>
                <a:latin typeface="Calibri"/>
              </a:rPr>
              <a:t>•  In-house entity, joint venture, or tendered concession, and by when?</a:t>
            </a:r>
          </a:p>
        </p:txBody>
      </p:sp>
      <p:sp>
        <p:nvSpPr>
          <p:cNvPr id="10" name="Rounded Rectangle 9"/>
          <p:cNvSpPr/>
          <p:nvPr/>
        </p:nvSpPr>
        <p:spPr>
          <a:xfrm>
            <a:off x="6263640" y="1691640"/>
            <a:ext cx="5486400" cy="365760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91640"/>
            <a:ext cx="5486400"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764792"/>
            <a:ext cx="5084064" cy="310896"/>
          </a:xfrm>
          <a:prstGeom prst="rect">
            <a:avLst/>
          </a:prstGeom>
          <a:noFill/>
        </p:spPr>
        <p:txBody>
          <a:bodyPr wrap="square" lIns="0" rIns="0" tIns="0" bIns="0">
            <a:spAutoFit/>
          </a:bodyPr>
          <a:lstStyle/>
          <a:p>
            <a:pPr>
              <a:lnSpc>
                <a:spcPct val="100000"/>
              </a:lnSpc>
            </a:pPr>
            <a:r>
              <a:rPr sz="1700" b="1">
                <a:solidFill>
                  <a:srgbClr val="FFFFFF"/>
                </a:solidFill>
                <a:latin typeface="Calibri"/>
              </a:rPr>
              <a:t>What we bring to the table</a:t>
            </a:r>
          </a:p>
        </p:txBody>
      </p:sp>
      <p:sp>
        <p:nvSpPr>
          <p:cNvPr id="13" name="TextBox 12"/>
          <p:cNvSpPr txBox="1"/>
          <p:nvPr/>
        </p:nvSpPr>
        <p:spPr>
          <a:xfrm>
            <a:off x="6464807" y="2258568"/>
            <a:ext cx="5084064" cy="2926080"/>
          </a:xfrm>
          <a:prstGeom prst="rect">
            <a:avLst/>
          </a:prstGeom>
          <a:noFill/>
        </p:spPr>
        <p:txBody>
          <a:bodyPr wrap="square" lIns="0" rIns="0" tIns="0" bIns="0">
            <a:spAutoFit/>
          </a:bodyPr>
          <a:lstStyle/>
          <a:p>
            <a:pPr>
              <a:lnSpc>
                <a:spcPct val="108000"/>
              </a:lnSpc>
            </a:pPr>
            <a:r>
              <a:rPr sz="1300" b="0">
                <a:solidFill>
                  <a:srgbClr val="4F5560"/>
                </a:solidFill>
                <a:latin typeface="Calibri"/>
              </a:rPr>
              <a:t>•  A working live demonstration with realistic data.</a:t>
            </a:r>
          </a:p>
          <a:p>
            <a:pPr>
              <a:lnSpc>
                <a:spcPct val="108000"/>
              </a:lnSpc>
            </a:pPr>
            <a:r>
              <a:rPr sz="1300" b="0">
                <a:solidFill>
                  <a:srgbClr val="4F5560"/>
                </a:solidFill>
                <a:latin typeface="Calibri"/>
              </a:rPr>
              <a:t>•  Experience federating data across European regions.</a:t>
            </a:r>
          </a:p>
          <a:p>
            <a:pPr>
              <a:lnSpc>
                <a:spcPct val="108000"/>
              </a:lnSpc>
            </a:pPr>
            <a:r>
              <a:rPr sz="1300" b="0">
                <a:solidFill>
                  <a:srgbClr val="4F5560"/>
                </a:solidFill>
                <a:latin typeface="Calibri"/>
              </a:rPr>
              <a:t>•  Templates for the legal, organisational and operational setup.</a:t>
            </a:r>
          </a:p>
          <a:p>
            <a:pPr>
              <a:lnSpc>
                <a:spcPct val="108000"/>
              </a:lnSpc>
            </a:pPr>
            <a:r>
              <a:rPr sz="1300" b="0">
                <a:solidFill>
                  <a:srgbClr val="4F5560"/>
                </a:solidFill>
                <a:latin typeface="Calibri"/>
              </a:rPr>
              <a:t>•  A roadmap aligned with the European timetable.</a:t>
            </a:r>
          </a:p>
          <a:p>
            <a:pPr>
              <a:lnSpc>
                <a:spcPct val="108000"/>
              </a:lnSpc>
            </a:pPr>
            <a:r>
              <a:rPr sz="1300" b="0">
                <a:solidFill>
                  <a:srgbClr val="4F5560"/>
                </a:solidFill>
                <a:latin typeface="Calibri"/>
              </a:rPr>
              <a:t>•  A team that has done this before, ready to support each region.</a:t>
            </a:r>
          </a:p>
        </p:txBody>
      </p:sp>
      <p:sp>
        <p:nvSpPr>
          <p:cNvPr id="14" name="Rounded Rectangle 13"/>
          <p:cNvSpPr/>
          <p:nvPr/>
        </p:nvSpPr>
        <p:spPr>
          <a:xfrm>
            <a:off x="548640" y="5532120"/>
            <a:ext cx="11091672" cy="777240"/>
          </a:xfrm>
          <a:prstGeom prst="roundRect">
            <a:avLst>
              <a:gd name="adj" fmla="val 5000"/>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532120"/>
            <a:ext cx="164592" cy="777240"/>
          </a:xfrm>
          <a:prstGeom prst="rect">
            <a:avLst/>
          </a:prstGeom>
          <a:solidFill>
            <a:srgbClr val="E6A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696712"/>
            <a:ext cx="10424160" cy="521207"/>
          </a:xfrm>
          <a:prstGeom prst="rect">
            <a:avLst/>
          </a:prstGeom>
          <a:noFill/>
        </p:spPr>
        <p:txBody>
          <a:bodyPr wrap="square" lIns="0" rIns="0" tIns="0" bIns="0">
            <a:spAutoFit/>
          </a:bodyPr>
          <a:lstStyle/>
          <a:p>
            <a:pPr>
              <a:lnSpc>
                <a:spcPct val="110000"/>
              </a:lnSpc>
            </a:pPr>
            <a:r>
              <a:rPr sz="1400" b="0">
                <a:solidFill>
                  <a:srgbClr val="4F5560"/>
                </a:solidFill>
                <a:latin typeface="Calibri"/>
              </a:rPr>
              <a:t>The access body and the national contact point must be designated by March 2027, and Chapter IV applies in full from March 2029. Counting procurement, that is about two release years away.</a:t>
            </a:r>
          </a:p>
        </p:txBody>
      </p:sp>
      <p:sp>
        <p:nvSpPr>
          <p:cNvPr id="17" name="TextBox 16"/>
          <p:cNvSpPr txBox="1"/>
          <p:nvPr/>
        </p:nvSpPr>
        <p:spPr>
          <a:xfrm>
            <a:off x="5852160" y="6446520"/>
            <a:ext cx="5760720" cy="274320"/>
          </a:xfrm>
          <a:prstGeom prst="rect">
            <a:avLst/>
          </a:prstGeom>
          <a:noFill/>
        </p:spPr>
        <p:txBody>
          <a:bodyPr wrap="square" lIns="0" rIns="0" tIns="0" bIns="0">
            <a:spAutoFit/>
          </a:bodyPr>
          <a:lstStyle/>
          <a:p>
            <a:pPr algn="r">
              <a:lnSpc>
                <a:spcPct val="100000"/>
              </a:lnSpc>
            </a:pPr>
            <a:r>
              <a:rPr sz="900" b="0">
                <a:solidFill>
                  <a:srgbClr val="8A8F98"/>
                </a:solidFill>
                <a:latin typeface="Calibri"/>
              </a:rPr>
              <a:t>Reg. (EU) 2025/327, Art. 55(6), 75(1), 105  ·  Paper: docs/ehds-operating-company.md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Connected Health System for Spain</dc:title>
  <dc:subject>European Health Data Space, five slides</dc:subject>
  <dc:creator>Matthias Buchhorn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