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3" r:id="rId3"/>
    <p:sldId id="258" r:id="rId4"/>
    <p:sldId id="261" r:id="rId5"/>
    <p:sldId id="265" r:id="rId6"/>
    <p:sldId id="259" r:id="rId7"/>
    <p:sldId id="264" r:id="rId8"/>
    <p:sldId id="26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54"/>
    <p:restoredTop sz="94635"/>
  </p:normalViewPr>
  <p:slideViewPr>
    <p:cSldViewPr snapToGrid="0" snapToObjects="1">
      <p:cViewPr varScale="1">
        <p:scale>
          <a:sx n="135" d="100"/>
          <a:sy n="135" d="100"/>
        </p:scale>
        <p:origin x="200" y="7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8" name="TextBox 7">
            <a:extLst>
              <a:ext uri="{FF2B5EF4-FFF2-40B4-BE49-F238E27FC236}">
                <a16:creationId xmlns:a16="http://schemas.microsoft.com/office/drawing/2014/main" id="{8BAC6F3A-3AE8-C6F2-CA9A-BAD0AC7590EC}"/>
              </a:ext>
            </a:extLst>
          </p:cNvPr>
          <p:cNvSpPr txBox="1"/>
          <p:nvPr userDrawn="1">
            <p:extLst>
              <p:ext uri="{1162E1C5-73C7-4A58-AE30-91384D911F3F}">
                <p184:classification xmlns:p184="http://schemas.microsoft.com/office/powerpoint/2018/4/main" val="ftr"/>
              </p:ext>
            </p:extLst>
          </p:nvPr>
        </p:nvSpPr>
        <p:spPr>
          <a:xfrm>
            <a:off x="63500" y="6657340"/>
            <a:ext cx="1712913" cy="137160"/>
          </a:xfrm>
          <a:prstGeom prst="rect">
            <a:avLst/>
          </a:prstGeom>
        </p:spPr>
        <p:txBody>
          <a:bodyPr horzOverflow="overflow" lIns="0" tIns="0" rIns="0" bIns="0">
            <a:spAutoFit/>
          </a:bodyPr>
          <a:lstStyle/>
          <a:p>
            <a:pPr algn="l"/>
            <a:r>
              <a:rPr lang="en-DE" sz="900">
                <a:solidFill>
                  <a:srgbClr val="CF022B">
                    <a:alpha val="50000"/>
                  </a:srgbClr>
                </a:solidFill>
                <a:latin typeface="Tahoma" panose="020B0604030504040204" pitchFamily="34" charset="0"/>
                <a:ea typeface="Tahoma" panose="020B0604030504040204" pitchFamily="34" charset="0"/>
                <a:cs typeface="Tahoma" panose="020B0604030504040204" pitchFamily="34" charset="0"/>
              </a:rPr>
              <a:t>C2 - Eingeschränkte Verwendung</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ma3u.github.io/MinimumViableHealthDataspacev2/" TargetMode="External"/><Relationship Id="rId7" Type="http://schemas.openxmlformats.org/officeDocument/2006/relationships/image" Target="../media/image2.png"/><Relationship Id="rId2" Type="http://schemas.openxmlformats.org/officeDocument/2006/relationships/hyperlink" Target="https://ehds.mabu.red/" TargetMode="External"/><Relationship Id="rId1" Type="http://schemas.openxmlformats.org/officeDocument/2006/relationships/slideLayout" Target="../slideLayouts/slideLayout7.xml"/><Relationship Id="rId6" Type="http://schemas.openxmlformats.org/officeDocument/2006/relationships/hyperlink" Target="https://catenax-ev.github.io/docs/operating-model/why-understanding-the-catena-x-data-space" TargetMode="External"/><Relationship Id="rId5" Type="http://schemas.openxmlformats.org/officeDocument/2006/relationships/hyperlink" Target="https://github.com/ma3u/MinimumViableHealthDataspacev2/issues/27" TargetMode="External"/><Relationship Id="rId4" Type="http://schemas.openxmlformats.org/officeDocument/2006/relationships/hyperlink" Target="https://github.com/ma3u/MinimumViableHealthDataspacev2/blob/main/docs/demos/hdab-spain-secondary-use-journey.md"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ehds.mabu.red/" TargetMode="External"/><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hyperlink" Target="http://ma3u.github.io/MinimumViableHealthDataspacev2"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eur-lex.europa.eu/legal-content/EN/TXT/HTML/?uri=OJ:L_202500327#cpt_IV" TargetMode="External"/><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hyperlink" Target="https://catenax-ev.github.io/docs/operating-model/why-understanding-the-catena-x-data-space"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sphin-x.de/" TargetMode="External"/><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hyperlink" Target="https://ehda-ev.eu/" TargetMode="Externa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144"/>
            <a:ext cx="12192000" cy="6909106"/>
          </a:xfrm>
          <a:prstGeom prst="rect">
            <a:avLst/>
          </a:prstGeom>
        </p:spPr>
      </p:pic>
      <p:sp>
        <p:nvSpPr>
          <p:cNvPr id="3" name="Rectangle 2"/>
          <p:cNvSpPr/>
          <p:nvPr/>
        </p:nvSpPr>
        <p:spPr>
          <a:xfrm>
            <a:off x="0" y="196596"/>
            <a:ext cx="9294829" cy="1933862"/>
          </a:xfrm>
          <a:prstGeom prst="rect">
            <a:avLst/>
          </a:prstGeom>
          <a:solidFill>
            <a:srgbClr val="143D59">
              <a:alpha val="91372"/>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402336"/>
            <a:ext cx="8413894" cy="646331"/>
          </a:xfrm>
          <a:prstGeom prst="rect">
            <a:avLst/>
          </a:prstGeom>
          <a:noFill/>
        </p:spPr>
        <p:txBody>
          <a:bodyPr wrap="square" lIns="0" tIns="0" rIns="0" bIns="0">
            <a:spAutoFit/>
          </a:bodyPr>
          <a:lstStyle/>
          <a:p>
            <a:pPr>
              <a:lnSpc>
                <a:spcPct val="100000"/>
              </a:lnSpc>
            </a:pPr>
            <a:r>
              <a:rPr sz="4200" b="1" dirty="0">
                <a:solidFill>
                  <a:srgbClr val="FFFFFF"/>
                </a:solidFill>
                <a:latin typeface="Calibri"/>
              </a:rPr>
              <a:t>A Connected Health System for Spain</a:t>
            </a:r>
          </a:p>
        </p:txBody>
      </p:sp>
      <p:sp>
        <p:nvSpPr>
          <p:cNvPr id="7" name="TextBox 6"/>
          <p:cNvSpPr txBox="1"/>
          <p:nvPr/>
        </p:nvSpPr>
        <p:spPr>
          <a:xfrm>
            <a:off x="772668" y="973836"/>
            <a:ext cx="8229930" cy="338554"/>
          </a:xfrm>
          <a:prstGeom prst="rect">
            <a:avLst/>
          </a:prstGeom>
          <a:noFill/>
        </p:spPr>
        <p:txBody>
          <a:bodyPr wrap="square" lIns="0" tIns="0" rIns="0" bIns="0">
            <a:spAutoFit/>
          </a:bodyPr>
          <a:lstStyle/>
          <a:p>
            <a:pPr>
              <a:lnSpc>
                <a:spcPct val="100000"/>
              </a:lnSpc>
            </a:pPr>
            <a:r>
              <a:rPr sz="2200" b="0" dirty="0">
                <a:solidFill>
                  <a:srgbClr val="FFFFFF"/>
                </a:solidFill>
                <a:latin typeface="Calibri"/>
              </a:rPr>
              <a:t>Seventeen regional datasets, one research resource</a:t>
            </a:r>
          </a:p>
        </p:txBody>
      </p:sp>
      <p:sp>
        <p:nvSpPr>
          <p:cNvPr id="8" name="TextBox 7"/>
          <p:cNvSpPr txBox="1"/>
          <p:nvPr/>
        </p:nvSpPr>
        <p:spPr>
          <a:xfrm>
            <a:off x="772668" y="1545336"/>
            <a:ext cx="5323332" cy="307777"/>
          </a:xfrm>
          <a:prstGeom prst="rect">
            <a:avLst/>
          </a:prstGeom>
          <a:noFill/>
        </p:spPr>
        <p:txBody>
          <a:bodyPr wrap="square" lIns="0" tIns="0" rIns="0" bIns="0">
            <a:spAutoFit/>
          </a:bodyPr>
          <a:lstStyle/>
          <a:p>
            <a:pPr>
              <a:lnSpc>
                <a:spcPct val="100000"/>
              </a:lnSpc>
            </a:pPr>
            <a:r>
              <a:rPr lang="de-DE" sz="2000" b="1" dirty="0">
                <a:solidFill>
                  <a:srgbClr val="E6A817"/>
                </a:solidFill>
                <a:latin typeface="Calibri"/>
              </a:rPr>
              <a:t>S</a:t>
            </a:r>
            <a:r>
              <a:rPr sz="2000" b="1" dirty="0" err="1">
                <a:solidFill>
                  <a:srgbClr val="E6A817"/>
                </a:solidFill>
                <a:latin typeface="Calibri"/>
              </a:rPr>
              <a:t>econdary</a:t>
            </a:r>
            <a:r>
              <a:rPr sz="2000" b="1" dirty="0">
                <a:solidFill>
                  <a:srgbClr val="E6A817"/>
                </a:solidFill>
                <a:latin typeface="Calibri"/>
              </a:rPr>
              <a:t> </a:t>
            </a:r>
            <a:r>
              <a:rPr lang="de-DE" sz="2000" b="1" dirty="0" err="1">
                <a:solidFill>
                  <a:srgbClr val="E6A817"/>
                </a:solidFill>
                <a:latin typeface="Calibri"/>
              </a:rPr>
              <a:t>u</a:t>
            </a:r>
            <a:r>
              <a:rPr sz="2000" b="1" dirty="0">
                <a:solidFill>
                  <a:srgbClr val="E6A817"/>
                </a:solidFill>
                <a:latin typeface="Calibri"/>
              </a:rPr>
              <a:t>se of health data under the EHDS</a:t>
            </a:r>
          </a:p>
        </p:txBody>
      </p:sp>
      <p:sp>
        <p:nvSpPr>
          <p:cNvPr id="9" name="Rounded Rectangle 8"/>
          <p:cNvSpPr/>
          <p:nvPr/>
        </p:nvSpPr>
        <p:spPr>
          <a:xfrm>
            <a:off x="772668" y="5067176"/>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72668" y="5067176"/>
            <a:ext cx="3566160" cy="14630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1268" y="5295776"/>
            <a:ext cx="3108960" cy="320040"/>
          </a:xfrm>
          <a:prstGeom prst="rect">
            <a:avLst/>
          </a:prstGeom>
          <a:noFill/>
        </p:spPr>
        <p:txBody>
          <a:bodyPr wrap="square" lIns="0" tIns="0" rIns="0" bIns="0">
            <a:spAutoFit/>
          </a:bodyPr>
          <a:lstStyle/>
          <a:p>
            <a:pPr>
              <a:lnSpc>
                <a:spcPct val="100000"/>
              </a:lnSpc>
            </a:pPr>
            <a:r>
              <a:rPr sz="1700" b="1">
                <a:solidFill>
                  <a:srgbClr val="143D59"/>
                </a:solidFill>
                <a:latin typeface="Calibri"/>
              </a:rPr>
              <a:t>Researchers</a:t>
            </a:r>
          </a:p>
        </p:txBody>
      </p:sp>
      <p:sp>
        <p:nvSpPr>
          <p:cNvPr id="12" name="TextBox 11"/>
          <p:cNvSpPr txBox="1"/>
          <p:nvPr/>
        </p:nvSpPr>
        <p:spPr>
          <a:xfrm>
            <a:off x="1001268" y="5661536"/>
            <a:ext cx="3108960" cy="640080"/>
          </a:xfrm>
          <a:prstGeom prst="rect">
            <a:avLst/>
          </a:prstGeom>
          <a:noFill/>
        </p:spPr>
        <p:txBody>
          <a:bodyPr wrap="square" lIns="0" tIns="0" rIns="0" bIns="0">
            <a:spAutoFit/>
          </a:bodyPr>
          <a:lstStyle/>
          <a:p>
            <a:pPr>
              <a:lnSpc>
                <a:spcPct val="108000"/>
              </a:lnSpc>
            </a:pPr>
            <a:r>
              <a:rPr sz="1150" b="0">
                <a:solidFill>
                  <a:srgbClr val="4F5560"/>
                </a:solidFill>
                <a:latin typeface="Calibri"/>
              </a:rPr>
              <a:t>Studying a rare disease across Spain means asking 17 separate regions for permission and for data.</a:t>
            </a:r>
          </a:p>
        </p:txBody>
      </p:sp>
      <p:sp>
        <p:nvSpPr>
          <p:cNvPr id="13" name="TextBox 12"/>
          <p:cNvSpPr txBox="1"/>
          <p:nvPr/>
        </p:nvSpPr>
        <p:spPr>
          <a:xfrm>
            <a:off x="1001268" y="6301616"/>
            <a:ext cx="3108960" cy="228600"/>
          </a:xfrm>
          <a:prstGeom prst="rect">
            <a:avLst/>
          </a:prstGeom>
          <a:noFill/>
        </p:spPr>
        <p:txBody>
          <a:bodyPr wrap="square" lIns="0" tIns="0" rIns="0" bIns="0">
            <a:spAutoFit/>
          </a:bodyPr>
          <a:lstStyle/>
          <a:p>
            <a:pPr>
              <a:lnSpc>
                <a:spcPct val="100000"/>
              </a:lnSpc>
            </a:pPr>
            <a:r>
              <a:rPr sz="1100" b="1">
                <a:solidFill>
                  <a:srgbClr val="2A9D8F"/>
                </a:solidFill>
                <a:latin typeface="Calibri"/>
              </a:rPr>
              <a:t>Art. 67: one application</a:t>
            </a:r>
          </a:p>
        </p:txBody>
      </p:sp>
      <p:sp>
        <p:nvSpPr>
          <p:cNvPr id="14" name="Rounded Rectangle 13"/>
          <p:cNvSpPr/>
          <p:nvPr/>
        </p:nvSpPr>
        <p:spPr>
          <a:xfrm>
            <a:off x="4539996" y="5067176"/>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539996" y="5067176"/>
            <a:ext cx="3566160" cy="146304"/>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768596" y="5295776"/>
            <a:ext cx="3108960" cy="320040"/>
          </a:xfrm>
          <a:prstGeom prst="rect">
            <a:avLst/>
          </a:prstGeom>
          <a:noFill/>
        </p:spPr>
        <p:txBody>
          <a:bodyPr wrap="square" lIns="0" tIns="0" rIns="0" bIns="0">
            <a:spAutoFit/>
          </a:bodyPr>
          <a:lstStyle/>
          <a:p>
            <a:pPr>
              <a:lnSpc>
                <a:spcPct val="100000"/>
              </a:lnSpc>
            </a:pPr>
            <a:r>
              <a:rPr sz="1700" b="1">
                <a:solidFill>
                  <a:srgbClr val="143D59"/>
                </a:solidFill>
                <a:latin typeface="Calibri"/>
              </a:rPr>
              <a:t>Data holders</a:t>
            </a:r>
          </a:p>
        </p:txBody>
      </p:sp>
      <p:sp>
        <p:nvSpPr>
          <p:cNvPr id="17" name="TextBox 16"/>
          <p:cNvSpPr txBox="1"/>
          <p:nvPr/>
        </p:nvSpPr>
        <p:spPr>
          <a:xfrm>
            <a:off x="4768596" y="5661536"/>
            <a:ext cx="3108960" cy="640080"/>
          </a:xfrm>
          <a:prstGeom prst="rect">
            <a:avLst/>
          </a:prstGeom>
          <a:noFill/>
        </p:spPr>
        <p:txBody>
          <a:bodyPr wrap="square" lIns="0" tIns="0" rIns="0" bIns="0">
            <a:spAutoFit/>
          </a:bodyPr>
          <a:lstStyle/>
          <a:p>
            <a:pPr>
              <a:lnSpc>
                <a:spcPct val="108000"/>
              </a:lnSpc>
            </a:pPr>
            <a:r>
              <a:rPr sz="1150" b="0">
                <a:solidFill>
                  <a:srgbClr val="4F5560"/>
                </a:solidFill>
                <a:latin typeface="Calibri"/>
              </a:rPr>
              <a:t>Hospitals and registries hold the data with no way to publish what they hold, or to deliver it on a deadline.</a:t>
            </a:r>
          </a:p>
        </p:txBody>
      </p:sp>
      <p:sp>
        <p:nvSpPr>
          <p:cNvPr id="18" name="TextBox 17"/>
          <p:cNvSpPr txBox="1"/>
          <p:nvPr/>
        </p:nvSpPr>
        <p:spPr>
          <a:xfrm>
            <a:off x="4768596" y="6301616"/>
            <a:ext cx="3108960" cy="228600"/>
          </a:xfrm>
          <a:prstGeom prst="rect">
            <a:avLst/>
          </a:prstGeom>
          <a:noFill/>
        </p:spPr>
        <p:txBody>
          <a:bodyPr wrap="square" lIns="0" tIns="0" rIns="0" bIns="0">
            <a:spAutoFit/>
          </a:bodyPr>
          <a:lstStyle/>
          <a:p>
            <a:pPr>
              <a:lnSpc>
                <a:spcPct val="100000"/>
              </a:lnSpc>
            </a:pPr>
            <a:r>
              <a:rPr sz="1100" b="1">
                <a:solidFill>
                  <a:srgbClr val="E6A817"/>
                </a:solidFill>
                <a:latin typeface="Calibri"/>
              </a:rPr>
              <a:t>Art. 60: three months to deliver</a:t>
            </a:r>
          </a:p>
        </p:txBody>
      </p:sp>
      <p:sp>
        <p:nvSpPr>
          <p:cNvPr id="19" name="Rounded Rectangle 18"/>
          <p:cNvSpPr/>
          <p:nvPr/>
        </p:nvSpPr>
        <p:spPr>
          <a:xfrm>
            <a:off x="8307324" y="5067176"/>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307324" y="5067176"/>
            <a:ext cx="3566160" cy="146304"/>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35924" y="5295776"/>
            <a:ext cx="3108960" cy="320040"/>
          </a:xfrm>
          <a:prstGeom prst="rect">
            <a:avLst/>
          </a:prstGeom>
          <a:noFill/>
        </p:spPr>
        <p:txBody>
          <a:bodyPr wrap="square" lIns="0" tIns="0" rIns="0" bIns="0">
            <a:spAutoFit/>
          </a:bodyPr>
          <a:lstStyle/>
          <a:p>
            <a:pPr>
              <a:lnSpc>
                <a:spcPct val="100000"/>
              </a:lnSpc>
            </a:pPr>
            <a:r>
              <a:rPr sz="1700" b="1">
                <a:solidFill>
                  <a:srgbClr val="143D59"/>
                </a:solidFill>
                <a:latin typeface="Calibri"/>
              </a:rPr>
              <a:t>The regulator</a:t>
            </a:r>
          </a:p>
        </p:txBody>
      </p:sp>
      <p:sp>
        <p:nvSpPr>
          <p:cNvPr id="22" name="TextBox 21"/>
          <p:cNvSpPr txBox="1"/>
          <p:nvPr/>
        </p:nvSpPr>
        <p:spPr>
          <a:xfrm>
            <a:off x="8535924" y="5661536"/>
            <a:ext cx="3108960" cy="640080"/>
          </a:xfrm>
          <a:prstGeom prst="rect">
            <a:avLst/>
          </a:prstGeom>
          <a:noFill/>
        </p:spPr>
        <p:txBody>
          <a:bodyPr wrap="square" lIns="0" tIns="0" rIns="0" bIns="0">
            <a:spAutoFit/>
          </a:bodyPr>
          <a:lstStyle/>
          <a:p>
            <a:pPr>
              <a:lnSpc>
                <a:spcPct val="108000"/>
              </a:lnSpc>
            </a:pPr>
            <a:r>
              <a:rPr sz="1150" b="0">
                <a:solidFill>
                  <a:srgbClr val="4F5560"/>
                </a:solidFill>
                <a:latin typeface="Calibri"/>
              </a:rPr>
              <a:t>Every approval is bespoke, and nobody outside can see which permits were issued, or why.</a:t>
            </a:r>
          </a:p>
        </p:txBody>
      </p:sp>
      <p:sp>
        <p:nvSpPr>
          <p:cNvPr id="23" name="TextBox 22"/>
          <p:cNvSpPr txBox="1"/>
          <p:nvPr/>
        </p:nvSpPr>
        <p:spPr>
          <a:xfrm>
            <a:off x="8535924" y="6301616"/>
            <a:ext cx="3108960" cy="228600"/>
          </a:xfrm>
          <a:prstGeom prst="rect">
            <a:avLst/>
          </a:prstGeom>
          <a:noFill/>
        </p:spPr>
        <p:txBody>
          <a:bodyPr wrap="square" lIns="0" tIns="0" rIns="0" bIns="0">
            <a:spAutoFit/>
          </a:bodyPr>
          <a:lstStyle/>
          <a:p>
            <a:pPr>
              <a:lnSpc>
                <a:spcPct val="100000"/>
              </a:lnSpc>
            </a:pPr>
            <a:r>
              <a:rPr sz="1100" b="1">
                <a:solidFill>
                  <a:srgbClr val="C31E2E"/>
                </a:solidFill>
                <a:latin typeface="Calibri"/>
              </a:rPr>
              <a:t>Art. 68: one permit, published</a:t>
            </a:r>
          </a:p>
        </p:txBody>
      </p:sp>
      <p:sp>
        <p:nvSpPr>
          <p:cNvPr id="26" name="TextBox 25"/>
          <p:cNvSpPr txBox="1"/>
          <p:nvPr/>
        </p:nvSpPr>
        <p:spPr>
          <a:xfrm>
            <a:off x="138465" y="6709782"/>
            <a:ext cx="5760720" cy="138499"/>
          </a:xfrm>
          <a:prstGeom prst="rect">
            <a:avLst/>
          </a:prstGeom>
          <a:noFill/>
        </p:spPr>
        <p:txBody>
          <a:bodyPr wrap="square" lIns="0" tIns="0" rIns="0" bIns="0">
            <a:spAutoFit/>
          </a:bodyPr>
          <a:lstStyle/>
          <a:p>
            <a:pPr>
              <a:lnSpc>
                <a:spcPct val="100000"/>
              </a:lnSpc>
            </a:pPr>
            <a:r>
              <a:rPr sz="900" b="0" dirty="0">
                <a:solidFill>
                  <a:schemeClr val="bg1"/>
                </a:solidFill>
                <a:latin typeface="Calibri"/>
              </a:rPr>
              <a:t>Secondary use, Chapter IV of Regulation (EU) 2025/327  ·  </a:t>
            </a:r>
            <a:r>
              <a:rPr sz="900" b="0" dirty="0" err="1">
                <a:solidFill>
                  <a:schemeClr val="bg1"/>
                </a:solidFill>
                <a:latin typeface="Calibri"/>
              </a:rPr>
              <a:t>data.europa.eu</a:t>
            </a:r>
            <a:r>
              <a:rPr sz="900" b="0" dirty="0">
                <a:solidFill>
                  <a:schemeClr val="bg1"/>
                </a:solidFill>
                <a:latin typeface="Calibri"/>
              </a:rPr>
              <a:t>/</a:t>
            </a:r>
            <a:r>
              <a:rPr sz="900" b="0" dirty="0" err="1">
                <a:solidFill>
                  <a:schemeClr val="bg1"/>
                </a:solidFill>
                <a:latin typeface="Calibri"/>
              </a:rPr>
              <a:t>eli</a:t>
            </a:r>
            <a:r>
              <a:rPr sz="900" b="0" dirty="0">
                <a:solidFill>
                  <a:schemeClr val="bg1"/>
                </a:solidFill>
                <a:latin typeface="Calibri"/>
              </a:rPr>
              <a:t>/reg/2025/327/</a:t>
            </a:r>
            <a:r>
              <a:rPr sz="900" b="0" dirty="0" err="1">
                <a:solidFill>
                  <a:schemeClr val="bg1"/>
                </a:solidFill>
                <a:latin typeface="Calibri"/>
              </a:rPr>
              <a:t>oj</a:t>
            </a:r>
            <a:endParaRPr sz="900" b="0" dirty="0">
              <a:solidFill>
                <a:schemeClr val="bg1"/>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F77FB-1B20-AB20-67FD-7E489B53462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0B58D6B-BD94-E4B3-C0D0-07530BE9265D}"/>
              </a:ext>
            </a:extLst>
          </p:cNvPr>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9265DDE-7C53-FF68-86A9-7DB68DD57819}"/>
              </a:ext>
            </a:extLst>
          </p:cNvPr>
          <p:cNvSpPr txBox="1"/>
          <p:nvPr/>
        </p:nvSpPr>
        <p:spPr>
          <a:xfrm>
            <a:off x="548640" y="292608"/>
            <a:ext cx="10972800" cy="415498"/>
          </a:xfrm>
          <a:prstGeom prst="rect">
            <a:avLst/>
          </a:prstGeom>
          <a:noFill/>
        </p:spPr>
        <p:txBody>
          <a:bodyPr wrap="square" lIns="0" tIns="0" rIns="0" bIns="0">
            <a:spAutoFit/>
          </a:bodyPr>
          <a:lstStyle/>
          <a:p>
            <a:pPr>
              <a:lnSpc>
                <a:spcPct val="100000"/>
              </a:lnSpc>
            </a:pPr>
            <a:r>
              <a:rPr lang="de-DE" sz="2700" b="1" dirty="0">
                <a:solidFill>
                  <a:srgbClr val="143D59"/>
                </a:solidFill>
                <a:latin typeface="Calibri"/>
              </a:rPr>
              <a:t>The Demo Flow of </a:t>
            </a:r>
            <a:r>
              <a:rPr lang="de-DE" sz="2700" b="1" dirty="0" err="1">
                <a:solidFill>
                  <a:srgbClr val="143D59"/>
                </a:solidFill>
                <a:latin typeface="Calibri"/>
              </a:rPr>
              <a:t>Secondary</a:t>
            </a:r>
            <a:r>
              <a:rPr lang="de-DE" sz="2700" b="1" dirty="0">
                <a:solidFill>
                  <a:srgbClr val="143D59"/>
                </a:solidFill>
                <a:latin typeface="Calibri"/>
              </a:rPr>
              <a:t> Use of  Data</a:t>
            </a:r>
            <a:endParaRPr sz="2700" b="1" dirty="0">
              <a:solidFill>
                <a:srgbClr val="143D59"/>
              </a:solidFill>
              <a:latin typeface="Calibri"/>
            </a:endParaRPr>
          </a:p>
        </p:txBody>
      </p:sp>
      <p:sp>
        <p:nvSpPr>
          <p:cNvPr id="4" name="TextBox 3">
            <a:extLst>
              <a:ext uri="{FF2B5EF4-FFF2-40B4-BE49-F238E27FC236}">
                <a16:creationId xmlns:a16="http://schemas.microsoft.com/office/drawing/2014/main" id="{F6DC921D-C579-BB6B-35A6-AE5CCC974BE9}"/>
              </a:ext>
            </a:extLst>
          </p:cNvPr>
          <p:cNvSpPr txBox="1"/>
          <p:nvPr/>
        </p:nvSpPr>
        <p:spPr>
          <a:xfrm>
            <a:off x="548640" y="859536"/>
            <a:ext cx="10972800" cy="215444"/>
          </a:xfrm>
          <a:prstGeom prst="rect">
            <a:avLst/>
          </a:prstGeom>
          <a:noFill/>
        </p:spPr>
        <p:txBody>
          <a:bodyPr wrap="square" lIns="0" tIns="0" rIns="0" bIns="0">
            <a:spAutoFit/>
          </a:bodyPr>
          <a:lstStyle/>
          <a:p>
            <a:pPr>
              <a:lnSpc>
                <a:spcPct val="100000"/>
              </a:lnSpc>
            </a:pPr>
            <a:r>
              <a:rPr lang="de-DE" sz="1400" dirty="0">
                <a:solidFill>
                  <a:srgbClr val="4F5560"/>
                </a:solidFill>
                <a:latin typeface="Calibri"/>
                <a:hlinkClick r:id="rId2"/>
              </a:rPr>
              <a:t>EHDS Integration Hub </a:t>
            </a:r>
            <a:r>
              <a:rPr lang="de-DE" sz="1400" dirty="0">
                <a:solidFill>
                  <a:srgbClr val="4F5560"/>
                </a:solidFill>
                <a:latin typeface="Calibri"/>
              </a:rPr>
              <a:t>– </a:t>
            </a:r>
            <a:r>
              <a:rPr lang="de-DE" sz="1400" dirty="0">
                <a:solidFill>
                  <a:srgbClr val="4F5560"/>
                </a:solidFill>
                <a:latin typeface="Calibri"/>
                <a:hlinkClick r:id="rId3"/>
              </a:rPr>
              <a:t>Static Mock Demo </a:t>
            </a:r>
            <a:r>
              <a:rPr lang="de-DE" sz="1400" dirty="0">
                <a:solidFill>
                  <a:srgbClr val="4F5560"/>
                </a:solidFill>
                <a:latin typeface="Calibri"/>
              </a:rPr>
              <a:t>– </a:t>
            </a:r>
            <a:r>
              <a:rPr lang="de-DE" sz="1400" dirty="0">
                <a:solidFill>
                  <a:srgbClr val="4F5560"/>
                </a:solidFill>
                <a:latin typeface="Calibri"/>
                <a:hlinkClick r:id="rId4"/>
              </a:rPr>
              <a:t>Demo Script   - </a:t>
            </a:r>
            <a:r>
              <a:rPr lang="de-DE" sz="1400" dirty="0">
                <a:solidFill>
                  <a:srgbClr val="4F5560"/>
                </a:solidFill>
                <a:hlinkClick r:id="rId5"/>
              </a:rPr>
              <a:t>Github Issue #27</a:t>
            </a:r>
            <a:r>
              <a:rPr lang="de-DE" sz="1400" dirty="0">
                <a:solidFill>
                  <a:srgbClr val="4F5560"/>
                </a:solidFill>
                <a:latin typeface="Calibri"/>
                <a:hlinkClick r:id="rId4"/>
              </a:rPr>
              <a:t> </a:t>
            </a:r>
            <a:endParaRPr sz="1400" b="0" dirty="0">
              <a:solidFill>
                <a:srgbClr val="4F5560"/>
              </a:solidFill>
              <a:latin typeface="Calibri"/>
            </a:endParaRPr>
          </a:p>
        </p:txBody>
      </p:sp>
      <p:sp>
        <p:nvSpPr>
          <p:cNvPr id="5" name="TextBox 4">
            <a:extLst>
              <a:ext uri="{FF2B5EF4-FFF2-40B4-BE49-F238E27FC236}">
                <a16:creationId xmlns:a16="http://schemas.microsoft.com/office/drawing/2014/main" id="{7A463B37-0706-508E-E873-059424008210}"/>
              </a:ext>
            </a:extLst>
          </p:cNvPr>
          <p:cNvSpPr txBox="1"/>
          <p:nvPr/>
        </p:nvSpPr>
        <p:spPr>
          <a:xfrm>
            <a:off x="548640" y="6446520"/>
            <a:ext cx="5120640" cy="274320"/>
          </a:xfrm>
          <a:prstGeom prst="rect">
            <a:avLst/>
          </a:prstGeom>
          <a:noFill/>
        </p:spPr>
        <p:txBody>
          <a:bodyPr wrap="square" lIns="0" tIns="0" rIns="0" bIns="0">
            <a:spAutoFit/>
          </a:bodyPr>
          <a:lstStyle/>
          <a:p>
            <a:pPr>
              <a:lnSpc>
                <a:spcPct val="100000"/>
              </a:lnSpc>
            </a:pPr>
            <a:r>
              <a:rPr sz="1000" b="0">
                <a:solidFill>
                  <a:srgbClr val="4F5560"/>
                </a:solidFill>
                <a:latin typeface="Calibri"/>
              </a:rPr>
              <a:t>European Health Data Space  ·  A federated approach for Spain</a:t>
            </a:r>
          </a:p>
        </p:txBody>
      </p:sp>
      <p:sp>
        <p:nvSpPr>
          <p:cNvPr id="7" name="TextBox 6">
            <a:extLst>
              <a:ext uri="{FF2B5EF4-FFF2-40B4-BE49-F238E27FC236}">
                <a16:creationId xmlns:a16="http://schemas.microsoft.com/office/drawing/2014/main" id="{D89FCF09-C76E-203F-CFAA-D5E9DB20BD28}"/>
              </a:ext>
            </a:extLst>
          </p:cNvPr>
          <p:cNvSpPr txBox="1"/>
          <p:nvPr/>
        </p:nvSpPr>
        <p:spPr>
          <a:xfrm>
            <a:off x="5852160" y="6446520"/>
            <a:ext cx="5760720" cy="138499"/>
          </a:xfrm>
          <a:prstGeom prst="rect">
            <a:avLst/>
          </a:prstGeom>
          <a:noFill/>
        </p:spPr>
        <p:txBody>
          <a:bodyPr wrap="square" lIns="0" tIns="0" rIns="0" bIns="0">
            <a:spAutoFit/>
          </a:bodyPr>
          <a:lstStyle/>
          <a:p>
            <a:pPr algn="r">
              <a:lnSpc>
                <a:spcPct val="100000"/>
              </a:lnSpc>
            </a:pPr>
            <a:r>
              <a:rPr sz="900" b="0" dirty="0">
                <a:solidFill>
                  <a:srgbClr val="8A8F98"/>
                </a:solidFill>
                <a:latin typeface="Calibri"/>
                <a:hlinkClick r:id="rId6"/>
              </a:rPr>
              <a:t>catenax-ev.github.io/docs/operating-model </a:t>
            </a:r>
            <a:r>
              <a:rPr sz="900" b="0" dirty="0">
                <a:solidFill>
                  <a:srgbClr val="8A8F98"/>
                </a:solidFill>
                <a:latin typeface="Calibri"/>
              </a:rPr>
              <a:t> </a:t>
            </a:r>
          </a:p>
        </p:txBody>
      </p:sp>
      <p:pic>
        <p:nvPicPr>
          <p:cNvPr id="8" name="Picture 7">
            <a:extLst>
              <a:ext uri="{FF2B5EF4-FFF2-40B4-BE49-F238E27FC236}">
                <a16:creationId xmlns:a16="http://schemas.microsoft.com/office/drawing/2014/main" id="{25455062-115F-6A55-3DDA-ED6D4A3163E6}"/>
              </a:ex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70560" y="1225296"/>
            <a:ext cx="11059401" cy="5167712"/>
          </a:xfrm>
          <a:prstGeom prst="rect">
            <a:avLst/>
          </a:prstGeom>
        </p:spPr>
      </p:pic>
      <p:pic>
        <p:nvPicPr>
          <p:cNvPr id="6" name="Picture 5">
            <a:extLst>
              <a:ext uri="{FF2B5EF4-FFF2-40B4-BE49-F238E27FC236}">
                <a16:creationId xmlns:a16="http://schemas.microsoft.com/office/drawing/2014/main" id="{40268D57-83F1-FECA-9A04-A27718815854}"/>
              </a:ext>
            </a:extLst>
          </p:cNvPr>
          <p:cNvPicPr>
            <a:picLocks noChangeAspect="1"/>
          </p:cNvPicPr>
          <p:nvPr/>
        </p:nvPicPr>
        <p:blipFill>
          <a:blip r:embed="rId8"/>
          <a:stretch>
            <a:fillRect/>
          </a:stretch>
        </p:blipFill>
        <p:spPr>
          <a:xfrm>
            <a:off x="9722817" y="197581"/>
            <a:ext cx="2466136" cy="2338229"/>
          </a:xfrm>
          <a:prstGeom prst="rect">
            <a:avLst/>
          </a:prstGeom>
        </p:spPr>
      </p:pic>
    </p:spTree>
    <p:extLst>
      <p:ext uri="{BB962C8B-B14F-4D97-AF65-F5344CB8AC3E}">
        <p14:creationId xmlns:p14="http://schemas.microsoft.com/office/powerpoint/2010/main" val="25989405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92608"/>
            <a:ext cx="10972800" cy="502920"/>
          </a:xfrm>
          <a:prstGeom prst="rect">
            <a:avLst/>
          </a:prstGeom>
          <a:noFill/>
        </p:spPr>
        <p:txBody>
          <a:bodyPr wrap="square" lIns="0" tIns="0" rIns="0" bIns="0">
            <a:spAutoFit/>
          </a:bodyPr>
          <a:lstStyle/>
          <a:p>
            <a:pPr>
              <a:lnSpc>
                <a:spcPct val="100000"/>
              </a:lnSpc>
            </a:pPr>
            <a:r>
              <a:rPr sz="2700" b="1">
                <a:solidFill>
                  <a:srgbClr val="143D59"/>
                </a:solidFill>
                <a:latin typeface="Calibri"/>
              </a:rPr>
              <a:t>What the demonstration shows</a:t>
            </a:r>
          </a:p>
        </p:txBody>
      </p:sp>
      <p:sp>
        <p:nvSpPr>
          <p:cNvPr id="4" name="TextBox 3"/>
          <p:cNvSpPr txBox="1"/>
          <p:nvPr/>
        </p:nvSpPr>
        <p:spPr>
          <a:xfrm>
            <a:off x="548640" y="859536"/>
            <a:ext cx="10972800" cy="365760"/>
          </a:xfrm>
          <a:prstGeom prst="rect">
            <a:avLst/>
          </a:prstGeom>
          <a:noFill/>
        </p:spPr>
        <p:txBody>
          <a:bodyPr wrap="square" lIns="0" tIns="0" rIns="0" bIns="0">
            <a:spAutoFit/>
          </a:bodyPr>
          <a:lstStyle/>
          <a:p>
            <a:pPr>
              <a:lnSpc>
                <a:spcPct val="100000"/>
              </a:lnSpc>
            </a:pPr>
            <a:r>
              <a:rPr sz="1400" b="0">
                <a:solidFill>
                  <a:srgbClr val="4F5560"/>
                </a:solidFill>
                <a:latin typeface="Calibri"/>
              </a:rPr>
              <a:t>The whole journey, from registration to an audited result. Synthetic data, real protocols.</a:t>
            </a:r>
          </a:p>
        </p:txBody>
      </p:sp>
      <p:sp>
        <p:nvSpPr>
          <p:cNvPr id="5" name="TextBox 4"/>
          <p:cNvSpPr txBox="1"/>
          <p:nvPr/>
        </p:nvSpPr>
        <p:spPr>
          <a:xfrm>
            <a:off x="548640" y="6446520"/>
            <a:ext cx="5120640" cy="274320"/>
          </a:xfrm>
          <a:prstGeom prst="rect">
            <a:avLst/>
          </a:prstGeom>
          <a:noFill/>
        </p:spPr>
        <p:txBody>
          <a:bodyPr wrap="square" lIns="0" tIns="0" r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ehds-secondary-journey-bilingual.png"/>
          <p:cNvPicPr>
            <a:picLocks noChangeAspect="1"/>
          </p:cNvPicPr>
          <p:nvPr/>
        </p:nvPicPr>
        <p:blipFill>
          <a:blip r:embed="rId2"/>
          <a:stretch>
            <a:fillRect/>
          </a:stretch>
        </p:blipFill>
        <p:spPr>
          <a:xfrm>
            <a:off x="1645920" y="1289304"/>
            <a:ext cx="8897112" cy="4937760"/>
          </a:xfrm>
          <a:prstGeom prst="rect">
            <a:avLst/>
          </a:prstGeom>
        </p:spPr>
      </p:pic>
      <p:sp>
        <p:nvSpPr>
          <p:cNvPr id="7" name="TextBox 6"/>
          <p:cNvSpPr txBox="1"/>
          <p:nvPr/>
        </p:nvSpPr>
        <p:spPr>
          <a:xfrm>
            <a:off x="5852160" y="6446520"/>
            <a:ext cx="5760720" cy="138499"/>
          </a:xfrm>
          <a:prstGeom prst="rect">
            <a:avLst/>
          </a:prstGeom>
          <a:noFill/>
        </p:spPr>
        <p:txBody>
          <a:bodyPr wrap="square" lIns="0" tIns="0" rIns="0" bIns="0">
            <a:spAutoFit/>
          </a:bodyPr>
          <a:lstStyle/>
          <a:p>
            <a:pPr algn="r">
              <a:lnSpc>
                <a:spcPct val="100000"/>
              </a:lnSpc>
            </a:pPr>
            <a:r>
              <a:rPr sz="900" b="0" dirty="0">
                <a:solidFill>
                  <a:srgbClr val="8A8F98"/>
                </a:solidFill>
                <a:latin typeface="Calibri"/>
              </a:rPr>
              <a:t>Live: </a:t>
            </a:r>
            <a:r>
              <a:rPr sz="900" b="0" dirty="0">
                <a:solidFill>
                  <a:srgbClr val="8A8F98"/>
                </a:solidFill>
                <a:latin typeface="Calibri"/>
                <a:hlinkClick r:id="rId3"/>
              </a:rPr>
              <a:t>ehds.mabu.red  </a:t>
            </a:r>
            <a:r>
              <a:rPr sz="900" b="0" dirty="0">
                <a:solidFill>
                  <a:srgbClr val="8A8F98"/>
                </a:solidFill>
                <a:latin typeface="Calibri"/>
              </a:rPr>
              <a:t>·  </a:t>
            </a:r>
            <a:r>
              <a:rPr lang="de-DE" sz="900" b="0" dirty="0">
                <a:solidFill>
                  <a:srgbClr val="8A8F98"/>
                </a:solidFill>
                <a:latin typeface="Calibri"/>
              </a:rPr>
              <a:t>Static</a:t>
            </a:r>
            <a:r>
              <a:rPr sz="900" b="0" dirty="0">
                <a:solidFill>
                  <a:srgbClr val="8A8F98"/>
                </a:solidFill>
                <a:latin typeface="Calibri"/>
              </a:rPr>
              <a:t>: </a:t>
            </a:r>
            <a:r>
              <a:rPr sz="900" b="0" dirty="0">
                <a:solidFill>
                  <a:srgbClr val="8A8F98"/>
                </a:solidFill>
                <a:latin typeface="Calibri"/>
                <a:hlinkClick r:id="rId4"/>
              </a:rPr>
              <a:t>ma3u.github.io/MinimumViableHealthDataspacev2</a:t>
            </a:r>
            <a:endParaRPr sz="900" b="0" dirty="0">
              <a:solidFill>
                <a:srgbClr val="8A8F98"/>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92608"/>
            <a:ext cx="10972800" cy="502920"/>
          </a:xfrm>
          <a:prstGeom prst="rect">
            <a:avLst/>
          </a:prstGeom>
          <a:noFill/>
        </p:spPr>
        <p:txBody>
          <a:bodyPr wrap="square" lIns="0" tIns="0" rIns="0" bIns="0">
            <a:spAutoFit/>
          </a:bodyPr>
          <a:lstStyle/>
          <a:p>
            <a:r>
              <a:rPr sz="2700" b="1" dirty="0">
                <a:solidFill>
                  <a:srgbClr val="143D59"/>
                </a:solidFill>
                <a:latin typeface="Calibri"/>
              </a:rPr>
              <a:t>A proposed operating model for the EHDS</a:t>
            </a:r>
          </a:p>
        </p:txBody>
      </p:sp>
      <p:sp>
        <p:nvSpPr>
          <p:cNvPr id="4" name="TextBox 3"/>
          <p:cNvSpPr txBox="1"/>
          <p:nvPr/>
        </p:nvSpPr>
        <p:spPr>
          <a:xfrm>
            <a:off x="548640" y="859536"/>
            <a:ext cx="7237900" cy="430887"/>
          </a:xfrm>
          <a:prstGeom prst="rect">
            <a:avLst/>
          </a:prstGeom>
          <a:noFill/>
        </p:spPr>
        <p:txBody>
          <a:bodyPr wrap="square" lIns="0" tIns="0" rIns="0" bIns="0">
            <a:spAutoFit/>
          </a:bodyPr>
          <a:lstStyle/>
          <a:p>
            <a:r>
              <a:rPr lang="de-DE" sz="1400" b="0" dirty="0">
                <a:solidFill>
                  <a:srgbClr val="4F5560"/>
                </a:solidFill>
                <a:latin typeface="Calibri"/>
              </a:rPr>
              <a:t>Based on </a:t>
            </a:r>
            <a:r>
              <a:rPr lang="de-DE" sz="1400" b="0" dirty="0" err="1">
                <a:solidFill>
                  <a:srgbClr val="4F5560"/>
                </a:solidFill>
                <a:latin typeface="Calibri"/>
              </a:rPr>
              <a:t>my</a:t>
            </a:r>
            <a:r>
              <a:rPr lang="de-DE" sz="1400" b="0" dirty="0">
                <a:solidFill>
                  <a:srgbClr val="4F5560"/>
                </a:solidFill>
                <a:latin typeface="Calibri"/>
              </a:rPr>
              <a:t> </a:t>
            </a:r>
            <a:r>
              <a:rPr lang="de-DE" sz="1400" b="0" dirty="0" err="1">
                <a:solidFill>
                  <a:srgbClr val="4F5560"/>
                </a:solidFill>
                <a:latin typeface="Calibri"/>
              </a:rPr>
              <a:t>expierenced</a:t>
            </a:r>
            <a:r>
              <a:rPr lang="de-DE" sz="1400" b="0" dirty="0">
                <a:solidFill>
                  <a:srgbClr val="4F5560"/>
                </a:solidFill>
                <a:latin typeface="Calibri"/>
              </a:rPr>
              <a:t> of </a:t>
            </a:r>
            <a:r>
              <a:rPr lang="de-DE" sz="1400" b="0" dirty="0" err="1">
                <a:solidFill>
                  <a:srgbClr val="4F5560"/>
                </a:solidFill>
                <a:latin typeface="Calibri"/>
              </a:rPr>
              <a:t>my</a:t>
            </a:r>
            <a:r>
              <a:rPr lang="de-DE" sz="1400" b="0" dirty="0">
                <a:solidFill>
                  <a:srgbClr val="4F5560"/>
                </a:solidFill>
                <a:latin typeface="Calibri"/>
              </a:rPr>
              <a:t> </a:t>
            </a:r>
            <a:r>
              <a:rPr lang="de-DE" sz="1400" b="0" dirty="0" err="1">
                <a:solidFill>
                  <a:srgbClr val="4F5560"/>
                </a:solidFill>
                <a:latin typeface="Calibri"/>
              </a:rPr>
              <a:t>Product</a:t>
            </a:r>
            <a:r>
              <a:rPr lang="de-DE" sz="1400" b="0" dirty="0">
                <a:solidFill>
                  <a:srgbClr val="4F5560"/>
                </a:solidFill>
                <a:latin typeface="Calibri"/>
              </a:rPr>
              <a:t> Lead of the Operating Company for Global Supply Chain </a:t>
            </a:r>
            <a:r>
              <a:rPr lang="de-DE" sz="1400" b="0" dirty="0" err="1">
                <a:solidFill>
                  <a:srgbClr val="4F5560"/>
                </a:solidFill>
                <a:latin typeface="Calibri"/>
              </a:rPr>
              <a:t>Dataspace</a:t>
            </a:r>
            <a:r>
              <a:rPr lang="de-DE" sz="1400" dirty="0">
                <a:solidFill>
                  <a:srgbClr val="4F5560"/>
                </a:solidFill>
                <a:latin typeface="Calibri"/>
              </a:rPr>
              <a:t>, i </a:t>
            </a:r>
            <a:r>
              <a:rPr lang="de-DE" sz="1400" dirty="0" err="1">
                <a:solidFill>
                  <a:srgbClr val="4F5560"/>
                </a:solidFill>
                <a:latin typeface="Calibri"/>
              </a:rPr>
              <a:t>see</a:t>
            </a:r>
            <a:r>
              <a:rPr lang="de-DE" sz="1400" dirty="0">
                <a:solidFill>
                  <a:srgbClr val="4F5560"/>
                </a:solidFill>
                <a:latin typeface="Calibri"/>
              </a:rPr>
              <a:t> 3 </a:t>
            </a:r>
            <a:r>
              <a:rPr lang="de-DE" sz="1400" dirty="0" err="1">
                <a:solidFill>
                  <a:srgbClr val="4F5560"/>
                </a:solidFill>
                <a:latin typeface="Calibri"/>
              </a:rPr>
              <a:t>layers</a:t>
            </a:r>
            <a:r>
              <a:rPr lang="de-DE" sz="1400" dirty="0">
                <a:solidFill>
                  <a:srgbClr val="4F5560"/>
                </a:solidFill>
                <a:latin typeface="Calibri"/>
              </a:rPr>
              <a:t> of </a:t>
            </a:r>
            <a:r>
              <a:rPr lang="de-DE" sz="1400" dirty="0" err="1">
                <a:solidFill>
                  <a:srgbClr val="4F5560"/>
                </a:solidFill>
                <a:latin typeface="Calibri"/>
              </a:rPr>
              <a:t>responsabilities</a:t>
            </a:r>
            <a:r>
              <a:rPr lang="de-DE" sz="1400" dirty="0">
                <a:solidFill>
                  <a:srgbClr val="4F5560"/>
                </a:solidFill>
                <a:latin typeface="Calibri"/>
              </a:rPr>
              <a:t>.</a:t>
            </a:r>
            <a:endParaRPr sz="1400" b="0" dirty="0">
              <a:solidFill>
                <a:srgbClr val="4F5560"/>
              </a:solidFill>
              <a:latin typeface="Calibri"/>
            </a:endParaRPr>
          </a:p>
        </p:txBody>
      </p:sp>
      <p:pic>
        <p:nvPicPr>
          <p:cNvPr id="5" name="Picture 4" descr="ehds-layers-simple.png"/>
          <p:cNvPicPr>
            <a:picLocks noChangeAspect="1"/>
          </p:cNvPicPr>
          <p:nvPr/>
        </p:nvPicPr>
        <p:blipFill>
          <a:blip r:embed="rId2"/>
          <a:stretch>
            <a:fillRect/>
          </a:stretch>
        </p:blipFill>
        <p:spPr>
          <a:xfrm>
            <a:off x="182878" y="2374139"/>
            <a:ext cx="11823195" cy="3941065"/>
          </a:xfrm>
          <a:prstGeom prst="rect">
            <a:avLst/>
          </a:prstGeom>
        </p:spPr>
      </p:pic>
      <p:sp>
        <p:nvSpPr>
          <p:cNvPr id="6" name="TextBox 5"/>
          <p:cNvSpPr txBox="1"/>
          <p:nvPr/>
        </p:nvSpPr>
        <p:spPr>
          <a:xfrm>
            <a:off x="548640" y="6446520"/>
            <a:ext cx="5120640" cy="274320"/>
          </a:xfrm>
          <a:prstGeom prst="rect">
            <a:avLst/>
          </a:prstGeom>
          <a:noFill/>
        </p:spPr>
        <p:txBody>
          <a:bodyPr wrap="square" lIns="0" tIns="0" rIns="0" bIns="0">
            <a:spAutoFit/>
          </a:bodyPr>
          <a:lstStyle/>
          <a:p>
            <a:r>
              <a:rPr sz="1000" b="0">
                <a:solidFill>
                  <a:srgbClr val="4F5560"/>
                </a:solidFill>
                <a:latin typeface="Calibri"/>
              </a:rPr>
              <a:t>European Health Data Space  ·  A federated approach for Spain</a:t>
            </a:r>
          </a:p>
        </p:txBody>
      </p:sp>
      <p:sp>
        <p:nvSpPr>
          <p:cNvPr id="7" name="TextBox 6"/>
          <p:cNvSpPr txBox="1"/>
          <p:nvPr/>
        </p:nvSpPr>
        <p:spPr>
          <a:xfrm>
            <a:off x="5852160" y="6446520"/>
            <a:ext cx="5760720" cy="138499"/>
          </a:xfrm>
          <a:prstGeom prst="rect">
            <a:avLst/>
          </a:prstGeom>
          <a:noFill/>
        </p:spPr>
        <p:txBody>
          <a:bodyPr wrap="square" lIns="0" tIns="0" rIns="0" bIns="0">
            <a:spAutoFit/>
          </a:bodyPr>
          <a:lstStyle/>
          <a:p>
            <a:pPr algn="r"/>
            <a:r>
              <a:rPr sz="900" b="0" dirty="0">
                <a:solidFill>
                  <a:srgbClr val="8A8F98"/>
                </a:solidFill>
                <a:latin typeface="Calibri"/>
                <a:hlinkClick r:id="rId3"/>
              </a:rPr>
              <a:t>Reg. (EU) 2025/327, Chapter IV  </a:t>
            </a:r>
            <a:r>
              <a:rPr sz="900" b="0" dirty="0">
                <a:solidFill>
                  <a:srgbClr val="8A8F98"/>
                </a:solidFill>
                <a:latin typeface="Calibri"/>
              </a:rPr>
              <a:t>·  </a:t>
            </a:r>
            <a:r>
              <a:rPr sz="900" b="0" dirty="0" err="1">
                <a:solidFill>
                  <a:srgbClr val="8A8F98"/>
                </a:solidFill>
                <a:latin typeface="Calibri"/>
                <a:hlinkClick r:id="rId4"/>
              </a:rPr>
              <a:t>catenax-ev.github.io</a:t>
            </a:r>
            <a:r>
              <a:rPr sz="900" b="0" dirty="0">
                <a:solidFill>
                  <a:srgbClr val="8A8F98"/>
                </a:solidFill>
                <a:latin typeface="Calibri"/>
                <a:hlinkClick r:id="rId4"/>
              </a:rPr>
              <a:t>/docs/operating-model</a:t>
            </a:r>
            <a:endParaRPr sz="900" b="0" dirty="0">
              <a:solidFill>
                <a:srgbClr val="8A8F98"/>
              </a:solidFill>
              <a:latin typeface="Calibri"/>
            </a:endParaRPr>
          </a:p>
        </p:txBody>
      </p:sp>
      <p:pic>
        <p:nvPicPr>
          <p:cNvPr id="8" name="Picture 7" descr="Catena-X Data Ecosystem">
            <a:extLst>
              <a:ext uri="{FF2B5EF4-FFF2-40B4-BE49-F238E27FC236}">
                <a16:creationId xmlns:a16="http://schemas.microsoft.com/office/drawing/2014/main" id="{C0802BBF-EDA5-9258-07D6-A57E2C336F71}"/>
              </a:ext>
            </a:extLst>
          </p:cNvPr>
          <p:cNvPicPr>
            <a:picLocks noChangeAspect="1"/>
          </p:cNvPicPr>
          <p:nvPr/>
        </p:nvPicPr>
        <p:blipFill>
          <a:blip r:embed="rId5"/>
          <a:stretch>
            <a:fillRect/>
          </a:stretch>
        </p:blipFill>
        <p:spPr>
          <a:xfrm>
            <a:off x="8135332" y="174019"/>
            <a:ext cx="3585328" cy="20160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1EBD8EC-84F4-D7A2-6FCD-75AA302A7110}"/>
              </a:ext>
            </a:extLst>
          </p:cNvPr>
          <p:cNvPicPr>
            <a:picLocks noChangeAspect="1"/>
          </p:cNvPicPr>
          <p:nvPr/>
        </p:nvPicPr>
        <p:blipFill>
          <a:blip r:embed="rId2"/>
          <a:stretch>
            <a:fillRect/>
          </a:stretch>
        </p:blipFill>
        <p:spPr>
          <a:xfrm>
            <a:off x="75415" y="897748"/>
            <a:ext cx="5882325" cy="5939041"/>
          </a:xfrm>
          <a:prstGeom prst="rect">
            <a:avLst/>
          </a:prstGeom>
        </p:spPr>
      </p:pic>
      <p:sp>
        <p:nvSpPr>
          <p:cNvPr id="4" name="TextBox 3">
            <a:extLst>
              <a:ext uri="{FF2B5EF4-FFF2-40B4-BE49-F238E27FC236}">
                <a16:creationId xmlns:a16="http://schemas.microsoft.com/office/drawing/2014/main" id="{40E26356-8503-A89F-4C1F-B47A8FDF97F1}"/>
              </a:ext>
            </a:extLst>
          </p:cNvPr>
          <p:cNvSpPr txBox="1"/>
          <p:nvPr/>
        </p:nvSpPr>
        <p:spPr>
          <a:xfrm>
            <a:off x="75415" y="6376390"/>
            <a:ext cx="2066826" cy="646331"/>
          </a:xfrm>
          <a:prstGeom prst="rect">
            <a:avLst/>
          </a:prstGeom>
          <a:noFill/>
        </p:spPr>
        <p:txBody>
          <a:bodyPr wrap="square">
            <a:spAutoFit/>
          </a:bodyPr>
          <a:lstStyle/>
          <a:p>
            <a:r>
              <a:rPr lang="en-DE" dirty="0">
                <a:hlinkClick r:id="rId3"/>
              </a:rPr>
              <a:t>https://sphin-x.de</a:t>
            </a:r>
            <a:endParaRPr lang="en-DE" dirty="0"/>
          </a:p>
          <a:p>
            <a:endParaRPr lang="en-DE" dirty="0"/>
          </a:p>
        </p:txBody>
      </p:sp>
      <p:pic>
        <p:nvPicPr>
          <p:cNvPr id="5" name="Picture 4">
            <a:extLst>
              <a:ext uri="{FF2B5EF4-FFF2-40B4-BE49-F238E27FC236}">
                <a16:creationId xmlns:a16="http://schemas.microsoft.com/office/drawing/2014/main" id="{6E8BACB0-28C5-0F07-8A03-03EAE438DFD8}"/>
              </a:ext>
            </a:extLst>
          </p:cNvPr>
          <p:cNvPicPr>
            <a:picLocks noChangeAspect="1"/>
          </p:cNvPicPr>
          <p:nvPr/>
        </p:nvPicPr>
        <p:blipFill>
          <a:blip r:embed="rId4"/>
          <a:stretch>
            <a:fillRect/>
          </a:stretch>
        </p:blipFill>
        <p:spPr>
          <a:xfrm>
            <a:off x="6234263" y="829883"/>
            <a:ext cx="5957738" cy="6006908"/>
          </a:xfrm>
          <a:prstGeom prst="rect">
            <a:avLst/>
          </a:prstGeom>
        </p:spPr>
      </p:pic>
      <p:sp>
        <p:nvSpPr>
          <p:cNvPr id="6" name="TextBox 5">
            <a:extLst>
              <a:ext uri="{FF2B5EF4-FFF2-40B4-BE49-F238E27FC236}">
                <a16:creationId xmlns:a16="http://schemas.microsoft.com/office/drawing/2014/main" id="{A41A4B56-E253-8811-8AB0-D5E6674D2D5C}"/>
              </a:ext>
            </a:extLst>
          </p:cNvPr>
          <p:cNvSpPr txBox="1"/>
          <p:nvPr/>
        </p:nvSpPr>
        <p:spPr>
          <a:xfrm>
            <a:off x="10125174" y="6053224"/>
            <a:ext cx="2066826" cy="646331"/>
          </a:xfrm>
          <a:prstGeom prst="rect">
            <a:avLst/>
          </a:prstGeom>
          <a:noFill/>
        </p:spPr>
        <p:txBody>
          <a:bodyPr wrap="square">
            <a:spAutoFit/>
          </a:bodyPr>
          <a:lstStyle/>
          <a:p>
            <a:r>
              <a:rPr lang="en-GB" dirty="0">
                <a:hlinkClick r:id="rId5"/>
              </a:rPr>
              <a:t>https://ehda-ev.eu</a:t>
            </a:r>
            <a:endParaRPr lang="en-GB" dirty="0"/>
          </a:p>
          <a:p>
            <a:endParaRPr lang="en-DE" dirty="0"/>
          </a:p>
        </p:txBody>
      </p:sp>
      <p:sp>
        <p:nvSpPr>
          <p:cNvPr id="7" name="TextBox 6">
            <a:extLst>
              <a:ext uri="{FF2B5EF4-FFF2-40B4-BE49-F238E27FC236}">
                <a16:creationId xmlns:a16="http://schemas.microsoft.com/office/drawing/2014/main" id="{C60E644F-5409-0468-EDB9-BBD456C24B76}"/>
              </a:ext>
            </a:extLst>
          </p:cNvPr>
          <p:cNvSpPr txBox="1"/>
          <p:nvPr/>
        </p:nvSpPr>
        <p:spPr>
          <a:xfrm>
            <a:off x="548640" y="292608"/>
            <a:ext cx="10972800" cy="415498"/>
          </a:xfrm>
          <a:prstGeom prst="rect">
            <a:avLst/>
          </a:prstGeom>
          <a:noFill/>
        </p:spPr>
        <p:txBody>
          <a:bodyPr wrap="square" lIns="0" tIns="0" rIns="0" bIns="0">
            <a:spAutoFit/>
          </a:bodyPr>
          <a:lstStyle/>
          <a:p>
            <a:r>
              <a:rPr lang="de-DE" sz="2700" b="1" dirty="0">
                <a:solidFill>
                  <a:srgbClr val="143D59"/>
                </a:solidFill>
                <a:latin typeface="Calibri"/>
              </a:rPr>
              <a:t>EHDS </a:t>
            </a:r>
            <a:r>
              <a:rPr lang="de-DE" sz="2700" b="1" dirty="0" err="1">
                <a:solidFill>
                  <a:srgbClr val="143D59"/>
                </a:solidFill>
                <a:latin typeface="Calibri"/>
              </a:rPr>
              <a:t>Initatives</a:t>
            </a:r>
            <a:r>
              <a:rPr lang="de-DE" sz="2700" b="1" dirty="0">
                <a:solidFill>
                  <a:srgbClr val="143D59"/>
                </a:solidFill>
                <a:latin typeface="Calibri"/>
              </a:rPr>
              <a:t> in Germany</a:t>
            </a:r>
            <a:endParaRPr sz="2700" b="1" dirty="0">
              <a:solidFill>
                <a:srgbClr val="143D59"/>
              </a:solidFill>
              <a:latin typeface="Calibri"/>
            </a:endParaRPr>
          </a:p>
        </p:txBody>
      </p:sp>
      <p:sp>
        <p:nvSpPr>
          <p:cNvPr id="8" name="TextBox 7">
            <a:extLst>
              <a:ext uri="{FF2B5EF4-FFF2-40B4-BE49-F238E27FC236}">
                <a16:creationId xmlns:a16="http://schemas.microsoft.com/office/drawing/2014/main" id="{E7870941-05AF-B8C1-F6C9-E7B3DBD9F1DE}"/>
              </a:ext>
            </a:extLst>
          </p:cNvPr>
          <p:cNvSpPr txBox="1"/>
          <p:nvPr/>
        </p:nvSpPr>
        <p:spPr>
          <a:xfrm>
            <a:off x="548640" y="671324"/>
            <a:ext cx="7237900" cy="215444"/>
          </a:xfrm>
          <a:prstGeom prst="rect">
            <a:avLst/>
          </a:prstGeom>
          <a:noFill/>
        </p:spPr>
        <p:txBody>
          <a:bodyPr wrap="square" lIns="0" tIns="0" rIns="0" bIns="0">
            <a:spAutoFit/>
          </a:bodyPr>
          <a:lstStyle/>
          <a:p>
            <a:r>
              <a:rPr lang="de-DE" sz="1400" b="0" dirty="0" err="1">
                <a:solidFill>
                  <a:srgbClr val="4F5560"/>
                </a:solidFill>
                <a:latin typeface="Calibri"/>
              </a:rPr>
              <a:t>Sphin</a:t>
            </a:r>
            <a:r>
              <a:rPr lang="de-DE" sz="1400" b="0" dirty="0">
                <a:solidFill>
                  <a:srgbClr val="4F5560"/>
                </a:solidFill>
                <a:latin typeface="Calibri"/>
              </a:rPr>
              <a:t>-x </a:t>
            </a:r>
            <a:r>
              <a:rPr lang="de-DE" sz="1400" b="0" dirty="0" err="1">
                <a:solidFill>
                  <a:srgbClr val="4F5560"/>
                </a:solidFill>
                <a:latin typeface="Calibri"/>
              </a:rPr>
              <a:t>focus</a:t>
            </a:r>
            <a:r>
              <a:rPr lang="de-DE" sz="1400" b="0" dirty="0">
                <a:solidFill>
                  <a:srgbClr val="4F5560"/>
                </a:solidFill>
                <a:latin typeface="Calibri"/>
              </a:rPr>
              <a:t> on Research and </a:t>
            </a:r>
            <a:r>
              <a:rPr lang="de-DE" sz="1400" b="0" dirty="0" err="1">
                <a:solidFill>
                  <a:srgbClr val="4F5560"/>
                </a:solidFill>
                <a:latin typeface="Calibri"/>
              </a:rPr>
              <a:t>Pharma</a:t>
            </a:r>
            <a:r>
              <a:rPr lang="de-DE" sz="1400" b="0" dirty="0">
                <a:solidFill>
                  <a:srgbClr val="4F5560"/>
                </a:solidFill>
                <a:latin typeface="Calibri"/>
              </a:rPr>
              <a:t> </a:t>
            </a:r>
            <a:r>
              <a:rPr lang="de-DE" sz="1400" b="0" dirty="0" err="1">
                <a:solidFill>
                  <a:srgbClr val="4F5560"/>
                </a:solidFill>
                <a:latin typeface="Calibri"/>
              </a:rPr>
              <a:t>industry</a:t>
            </a:r>
            <a:endParaRPr sz="1400" b="0" dirty="0">
              <a:solidFill>
                <a:srgbClr val="4F5560"/>
              </a:solidFill>
              <a:latin typeface="Calibri"/>
            </a:endParaRPr>
          </a:p>
        </p:txBody>
      </p:sp>
      <p:sp>
        <p:nvSpPr>
          <p:cNvPr id="9" name="TextBox 8">
            <a:extLst>
              <a:ext uri="{FF2B5EF4-FFF2-40B4-BE49-F238E27FC236}">
                <a16:creationId xmlns:a16="http://schemas.microsoft.com/office/drawing/2014/main" id="{B06D00EE-8BF2-739A-5189-74801CC10741}"/>
              </a:ext>
            </a:extLst>
          </p:cNvPr>
          <p:cNvSpPr txBox="1"/>
          <p:nvPr/>
        </p:nvSpPr>
        <p:spPr>
          <a:xfrm>
            <a:off x="7431778" y="671324"/>
            <a:ext cx="7237900" cy="215444"/>
          </a:xfrm>
          <a:prstGeom prst="rect">
            <a:avLst/>
          </a:prstGeom>
          <a:noFill/>
        </p:spPr>
        <p:txBody>
          <a:bodyPr wrap="square" lIns="0" tIns="0" rIns="0" bIns="0">
            <a:spAutoFit/>
          </a:bodyPr>
          <a:lstStyle/>
          <a:p>
            <a:r>
              <a:rPr lang="de-DE" sz="1400" b="0" dirty="0">
                <a:solidFill>
                  <a:srgbClr val="4F5560"/>
                </a:solidFill>
                <a:latin typeface="Calibri"/>
              </a:rPr>
              <a:t>EHDA </a:t>
            </a:r>
            <a:r>
              <a:rPr lang="de-DE" sz="1400" b="0" dirty="0" err="1">
                <a:solidFill>
                  <a:srgbClr val="4F5560"/>
                </a:solidFill>
                <a:latin typeface="Calibri"/>
              </a:rPr>
              <a:t>focus</a:t>
            </a:r>
            <a:r>
              <a:rPr lang="de-DE" sz="1400" b="0" dirty="0">
                <a:solidFill>
                  <a:srgbClr val="4F5560"/>
                </a:solidFill>
                <a:latin typeface="Calibri"/>
              </a:rPr>
              <a:t> on Research and Hospitals</a:t>
            </a:r>
            <a:endParaRPr sz="1400" b="0" dirty="0">
              <a:solidFill>
                <a:srgbClr val="4F5560"/>
              </a:solidFill>
              <a:latin typeface="Calibri"/>
            </a:endParaRPr>
          </a:p>
        </p:txBody>
      </p:sp>
    </p:spTree>
    <p:extLst>
      <p:ext uri="{BB962C8B-B14F-4D97-AF65-F5344CB8AC3E}">
        <p14:creationId xmlns:p14="http://schemas.microsoft.com/office/powerpoint/2010/main" val="31360460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92608"/>
            <a:ext cx="10972800" cy="502920"/>
          </a:xfrm>
          <a:prstGeom prst="rect">
            <a:avLst/>
          </a:prstGeom>
          <a:noFill/>
        </p:spPr>
        <p:txBody>
          <a:bodyPr wrap="square" lIns="0" tIns="0" rIns="0" bIns="0">
            <a:spAutoFit/>
          </a:bodyPr>
          <a:lstStyle/>
          <a:p>
            <a:pPr>
              <a:lnSpc>
                <a:spcPct val="100000"/>
              </a:lnSpc>
            </a:pPr>
            <a:r>
              <a:rPr sz="2700" b="1">
                <a:solidFill>
                  <a:srgbClr val="143D59"/>
                </a:solidFill>
                <a:latin typeface="Calibri"/>
              </a:rPr>
              <a:t>What Catena-X teaches an EHDS operating company</a:t>
            </a:r>
          </a:p>
        </p:txBody>
      </p:sp>
      <p:sp>
        <p:nvSpPr>
          <p:cNvPr id="4" name="TextBox 3"/>
          <p:cNvSpPr txBox="1"/>
          <p:nvPr/>
        </p:nvSpPr>
        <p:spPr>
          <a:xfrm>
            <a:off x="548640" y="859536"/>
            <a:ext cx="10972800" cy="365760"/>
          </a:xfrm>
          <a:prstGeom prst="rect">
            <a:avLst/>
          </a:prstGeom>
          <a:noFill/>
        </p:spPr>
        <p:txBody>
          <a:bodyPr wrap="square" lIns="0" tIns="0" rIns="0" bIns="0">
            <a:spAutoFit/>
          </a:bodyPr>
          <a:lstStyle/>
          <a:p>
            <a:pPr>
              <a:lnSpc>
                <a:spcPct val="100000"/>
              </a:lnSpc>
            </a:pPr>
            <a:r>
              <a:rPr sz="1400" b="0">
                <a:solidFill>
                  <a:srgbClr val="4F5560"/>
                </a:solidFill>
                <a:latin typeface="Calibri"/>
              </a:rPr>
              <a:t>Six lessons from running the automotive dataspace, and where each one lands in the Regulation.</a:t>
            </a:r>
          </a:p>
        </p:txBody>
      </p:sp>
      <p:sp>
        <p:nvSpPr>
          <p:cNvPr id="5" name="TextBox 4"/>
          <p:cNvSpPr txBox="1"/>
          <p:nvPr/>
        </p:nvSpPr>
        <p:spPr>
          <a:xfrm>
            <a:off x="548640" y="6446520"/>
            <a:ext cx="5120640" cy="274320"/>
          </a:xfrm>
          <a:prstGeom prst="rect">
            <a:avLst/>
          </a:prstGeom>
          <a:noFill/>
        </p:spPr>
        <p:txBody>
          <a:bodyPr wrap="square" lIns="0" tIns="0" r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ehds-operating-model-wide.png"/>
          <p:cNvPicPr>
            <a:picLocks noChangeAspect="1"/>
          </p:cNvPicPr>
          <p:nvPr/>
        </p:nvPicPr>
        <p:blipFill>
          <a:blip r:embed="rId2"/>
          <a:stretch>
            <a:fillRect/>
          </a:stretch>
        </p:blipFill>
        <p:spPr>
          <a:xfrm>
            <a:off x="434340" y="1289304"/>
            <a:ext cx="10866120" cy="4862588"/>
          </a:xfrm>
          <a:prstGeom prst="rect">
            <a:avLst/>
          </a:prstGeom>
        </p:spPr>
      </p:pic>
      <p:sp>
        <p:nvSpPr>
          <p:cNvPr id="7" name="TextBox 6"/>
          <p:cNvSpPr txBox="1"/>
          <p:nvPr/>
        </p:nvSpPr>
        <p:spPr>
          <a:xfrm>
            <a:off x="5852160" y="6446520"/>
            <a:ext cx="5760720" cy="274320"/>
          </a:xfrm>
          <a:prstGeom prst="rect">
            <a:avLst/>
          </a:prstGeom>
          <a:noFill/>
        </p:spPr>
        <p:txBody>
          <a:bodyPr wrap="square" lIns="0" tIns="0" rIns="0" bIns="0">
            <a:spAutoFit/>
          </a:bodyPr>
          <a:lstStyle/>
          <a:p>
            <a:pPr algn="r">
              <a:lnSpc>
                <a:spcPct val="100000"/>
              </a:lnSpc>
            </a:pPr>
            <a:r>
              <a:rPr sz="900" b="0">
                <a:solidFill>
                  <a:srgbClr val="8A8F98"/>
                </a:solidFill>
                <a:latin typeface="Calibri"/>
              </a:rPr>
              <a:t>catenax-ev.github.io/docs/operating-model  ·  data.europa.eu/eli/reg/2025/327/oj  ·  cofinity-x.com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92608"/>
            <a:ext cx="10972800" cy="415498"/>
          </a:xfrm>
          <a:prstGeom prst="rect">
            <a:avLst/>
          </a:prstGeom>
          <a:noFill/>
        </p:spPr>
        <p:txBody>
          <a:bodyPr wrap="square" lIns="0" tIns="0" rIns="0" bIns="0">
            <a:spAutoFit/>
          </a:bodyPr>
          <a:lstStyle/>
          <a:p>
            <a:r>
              <a:rPr lang="de-DE" sz="2700" b="1" dirty="0" err="1">
                <a:solidFill>
                  <a:srgbClr val="143D59"/>
                </a:solidFill>
                <a:latin typeface="Calibri"/>
              </a:rPr>
              <a:t>Answers</a:t>
            </a:r>
            <a:r>
              <a:rPr lang="de-DE" sz="2700" b="1" dirty="0">
                <a:solidFill>
                  <a:srgbClr val="143D59"/>
                </a:solidFill>
                <a:latin typeface="Calibri"/>
              </a:rPr>
              <a:t> to </a:t>
            </a:r>
            <a:r>
              <a:rPr lang="de-DE" sz="2700" b="1" dirty="0" err="1">
                <a:solidFill>
                  <a:srgbClr val="143D59"/>
                </a:solidFill>
                <a:latin typeface="Calibri"/>
              </a:rPr>
              <a:t>your</a:t>
            </a:r>
            <a:r>
              <a:rPr lang="de-DE" sz="2700" b="1" dirty="0">
                <a:solidFill>
                  <a:srgbClr val="143D59"/>
                </a:solidFill>
                <a:latin typeface="Calibri"/>
              </a:rPr>
              <a:t> </a:t>
            </a:r>
            <a:r>
              <a:rPr sz="2700" b="1" dirty="0">
                <a:solidFill>
                  <a:srgbClr val="143D59"/>
                </a:solidFill>
                <a:latin typeface="Calibri"/>
              </a:rPr>
              <a:t>questions</a:t>
            </a:r>
          </a:p>
        </p:txBody>
      </p:sp>
      <p:sp>
        <p:nvSpPr>
          <p:cNvPr id="4" name="TextBox 3"/>
          <p:cNvSpPr txBox="1"/>
          <p:nvPr/>
        </p:nvSpPr>
        <p:spPr>
          <a:xfrm>
            <a:off x="548640" y="859536"/>
            <a:ext cx="10972800" cy="365760"/>
          </a:xfrm>
          <a:prstGeom prst="rect">
            <a:avLst/>
          </a:prstGeom>
          <a:noFill/>
        </p:spPr>
        <p:txBody>
          <a:bodyPr wrap="square" lIns="0" tIns="0" rIns="0" bIns="0">
            <a:spAutoFit/>
          </a:bodyPr>
          <a:lstStyle/>
          <a:p>
            <a:r>
              <a:rPr sz="1400" b="0" dirty="0">
                <a:solidFill>
                  <a:srgbClr val="4F5560"/>
                </a:solidFill>
                <a:latin typeface="Calibri"/>
              </a:rPr>
              <a:t>The scope you asked about, how each part would work, and which of them belong to an operator at all.</a:t>
            </a:r>
          </a:p>
        </p:txBody>
      </p:sp>
      <p:pic>
        <p:nvPicPr>
          <p:cNvPr id="5" name="Picture 4" descr="ehds-customer-questions.png"/>
          <p:cNvPicPr>
            <a:picLocks noChangeAspect="1"/>
          </p:cNvPicPr>
          <p:nvPr/>
        </p:nvPicPr>
        <p:blipFill>
          <a:blip r:embed="rId2"/>
          <a:stretch>
            <a:fillRect/>
          </a:stretch>
        </p:blipFill>
        <p:spPr>
          <a:xfrm>
            <a:off x="608076" y="1517904"/>
            <a:ext cx="10972800" cy="4581144"/>
          </a:xfrm>
          <a:prstGeom prst="rect">
            <a:avLst/>
          </a:prstGeom>
        </p:spPr>
      </p:pic>
      <p:sp>
        <p:nvSpPr>
          <p:cNvPr id="6" name="TextBox 5"/>
          <p:cNvSpPr txBox="1"/>
          <p:nvPr/>
        </p:nvSpPr>
        <p:spPr>
          <a:xfrm>
            <a:off x="548640" y="6446520"/>
            <a:ext cx="5120640" cy="274320"/>
          </a:xfrm>
          <a:prstGeom prst="rect">
            <a:avLst/>
          </a:prstGeom>
          <a:noFill/>
        </p:spPr>
        <p:txBody>
          <a:bodyPr wrap="square" lIns="0" tIns="0" rIns="0" bIns="0">
            <a:spAutoFit/>
          </a:bodyPr>
          <a:lstStyle/>
          <a:p>
            <a:r>
              <a:rPr sz="1000" b="0">
                <a:solidFill>
                  <a:srgbClr val="4F5560"/>
                </a:solidFill>
                <a:latin typeface="Calibri"/>
              </a:rPr>
              <a:t>European Health Data Space  ·  A federated approach for Spain</a:t>
            </a:r>
          </a:p>
        </p:txBody>
      </p:sp>
      <p:sp>
        <p:nvSpPr>
          <p:cNvPr id="7" name="TextBox 6"/>
          <p:cNvSpPr txBox="1"/>
          <p:nvPr/>
        </p:nvSpPr>
        <p:spPr>
          <a:xfrm>
            <a:off x="5852160" y="6446520"/>
            <a:ext cx="5760720" cy="274320"/>
          </a:xfrm>
          <a:prstGeom prst="rect">
            <a:avLst/>
          </a:prstGeom>
          <a:noFill/>
        </p:spPr>
        <p:txBody>
          <a:bodyPr wrap="square" lIns="0" tIns="0" rIns="0" bIns="0">
            <a:spAutoFit/>
          </a:bodyPr>
          <a:lstStyle/>
          <a:p>
            <a:pPr algn="r"/>
            <a:r>
              <a:rPr sz="900" b="0">
                <a:solidFill>
                  <a:srgbClr val="8A8F98"/>
                </a:solidFill>
                <a:latin typeface="Calibri"/>
              </a:rPr>
              <a:t>Reg. (EU) 2025/327, Art. 57, 60, 62, 63, 73, 77, 78, 82, 105  ·  ISO/IEC 20000, ITIL 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461665"/>
          </a:xfrm>
          <a:prstGeom prst="rect">
            <a:avLst/>
          </a:prstGeom>
          <a:noFill/>
        </p:spPr>
        <p:txBody>
          <a:bodyPr wrap="square" lIns="0" tIns="0" rIns="0" bIns="0">
            <a:spAutoFit/>
          </a:bodyPr>
          <a:lstStyle/>
          <a:p>
            <a:pPr>
              <a:lnSpc>
                <a:spcPct val="100000"/>
              </a:lnSpc>
            </a:pPr>
            <a:r>
              <a:rPr lang="de-DE" sz="3000" b="1" dirty="0" err="1">
                <a:solidFill>
                  <a:srgbClr val="143D59"/>
                </a:solidFill>
                <a:latin typeface="Calibri"/>
              </a:rPr>
              <a:t>Lets</a:t>
            </a:r>
            <a:r>
              <a:rPr lang="de-DE" sz="3000" b="1" dirty="0">
                <a:solidFill>
                  <a:srgbClr val="143D59"/>
                </a:solidFill>
                <a:latin typeface="Calibri"/>
              </a:rPr>
              <a:t> </a:t>
            </a:r>
            <a:r>
              <a:rPr lang="de-DE" sz="3000" b="1" dirty="0" err="1">
                <a:solidFill>
                  <a:srgbClr val="143D59"/>
                </a:solidFill>
                <a:latin typeface="Calibri"/>
              </a:rPr>
              <a:t>start</a:t>
            </a:r>
            <a:r>
              <a:rPr lang="de-DE" sz="3000" b="1" dirty="0">
                <a:solidFill>
                  <a:srgbClr val="143D59"/>
                </a:solidFill>
                <a:latin typeface="Calibri"/>
              </a:rPr>
              <a:t> a</a:t>
            </a:r>
            <a:r>
              <a:rPr sz="3000" b="1" dirty="0">
                <a:solidFill>
                  <a:srgbClr val="143D59"/>
                </a:solidFill>
                <a:latin typeface="Calibri"/>
              </a:rPr>
              <a:t> conversation</a:t>
            </a:r>
          </a:p>
        </p:txBody>
      </p:sp>
      <p:sp>
        <p:nvSpPr>
          <p:cNvPr id="4" name="TextBox 3"/>
          <p:cNvSpPr txBox="1"/>
          <p:nvPr/>
        </p:nvSpPr>
        <p:spPr>
          <a:xfrm>
            <a:off x="548640" y="960120"/>
            <a:ext cx="10972800" cy="411480"/>
          </a:xfrm>
          <a:prstGeom prst="rect">
            <a:avLst/>
          </a:prstGeom>
          <a:noFill/>
        </p:spPr>
        <p:txBody>
          <a:bodyPr wrap="square" lIns="0" tIns="0" rIns="0" bIns="0">
            <a:spAutoFit/>
          </a:bodyPr>
          <a:lstStyle/>
          <a:p>
            <a:pPr>
              <a:lnSpc>
                <a:spcPct val="100000"/>
              </a:lnSpc>
            </a:pPr>
            <a:r>
              <a:rPr sz="1600" b="0">
                <a:solidFill>
                  <a:srgbClr val="4F5560"/>
                </a:solidFill>
                <a:latin typeface="Calibri"/>
              </a:rPr>
              <a:t>Working together with the Ministry and the regions.</a:t>
            </a:r>
          </a:p>
        </p:txBody>
      </p:sp>
      <p:sp>
        <p:nvSpPr>
          <p:cNvPr id="5" name="TextBox 4"/>
          <p:cNvSpPr txBox="1"/>
          <p:nvPr/>
        </p:nvSpPr>
        <p:spPr>
          <a:xfrm>
            <a:off x="548640" y="6446520"/>
            <a:ext cx="5120640" cy="274320"/>
          </a:xfrm>
          <a:prstGeom prst="rect">
            <a:avLst/>
          </a:prstGeom>
          <a:noFill/>
        </p:spPr>
        <p:txBody>
          <a:bodyPr wrap="square" lIns="0" tIns="0" rIns="0" bIns="0">
            <a:spAutoFit/>
          </a:bodyPr>
          <a:lstStyle/>
          <a:p>
            <a:pPr>
              <a:lnSpc>
                <a:spcPct val="100000"/>
              </a:lnSpc>
            </a:pPr>
            <a:r>
              <a:rPr sz="1000" b="0">
                <a:solidFill>
                  <a:srgbClr val="4F5560"/>
                </a:solidFill>
                <a:latin typeface="Calibri"/>
              </a:rPr>
              <a:t>European Health Data Space  ·  A federated approach for Spain</a:t>
            </a:r>
          </a:p>
        </p:txBody>
      </p:sp>
      <p:sp>
        <p:nvSpPr>
          <p:cNvPr id="6" name="Rounded Rectangle 5"/>
          <p:cNvSpPr/>
          <p:nvPr/>
        </p:nvSpPr>
        <p:spPr>
          <a:xfrm>
            <a:off x="548640" y="1691640"/>
            <a:ext cx="5486400" cy="36576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691640"/>
            <a:ext cx="5486400" cy="38404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64792"/>
            <a:ext cx="5084064" cy="310896"/>
          </a:xfrm>
          <a:prstGeom prst="rect">
            <a:avLst/>
          </a:prstGeom>
          <a:noFill/>
        </p:spPr>
        <p:txBody>
          <a:bodyPr wrap="square" lIns="0" tIns="0" rIns="0" bIns="0">
            <a:spAutoFit/>
          </a:bodyPr>
          <a:lstStyle/>
          <a:p>
            <a:pPr>
              <a:lnSpc>
                <a:spcPct val="100000"/>
              </a:lnSpc>
            </a:pPr>
            <a:r>
              <a:rPr sz="1700" b="1">
                <a:solidFill>
                  <a:srgbClr val="FFFFFF"/>
                </a:solidFill>
                <a:latin typeface="Calibri"/>
              </a:rPr>
              <a:t>Questions for the Ministry</a:t>
            </a:r>
          </a:p>
        </p:txBody>
      </p:sp>
      <p:sp>
        <p:nvSpPr>
          <p:cNvPr id="9" name="TextBox 8"/>
          <p:cNvSpPr txBox="1"/>
          <p:nvPr/>
        </p:nvSpPr>
        <p:spPr>
          <a:xfrm>
            <a:off x="749808" y="2258568"/>
            <a:ext cx="5084064" cy="1029128"/>
          </a:xfrm>
          <a:prstGeom prst="rect">
            <a:avLst/>
          </a:prstGeom>
          <a:noFill/>
        </p:spPr>
        <p:txBody>
          <a:bodyPr wrap="square" lIns="0" tIns="0" rIns="0" bIns="0">
            <a:spAutoFit/>
          </a:bodyPr>
          <a:lstStyle/>
          <a:p>
            <a:pPr>
              <a:lnSpc>
                <a:spcPct val="108000"/>
              </a:lnSpc>
            </a:pPr>
            <a:r>
              <a:rPr sz="1250" b="0" dirty="0">
                <a:solidFill>
                  <a:srgbClr val="4F5560"/>
                </a:solidFill>
                <a:latin typeface="Calibri"/>
              </a:rPr>
              <a:t>•  One access body, or several </a:t>
            </a:r>
            <a:r>
              <a:rPr lang="de-DE" sz="1250" b="0" dirty="0">
                <a:solidFill>
                  <a:srgbClr val="4F5560"/>
                </a:solidFill>
                <a:latin typeface="Calibri"/>
              </a:rPr>
              <a:t>(for </a:t>
            </a:r>
            <a:r>
              <a:rPr lang="de-DE" sz="1250" b="0" dirty="0" err="1">
                <a:solidFill>
                  <a:srgbClr val="4F5560"/>
                </a:solidFill>
                <a:latin typeface="Calibri"/>
              </a:rPr>
              <a:t>each</a:t>
            </a:r>
            <a:r>
              <a:rPr lang="de-DE" sz="1250" b="0" dirty="0">
                <a:solidFill>
                  <a:srgbClr val="4F5560"/>
                </a:solidFill>
                <a:latin typeface="Calibri"/>
              </a:rPr>
              <a:t> </a:t>
            </a:r>
            <a:r>
              <a:rPr lang="de-DE" sz="1250" b="0" dirty="0" err="1">
                <a:solidFill>
                  <a:srgbClr val="4F5560"/>
                </a:solidFill>
                <a:latin typeface="Calibri"/>
              </a:rPr>
              <a:t>region</a:t>
            </a:r>
            <a:r>
              <a:rPr lang="de-DE" sz="1250" b="0" dirty="0">
                <a:solidFill>
                  <a:srgbClr val="4F5560"/>
                </a:solidFill>
                <a:latin typeface="Calibri"/>
              </a:rPr>
              <a:t>) </a:t>
            </a:r>
            <a:r>
              <a:rPr sz="1250" b="0" dirty="0">
                <a:solidFill>
                  <a:srgbClr val="4F5560"/>
                </a:solidFill>
                <a:latin typeface="Calibri"/>
              </a:rPr>
              <a:t>with a coordinator?   Art. 55(1)</a:t>
            </a:r>
          </a:p>
          <a:p>
            <a:pPr>
              <a:lnSpc>
                <a:spcPct val="108000"/>
              </a:lnSpc>
            </a:pPr>
            <a:r>
              <a:rPr sz="1250" b="0" dirty="0">
                <a:solidFill>
                  <a:srgbClr val="4F5560"/>
                </a:solidFill>
                <a:latin typeface="Calibri"/>
              </a:rPr>
              <a:t>•  Is the national contact point that same body, or separate?   Art. 75(1)</a:t>
            </a:r>
          </a:p>
          <a:p>
            <a:pPr>
              <a:lnSpc>
                <a:spcPct val="108000"/>
              </a:lnSpc>
            </a:pPr>
            <a:r>
              <a:rPr sz="1250" b="0" dirty="0">
                <a:solidFill>
                  <a:srgbClr val="4F5560"/>
                </a:solidFill>
                <a:latin typeface="Calibri"/>
              </a:rPr>
              <a:t>•  Does the March 2027 designation </a:t>
            </a:r>
            <a:r>
              <a:rPr lang="de-DE" sz="1250" b="0" dirty="0" err="1">
                <a:solidFill>
                  <a:srgbClr val="4F5560"/>
                </a:solidFill>
                <a:latin typeface="Calibri"/>
              </a:rPr>
              <a:t>already</a:t>
            </a:r>
            <a:r>
              <a:rPr lang="de-DE" sz="1250" b="0" dirty="0">
                <a:solidFill>
                  <a:srgbClr val="4F5560"/>
                </a:solidFill>
                <a:latin typeface="Calibri"/>
              </a:rPr>
              <a:t> </a:t>
            </a:r>
            <a:r>
              <a:rPr sz="1250" b="0" dirty="0">
                <a:solidFill>
                  <a:srgbClr val="4F5560"/>
                </a:solidFill>
                <a:latin typeface="Calibri"/>
              </a:rPr>
              <a:t>have an owner and a budget line?</a:t>
            </a:r>
          </a:p>
          <a:p>
            <a:pPr>
              <a:lnSpc>
                <a:spcPct val="108000"/>
              </a:lnSpc>
            </a:pPr>
            <a:r>
              <a:rPr sz="1250" b="0" dirty="0">
                <a:solidFill>
                  <a:srgbClr val="4F5560"/>
                </a:solidFill>
                <a:latin typeface="Calibri"/>
              </a:rPr>
              <a:t>•  Who holds the inventory of the Art. 51 data categories?</a:t>
            </a:r>
          </a:p>
          <a:p>
            <a:pPr>
              <a:lnSpc>
                <a:spcPct val="108000"/>
              </a:lnSpc>
            </a:pPr>
            <a:r>
              <a:rPr sz="1250" b="0" dirty="0">
                <a:solidFill>
                  <a:srgbClr val="4F5560"/>
                </a:solidFill>
                <a:latin typeface="Calibri"/>
              </a:rPr>
              <a:t>•  In-house entity, joint venture, or tendered concession, and by when?</a:t>
            </a:r>
          </a:p>
        </p:txBody>
      </p:sp>
      <p:sp>
        <p:nvSpPr>
          <p:cNvPr id="10" name="Rounded Rectangle 9"/>
          <p:cNvSpPr/>
          <p:nvPr/>
        </p:nvSpPr>
        <p:spPr>
          <a:xfrm>
            <a:off x="6263640" y="1691640"/>
            <a:ext cx="5486400" cy="36576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63640" y="1691640"/>
            <a:ext cx="5486400" cy="3840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64807" y="1764792"/>
            <a:ext cx="5084064" cy="310896"/>
          </a:xfrm>
          <a:prstGeom prst="rect">
            <a:avLst/>
          </a:prstGeom>
          <a:noFill/>
        </p:spPr>
        <p:txBody>
          <a:bodyPr wrap="square" lIns="0" tIns="0" rIns="0" bIns="0">
            <a:spAutoFit/>
          </a:bodyPr>
          <a:lstStyle/>
          <a:p>
            <a:pPr>
              <a:lnSpc>
                <a:spcPct val="100000"/>
              </a:lnSpc>
            </a:pPr>
            <a:r>
              <a:rPr sz="1700" b="1">
                <a:solidFill>
                  <a:srgbClr val="FFFFFF"/>
                </a:solidFill>
                <a:latin typeface="Calibri"/>
              </a:rPr>
              <a:t>What we bring to the table</a:t>
            </a:r>
          </a:p>
        </p:txBody>
      </p:sp>
      <p:sp>
        <p:nvSpPr>
          <p:cNvPr id="13" name="TextBox 12"/>
          <p:cNvSpPr txBox="1"/>
          <p:nvPr/>
        </p:nvSpPr>
        <p:spPr>
          <a:xfrm>
            <a:off x="6464807" y="2258568"/>
            <a:ext cx="5084064" cy="1286506"/>
          </a:xfrm>
          <a:prstGeom prst="rect">
            <a:avLst/>
          </a:prstGeom>
          <a:noFill/>
        </p:spPr>
        <p:txBody>
          <a:bodyPr wrap="square" lIns="0" tIns="0" rIns="0" bIns="0">
            <a:spAutoFit/>
          </a:bodyPr>
          <a:lstStyle/>
          <a:p>
            <a:pPr>
              <a:lnSpc>
                <a:spcPct val="108000"/>
              </a:lnSpc>
            </a:pPr>
            <a:r>
              <a:rPr sz="1300" b="0" dirty="0">
                <a:solidFill>
                  <a:srgbClr val="4F5560"/>
                </a:solidFill>
                <a:latin typeface="Calibri"/>
              </a:rPr>
              <a:t>•  A working live demonstration with realistic data.</a:t>
            </a:r>
          </a:p>
          <a:p>
            <a:pPr>
              <a:lnSpc>
                <a:spcPct val="108000"/>
              </a:lnSpc>
            </a:pPr>
            <a:r>
              <a:rPr sz="1300" b="0" dirty="0">
                <a:solidFill>
                  <a:srgbClr val="4F5560"/>
                </a:solidFill>
                <a:latin typeface="Calibri"/>
              </a:rPr>
              <a:t>•  Experience federating data across European regions.</a:t>
            </a:r>
          </a:p>
          <a:p>
            <a:pPr>
              <a:lnSpc>
                <a:spcPct val="108000"/>
              </a:lnSpc>
            </a:pPr>
            <a:r>
              <a:rPr sz="1300" b="0" dirty="0">
                <a:solidFill>
                  <a:srgbClr val="4F5560"/>
                </a:solidFill>
                <a:latin typeface="Calibri"/>
              </a:rPr>
              <a:t>•  Templates for the legal, </a:t>
            </a:r>
            <a:r>
              <a:rPr sz="1300" b="0" dirty="0" err="1">
                <a:solidFill>
                  <a:srgbClr val="4F5560"/>
                </a:solidFill>
                <a:latin typeface="Calibri"/>
              </a:rPr>
              <a:t>organisational</a:t>
            </a:r>
            <a:r>
              <a:rPr sz="1300" b="0" dirty="0">
                <a:solidFill>
                  <a:srgbClr val="4F5560"/>
                </a:solidFill>
                <a:latin typeface="Calibri"/>
              </a:rPr>
              <a:t> and operational setup.</a:t>
            </a:r>
          </a:p>
          <a:p>
            <a:pPr>
              <a:lnSpc>
                <a:spcPct val="108000"/>
              </a:lnSpc>
            </a:pPr>
            <a:r>
              <a:rPr sz="1300" b="0" dirty="0">
                <a:solidFill>
                  <a:srgbClr val="4F5560"/>
                </a:solidFill>
                <a:latin typeface="Calibri"/>
              </a:rPr>
              <a:t>•  A roadmap aligned with the European timetable.</a:t>
            </a:r>
          </a:p>
          <a:p>
            <a:pPr>
              <a:lnSpc>
                <a:spcPct val="108000"/>
              </a:lnSpc>
            </a:pPr>
            <a:r>
              <a:rPr sz="1300" b="0" dirty="0">
                <a:solidFill>
                  <a:srgbClr val="4F5560"/>
                </a:solidFill>
                <a:latin typeface="Calibri"/>
              </a:rPr>
              <a:t>•  </a:t>
            </a:r>
            <a:r>
              <a:rPr lang="de-DE" sz="1300" b="0" dirty="0" err="1">
                <a:solidFill>
                  <a:srgbClr val="4F5560"/>
                </a:solidFill>
                <a:latin typeface="Calibri"/>
              </a:rPr>
              <a:t>Our</a:t>
            </a:r>
            <a:r>
              <a:rPr sz="1300" b="0" dirty="0">
                <a:solidFill>
                  <a:srgbClr val="4F5560"/>
                </a:solidFill>
                <a:latin typeface="Calibri"/>
              </a:rPr>
              <a:t> team that has done this before, </a:t>
            </a:r>
            <a:r>
              <a:rPr lang="de-DE" sz="1300" b="0" dirty="0">
                <a:solidFill>
                  <a:srgbClr val="4F5560"/>
                </a:solidFill>
                <a:latin typeface="Calibri"/>
              </a:rPr>
              <a:t>Catena-X and SIMPL</a:t>
            </a:r>
            <a:r>
              <a:rPr sz="1300" b="0" dirty="0">
                <a:solidFill>
                  <a:srgbClr val="4F5560"/>
                </a:solidFill>
                <a:latin typeface="Calibri"/>
              </a:rPr>
              <a:t>.</a:t>
            </a:r>
            <a:endParaRPr lang="de-DE" sz="1300" dirty="0">
              <a:solidFill>
                <a:srgbClr val="4F5560"/>
              </a:solidFill>
              <a:latin typeface="Calibri"/>
            </a:endParaRPr>
          </a:p>
          <a:p>
            <a:pPr>
              <a:lnSpc>
                <a:spcPct val="108000"/>
              </a:lnSpc>
            </a:pPr>
            <a:r>
              <a:rPr lang="en-DE" sz="1300" dirty="0">
                <a:solidFill>
                  <a:srgbClr val="4F5560"/>
                </a:solidFill>
              </a:rPr>
              <a:t>•  </a:t>
            </a:r>
            <a:r>
              <a:rPr lang="en-DE" sz="1300" dirty="0">
                <a:solidFill>
                  <a:srgbClr val="4F5560"/>
                </a:solidFill>
                <a:latin typeface="Calibri"/>
              </a:rPr>
              <a:t>Onboarding process Business Wallet and EUDI-Wallet</a:t>
            </a:r>
            <a:endParaRPr sz="1300" b="0" dirty="0">
              <a:solidFill>
                <a:srgbClr val="4F5560"/>
              </a:solidFill>
              <a:latin typeface="Calibri"/>
            </a:endParaRPr>
          </a:p>
        </p:txBody>
      </p:sp>
      <p:sp>
        <p:nvSpPr>
          <p:cNvPr id="14" name="Rounded Rectangle 13"/>
          <p:cNvSpPr/>
          <p:nvPr/>
        </p:nvSpPr>
        <p:spPr>
          <a:xfrm>
            <a:off x="548640" y="5532120"/>
            <a:ext cx="11091672" cy="7772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5532120"/>
            <a:ext cx="164592" cy="7772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 y="5696712"/>
            <a:ext cx="10424160" cy="462050"/>
          </a:xfrm>
          <a:prstGeom prst="rect">
            <a:avLst/>
          </a:prstGeom>
          <a:noFill/>
        </p:spPr>
        <p:txBody>
          <a:bodyPr wrap="square" lIns="0" tIns="0" rIns="0" bIns="0">
            <a:spAutoFit/>
          </a:bodyPr>
          <a:lstStyle/>
          <a:p>
            <a:pPr>
              <a:lnSpc>
                <a:spcPct val="110000"/>
              </a:lnSpc>
            </a:pPr>
            <a:r>
              <a:rPr sz="1400" b="0" dirty="0">
                <a:solidFill>
                  <a:srgbClr val="4F5560"/>
                </a:solidFill>
                <a:latin typeface="Calibri"/>
              </a:rPr>
              <a:t>The access body and the national contact point must be designated by March 2027, and Chapter IV applies in full from March 2029. Counting procurement, that is about two release years away.</a:t>
            </a:r>
            <a:r>
              <a:rPr lang="de-DE" sz="1400" b="0" dirty="0">
                <a:solidFill>
                  <a:srgbClr val="4F5560"/>
                </a:solidFill>
                <a:latin typeface="Calibri"/>
              </a:rPr>
              <a:t> With the EHDS Integration Hub </a:t>
            </a:r>
            <a:r>
              <a:rPr lang="de-DE" sz="1400" b="0" dirty="0" err="1">
                <a:solidFill>
                  <a:srgbClr val="4F5560"/>
                </a:solidFill>
                <a:latin typeface="Calibri"/>
              </a:rPr>
              <a:t>you</a:t>
            </a:r>
            <a:r>
              <a:rPr lang="de-DE" sz="1400" b="0" dirty="0">
                <a:solidFill>
                  <a:srgbClr val="4F5560"/>
                </a:solidFill>
                <a:latin typeface="Calibri"/>
              </a:rPr>
              <a:t> </a:t>
            </a:r>
            <a:r>
              <a:rPr lang="de-DE" sz="1400" b="0" dirty="0" err="1">
                <a:solidFill>
                  <a:srgbClr val="4F5560"/>
                </a:solidFill>
                <a:latin typeface="Calibri"/>
              </a:rPr>
              <a:t>have</a:t>
            </a:r>
            <a:r>
              <a:rPr lang="de-DE" sz="1400" b="0" dirty="0">
                <a:solidFill>
                  <a:srgbClr val="4F5560"/>
                </a:solidFill>
                <a:latin typeface="Calibri"/>
              </a:rPr>
              <a:t> a </a:t>
            </a:r>
            <a:r>
              <a:rPr lang="de-DE" sz="1400" b="0" dirty="0" err="1">
                <a:solidFill>
                  <a:srgbClr val="4F5560"/>
                </a:solidFill>
                <a:latin typeface="Calibri"/>
              </a:rPr>
              <a:t>excellent</a:t>
            </a:r>
            <a:r>
              <a:rPr lang="de-DE" sz="1400" b="0" dirty="0">
                <a:solidFill>
                  <a:srgbClr val="4F5560"/>
                </a:solidFill>
                <a:latin typeface="Calibri"/>
              </a:rPr>
              <a:t> </a:t>
            </a:r>
            <a:r>
              <a:rPr lang="de-DE" sz="1400" b="0" dirty="0" err="1">
                <a:solidFill>
                  <a:srgbClr val="4F5560"/>
                </a:solidFill>
                <a:latin typeface="Calibri"/>
              </a:rPr>
              <a:t>tie</a:t>
            </a:r>
            <a:r>
              <a:rPr lang="de-DE" sz="1400" b="0" dirty="0">
                <a:solidFill>
                  <a:srgbClr val="4F5560"/>
                </a:solidFill>
                <a:latin typeface="Calibri"/>
              </a:rPr>
              <a:t> to </a:t>
            </a:r>
            <a:r>
              <a:rPr lang="de-DE" sz="1400" b="0" dirty="0" err="1">
                <a:solidFill>
                  <a:srgbClr val="4F5560"/>
                </a:solidFill>
                <a:latin typeface="Calibri"/>
              </a:rPr>
              <a:t>market</a:t>
            </a:r>
            <a:r>
              <a:rPr lang="de-DE" sz="1400" b="0" dirty="0">
                <a:solidFill>
                  <a:srgbClr val="4F5560"/>
                </a:solidFill>
                <a:latin typeface="Calibri"/>
              </a:rPr>
              <a:t>.</a:t>
            </a:r>
            <a:endParaRPr sz="1400" b="0" dirty="0">
              <a:solidFill>
                <a:srgbClr val="4F5560"/>
              </a:solidFill>
              <a:latin typeface="Calibri"/>
            </a:endParaRPr>
          </a:p>
        </p:txBody>
      </p:sp>
      <p:sp>
        <p:nvSpPr>
          <p:cNvPr id="17" name="TextBox 16"/>
          <p:cNvSpPr txBox="1"/>
          <p:nvPr/>
        </p:nvSpPr>
        <p:spPr>
          <a:xfrm>
            <a:off x="5852160" y="6446520"/>
            <a:ext cx="5760720" cy="274320"/>
          </a:xfrm>
          <a:prstGeom prst="rect">
            <a:avLst/>
          </a:prstGeom>
          <a:noFill/>
        </p:spPr>
        <p:txBody>
          <a:bodyPr wrap="square" lIns="0" tIns="0" rIns="0" bIns="0">
            <a:spAutoFit/>
          </a:bodyPr>
          <a:lstStyle/>
          <a:p>
            <a:pPr algn="r">
              <a:lnSpc>
                <a:spcPct val="100000"/>
              </a:lnSpc>
            </a:pPr>
            <a:r>
              <a:rPr sz="900" b="0">
                <a:solidFill>
                  <a:srgbClr val="8A8F98"/>
                </a:solidFill>
                <a:latin typeface="Calibri"/>
              </a:rPr>
              <a:t>Reg. (EU) 2025/327, Art. 55(6), 75(1), 105  ·  Paper: docs/ehds-operating-company.md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cb6fd903-57fa-4e35-95d9-ed5985171563}" enabled="1" method="Standard" siteId="{8b87af7d-8647-4dc7-8df4-5f69a2011bb5}" contentBits="3" removed="0"/>
</clbl:labelList>
</file>

<file path=docProps/app.xml><?xml version="1.0" encoding="utf-8"?>
<Properties xmlns="http://schemas.openxmlformats.org/officeDocument/2006/extended-properties" xmlns:vt="http://schemas.openxmlformats.org/officeDocument/2006/docPropsVTypes">
  <TotalTime>262</TotalTime>
  <Words>684</Words>
  <Application>Microsoft Macintosh PowerPoint</Application>
  <PresentationFormat>Widescreen</PresentationFormat>
  <Paragraphs>56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Tahoma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Connected Health System for Spain</dc:title>
  <dc:subject>European Health Data Space, five slides</dc:subject>
  <dc:creator>Matthias Buchhorn</dc:creator>
  <cp:keywords/>
  <dc:description>generated using python-pptx</dc:description>
  <cp:lastModifiedBy>BUCHHORN-ROTH Matthias</cp:lastModifiedBy>
  <cp:revision>10</cp:revision>
  <dcterms:created xsi:type="dcterms:W3CDTF">2013-01-27T09:14:16Z</dcterms:created>
  <dcterms:modified xsi:type="dcterms:W3CDTF">2026-09-17T12:39:32Z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Theme:8</vt:lpwstr>
  </property>
  <property fmtid="{D5CDD505-2E9C-101B-9397-08002B2CF9AE}" pid="3" name="ClassificationContentMarkingFooterText">
    <vt:lpwstr>C2 - Eingeschränkte Verwendung</vt:lpwstr>
  </property>
</Properties>
</file>