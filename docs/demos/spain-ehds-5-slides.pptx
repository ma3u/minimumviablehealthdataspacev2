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" y="-18288"/>
            <a:ext cx="12134088" cy="385876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384048" y="868680"/>
            <a:ext cx="9592056" cy="2606040"/>
          </a:xfrm>
          <a:prstGeom prst="rect">
            <a:avLst/>
          </a:prstGeom>
          <a:solidFill>
            <a:srgbClr val="143D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3840480"/>
            <a:ext cx="12188952" cy="228600"/>
          </a:xfrm>
          <a:prstGeom prst="rect">
            <a:avLst/>
          </a:prstGeom>
          <a:solidFill>
            <a:srgbClr val="E6A8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4069080"/>
            <a:ext cx="12188952" cy="73152"/>
          </a:xfrm>
          <a:prstGeom prst="rect">
            <a:avLst/>
          </a:prstGeom>
          <a:solidFill>
            <a:srgbClr val="C31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143000"/>
            <a:ext cx="1069848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4200" b="1">
                <a:solidFill>
                  <a:srgbClr val="FFFFFF"/>
                </a:solidFill>
                <a:latin typeface="Calibri"/>
              </a:rPr>
              <a:t>A Connected Health System for Spain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240280"/>
            <a:ext cx="106984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2200" b="0">
                <a:solidFill>
                  <a:srgbClr val="FFFFFF"/>
                </a:solidFill>
                <a:latin typeface="Calibri"/>
              </a:rPr>
              <a:t>One health record that follows the citizen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788920"/>
            <a:ext cx="106984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2000" b="1">
                <a:solidFill>
                  <a:srgbClr val="E6A817"/>
                </a:solidFill>
                <a:latin typeface="Calibri"/>
              </a:rPr>
              <a:t>across the 17 regions of Spain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4389120"/>
            <a:ext cx="3566160" cy="1554480"/>
          </a:xfrm>
          <a:prstGeom prst="roundRect">
            <a:avLst>
              <a:gd name="adj" fmla="val 5000"/>
            </a:avLst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48640" y="4389120"/>
            <a:ext cx="3566160" cy="146304"/>
          </a:xfrm>
          <a:prstGeom prst="rect">
            <a:avLst/>
          </a:prstGeom>
          <a:solidFill>
            <a:srgbClr val="C31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4617720"/>
            <a:ext cx="31089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700" b="1">
                <a:solidFill>
                  <a:srgbClr val="143D59"/>
                </a:solidFill>
                <a:latin typeface="Calibri"/>
              </a:rPr>
              <a:t>Patients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4983480"/>
            <a:ext cx="310896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8000"/>
              </a:lnSpc>
            </a:pPr>
            <a:r>
              <a:rPr sz="1150" b="0">
                <a:solidFill>
                  <a:srgbClr val="4F5560"/>
                </a:solidFill>
                <a:latin typeface="Calibri"/>
              </a:rPr>
              <a:t>A citizen who lives in Madrid and falls ill in Seville cannot share their medical history easily.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5623560"/>
            <a:ext cx="31089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100" b="1">
                <a:solidFill>
                  <a:srgbClr val="C31E2E"/>
                </a:solidFill>
                <a:latin typeface="Calibri"/>
              </a:rPr>
              <a:t>Art. 3: their own record, at once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315968" y="4389120"/>
            <a:ext cx="3566160" cy="1554480"/>
          </a:xfrm>
          <a:prstGeom prst="roundRect">
            <a:avLst>
              <a:gd name="adj" fmla="val 5000"/>
            </a:avLst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315968" y="4389120"/>
            <a:ext cx="3566160" cy="146304"/>
          </a:xfrm>
          <a:prstGeom prst="rect">
            <a:avLst/>
          </a:prstGeom>
          <a:solidFill>
            <a:srgbClr val="E6A8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44568" y="4617720"/>
            <a:ext cx="31089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700" b="1">
                <a:solidFill>
                  <a:srgbClr val="143D59"/>
                </a:solidFill>
                <a:latin typeface="Calibri"/>
              </a:rPr>
              <a:t>Doctors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44568" y="4983480"/>
            <a:ext cx="310896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8000"/>
              </a:lnSpc>
            </a:pPr>
            <a:r>
              <a:rPr sz="1150" b="0">
                <a:solidFill>
                  <a:srgbClr val="4F5560"/>
                </a:solidFill>
                <a:latin typeface="Calibri"/>
              </a:rPr>
              <a:t>Hospitals in another region cannot see the care a patient already received, so tests are repeated.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44568" y="5623560"/>
            <a:ext cx="31089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100" b="1">
                <a:solidFill>
                  <a:srgbClr val="E6A817"/>
                </a:solidFill>
                <a:latin typeface="Calibri"/>
              </a:rPr>
              <a:t>Art. 11: access at the bedside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083296" y="4389120"/>
            <a:ext cx="3566160" cy="1554480"/>
          </a:xfrm>
          <a:prstGeom prst="roundRect">
            <a:avLst>
              <a:gd name="adj" fmla="val 5000"/>
            </a:avLst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083296" y="4389120"/>
            <a:ext cx="3566160" cy="146304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311896" y="4617720"/>
            <a:ext cx="31089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700" b="1">
                <a:solidFill>
                  <a:srgbClr val="143D59"/>
                </a:solidFill>
                <a:latin typeface="Calibri"/>
              </a:rPr>
              <a:t>Across Europe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11896" y="4983480"/>
            <a:ext cx="310896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8000"/>
              </a:lnSpc>
            </a:pPr>
            <a:r>
              <a:rPr sz="1150" b="0">
                <a:solidFill>
                  <a:srgbClr val="4F5560"/>
                </a:solidFill>
                <a:latin typeface="Calibri"/>
              </a:rPr>
              <a:t>A prescription issued in Spain should be dispensable in any Member State. Today it usually is not.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11896" y="5623560"/>
            <a:ext cx="31089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100" b="1">
                <a:solidFill>
                  <a:srgbClr val="2A9D8F"/>
                </a:solidFill>
                <a:latin typeface="Calibri"/>
              </a:rPr>
              <a:t>Art. 23: MyHealth@EU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8640" y="608076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300" b="1">
                <a:solidFill>
                  <a:srgbClr val="143D59"/>
                </a:solidFill>
                <a:latin typeface="Calibri"/>
              </a:rPr>
              <a:t>Spain's strength is regional autonomy. The cost is fragmentation.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48640" y="6446520"/>
            <a:ext cx="5120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000" b="0">
                <a:solidFill>
                  <a:srgbClr val="4F5560"/>
                </a:solidFill>
                <a:latin typeface="Calibri"/>
              </a:rPr>
              <a:t>European Health Data Space  ·  A federated approach for Spain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852160" y="6446520"/>
            <a:ext cx="5760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8A8F98"/>
                </a:solidFill>
                <a:latin typeface="Calibri"/>
              </a:rPr>
              <a:t>Primary use, Chapter II of Regulation (EU) 2025/327  ·  data.europa.eu/eli/reg/2025/327/oj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64592"/>
          </a:xfrm>
          <a:prstGeom prst="rect">
            <a:avLst/>
          </a:prstGeom>
          <a:solidFill>
            <a:srgbClr val="143D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92608"/>
            <a:ext cx="1097280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2700" b="1">
                <a:solidFill>
                  <a:srgbClr val="143D59"/>
                </a:solidFill>
                <a:latin typeface="Calibri"/>
              </a:rPr>
              <a:t>When care does not follow the citizen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859536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400" b="0">
                <a:solidFill>
                  <a:srgbClr val="4F5560"/>
                </a:solidFill>
                <a:latin typeface="Calibri"/>
              </a:rPr>
              <a:t>Primary use. Continuous, safe care across all 17 regions, and across the border.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46520"/>
            <a:ext cx="5120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000" b="0">
                <a:solidFill>
                  <a:srgbClr val="4F5560"/>
                </a:solidFill>
                <a:latin typeface="Calibri"/>
              </a:rPr>
              <a:t>European Health Data Space  ·  A federated approach for Spain</a:t>
            </a:r>
          </a:p>
        </p:txBody>
      </p:sp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325880"/>
            <a:ext cx="6583680" cy="493776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7360920" y="1325880"/>
            <a:ext cx="4279392" cy="3200400"/>
          </a:xfrm>
          <a:prstGeom prst="roundRect">
            <a:avLst>
              <a:gd name="adj" fmla="val 5000"/>
            </a:avLst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360920" y="1325880"/>
            <a:ext cx="4279392" cy="384048"/>
          </a:xfrm>
          <a:prstGeom prst="rect">
            <a:avLst/>
          </a:prstGeom>
          <a:solidFill>
            <a:srgbClr val="143D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562088" y="1399032"/>
            <a:ext cx="3877055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Calibri"/>
              </a:rPr>
              <a:t>What the citizen gets, by right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562088" y="1892807"/>
            <a:ext cx="3877055" cy="2468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8000"/>
              </a:lnSpc>
            </a:pPr>
            <a:r>
              <a:rPr sz="1250" b="0">
                <a:solidFill>
                  <a:srgbClr val="4F5560"/>
                </a:solidFill>
                <a:latin typeface="Calibri"/>
              </a:rPr>
              <a:t>•  See their own record, at once and free   Art. 3</a:t>
            </a:r>
          </a:p>
          <a:p>
            <a:pPr>
              <a:lnSpc>
                <a:spcPct val="108000"/>
              </a:lnSpc>
            </a:pPr>
            <a:r>
              <a:rPr sz="1250" b="0">
                <a:solidFill>
                  <a:srgbClr val="4F5560"/>
                </a:solidFill>
                <a:latin typeface="Calibri"/>
              </a:rPr>
              <a:t>•  Add their own information to it   Art. 5</a:t>
            </a:r>
          </a:p>
          <a:p>
            <a:pPr>
              <a:lnSpc>
                <a:spcPct val="108000"/>
              </a:lnSpc>
            </a:pPr>
            <a:r>
              <a:rPr sz="1250" b="0">
                <a:solidFill>
                  <a:srgbClr val="4F5560"/>
                </a:solidFill>
                <a:latin typeface="Calibri"/>
              </a:rPr>
              <a:t>•  Have what is wrong corrected   Art. 6</a:t>
            </a:r>
          </a:p>
          <a:p>
            <a:pPr>
              <a:lnSpc>
                <a:spcPct val="108000"/>
              </a:lnSpc>
            </a:pPr>
            <a:r>
              <a:rPr sz="1250" b="0">
                <a:solidFill>
                  <a:srgbClr val="4F5560"/>
                </a:solidFill>
                <a:latin typeface="Calibri"/>
              </a:rPr>
              <a:t>•  Take a copy anywhere in the Union   Art. 7</a:t>
            </a:r>
          </a:p>
          <a:p>
            <a:pPr>
              <a:lnSpc>
                <a:spcPct val="108000"/>
              </a:lnSpc>
            </a:pPr>
            <a:r>
              <a:rPr sz="1250" b="0">
                <a:solidFill>
                  <a:srgbClr val="4F5560"/>
                </a:solidFill>
                <a:latin typeface="Calibri"/>
              </a:rPr>
              <a:t>•  Restrict who is allowed to look   Art. 8</a:t>
            </a:r>
          </a:p>
          <a:p>
            <a:pPr>
              <a:lnSpc>
                <a:spcPct val="108000"/>
              </a:lnSpc>
            </a:pPr>
            <a:r>
              <a:rPr sz="1250" b="0">
                <a:solidFill>
                  <a:srgbClr val="4F5560"/>
                </a:solidFill>
                <a:latin typeface="Calibri"/>
              </a:rPr>
              <a:t>•  See who actually did look   Art. 9</a:t>
            </a:r>
          </a:p>
          <a:p>
            <a:pPr>
              <a:lnSpc>
                <a:spcPct val="108000"/>
              </a:lnSpc>
            </a:pPr>
            <a:r>
              <a:rPr sz="1250" b="0">
                <a:solidFill>
                  <a:srgbClr val="4F5560"/>
                </a:solidFill>
                <a:latin typeface="Calibri"/>
              </a:rPr>
              <a:t>•  Opt out of primary use entirely   Art. 10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60920" y="4663440"/>
            <a:ext cx="4279392" cy="1600200"/>
          </a:xfrm>
          <a:prstGeom prst="roundRect">
            <a:avLst>
              <a:gd name="adj" fmla="val 5000"/>
            </a:avLst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360920" y="4663440"/>
            <a:ext cx="4279392" cy="384048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562088" y="4736592"/>
            <a:ext cx="3877055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Calibri"/>
              </a:rPr>
              <a:t>And it has to actually work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562088" y="5230368"/>
            <a:ext cx="3877055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8000"/>
              </a:lnSpc>
            </a:pPr>
            <a:r>
              <a:rPr sz="1200" b="0">
                <a:solidFill>
                  <a:srgbClr val="4F5560"/>
                </a:solidFill>
                <a:latin typeface="Calibri"/>
              </a:rPr>
              <a:t>One European exchange format, Art. 15. Identification that holds across a border, Art. 16. A national gateway into MyHealth@EU, Art. 23.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852160" y="6446520"/>
            <a:ext cx="5760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8A8F98"/>
                </a:solidFill>
                <a:latin typeface="Calibri"/>
              </a:rPr>
              <a:t>Reg. (EU) 2025/327, Art. 3 to 10, 15, 16, 23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64592"/>
          </a:xfrm>
          <a:prstGeom prst="rect">
            <a:avLst/>
          </a:prstGeom>
          <a:solidFill>
            <a:srgbClr val="143D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92608"/>
            <a:ext cx="1097280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2700" b="1">
                <a:solidFill>
                  <a:srgbClr val="143D59"/>
                </a:solidFill>
                <a:latin typeface="Calibri"/>
              </a:rPr>
              <a:t>Already working, on synthetic data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859536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400" b="0">
                <a:solidFill>
                  <a:srgbClr val="4F5560"/>
                </a:solidFill>
                <a:latin typeface="Calibri"/>
              </a:rPr>
              <a:t>The demonstrator's own patient view, and the six data categories Chapter II turns on.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46520"/>
            <a:ext cx="5120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000" b="0">
                <a:solidFill>
                  <a:srgbClr val="4F5560"/>
                </a:solidFill>
                <a:latin typeface="Calibri"/>
              </a:rPr>
              <a:t>European Health Data Space  ·  A federated approach for Spain</a:t>
            </a:r>
          </a:p>
        </p:txBody>
      </p:sp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325880"/>
            <a:ext cx="3922776" cy="493776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4754880" y="1325880"/>
            <a:ext cx="6885432" cy="2651760"/>
          </a:xfrm>
          <a:prstGeom prst="roundRect">
            <a:avLst>
              <a:gd name="adj" fmla="val 5000"/>
            </a:avLst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754880" y="1325880"/>
            <a:ext cx="6885432" cy="384048"/>
          </a:xfrm>
          <a:prstGeom prst="rect">
            <a:avLst/>
          </a:prstGeom>
          <a:solidFill>
            <a:srgbClr val="143D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956048" y="1399032"/>
            <a:ext cx="6483096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600" b="1">
                <a:solidFill>
                  <a:srgbClr val="FFFFFF"/>
                </a:solidFill>
                <a:latin typeface="Calibri"/>
              </a:rPr>
              <a:t>The six priority categories, and when they must be live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956048" y="1892807"/>
            <a:ext cx="6483096" cy="192023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8000"/>
              </a:lnSpc>
            </a:pPr>
            <a:r>
              <a:rPr sz="1300" b="1">
                <a:solidFill>
                  <a:srgbClr val="143D59"/>
                </a:solidFill>
                <a:latin typeface="Calibri"/>
              </a:rPr>
              <a:t>2029    </a:t>
            </a:r>
            <a:r>
              <a:rPr sz="1300" b="0">
                <a:solidFill>
                  <a:srgbClr val="4F5560"/>
                </a:solidFill>
                <a:latin typeface="Calibri"/>
              </a:rPr>
              <a:t>Patient summaries · electronic prescriptions · electronic dispensations</a:t>
            </a:r>
          </a:p>
          <a:p>
            <a:pPr>
              <a:lnSpc>
                <a:spcPct val="108000"/>
              </a:lnSpc>
            </a:pPr>
            <a:r>
              <a:rPr sz="1300" b="0">
                <a:solidFill>
                  <a:srgbClr val="4F5560"/>
                </a:solidFill>
                <a:latin typeface="Calibri"/>
              </a:rPr>
              <a:t/>
            </a:r>
          </a:p>
          <a:p>
            <a:pPr>
              <a:lnSpc>
                <a:spcPct val="108000"/>
              </a:lnSpc>
            </a:pPr>
            <a:r>
              <a:rPr sz="1300" b="1">
                <a:solidFill>
                  <a:srgbClr val="143D59"/>
                </a:solidFill>
                <a:latin typeface="Calibri"/>
              </a:rPr>
              <a:t>2031    </a:t>
            </a:r>
            <a:r>
              <a:rPr sz="1300" b="0">
                <a:solidFill>
                  <a:srgbClr val="4F5560"/>
                </a:solidFill>
                <a:latin typeface="Calibri"/>
              </a:rPr>
              <a:t>Medical imaging and reports · test results including laboratory ·</a:t>
            </a:r>
          </a:p>
          <a:p>
            <a:pPr>
              <a:lnSpc>
                <a:spcPct val="108000"/>
              </a:lnSpc>
            </a:pPr>
            <a:r>
              <a:rPr sz="1300" b="1">
                <a:solidFill>
                  <a:srgbClr val="143D59"/>
                </a:solidFill>
                <a:latin typeface="Calibri"/>
              </a:rPr>
              <a:t>              </a:t>
            </a:r>
            <a:r>
              <a:rPr sz="1300" b="0">
                <a:solidFill>
                  <a:srgbClr val="4F5560"/>
                </a:solidFill>
                <a:latin typeface="Calibri"/>
              </a:rPr>
              <a:t>discharge reports</a:t>
            </a:r>
          </a:p>
          <a:p>
            <a:pPr>
              <a:lnSpc>
                <a:spcPct val="108000"/>
              </a:lnSpc>
            </a:pPr>
            <a:r>
              <a:rPr sz="1300" b="0">
                <a:solidFill>
                  <a:srgbClr val="4F5560"/>
                </a:solidFill>
                <a:latin typeface="Calibri"/>
              </a:rPr>
              <a:t/>
            </a:r>
          </a:p>
          <a:p>
            <a:pPr>
              <a:lnSpc>
                <a:spcPct val="108000"/>
              </a:lnSpc>
            </a:pPr>
            <a:r>
              <a:rPr sz="1300" b="0">
                <a:solidFill>
                  <a:srgbClr val="4F5560"/>
                </a:solidFill>
                <a:latin typeface="Calibri"/>
              </a:rPr>
              <a:t>Art. 14(1) and Annex I. Every right on the previous slide attaches to these six.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754880" y="4160520"/>
            <a:ext cx="6885432" cy="2103120"/>
          </a:xfrm>
          <a:prstGeom prst="roundRect">
            <a:avLst>
              <a:gd name="adj" fmla="val 5000"/>
            </a:avLst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754880" y="4160520"/>
            <a:ext cx="6885432" cy="384048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956048" y="4233672"/>
            <a:ext cx="6483096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600" b="1">
                <a:solidFill>
                  <a:srgbClr val="FFFFFF"/>
                </a:solidFill>
                <a:latin typeface="Calibri"/>
              </a:rPr>
              <a:t>What you are looking at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956048" y="4727448"/>
            <a:ext cx="6483096" cy="13715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8000"/>
              </a:lnSpc>
            </a:pPr>
            <a:r>
              <a:rPr sz="1200" b="0">
                <a:solidFill>
                  <a:srgbClr val="4F5560"/>
                </a:solidFill>
                <a:latin typeface="Calibri"/>
              </a:rPr>
              <a:t>The patient view of the demonstrator. The page labels itself EHDS Art. 3 and GDPR Art. 15, shows HL7 FHIR R4 events mapped to OMOP concepts on one clinical timeline, and logs every access.</a:t>
            </a:r>
          </a:p>
          <a:p>
            <a:pPr>
              <a:lnSpc>
                <a:spcPct val="108000"/>
              </a:lnSpc>
            </a:pPr>
            <a:r>
              <a:rPr sz="1200" b="0">
                <a:solidFill>
                  <a:srgbClr val="4F5560"/>
                </a:solidFill>
                <a:latin typeface="Calibri"/>
              </a:rPr>
              <a:t/>
            </a:r>
          </a:p>
          <a:p>
            <a:pPr>
              <a:lnSpc>
                <a:spcPct val="108000"/>
              </a:lnSpc>
            </a:pPr>
            <a:r>
              <a:rPr sz="1200" b="0">
                <a:solidFill>
                  <a:srgbClr val="4F5560"/>
                </a:solidFill>
                <a:latin typeface="Calibri"/>
              </a:rPr>
              <a:t>Live at ehds.mabu.red with real sign-in, or on the static mirror that cannot fail on the day.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852160" y="6446520"/>
            <a:ext cx="5760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8A8F98"/>
                </a:solidFill>
                <a:latin typeface="Calibri"/>
              </a:rPr>
              <a:t>Reg. (EU) 2025/327, Art. 14(1), Annex I, Art. 105  ·  github.com/ma3u/MinimumViableHealthDataspacev2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64592"/>
          </a:xfrm>
          <a:prstGeom prst="rect">
            <a:avLst/>
          </a:prstGeom>
          <a:solidFill>
            <a:srgbClr val="143D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92608"/>
            <a:ext cx="1097280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2700" b="1">
                <a:solidFill>
                  <a:srgbClr val="143D59"/>
                </a:solidFill>
                <a:latin typeface="Calibri"/>
              </a:rPr>
              <a:t>A proposed operating model for primary use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859536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400" b="0">
                <a:solidFill>
                  <a:srgbClr val="4F5560"/>
                </a:solidFill>
                <a:latin typeface="Calibri"/>
              </a:rPr>
              <a:t>Chapter II cut the way Catena-X cuts a dataspace. Two of the three layers are already law.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46520"/>
            <a:ext cx="5120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000" b="0">
                <a:solidFill>
                  <a:srgbClr val="4F5560"/>
                </a:solidFill>
                <a:latin typeface="Calibri"/>
              </a:rPr>
              <a:t>European Health Data Space  ·  A federated approach for Spain</a:t>
            </a:r>
          </a:p>
        </p:txBody>
      </p:sp>
      <p:pic>
        <p:nvPicPr>
          <p:cNvPr id="6" name="Picture 5" descr="ehds-operating-model-primar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371600"/>
            <a:ext cx="11091672" cy="475488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852160" y="6446520"/>
            <a:ext cx="5760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8A8F98"/>
                </a:solidFill>
                <a:latin typeface="Calibri"/>
              </a:rPr>
              <a:t>catenax-ev.github.io/docs/operating-model  ·  data.europa.eu/eli/reg/2025/327/oj  ·  cofinity-x.com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64592"/>
          </a:xfrm>
          <a:prstGeom prst="rect">
            <a:avLst/>
          </a:prstGeom>
          <a:solidFill>
            <a:srgbClr val="143D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09728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3000" b="1">
                <a:solidFill>
                  <a:srgbClr val="143D59"/>
                </a:solidFill>
                <a:latin typeface="Calibri"/>
              </a:rPr>
              <a:t>The conversation we want to start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60120"/>
            <a:ext cx="109728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600" b="0">
                <a:solidFill>
                  <a:srgbClr val="4F5560"/>
                </a:solidFill>
                <a:latin typeface="Calibri"/>
              </a:rPr>
              <a:t>Working together with the Ministry and the regions.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46520"/>
            <a:ext cx="5120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000" b="0">
                <a:solidFill>
                  <a:srgbClr val="4F5560"/>
                </a:solidFill>
                <a:latin typeface="Calibri"/>
              </a:rPr>
              <a:t>European Health Data Space  ·  A federated approach for Spain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91640"/>
            <a:ext cx="5486400" cy="3657600"/>
          </a:xfrm>
          <a:prstGeom prst="roundRect">
            <a:avLst>
              <a:gd name="adj" fmla="val 5000"/>
            </a:avLst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1691640"/>
            <a:ext cx="5486400" cy="384048"/>
          </a:xfrm>
          <a:prstGeom prst="rect">
            <a:avLst/>
          </a:prstGeom>
          <a:solidFill>
            <a:srgbClr val="143D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49808" y="1764792"/>
            <a:ext cx="5084064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700" b="1">
                <a:solidFill>
                  <a:srgbClr val="FFFFFF"/>
                </a:solidFill>
                <a:latin typeface="Calibri"/>
              </a:rPr>
              <a:t>Questions for the Ministry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9808" y="2258568"/>
            <a:ext cx="5084064" cy="2926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8000"/>
              </a:lnSpc>
            </a:pPr>
            <a:r>
              <a:rPr sz="1250" b="0">
                <a:solidFill>
                  <a:srgbClr val="4F5560"/>
                </a:solidFill>
                <a:latin typeface="Calibri"/>
              </a:rPr>
              <a:t>•  Which body is the digital health authority, and is it staffed?   Art. 19</a:t>
            </a:r>
          </a:p>
          <a:p>
            <a:pPr>
              <a:lnSpc>
                <a:spcPct val="108000"/>
              </a:lnSpc>
            </a:pPr>
            <a:r>
              <a:rPr sz="1250" b="0">
                <a:solidFill>
                  <a:srgbClr val="4F5560"/>
                </a:solidFill>
                <a:latin typeface="Calibri"/>
              </a:rPr>
              <a:t>•  Which body is the national contact point for digital health?   Art. 23</a:t>
            </a:r>
          </a:p>
          <a:p>
            <a:pPr>
              <a:lnSpc>
                <a:spcPct val="108000"/>
              </a:lnSpc>
            </a:pPr>
            <a:r>
              <a:rPr sz="1250" b="0">
                <a:solidFill>
                  <a:srgbClr val="4F5560"/>
                </a:solidFill>
                <a:latin typeface="Calibri"/>
              </a:rPr>
              <a:t>•  Are the 17 regions able to register the six categories?   Art. 13, 14</a:t>
            </a:r>
          </a:p>
          <a:p>
            <a:pPr>
              <a:lnSpc>
                <a:spcPct val="108000"/>
              </a:lnSpc>
            </a:pPr>
            <a:r>
              <a:rPr sz="1250" b="0">
                <a:solidFill>
                  <a:srgbClr val="4F5560"/>
                </a:solidFill>
                <a:latin typeface="Calibri"/>
              </a:rPr>
              <a:t>•  Who converts records into the European format, and who pays?   Art. 15</a:t>
            </a:r>
          </a:p>
          <a:p>
            <a:pPr>
              <a:lnSpc>
                <a:spcPct val="108000"/>
              </a:lnSpc>
            </a:pPr>
            <a:r>
              <a:rPr sz="1250" b="0">
                <a:solidFill>
                  <a:srgbClr val="4F5560"/>
                </a:solidFill>
                <a:latin typeface="Calibri"/>
              </a:rPr>
              <a:t>•  In-house entity, joint venture, or tendered concession, decided by when?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691640"/>
            <a:ext cx="5486400" cy="3657600"/>
          </a:xfrm>
          <a:prstGeom prst="roundRect">
            <a:avLst>
              <a:gd name="adj" fmla="val 5000"/>
            </a:avLst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263640" y="1691640"/>
            <a:ext cx="5486400" cy="384048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64807" y="1764792"/>
            <a:ext cx="5084064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700" b="1">
                <a:solidFill>
                  <a:srgbClr val="FFFFFF"/>
                </a:solidFill>
                <a:latin typeface="Calibri"/>
              </a:rPr>
              <a:t>What we bring to the table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64807" y="2258568"/>
            <a:ext cx="5084064" cy="2926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8000"/>
              </a:lnSpc>
            </a:pPr>
            <a:r>
              <a:rPr sz="1300" b="0">
                <a:solidFill>
                  <a:srgbClr val="4F5560"/>
                </a:solidFill>
                <a:latin typeface="Calibri"/>
              </a:rPr>
              <a:t>•  A working live demonstration with realistic data.</a:t>
            </a:r>
          </a:p>
          <a:p>
            <a:pPr>
              <a:lnSpc>
                <a:spcPct val="108000"/>
              </a:lnSpc>
            </a:pPr>
            <a:r>
              <a:rPr sz="1300" b="0">
                <a:solidFill>
                  <a:srgbClr val="4F5560"/>
                </a:solidFill>
                <a:latin typeface="Calibri"/>
              </a:rPr>
              <a:t>•  Experience federating data across European regions.</a:t>
            </a:r>
          </a:p>
          <a:p>
            <a:pPr>
              <a:lnSpc>
                <a:spcPct val="108000"/>
              </a:lnSpc>
            </a:pPr>
            <a:r>
              <a:rPr sz="1300" b="0">
                <a:solidFill>
                  <a:srgbClr val="4F5560"/>
                </a:solidFill>
                <a:latin typeface="Calibri"/>
              </a:rPr>
              <a:t>•  Templates for the legal, organisational and operational setup.</a:t>
            </a:r>
          </a:p>
          <a:p>
            <a:pPr>
              <a:lnSpc>
                <a:spcPct val="108000"/>
              </a:lnSpc>
            </a:pPr>
            <a:r>
              <a:rPr sz="1300" b="0">
                <a:solidFill>
                  <a:srgbClr val="4F5560"/>
                </a:solidFill>
                <a:latin typeface="Calibri"/>
              </a:rPr>
              <a:t>•  A roadmap aligned with the European timetable.</a:t>
            </a:r>
          </a:p>
          <a:p>
            <a:pPr>
              <a:lnSpc>
                <a:spcPct val="108000"/>
              </a:lnSpc>
            </a:pPr>
            <a:r>
              <a:rPr sz="1300" b="0">
                <a:solidFill>
                  <a:srgbClr val="4F5560"/>
                </a:solidFill>
                <a:latin typeface="Calibri"/>
              </a:rPr>
              <a:t>•  A team that has done this before, ready to support each region.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5532120"/>
            <a:ext cx="11091672" cy="777240"/>
          </a:xfrm>
          <a:prstGeom prst="roundRect">
            <a:avLst>
              <a:gd name="adj" fmla="val 5000"/>
            </a:avLst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48640" y="5532120"/>
            <a:ext cx="164592" cy="777240"/>
          </a:xfrm>
          <a:prstGeom prst="rect">
            <a:avLst/>
          </a:prstGeom>
          <a:solidFill>
            <a:srgbClr val="E6A8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60120" y="5696712"/>
            <a:ext cx="10424160" cy="52120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0000"/>
              </a:lnSpc>
            </a:pPr>
            <a:r>
              <a:rPr sz="1400" b="0">
                <a:solidFill>
                  <a:srgbClr val="4F5560"/>
                </a:solidFill>
                <a:latin typeface="Calibri"/>
              </a:rPr>
              <a:t>Better care for every citizen. Patient summaries, prescriptions and dispensations have to be live in March 2029, and counting procurement that is about two release years away.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852160" y="6446520"/>
            <a:ext cx="5760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8A8F98"/>
                </a:solidFill>
                <a:latin typeface="Calibri"/>
              </a:rPr>
              <a:t>Full deck: spain-ehds-ministry-deck.pptx  ·  Paper: docs/ehds-operating-company.md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 Connected Health System for Spain</dc:title>
  <dc:subject>European Health Data Space, five slides</dc:subject>
  <dc:creator>Matthias Buchhorn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