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" y="-18288"/>
            <a:ext cx="12134088" cy="3858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84048" y="868680"/>
            <a:ext cx="9592056" cy="260604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88952" cy="228600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69080"/>
            <a:ext cx="12188952" cy="73152"/>
          </a:xfrm>
          <a:prstGeom prst="rect">
            <a:avLst/>
          </a:prstGeom>
          <a:solidFill>
            <a:srgbClr val="C3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A Connected Health System for Spain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Calibri"/>
              </a:rPr>
              <a:t>Building a federated European Health Data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E6A817"/>
                </a:solidFill>
                <a:latin typeface="Calibri"/>
              </a:rPr>
              <a:t>across the 17 regions of Spain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566160" cy="15544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3566160" cy="146304"/>
          </a:xfrm>
          <a:prstGeom prst="rect">
            <a:avLst/>
          </a:prstGeom>
          <a:solidFill>
            <a:srgbClr val="C3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143D59"/>
                </a:solidFill>
                <a:latin typeface="Calibri"/>
              </a:rPr>
              <a:t>Patients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50" b="0">
                <a:solidFill>
                  <a:srgbClr val="4F5560"/>
                </a:solidFill>
                <a:latin typeface="Calibri"/>
              </a:rPr>
              <a:t>A citizen who lives in Madrid and falls ill in Seville cannot share their medical history easily.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235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31E2E"/>
                </a:solidFill>
                <a:latin typeface="Calibri"/>
              </a:rPr>
              <a:t>Primary use of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4389120"/>
            <a:ext cx="3566160" cy="15544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4389120"/>
            <a:ext cx="3566160" cy="146304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46177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143D59"/>
                </a:solidFill>
                <a:latin typeface="Calibri"/>
              </a:rPr>
              <a:t>Doctors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9834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50" b="0">
                <a:solidFill>
                  <a:srgbClr val="4F5560"/>
                </a:solidFill>
                <a:latin typeface="Calibri"/>
              </a:rPr>
              <a:t>Hospitals in different regions cannot see what care a patient already received elsewhere, so tests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56235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6A817"/>
                </a:solidFill>
                <a:latin typeface="Calibri"/>
              </a:rPr>
              <a:t>Primary use of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389120"/>
            <a:ext cx="3566160" cy="15544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389120"/>
            <a:ext cx="3566160" cy="14630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46177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143D59"/>
                </a:solidFill>
                <a:latin typeface="Calibri"/>
              </a:rPr>
              <a:t>Researchers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49834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50" b="0">
                <a:solidFill>
                  <a:srgbClr val="4F5560"/>
                </a:solidFill>
                <a:latin typeface="Calibri"/>
              </a:rPr>
              <a:t>Studying a rare disease across Spain means asking 17 separate regions for permission and data.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56235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Calibri"/>
              </a:rPr>
              <a:t>Secondary use of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Spain's strength is regional autonomy. The cost is fragmentation.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Introduction for the Spanish Ministry of Health  ·  Regulation (EU) 2025/327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What we have already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A working EHDS demonstrator. Synthetic data, real protocols, real sign-in.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ehds-secondary-journey-biling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766560" cy="3758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691640"/>
            <a:ext cx="4050791" cy="1170432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0" y="1691640"/>
            <a:ext cx="4050791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764792"/>
            <a:ext cx="36484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The journey, end to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2258568"/>
            <a:ext cx="364845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Onboarding, catalogue, discovery, negotiation, FHIR transfer, secure processing, audit. Eight steps, each one a real page a regulator can click.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990088"/>
            <a:ext cx="4050791" cy="1170432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2990088"/>
            <a:ext cx="4050791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3063240"/>
            <a:ext cx="36484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Real protocols, not mock-ups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3557016"/>
            <a:ext cx="364845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Dataspace Protocol, HL7 FHIR R4, OMOP CDM, HealthDCAT-AP, OIDC, ODRL policies on every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4288536"/>
            <a:ext cx="4050791" cy="1170432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4288536"/>
            <a:ext cx="4050791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4361688"/>
            <a:ext cx="36484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Two ways to see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0688" y="4855464"/>
            <a:ext cx="3648456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Live at ehds.mabu.red with real sign-in and seven personas, or a static mirror that cannot fail on the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623560"/>
            <a:ext cx="164592" cy="68580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788152"/>
            <a:ext cx="1042416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Live: ehds.mabu.red      Mirror: ma3u.github.io/MinimumViableHealthDataspacev2      Two access bodies in the data, so the cross-border permit is a real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github.com/ma3u/MinimumViableHealthDataspacev2  ·  issue #27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A proposed operating model for the EHDS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The Catena-X operating model, re-cut for Regulation (EU) 2025/327.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ehds-operating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6108192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645920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1645920"/>
            <a:ext cx="475488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168" y="1719072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Closed by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212848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Union layer is the Commission's: the federated EU catalogue, cross-border routing, compliance checks, a central environment. Art. 96.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273552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3273552"/>
            <a:ext cx="475488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3346704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Open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3840480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Below the access body nothing is specified. That is where an operating company sits, as processor under Art. 28 GDPR.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4901184"/>
            <a:ext cx="4754880" cy="14630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4901184"/>
            <a:ext cx="475488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4974336"/>
            <a:ext cx="435254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Never delegated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5468112"/>
            <a:ext cx="4352544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Issuing a permit, enforcement and fees stay with the access body. Art. 68, 63, 62. Its own duty to segregate functions, Art. 55(3), is what makes room for an operator.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catenax-ev.github.io/docs/operating-model  ·  data.europa.eu/eli/reg/2025/327/oj  ·  cofinity-x.com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What running it takes, and by when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Five functions, and four dates that nobody in this room gets to choose.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103120" cy="32461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10312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12848"/>
            <a:ext cx="1700784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 release train against the statutory dates.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Two supported versions, a sandbox with synthetic data.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Art. 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94406" y="1645920"/>
            <a:ext cx="2103120" cy="32461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94406" y="1645920"/>
            <a:ext cx="210312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5574" y="1719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Data holders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5574" y="2212848"/>
            <a:ext cx="1700784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Identify, register, validate, contract, connect, describe, label, sustain.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The last two are the ones ministries underestimate.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Art. 60, 77, 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0172" y="1645920"/>
            <a:ext cx="2103120" cy="32461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0172" y="1645920"/>
            <a:ext cx="2103120" cy="384048"/>
          </a:xfrm>
          <a:prstGeom prst="rect">
            <a:avLst/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1340" y="1719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1340" y="2212848"/>
            <a:ext cx="1700784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 published service map, published prices, non-discriminatory access.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 competitive market above the operator, not owned by it.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Art. 57, 62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5939" y="1645920"/>
            <a:ext cx="2103120" cy="32461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85939" y="1645920"/>
            <a:ext cx="2103120" cy="384048"/>
          </a:xfrm>
          <a:prstGeom prst="rect">
            <a:avLst/>
          </a:prstGeom>
          <a:solidFill>
            <a:srgbClr val="C3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7107" y="1719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Incidents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7107" y="2212848"/>
            <a:ext cx="1700784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One record and one timeline across every party.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 permit-scope breach is escalated, never quietly fixed.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Art. 63, 73(3)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1705" y="1645920"/>
            <a:ext cx="2103120" cy="32461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31705" y="1645920"/>
            <a:ext cx="2103120" cy="384048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2873" y="1719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2873" y="2212848"/>
            <a:ext cx="1700784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L1 in Spanish, L2 per service, L3 with the suppliers.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Plus holder success and a researcher feasibility desk.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4F5560"/>
                </a:solidFill>
                <a:latin typeface="Calibri"/>
              </a:rPr>
              <a:t>Art. 82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5321808"/>
            <a:ext cx="1188720" cy="347472"/>
          </a:xfrm>
          <a:prstGeom prst="roundRect">
            <a:avLst>
              <a:gd name="adj" fmla="val 5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394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Mar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Access bodies and the national</a:t>
            </a:r>
          </a:p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contact point designated. Art. 55(6), 75(1)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11880" y="5321808"/>
            <a:ext cx="1188720" cy="347472"/>
          </a:xfrm>
          <a:prstGeom prst="roundRect">
            <a:avLst>
              <a:gd name="adj" fmla="val 5000"/>
            </a:avLst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5394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Mar 2029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77900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Chapter IV in full: permits,</a:t>
            </a:r>
          </a:p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environments, HealthData@EU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5321808"/>
            <a:ext cx="1188720" cy="347472"/>
          </a:xfrm>
          <a:prstGeom prst="roundRect">
            <a:avLst>
              <a:gd name="adj" fmla="val 5000"/>
            </a:avLst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5394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Mar 2031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577900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The wider data categories</a:t>
            </a:r>
          </a:p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in Art. 51(1)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98280" y="5321808"/>
            <a:ext cx="1188720" cy="347472"/>
          </a:xfrm>
          <a:prstGeom prst="roundRect">
            <a:avLst>
              <a:gd name="adj" fmla="val 5000"/>
            </a:avLst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98280" y="5394960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Mar 2035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779008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Third countries join</a:t>
            </a:r>
          </a:p>
          <a:p>
            <a:pPr>
              <a:lnSpc>
                <a:spcPct val="105000"/>
              </a:lnSpc>
            </a:pPr>
            <a:r>
              <a:rPr sz="1050" b="0">
                <a:solidFill>
                  <a:srgbClr val="4F5560"/>
                </a:solidFill>
                <a:latin typeface="Calibri"/>
              </a:rPr>
              <a:t>HealthData@EU. Art. 75(5)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Reg. (EU) 2025/327, Art. 57, 60, 62, 63, 73, 77, 78, 82, 105  ·  Catena-X, 'How: Data Space Operations'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The conversation we want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Working together with the Ministry and the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Questions for the Ministry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58568"/>
            <a:ext cx="508406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One access body, or several with a coordinator?   Art. 55(1)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Is the national contact point that same body, or separate?   Art. 75(1)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Does the March 2027 designation have an owner and a budget line?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Which regions connect first, and who has the Art. 51 data inventory?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In-house entity, public-private joint venture, or tendered concession?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What we bring to the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258568"/>
            <a:ext cx="508406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A working live demonstration with realistic data.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Experience federating data across European regions.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Templates for the legal, organisational and operational setup.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A roadmap aligned with the European timetable.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A team that has done this before, ready to support each region.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32120"/>
            <a:ext cx="164592" cy="777240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696712"/>
            <a:ext cx="10424160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Better care for every citizen. Better research for every region. The last of those five questions is the one that decides whether anything is running by March 2029.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Full deck: spain-ehds-ministry-deck.pptx  ·  Paper: docs/ehds-operating-company.md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Connected Health System for Spain</dc:title>
  <dc:subject>European Health Data Space, five slides</dc:subject>
  <dc:creator>Matthias Buchhorn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