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Good morning. Egun on. Thank you for the invitation.</a:t>
            </a:r>
          </a:p>
          <a:p/>
          <a:p>
            <a:r>
              <a:t>You sent us eight questions. I will answer them in your order, one slide each.</a:t>
            </a:r>
          </a:p>
          <a:p/>
          <a:p>
            <a:r>
              <a:t>I speak from experience in Catena-X, the dataspace of the automotive industry, and from building an EHDS demonstrator that runs live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Here are the eight answers in one page. If you remember one slide, remember this one.</a:t>
            </a:r>
          </a:p>
          <a:p/>
          <a:p>
            <a:r>
              <a:t>I will now go through them one by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The biggest challenge was culture, not technology.</a:t>
            </a:r>
          </a:p>
          <a:p/>
          <a:p>
            <a:r>
              <a:t>Open source was new for most companies. People were used to buying products, not to building together in public.</a:t>
            </a:r>
          </a:p>
          <a:p/>
          <a:p>
            <a:r>
              <a:t>The working groups delivered only when top management gave its experts time and a clear mandate. Without that, meetings happen, but nothing gets built.</a:t>
            </a:r>
          </a:p>
          <a:p/>
          <a:p>
            <a:r>
              <a:t>On the technical side: moving data is easy. Agreeing what the data means is hard. In health, that means FHIR, the terminologies, and OMOP.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Four lessons.</a:t>
            </a:r>
          </a:p>
          <a:p/>
          <a:p>
            <a:r>
              <a:t>One: build on what already exists. FHIR, SNOMED CT, ICD-10, OMOP, HealthDCAT-AP. These communities already did the hard work. Do not invent your own standard.</a:t>
            </a:r>
          </a:p>
          <a:p/>
          <a:p>
            <a:r>
              <a:t>Two: start small. One or two use cases, with a result you can measure.</a:t>
            </a:r>
          </a:p>
          <a:p/>
          <a:p>
            <a:r>
              <a:t>Three: give back. If you fix something in an open-source project, send the fix back. A private copy becomes your own product, and you pay for it forever.</a:t>
            </a:r>
          </a:p>
          <a:p/>
          <a:p>
            <a:r>
              <a:t>Four: in the tender, ask for standards and conformity tests, not for a product name. That is how you avoid vendor lock-in.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Every decision was written down as an Architecture Decision Record, an ADR. Everyone in the community could read it, and see why.</a:t>
            </a:r>
          </a:p>
          <a:p/>
          <a:p>
            <a:r>
              <a:t>The working groups made the proposals. But in the end, the people who build the software decided the priorities. That is how open source works.</a:t>
            </a:r>
          </a:p>
          <a:p/>
          <a:p>
            <a:r>
              <a:t>Five criteria: open standards, data sovereignty, fit with the law (EHDS, GDPR and the Data Act), mature technology, and a clear exit strategy.</a:t>
            </a:r>
          </a:p>
          <a:p/>
          <a:p>
            <a:r>
              <a:t>The exit strategy is important for a public body: you must always be able to change the supplier.</a:t>
            </a:r>
          </a:p>
          <a:p/>
          <a:p>
            <a:r>
              <a:t>Our demonstrator follows the same rule. It has 57 public decision records.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We implemented the Catena-X operating model. It has a service map: a list of every service, with a clear owner and clear responsibilities.</a:t>
            </a:r>
          </a:p>
          <a:p/>
          <a:p>
            <a:r>
              <a:t>The EHDS regulation already gives us a role model: the health data access body, the data holders, the data users, and the secure processing environments.</a:t>
            </a:r>
          </a:p>
          <a:p/>
          <a:p>
            <a:r>
              <a:t>But the regulation does not say who runs the system day to day. Who connects a new hospital? Who answers the phone when something breaks? That is the orange layer, the operating company.</a:t>
            </a:r>
          </a:p>
          <a:p/>
          <a:p>
            <a:r>
              <a:t>So the EHDS role model alone was not enough. We added the Catena-X operating model below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On the left, the service map: connectors, identity and credentials, the catalogue, onboarding, and conformity testing.</a:t>
            </a:r>
          </a:p>
          <a:p/>
          <a:p>
            <a:r>
              <a:t>On the right, how mature they are.</a:t>
            </a:r>
          </a:p>
          <a:p/>
          <a:p>
            <a:r>
              <a:t>The Dataspace Protocol is stable. It is on its way to becoming an ISO standard.</a:t>
            </a:r>
          </a:p>
          <a:p/>
          <a:p>
            <a:r>
              <a:t>FHIR and OMOP are mature.</a:t>
            </a:r>
          </a:p>
          <a:p/>
          <a:p>
            <a:r>
              <a:t>The Tractus-X connector has run in production since 2023. But it is still version zero-point-something, and it has breaking changes every quarter. You need a team that can keep up.</a:t>
            </a:r>
          </a:p>
          <a:p/>
          <a:p>
            <a:r>
              <a:t>The least mature parts are the secure processing environments and the data permit workflows. This is where to plan extra time and budget.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Catena-X keeps three functions separate.</a:t>
            </a:r>
          </a:p>
          <a:p/>
          <a:p>
            <a:r>
              <a:t>The association sets the standards and runs certification. The Eclipse Foundation hosts the open-source code. And Cofinity-X, a company, runs the operation.</a:t>
            </a:r>
          </a:p>
          <a:p/>
          <a:p>
            <a:r>
              <a:t>For the Basque Country, this could look like this: the Health Data Office acts as the data access body. It sets the rules and decides on data permits. EJIE operates the core services. And both use, and contribute to, the same open-source projects.</a:t>
            </a:r>
          </a:p>
          <a:p/>
          <a:p>
            <a:r>
              <a:t>Our two recommendations: keep rule-setting and operation in different hands. And design the governance for more than one domain from the start. Health is the first dataspace, but it will not be the last: energy, mobility, public administration.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Licence costs are close to zero, because the core stack is open source. The real costs are engineering, hosting and operations.</a:t>
            </a:r>
          </a:p>
          <a:p/>
          <a:p>
            <a:r>
              <a:t>For reference: Catena-X received more than 100 million euros of public funding. But that was for a whole industry. Each participant pays the operator between 1,500 and 71,000 euros a year.</a:t>
            </a:r>
          </a:p>
          <a:p/>
          <a:p>
            <a:r>
              <a:t>For a regional pilot in the Basque Country we estimate 0.8 to 1.5 million euros to build. Operations then cost about 15 to 25 percent of that every year. That is roughly 120,000 to 375,000 euros a year.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A pilot needs about 8 to 12 full-time people.</a:t>
            </a:r>
          </a:p>
          <a:p/>
          <a:p>
            <a:r>
              <a:t>An architect, who holds the whole picture. Connector engineers. Platform and security engineers, DevSecOps. A FHIR and OMOP specialist, for the meaning of the data. And data protection and legal expertise, because in health, every data flow needs a legal basis.</a:t>
            </a:r>
          </a:p>
          <a:p/>
          <a:p>
            <a:r>
              <a:t>And remember question one: these people need time and a mandate from top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What could come next? Four small steps.</a:t>
            </a:r>
          </a:p>
          <a:p/>
          <a:p>
            <a:r>
              <a:t>One: choose one or two use cases with a result you can measure.</a:t>
            </a:r>
          </a:p>
          <a:p>
            <a:r>
              <a:t>Two: agree the roles. The Health Data Office as access body, EJIE as operator.</a:t>
            </a:r>
          </a:p>
          <a:p>
            <a:r>
              <a:t>Three: start open working groups with the hospitals, on existing standards.</a:t>
            </a:r>
          </a:p>
          <a:p>
            <a:r>
              <a:t>Four: build a pilot, and write the tender around standards and conformity tests.</a:t>
            </a:r>
          </a:p>
          <a:p/>
          <a:p>
            <a:r>
              <a:t>The dates are fixed by the regulation: access bodies by March 2027, and secondary use in full by March 2029. That is closer than it looks.</a:t>
            </a:r>
          </a:p>
          <a:p/>
          <a:p>
            <a:r>
              <a:t>Eskerrik asko. Thank you. I am happy to take your questions, or to show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035040" cy="685800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rcRect b="13000" l="28000" r="28000"/>
          <a:stretch>
            <a:fillRect/>
          </a:stretch>
        </p:blipFill>
        <p:spPr>
          <a:xfrm>
            <a:off x="6126480" y="0"/>
            <a:ext cx="6065215" cy="6858000"/>
          </a:xfrm>
          <a:prstGeom prst="rect">
            <a:avLst/>
          </a:prstGeom>
        </p:spPr>
      </p:pic>
      <p:sp>
        <p:nvSpPr>
          <p:cNvPr id="4" name="Rectangle 3"/>
          <p:cNvSpPr/>
          <p:nvPr/>
        </p:nvSpPr>
        <p:spPr>
          <a:xfrm>
            <a:off x="6035040" y="0"/>
            <a:ext cx="91440" cy="685800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5212080" cy="2011680"/>
          </a:xfrm>
          <a:prstGeom prst="rect">
            <a:avLst/>
          </a:prstGeom>
          <a:noFill/>
        </p:spPr>
        <p:txBody>
          <a:bodyPr wrap="square" lIns="0" rIns="0" tIns="0" bIns="0">
            <a:spAutoFit/>
          </a:bodyPr>
          <a:lstStyle/>
          <a:p>
            <a:pPr>
              <a:lnSpc>
                <a:spcPct val="95000"/>
              </a:lnSpc>
            </a:pPr>
            <a:r>
              <a:rPr sz="3800" b="1">
                <a:solidFill>
                  <a:srgbClr val="FFFFFF"/>
                </a:solidFill>
                <a:latin typeface="Calibri"/>
              </a:rPr>
              <a:t>A Connected Health System for the Basque Country</a:t>
            </a:r>
          </a:p>
        </p:txBody>
      </p:sp>
      <p:sp>
        <p:nvSpPr>
          <p:cNvPr id="6" name="TextBox 5"/>
          <p:cNvSpPr txBox="1"/>
          <p:nvPr/>
        </p:nvSpPr>
        <p:spPr>
          <a:xfrm>
            <a:off x="548640" y="3246120"/>
            <a:ext cx="5212080" cy="822960"/>
          </a:xfrm>
          <a:prstGeom prst="rect">
            <a:avLst/>
          </a:prstGeom>
          <a:noFill/>
        </p:spPr>
        <p:txBody>
          <a:bodyPr wrap="square" lIns="0" rIns="0" tIns="0" bIns="0">
            <a:spAutoFit/>
          </a:bodyPr>
          <a:lstStyle/>
          <a:p>
            <a:pPr>
              <a:lnSpc>
                <a:spcPct val="105000"/>
              </a:lnSpc>
            </a:pPr>
            <a:r>
              <a:rPr sz="2000" b="0">
                <a:solidFill>
                  <a:srgbClr val="FFFFFF"/>
                </a:solidFill>
                <a:latin typeface="Calibri"/>
              </a:rPr>
              <a:t>What we learned from Catena-X, and what it means for the EHDS</a:t>
            </a:r>
          </a:p>
        </p:txBody>
      </p:sp>
      <p:sp>
        <p:nvSpPr>
          <p:cNvPr id="7" name="TextBox 6"/>
          <p:cNvSpPr txBox="1"/>
          <p:nvPr/>
        </p:nvSpPr>
        <p:spPr>
          <a:xfrm>
            <a:off x="548640" y="4160520"/>
            <a:ext cx="5212080" cy="365760"/>
          </a:xfrm>
          <a:prstGeom prst="rect">
            <a:avLst/>
          </a:prstGeom>
          <a:noFill/>
        </p:spPr>
        <p:txBody>
          <a:bodyPr wrap="square" lIns="0" rIns="0" tIns="0" bIns="0">
            <a:spAutoFit/>
          </a:bodyPr>
          <a:lstStyle/>
          <a:p>
            <a:pPr>
              <a:lnSpc>
                <a:spcPct val="100000"/>
              </a:lnSpc>
            </a:pPr>
            <a:r>
              <a:rPr sz="1800" b="1">
                <a:solidFill>
                  <a:srgbClr val="E6A817"/>
                </a:solidFill>
                <a:latin typeface="Calibri"/>
              </a:rPr>
              <a:t>Answers to your eight questions</a:t>
            </a:r>
          </a:p>
        </p:txBody>
      </p:sp>
      <p:sp>
        <p:nvSpPr>
          <p:cNvPr id="8" name="Rectangle 7"/>
          <p:cNvSpPr/>
          <p:nvPr/>
        </p:nvSpPr>
        <p:spPr>
          <a:xfrm>
            <a:off x="548640" y="5074920"/>
            <a:ext cx="1097280" cy="54864"/>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303520"/>
            <a:ext cx="5212080" cy="822960"/>
          </a:xfrm>
          <a:prstGeom prst="rect">
            <a:avLst/>
          </a:prstGeom>
          <a:noFill/>
        </p:spPr>
        <p:txBody>
          <a:bodyPr wrap="square" lIns="0" rIns="0" tIns="0" bIns="0">
            <a:spAutoFit/>
          </a:bodyPr>
          <a:lstStyle/>
          <a:p>
            <a:pPr>
              <a:lnSpc>
                <a:spcPct val="120000"/>
              </a:lnSpc>
            </a:pPr>
            <a:r>
              <a:rPr sz="1400" b="0">
                <a:solidFill>
                  <a:srgbClr val="FFFFFF"/>
                </a:solidFill>
                <a:latin typeface="Calibri"/>
              </a:rPr>
              <a:t>Basque Government  ·  Department of Health</a:t>
            </a:r>
          </a:p>
          <a:p>
            <a:pPr>
              <a:lnSpc>
                <a:spcPct val="120000"/>
              </a:lnSpc>
            </a:pPr>
            <a:r>
              <a:rPr sz="1400" b="0">
                <a:solidFill>
                  <a:srgbClr val="FFFFFF"/>
                </a:solidFill>
                <a:latin typeface="Calibri"/>
              </a:rPr>
              <a:t>October 2026</a:t>
            </a:r>
          </a:p>
        </p:txBody>
      </p:sp>
      <p:sp>
        <p:nvSpPr>
          <p:cNvPr id="10" name="TextBox 9"/>
          <p:cNvSpPr txBox="1"/>
          <p:nvPr/>
        </p:nvSpPr>
        <p:spPr>
          <a:xfrm>
            <a:off x="548640" y="6400800"/>
            <a:ext cx="5212080" cy="274320"/>
          </a:xfrm>
          <a:prstGeom prst="rect">
            <a:avLst/>
          </a:prstGeom>
          <a:noFill/>
        </p:spPr>
        <p:txBody>
          <a:bodyPr wrap="square" lIns="0" rIns="0" tIns="0" bIns="0">
            <a:spAutoFit/>
          </a:bodyPr>
          <a:lstStyle/>
          <a:p>
            <a:pPr>
              <a:lnSpc>
                <a:spcPct val="100000"/>
              </a:lnSpc>
            </a:pPr>
            <a:r>
              <a:rPr sz="1000" b="0">
                <a:solidFill>
                  <a:srgbClr val="8A8F98"/>
                </a:solidFill>
                <a:latin typeface="Calibri"/>
              </a:rPr>
              <a:t>Sopra Steria  ·  European Health Data Space practice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0972800" cy="640080"/>
          </a:xfrm>
          <a:prstGeom prst="rect">
            <a:avLst/>
          </a:prstGeom>
          <a:noFill/>
        </p:spPr>
        <p:txBody>
          <a:bodyPr wrap="square" lIns="0" rIns="0" tIns="0" bIns="0">
            <a:spAutoFit/>
          </a:bodyPr>
          <a:lstStyle/>
          <a:p>
            <a:pPr>
              <a:lnSpc>
                <a:spcPct val="100000"/>
              </a:lnSpc>
            </a:pPr>
            <a:r>
              <a:rPr sz="3000" b="1">
                <a:solidFill>
                  <a:srgbClr val="143D59"/>
                </a:solidFill>
                <a:latin typeface="Calibri"/>
              </a:rPr>
              <a:t>Your eight questions, in one sentence each</a:t>
            </a:r>
          </a:p>
        </p:txBody>
      </p:sp>
      <p:sp>
        <p:nvSpPr>
          <p:cNvPr id="4" name="TextBox 3"/>
          <p:cNvSpPr txBox="1"/>
          <p:nvPr/>
        </p:nvSpPr>
        <p:spPr>
          <a:xfrm>
            <a:off x="548640" y="987552"/>
            <a:ext cx="1097280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The short answers first. Each one has its own slide.</a:t>
            </a:r>
          </a:p>
        </p:txBody>
      </p:sp>
      <p:sp>
        <p:nvSpPr>
          <p:cNvPr id="5" name="Rounded Rectangle 4"/>
          <p:cNvSpPr/>
          <p:nvPr/>
        </p:nvSpPr>
        <p:spPr>
          <a:xfrm>
            <a:off x="548640" y="169164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2606040" cy="109728"/>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11680"/>
            <a:ext cx="502920" cy="502920"/>
          </a:xfrm>
          <a:prstGeom prst="ellipse">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1</a:t>
            </a:r>
          </a:p>
        </p:txBody>
      </p:sp>
      <p:sp>
        <p:nvSpPr>
          <p:cNvPr id="9" name="TextBox 8"/>
          <p:cNvSpPr txBox="1"/>
          <p:nvPr/>
        </p:nvSpPr>
        <p:spPr>
          <a:xfrm>
            <a:off x="1371600" y="2039112"/>
            <a:ext cx="1645920" cy="457200"/>
          </a:xfrm>
          <a:prstGeom prst="rect">
            <a:avLst/>
          </a:prstGeom>
          <a:noFill/>
        </p:spPr>
        <p:txBody>
          <a:bodyPr wrap="square" lIns="0" rIns="0" tIns="0" bIns="0" anchor="ctr">
            <a:spAutoFit/>
          </a:bodyPr>
          <a:lstStyle/>
          <a:p>
            <a:pPr>
              <a:lnSpc>
                <a:spcPct val="100000"/>
              </a:lnSpc>
            </a:pPr>
            <a:r>
              <a:rPr sz="1300" b="1">
                <a:solidFill>
                  <a:srgbClr val="C31E2E"/>
                </a:solidFill>
                <a:latin typeface="Calibri"/>
              </a:rPr>
              <a:t>Main challenges</a:t>
            </a:r>
          </a:p>
        </p:txBody>
      </p:sp>
      <p:sp>
        <p:nvSpPr>
          <p:cNvPr id="10" name="TextBox 9"/>
          <p:cNvSpPr txBox="1"/>
          <p:nvPr/>
        </p:nvSpPr>
        <p:spPr>
          <a:xfrm>
            <a:off x="749808" y="269748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The hardest part was culture, not technology.</a:t>
            </a:r>
          </a:p>
        </p:txBody>
      </p:sp>
      <p:sp>
        <p:nvSpPr>
          <p:cNvPr id="11" name="Rounded Rectangle 10"/>
          <p:cNvSpPr/>
          <p:nvPr/>
        </p:nvSpPr>
        <p:spPr>
          <a:xfrm>
            <a:off x="3355848" y="169164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55848" y="1691640"/>
            <a:ext cx="260604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57016" y="201168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7016" y="201168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2</a:t>
            </a:r>
          </a:p>
        </p:txBody>
      </p:sp>
      <p:sp>
        <p:nvSpPr>
          <p:cNvPr id="15" name="TextBox 14"/>
          <p:cNvSpPr txBox="1"/>
          <p:nvPr/>
        </p:nvSpPr>
        <p:spPr>
          <a:xfrm>
            <a:off x="4178808" y="2039112"/>
            <a:ext cx="1645920" cy="457200"/>
          </a:xfrm>
          <a:prstGeom prst="rect">
            <a:avLst/>
          </a:prstGeom>
          <a:noFill/>
        </p:spPr>
        <p:txBody>
          <a:bodyPr wrap="square" lIns="0" rIns="0" tIns="0" bIns="0" anchor="ctr">
            <a:spAutoFit/>
          </a:bodyPr>
          <a:lstStyle/>
          <a:p>
            <a:pPr>
              <a:lnSpc>
                <a:spcPct val="100000"/>
              </a:lnSpc>
            </a:pPr>
            <a:r>
              <a:rPr sz="1300" b="1">
                <a:solidFill>
                  <a:srgbClr val="2A9D8F"/>
                </a:solidFill>
                <a:latin typeface="Calibri"/>
              </a:rPr>
              <a:t>Lessons learned</a:t>
            </a:r>
          </a:p>
        </p:txBody>
      </p:sp>
      <p:sp>
        <p:nvSpPr>
          <p:cNvPr id="16" name="TextBox 15"/>
          <p:cNvSpPr txBox="1"/>
          <p:nvPr/>
        </p:nvSpPr>
        <p:spPr>
          <a:xfrm>
            <a:off x="3557016" y="269748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Build on existing standards and communities.</a:t>
            </a:r>
          </a:p>
        </p:txBody>
      </p:sp>
      <p:sp>
        <p:nvSpPr>
          <p:cNvPr id="17" name="Rounded Rectangle 16"/>
          <p:cNvSpPr/>
          <p:nvPr/>
        </p:nvSpPr>
        <p:spPr>
          <a:xfrm>
            <a:off x="6163055" y="169164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5" y="1691640"/>
            <a:ext cx="2606040" cy="109728"/>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64223" y="2011680"/>
            <a:ext cx="502920" cy="502920"/>
          </a:xfrm>
          <a:prstGeom prst="ellipse">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3" y="201168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3</a:t>
            </a:r>
          </a:p>
        </p:txBody>
      </p:sp>
      <p:sp>
        <p:nvSpPr>
          <p:cNvPr id="21" name="TextBox 20"/>
          <p:cNvSpPr txBox="1"/>
          <p:nvPr/>
        </p:nvSpPr>
        <p:spPr>
          <a:xfrm>
            <a:off x="6986016" y="2039112"/>
            <a:ext cx="1645920" cy="457200"/>
          </a:xfrm>
          <a:prstGeom prst="rect">
            <a:avLst/>
          </a:prstGeom>
          <a:noFill/>
        </p:spPr>
        <p:txBody>
          <a:bodyPr wrap="square" lIns="0" rIns="0" tIns="0" bIns="0" anchor="ctr">
            <a:spAutoFit/>
          </a:bodyPr>
          <a:lstStyle/>
          <a:p>
            <a:pPr>
              <a:lnSpc>
                <a:spcPct val="100000"/>
              </a:lnSpc>
            </a:pPr>
            <a:r>
              <a:rPr sz="1300" b="1">
                <a:solidFill>
                  <a:srgbClr val="143D59"/>
                </a:solidFill>
                <a:latin typeface="Calibri"/>
              </a:rPr>
              <a:t>Decision criteria</a:t>
            </a:r>
          </a:p>
        </p:txBody>
      </p:sp>
      <p:sp>
        <p:nvSpPr>
          <p:cNvPr id="22" name="TextBox 21"/>
          <p:cNvSpPr txBox="1"/>
          <p:nvPr/>
        </p:nvSpPr>
        <p:spPr>
          <a:xfrm>
            <a:off x="6364223" y="269748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Open standards, decided in public.</a:t>
            </a:r>
          </a:p>
        </p:txBody>
      </p:sp>
      <p:sp>
        <p:nvSpPr>
          <p:cNvPr id="23" name="Rounded Rectangle 22"/>
          <p:cNvSpPr/>
          <p:nvPr/>
        </p:nvSpPr>
        <p:spPr>
          <a:xfrm>
            <a:off x="8970263" y="169164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70263" y="1691640"/>
            <a:ext cx="2606040" cy="109728"/>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71432" y="2011680"/>
            <a:ext cx="502920" cy="502920"/>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1432" y="201168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4</a:t>
            </a:r>
          </a:p>
        </p:txBody>
      </p:sp>
      <p:sp>
        <p:nvSpPr>
          <p:cNvPr id="27" name="TextBox 26"/>
          <p:cNvSpPr txBox="1"/>
          <p:nvPr/>
        </p:nvSpPr>
        <p:spPr>
          <a:xfrm>
            <a:off x="9793224" y="2039112"/>
            <a:ext cx="1645920" cy="457200"/>
          </a:xfrm>
          <a:prstGeom prst="rect">
            <a:avLst/>
          </a:prstGeom>
          <a:noFill/>
        </p:spPr>
        <p:txBody>
          <a:bodyPr wrap="square" lIns="0" rIns="0" tIns="0" bIns="0" anchor="ctr">
            <a:spAutoFit/>
          </a:bodyPr>
          <a:lstStyle/>
          <a:p>
            <a:pPr>
              <a:lnSpc>
                <a:spcPct val="100000"/>
              </a:lnSpc>
            </a:pPr>
            <a:r>
              <a:rPr sz="1300" b="1">
                <a:solidFill>
                  <a:srgbClr val="528B55"/>
                </a:solidFill>
                <a:latin typeface="Calibri"/>
              </a:rPr>
              <a:t>Reference architecture</a:t>
            </a:r>
          </a:p>
        </p:txBody>
      </p:sp>
      <p:sp>
        <p:nvSpPr>
          <p:cNvPr id="28" name="TextBox 27"/>
          <p:cNvSpPr txBox="1"/>
          <p:nvPr/>
        </p:nvSpPr>
        <p:spPr>
          <a:xfrm>
            <a:off x="9171432" y="269748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The Catena-X operating model.</a:t>
            </a:r>
          </a:p>
        </p:txBody>
      </p:sp>
      <p:sp>
        <p:nvSpPr>
          <p:cNvPr id="29" name="Rounded Rectangle 28"/>
          <p:cNvSpPr/>
          <p:nvPr/>
        </p:nvSpPr>
        <p:spPr>
          <a:xfrm>
            <a:off x="548640" y="402336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023360"/>
            <a:ext cx="2606040" cy="109728"/>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343400"/>
            <a:ext cx="502920" cy="502920"/>
          </a:xfrm>
          <a:prstGeom prst="ellipse">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34340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5</a:t>
            </a:r>
          </a:p>
        </p:txBody>
      </p:sp>
      <p:sp>
        <p:nvSpPr>
          <p:cNvPr id="33" name="TextBox 32"/>
          <p:cNvSpPr txBox="1"/>
          <p:nvPr/>
        </p:nvSpPr>
        <p:spPr>
          <a:xfrm>
            <a:off x="1371600" y="4370832"/>
            <a:ext cx="1645920" cy="457200"/>
          </a:xfrm>
          <a:prstGeom prst="rect">
            <a:avLst/>
          </a:prstGeom>
          <a:noFill/>
        </p:spPr>
        <p:txBody>
          <a:bodyPr wrap="square" lIns="0" rIns="0" tIns="0" bIns="0" anchor="ctr">
            <a:spAutoFit/>
          </a:bodyPr>
          <a:lstStyle/>
          <a:p>
            <a:pPr>
              <a:lnSpc>
                <a:spcPct val="100000"/>
              </a:lnSpc>
            </a:pPr>
            <a:r>
              <a:rPr sz="1300" b="1">
                <a:solidFill>
                  <a:srgbClr val="E6A817"/>
                </a:solidFill>
                <a:latin typeface="Calibri"/>
              </a:rPr>
              <a:t>Components and maturity</a:t>
            </a:r>
          </a:p>
        </p:txBody>
      </p:sp>
      <p:sp>
        <p:nvSpPr>
          <p:cNvPr id="34" name="TextBox 33"/>
          <p:cNvSpPr txBox="1"/>
          <p:nvPr/>
        </p:nvSpPr>
        <p:spPr>
          <a:xfrm>
            <a:off x="749808" y="502920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The protocol is stable. Secure environments are still young.</a:t>
            </a:r>
          </a:p>
        </p:txBody>
      </p:sp>
      <p:sp>
        <p:nvSpPr>
          <p:cNvPr id="35" name="Rounded Rectangle 34"/>
          <p:cNvSpPr/>
          <p:nvPr/>
        </p:nvSpPr>
        <p:spPr>
          <a:xfrm>
            <a:off x="3355848" y="402336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55848" y="4023360"/>
            <a:ext cx="260604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57016" y="434340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57016" y="434340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6</a:t>
            </a:r>
          </a:p>
        </p:txBody>
      </p:sp>
      <p:sp>
        <p:nvSpPr>
          <p:cNvPr id="39" name="TextBox 38"/>
          <p:cNvSpPr txBox="1"/>
          <p:nvPr/>
        </p:nvSpPr>
        <p:spPr>
          <a:xfrm>
            <a:off x="4178808" y="4370832"/>
            <a:ext cx="1645920" cy="457200"/>
          </a:xfrm>
          <a:prstGeom prst="rect">
            <a:avLst/>
          </a:prstGeom>
          <a:noFill/>
        </p:spPr>
        <p:txBody>
          <a:bodyPr wrap="square" lIns="0" rIns="0" tIns="0" bIns="0" anchor="ctr">
            <a:spAutoFit/>
          </a:bodyPr>
          <a:lstStyle/>
          <a:p>
            <a:pPr>
              <a:lnSpc>
                <a:spcPct val="100000"/>
              </a:lnSpc>
            </a:pPr>
            <a:r>
              <a:rPr sz="1300" b="1">
                <a:solidFill>
                  <a:srgbClr val="2A9D8F"/>
                </a:solidFill>
                <a:latin typeface="Calibri"/>
              </a:rPr>
              <a:t>Governance and operating model</a:t>
            </a:r>
          </a:p>
        </p:txBody>
      </p:sp>
      <p:sp>
        <p:nvSpPr>
          <p:cNvPr id="40" name="TextBox 39"/>
          <p:cNvSpPr txBox="1"/>
          <p:nvPr/>
        </p:nvSpPr>
        <p:spPr>
          <a:xfrm>
            <a:off x="3557016" y="502920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Keep rule-setting and operation separate.</a:t>
            </a:r>
          </a:p>
        </p:txBody>
      </p:sp>
      <p:sp>
        <p:nvSpPr>
          <p:cNvPr id="41" name="Rounded Rectangle 40"/>
          <p:cNvSpPr/>
          <p:nvPr/>
        </p:nvSpPr>
        <p:spPr>
          <a:xfrm>
            <a:off x="6163055" y="402336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63055" y="4023360"/>
            <a:ext cx="2606040" cy="109728"/>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64223" y="4343400"/>
            <a:ext cx="502920" cy="502920"/>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64223" y="434340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7</a:t>
            </a:r>
          </a:p>
        </p:txBody>
      </p:sp>
      <p:sp>
        <p:nvSpPr>
          <p:cNvPr id="45" name="TextBox 44"/>
          <p:cNvSpPr txBox="1"/>
          <p:nvPr/>
        </p:nvSpPr>
        <p:spPr>
          <a:xfrm>
            <a:off x="6986016" y="4370832"/>
            <a:ext cx="1645920" cy="457200"/>
          </a:xfrm>
          <a:prstGeom prst="rect">
            <a:avLst/>
          </a:prstGeom>
          <a:noFill/>
        </p:spPr>
        <p:txBody>
          <a:bodyPr wrap="square" lIns="0" rIns="0" tIns="0" bIns="0" anchor="ctr">
            <a:spAutoFit/>
          </a:bodyPr>
          <a:lstStyle/>
          <a:p>
            <a:pPr>
              <a:lnSpc>
                <a:spcPct val="100000"/>
              </a:lnSpc>
            </a:pPr>
            <a:r>
              <a:rPr sz="1300" b="1">
                <a:solidFill>
                  <a:srgbClr val="528B55"/>
                </a:solidFill>
                <a:latin typeface="Calibri"/>
              </a:rPr>
              <a:t>Costs</a:t>
            </a:r>
          </a:p>
        </p:txBody>
      </p:sp>
      <p:sp>
        <p:nvSpPr>
          <p:cNvPr id="46" name="TextBox 45"/>
          <p:cNvSpPr txBox="1"/>
          <p:nvPr/>
        </p:nvSpPr>
        <p:spPr>
          <a:xfrm>
            <a:off x="6364223" y="502920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No licences. You pay for people and hosting.</a:t>
            </a:r>
          </a:p>
        </p:txBody>
      </p:sp>
      <p:sp>
        <p:nvSpPr>
          <p:cNvPr id="47" name="Rounded Rectangle 46"/>
          <p:cNvSpPr/>
          <p:nvPr/>
        </p:nvSpPr>
        <p:spPr>
          <a:xfrm>
            <a:off x="8970263" y="402336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970263" y="4023360"/>
            <a:ext cx="2606040" cy="109728"/>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171432" y="4343400"/>
            <a:ext cx="502920" cy="502920"/>
          </a:xfrm>
          <a:prstGeom prst="ellipse">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71432" y="434340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8</a:t>
            </a:r>
          </a:p>
        </p:txBody>
      </p:sp>
      <p:sp>
        <p:nvSpPr>
          <p:cNvPr id="51" name="TextBox 50"/>
          <p:cNvSpPr txBox="1"/>
          <p:nvPr/>
        </p:nvSpPr>
        <p:spPr>
          <a:xfrm>
            <a:off x="9793224" y="4370832"/>
            <a:ext cx="1645920" cy="457200"/>
          </a:xfrm>
          <a:prstGeom prst="rect">
            <a:avLst/>
          </a:prstGeom>
          <a:noFill/>
        </p:spPr>
        <p:txBody>
          <a:bodyPr wrap="square" lIns="0" rIns="0" tIns="0" bIns="0" anchor="ctr">
            <a:spAutoFit/>
          </a:bodyPr>
          <a:lstStyle/>
          <a:p>
            <a:pPr>
              <a:lnSpc>
                <a:spcPct val="100000"/>
              </a:lnSpc>
            </a:pPr>
            <a:r>
              <a:rPr sz="1300" b="1">
                <a:solidFill>
                  <a:srgbClr val="143D59"/>
                </a:solidFill>
                <a:latin typeface="Calibri"/>
              </a:rPr>
              <a:t>Effort and team</a:t>
            </a:r>
          </a:p>
        </p:txBody>
      </p:sp>
      <p:sp>
        <p:nvSpPr>
          <p:cNvPr id="52" name="TextBox 51"/>
          <p:cNvSpPr txBox="1"/>
          <p:nvPr/>
        </p:nvSpPr>
        <p:spPr>
          <a:xfrm>
            <a:off x="9171432" y="502920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8 to 12 people for a pilot.</a:t>
            </a:r>
          </a:p>
        </p:txBody>
      </p:sp>
      <p:sp>
        <p:nvSpPr>
          <p:cNvPr id="53" name="TextBox 52"/>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26898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26898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1 OF 8  ·  MAIN CHALLENGES</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The hardest part was culture, not technology</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What we met in Catena-X, and what it means for health.</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8" name="Rectangle 7"/>
          <p:cNvSpPr/>
          <p:nvPr/>
        </p:nvSpPr>
        <p:spPr>
          <a:xfrm>
            <a:off x="10012680"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011680"/>
            <a:ext cx="5440680" cy="310896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011680"/>
            <a:ext cx="5440680" cy="411480"/>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084832"/>
            <a:ext cx="5038344" cy="310896"/>
          </a:xfrm>
          <a:prstGeom prst="rect">
            <a:avLst/>
          </a:prstGeom>
          <a:noFill/>
        </p:spPr>
        <p:txBody>
          <a:bodyPr wrap="square" lIns="0" rIns="0" tIns="0" bIns="0">
            <a:spAutoFit/>
          </a:bodyPr>
          <a:lstStyle/>
          <a:p>
            <a:pPr>
              <a:lnSpc>
                <a:spcPct val="100000"/>
              </a:lnSpc>
            </a:pPr>
            <a:r>
              <a:rPr sz="1700" b="1">
                <a:solidFill>
                  <a:srgbClr val="FFFFFF"/>
                </a:solidFill>
                <a:latin typeface="Calibri"/>
              </a:rPr>
              <a:t>Culture</a:t>
            </a:r>
          </a:p>
        </p:txBody>
      </p:sp>
      <p:sp>
        <p:nvSpPr>
          <p:cNvPr id="19" name="TextBox 18"/>
          <p:cNvSpPr txBox="1"/>
          <p:nvPr/>
        </p:nvSpPr>
        <p:spPr>
          <a:xfrm>
            <a:off x="749808" y="2606040"/>
            <a:ext cx="5038344" cy="2377439"/>
          </a:xfrm>
          <a:prstGeom prst="rect">
            <a:avLst/>
          </a:prstGeom>
          <a:noFill/>
        </p:spPr>
        <p:txBody>
          <a:bodyPr wrap="square" lIns="0" rIns="0" tIns="0" bIns="0">
            <a:spAutoFit/>
          </a:bodyPr>
          <a:lstStyle/>
          <a:p>
            <a:pPr>
              <a:lnSpc>
                <a:spcPct val="110000"/>
              </a:lnSpc>
            </a:pPr>
            <a:r>
              <a:rPr sz="1600" b="0">
                <a:solidFill>
                  <a:srgbClr val="4F5560"/>
                </a:solidFill>
                <a:latin typeface="Calibri"/>
              </a:rPr>
              <a:t>Open source and open collaboration were new for most companies and institutions.</a:t>
            </a:r>
          </a:p>
          <a:p>
            <a:pPr>
              <a:lnSpc>
                <a:spcPct val="110000"/>
              </a:lnSpc>
            </a:pPr>
            <a:r>
              <a:rPr sz="1600" b="0">
                <a:solidFill>
                  <a:srgbClr val="4F5560"/>
                </a:solidFill>
                <a:latin typeface="Calibri"/>
              </a:rPr>
              <a:t/>
            </a:r>
          </a:p>
          <a:p>
            <a:pPr>
              <a:lnSpc>
                <a:spcPct val="110000"/>
              </a:lnSpc>
            </a:pPr>
            <a:r>
              <a:rPr sz="1600" b="0">
                <a:solidFill>
                  <a:srgbClr val="4F5560"/>
                </a:solidFill>
                <a:latin typeface="Calibri"/>
              </a:rPr>
              <a:t>The committees and working groups delivered only when top management gave its experts time and a mandate.</a:t>
            </a:r>
          </a:p>
        </p:txBody>
      </p:sp>
      <p:sp>
        <p:nvSpPr>
          <p:cNvPr id="20" name="Rounded Rectangle 19"/>
          <p:cNvSpPr/>
          <p:nvPr/>
        </p:nvSpPr>
        <p:spPr>
          <a:xfrm>
            <a:off x="6199632" y="2011680"/>
            <a:ext cx="5440680" cy="310896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2011680"/>
            <a:ext cx="5440680" cy="41148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84832"/>
            <a:ext cx="5038344" cy="310896"/>
          </a:xfrm>
          <a:prstGeom prst="rect">
            <a:avLst/>
          </a:prstGeom>
          <a:noFill/>
        </p:spPr>
        <p:txBody>
          <a:bodyPr wrap="square" lIns="0" rIns="0" tIns="0" bIns="0">
            <a:spAutoFit/>
          </a:bodyPr>
          <a:lstStyle/>
          <a:p>
            <a:pPr>
              <a:lnSpc>
                <a:spcPct val="100000"/>
              </a:lnSpc>
            </a:pPr>
            <a:r>
              <a:rPr sz="1700" b="1">
                <a:solidFill>
                  <a:srgbClr val="FFFFFF"/>
                </a:solidFill>
                <a:latin typeface="Calibri"/>
              </a:rPr>
              <a:t>Meaning of the data</a:t>
            </a:r>
          </a:p>
        </p:txBody>
      </p:sp>
      <p:sp>
        <p:nvSpPr>
          <p:cNvPr id="23" name="TextBox 22"/>
          <p:cNvSpPr txBox="1"/>
          <p:nvPr/>
        </p:nvSpPr>
        <p:spPr>
          <a:xfrm>
            <a:off x="6400800" y="2606040"/>
            <a:ext cx="5038344" cy="2377439"/>
          </a:xfrm>
          <a:prstGeom prst="rect">
            <a:avLst/>
          </a:prstGeom>
          <a:noFill/>
        </p:spPr>
        <p:txBody>
          <a:bodyPr wrap="square" lIns="0" rIns="0" tIns="0" bIns="0">
            <a:spAutoFit/>
          </a:bodyPr>
          <a:lstStyle/>
          <a:p>
            <a:pPr>
              <a:lnSpc>
                <a:spcPct val="110000"/>
              </a:lnSpc>
            </a:pPr>
            <a:r>
              <a:rPr sz="1600" b="0">
                <a:solidFill>
                  <a:srgbClr val="4F5560"/>
                </a:solidFill>
                <a:latin typeface="Calibri"/>
              </a:rPr>
              <a:t>Agreeing what the data means took far more work than moving it.</a:t>
            </a:r>
          </a:p>
          <a:p>
            <a:pPr>
              <a:lnSpc>
                <a:spcPct val="110000"/>
              </a:lnSpc>
            </a:pPr>
            <a:r>
              <a:rPr sz="1600" b="0">
                <a:solidFill>
                  <a:srgbClr val="4F5560"/>
                </a:solidFill>
                <a:latin typeface="Calibri"/>
              </a:rPr>
              <a:t/>
            </a:r>
          </a:p>
          <a:p>
            <a:pPr>
              <a:lnSpc>
                <a:spcPct val="110000"/>
              </a:lnSpc>
            </a:pPr>
            <a:r>
              <a:rPr sz="1600" b="0">
                <a:solidFill>
                  <a:srgbClr val="4F5560"/>
                </a:solidFill>
                <a:latin typeface="Calibri"/>
              </a:rPr>
              <a:t>In health this means FHIR, terminologies such as SNOMED CT and ICD-10, and OMOP.</a:t>
            </a:r>
          </a:p>
        </p:txBody>
      </p:sp>
      <p:sp>
        <p:nvSpPr>
          <p:cNvPr id="24" name="Rounded Rectangle 23"/>
          <p:cNvSpPr/>
          <p:nvPr/>
        </p:nvSpPr>
        <p:spPr>
          <a:xfrm>
            <a:off x="548640" y="5349240"/>
            <a:ext cx="11091672" cy="8686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49240"/>
            <a:ext cx="164592" cy="868680"/>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349240"/>
            <a:ext cx="10424160" cy="868680"/>
          </a:xfrm>
          <a:prstGeom prst="rect">
            <a:avLst/>
          </a:prstGeom>
          <a:noFill/>
        </p:spPr>
        <p:txBody>
          <a:bodyPr wrap="square" lIns="0" rIns="0" tIns="0" bIns="0" anchor="ctr">
            <a:spAutoFit/>
          </a:bodyPr>
          <a:lstStyle/>
          <a:p>
            <a:pPr>
              <a:lnSpc>
                <a:spcPct val="110000"/>
              </a:lnSpc>
            </a:pPr>
            <a:r>
              <a:rPr sz="1800" b="1">
                <a:solidFill>
                  <a:srgbClr val="143D59"/>
                </a:solidFill>
                <a:latin typeface="Calibri"/>
              </a:rPr>
              <a:t>Moving data is the easy part. Agreeing on what it means is the hard part.</a:t>
            </a:r>
          </a:p>
        </p:txBody>
      </p:sp>
      <p:sp>
        <p:nvSpPr>
          <p:cNvPr id="27" name="TextBox 26"/>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 Automotive Network  ·  Eclipse Dataspace and Eclipse Tractus-X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26898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26898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2 OF 8  ·  LESSONS LEARNED</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Four lessons to avoid common mistakes</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What we would do again, and what we recommend for the Basque Country.</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011680"/>
            <a:ext cx="2606040" cy="36118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011680"/>
            <a:ext cx="260604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9808" y="2331720"/>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331720"/>
            <a:ext cx="548640" cy="54864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1</a:t>
            </a:r>
          </a:p>
        </p:txBody>
      </p:sp>
      <p:sp>
        <p:nvSpPr>
          <p:cNvPr id="20" name="TextBox 19"/>
          <p:cNvSpPr txBox="1"/>
          <p:nvPr/>
        </p:nvSpPr>
        <p:spPr>
          <a:xfrm>
            <a:off x="749808" y="3063240"/>
            <a:ext cx="2240280" cy="685800"/>
          </a:xfrm>
          <a:prstGeom prst="rect">
            <a:avLst/>
          </a:prstGeom>
          <a:noFill/>
        </p:spPr>
        <p:txBody>
          <a:bodyPr wrap="square" lIns="0" rIns="0" tIns="0" bIns="0">
            <a:spAutoFit/>
          </a:bodyPr>
          <a:lstStyle/>
          <a:p>
            <a:pPr>
              <a:lnSpc>
                <a:spcPct val="100000"/>
              </a:lnSpc>
            </a:pPr>
            <a:r>
              <a:rPr sz="1800" b="1">
                <a:solidFill>
                  <a:srgbClr val="143D59"/>
                </a:solidFill>
                <a:latin typeface="Calibri"/>
              </a:rPr>
              <a:t>Build on what exists</a:t>
            </a:r>
          </a:p>
        </p:txBody>
      </p:sp>
      <p:sp>
        <p:nvSpPr>
          <p:cNvPr id="21" name="TextBox 20"/>
          <p:cNvSpPr txBox="1"/>
          <p:nvPr/>
        </p:nvSpPr>
        <p:spPr>
          <a:xfrm>
            <a:off x="749808" y="3794760"/>
            <a:ext cx="2240280" cy="1783080"/>
          </a:xfrm>
          <a:prstGeom prst="rect">
            <a:avLst/>
          </a:prstGeom>
          <a:noFill/>
        </p:spPr>
        <p:txBody>
          <a:bodyPr wrap="square" lIns="0" rIns="0" tIns="0" bIns="0">
            <a:spAutoFit/>
          </a:bodyPr>
          <a:lstStyle/>
          <a:p>
            <a:pPr>
              <a:lnSpc>
                <a:spcPct val="112000"/>
              </a:lnSpc>
            </a:pPr>
            <a:r>
              <a:rPr sz="1550" b="0">
                <a:solidFill>
                  <a:srgbClr val="4F5560"/>
                </a:solidFill>
                <a:latin typeface="Calibri"/>
              </a:rPr>
              <a:t>Run open working groups. Use FHIR, ICD-10, SNOMED CT, OMOP and HealthDCAT-AP. Do not invent new standards.</a:t>
            </a:r>
          </a:p>
        </p:txBody>
      </p:sp>
      <p:sp>
        <p:nvSpPr>
          <p:cNvPr id="22" name="Rounded Rectangle 21"/>
          <p:cNvSpPr/>
          <p:nvPr/>
        </p:nvSpPr>
        <p:spPr>
          <a:xfrm>
            <a:off x="3355848" y="2011680"/>
            <a:ext cx="2606040" cy="36118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55848" y="2011680"/>
            <a:ext cx="2606040" cy="109728"/>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557016" y="2331720"/>
            <a:ext cx="548640" cy="548640"/>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57016" y="2331720"/>
            <a:ext cx="548640" cy="54864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2</a:t>
            </a:r>
          </a:p>
        </p:txBody>
      </p:sp>
      <p:sp>
        <p:nvSpPr>
          <p:cNvPr id="26" name="TextBox 25"/>
          <p:cNvSpPr txBox="1"/>
          <p:nvPr/>
        </p:nvSpPr>
        <p:spPr>
          <a:xfrm>
            <a:off x="3557016" y="3063240"/>
            <a:ext cx="2240280" cy="685800"/>
          </a:xfrm>
          <a:prstGeom prst="rect">
            <a:avLst/>
          </a:prstGeom>
          <a:noFill/>
        </p:spPr>
        <p:txBody>
          <a:bodyPr wrap="square" lIns="0" rIns="0" tIns="0" bIns="0">
            <a:spAutoFit/>
          </a:bodyPr>
          <a:lstStyle/>
          <a:p>
            <a:pPr>
              <a:lnSpc>
                <a:spcPct val="100000"/>
              </a:lnSpc>
            </a:pPr>
            <a:r>
              <a:rPr sz="1800" b="1">
                <a:solidFill>
                  <a:srgbClr val="143D59"/>
                </a:solidFill>
                <a:latin typeface="Calibri"/>
              </a:rPr>
              <a:t>Start small</a:t>
            </a:r>
          </a:p>
        </p:txBody>
      </p:sp>
      <p:sp>
        <p:nvSpPr>
          <p:cNvPr id="27" name="TextBox 26"/>
          <p:cNvSpPr txBox="1"/>
          <p:nvPr/>
        </p:nvSpPr>
        <p:spPr>
          <a:xfrm>
            <a:off x="3557016" y="3794760"/>
            <a:ext cx="2240280" cy="1783080"/>
          </a:xfrm>
          <a:prstGeom prst="rect">
            <a:avLst/>
          </a:prstGeom>
          <a:noFill/>
        </p:spPr>
        <p:txBody>
          <a:bodyPr wrap="square" lIns="0" rIns="0" tIns="0" bIns="0">
            <a:spAutoFit/>
          </a:bodyPr>
          <a:lstStyle/>
          <a:p>
            <a:pPr>
              <a:lnSpc>
                <a:spcPct val="112000"/>
              </a:lnSpc>
            </a:pPr>
            <a:r>
              <a:rPr sz="1550" b="0">
                <a:solidFill>
                  <a:srgbClr val="4F5560"/>
                </a:solidFill>
                <a:latin typeface="Calibri"/>
              </a:rPr>
              <a:t>Choose one or two use cases. Show value that you can measure.</a:t>
            </a:r>
          </a:p>
        </p:txBody>
      </p:sp>
      <p:sp>
        <p:nvSpPr>
          <p:cNvPr id="28" name="Rounded Rectangle 27"/>
          <p:cNvSpPr/>
          <p:nvPr/>
        </p:nvSpPr>
        <p:spPr>
          <a:xfrm>
            <a:off x="6163055" y="2011680"/>
            <a:ext cx="2606040" cy="36118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3055" y="2011680"/>
            <a:ext cx="2606040" cy="109728"/>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3" y="2331720"/>
            <a:ext cx="548640" cy="548640"/>
          </a:xfrm>
          <a:prstGeom prst="ellipse">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3" y="2331720"/>
            <a:ext cx="548640" cy="54864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3</a:t>
            </a:r>
          </a:p>
        </p:txBody>
      </p:sp>
      <p:sp>
        <p:nvSpPr>
          <p:cNvPr id="32" name="TextBox 31"/>
          <p:cNvSpPr txBox="1"/>
          <p:nvPr/>
        </p:nvSpPr>
        <p:spPr>
          <a:xfrm>
            <a:off x="6364223" y="3063240"/>
            <a:ext cx="2240280" cy="685800"/>
          </a:xfrm>
          <a:prstGeom prst="rect">
            <a:avLst/>
          </a:prstGeom>
          <a:noFill/>
        </p:spPr>
        <p:txBody>
          <a:bodyPr wrap="square" lIns="0" rIns="0" tIns="0" bIns="0">
            <a:spAutoFit/>
          </a:bodyPr>
          <a:lstStyle/>
          <a:p>
            <a:pPr>
              <a:lnSpc>
                <a:spcPct val="100000"/>
              </a:lnSpc>
            </a:pPr>
            <a:r>
              <a:rPr sz="1800" b="1">
                <a:solidFill>
                  <a:srgbClr val="143D59"/>
                </a:solidFill>
                <a:latin typeface="Calibri"/>
              </a:rPr>
              <a:t>Give back</a:t>
            </a:r>
          </a:p>
        </p:txBody>
      </p:sp>
      <p:sp>
        <p:nvSpPr>
          <p:cNvPr id="33" name="TextBox 32"/>
          <p:cNvSpPr txBox="1"/>
          <p:nvPr/>
        </p:nvSpPr>
        <p:spPr>
          <a:xfrm>
            <a:off x="6364223" y="3794760"/>
            <a:ext cx="2240280" cy="1783080"/>
          </a:xfrm>
          <a:prstGeom prst="rect">
            <a:avLst/>
          </a:prstGeom>
          <a:noFill/>
        </p:spPr>
        <p:txBody>
          <a:bodyPr wrap="square" lIns="0" rIns="0" tIns="0" bIns="0">
            <a:spAutoFit/>
          </a:bodyPr>
          <a:lstStyle/>
          <a:p>
            <a:pPr>
              <a:lnSpc>
                <a:spcPct val="112000"/>
              </a:lnSpc>
            </a:pPr>
            <a:r>
              <a:rPr sz="1550" b="0">
                <a:solidFill>
                  <a:srgbClr val="4F5560"/>
                </a:solidFill>
                <a:latin typeface="Calibri"/>
              </a:rPr>
              <a:t>Contribute improvements to the open-source projects. Do not keep private copies.</a:t>
            </a:r>
          </a:p>
        </p:txBody>
      </p:sp>
      <p:sp>
        <p:nvSpPr>
          <p:cNvPr id="34" name="Rounded Rectangle 33"/>
          <p:cNvSpPr/>
          <p:nvPr/>
        </p:nvSpPr>
        <p:spPr>
          <a:xfrm>
            <a:off x="8970263" y="2011680"/>
            <a:ext cx="2606040" cy="36118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970263" y="2011680"/>
            <a:ext cx="2606040" cy="109728"/>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71432" y="2331720"/>
            <a:ext cx="548640" cy="548640"/>
          </a:xfrm>
          <a:prstGeom prst="ellipse">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71432" y="2331720"/>
            <a:ext cx="548640" cy="54864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4</a:t>
            </a:r>
          </a:p>
        </p:txBody>
      </p:sp>
      <p:sp>
        <p:nvSpPr>
          <p:cNvPr id="38" name="TextBox 37"/>
          <p:cNvSpPr txBox="1"/>
          <p:nvPr/>
        </p:nvSpPr>
        <p:spPr>
          <a:xfrm>
            <a:off x="9171432" y="3063240"/>
            <a:ext cx="2240280" cy="685800"/>
          </a:xfrm>
          <a:prstGeom prst="rect">
            <a:avLst/>
          </a:prstGeom>
          <a:noFill/>
        </p:spPr>
        <p:txBody>
          <a:bodyPr wrap="square" lIns="0" rIns="0" tIns="0" bIns="0">
            <a:spAutoFit/>
          </a:bodyPr>
          <a:lstStyle/>
          <a:p>
            <a:pPr>
              <a:lnSpc>
                <a:spcPct val="100000"/>
              </a:lnSpc>
            </a:pPr>
            <a:r>
              <a:rPr sz="1800" b="1">
                <a:solidFill>
                  <a:srgbClr val="143D59"/>
                </a:solidFill>
                <a:latin typeface="Calibri"/>
              </a:rPr>
              <a:t>Buy standards, not products</a:t>
            </a:r>
          </a:p>
        </p:txBody>
      </p:sp>
      <p:sp>
        <p:nvSpPr>
          <p:cNvPr id="39" name="TextBox 38"/>
          <p:cNvSpPr txBox="1"/>
          <p:nvPr/>
        </p:nvSpPr>
        <p:spPr>
          <a:xfrm>
            <a:off x="9171432" y="3794760"/>
            <a:ext cx="2240280" cy="1783080"/>
          </a:xfrm>
          <a:prstGeom prst="rect">
            <a:avLst/>
          </a:prstGeom>
          <a:noFill/>
        </p:spPr>
        <p:txBody>
          <a:bodyPr wrap="square" lIns="0" rIns="0" tIns="0" bIns="0">
            <a:spAutoFit/>
          </a:bodyPr>
          <a:lstStyle/>
          <a:p>
            <a:pPr>
              <a:lnSpc>
                <a:spcPct val="112000"/>
              </a:lnSpc>
            </a:pPr>
            <a:r>
              <a:rPr sz="1550" b="0">
                <a:solidFill>
                  <a:srgbClr val="4F5560"/>
                </a:solidFill>
                <a:latin typeface="Calibri"/>
              </a:rPr>
              <a:t>Write the tender around standards and conformity tests. This avoids vendor lock-in.</a:t>
            </a:r>
          </a:p>
        </p:txBody>
      </p:sp>
      <p:sp>
        <p:nvSpPr>
          <p:cNvPr id="40" name="Rounded Rectangle 39"/>
          <p:cNvSpPr/>
          <p:nvPr/>
        </p:nvSpPr>
        <p:spPr>
          <a:xfrm>
            <a:off x="548640" y="5806440"/>
            <a:ext cx="11091672" cy="5486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06440"/>
            <a:ext cx="164592" cy="54864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0120" y="5806440"/>
            <a:ext cx="10424160" cy="548640"/>
          </a:xfrm>
          <a:prstGeom prst="rect">
            <a:avLst/>
          </a:prstGeom>
          <a:noFill/>
        </p:spPr>
        <p:txBody>
          <a:bodyPr wrap="square" lIns="0" rIns="0" tIns="0" bIns="0" anchor="ctr">
            <a:spAutoFit/>
          </a:bodyPr>
          <a:lstStyle/>
          <a:p>
            <a:pPr>
              <a:lnSpc>
                <a:spcPct val="110000"/>
              </a:lnSpc>
            </a:pPr>
            <a:r>
              <a:rPr sz="1500" b="1">
                <a:solidFill>
                  <a:srgbClr val="143D59"/>
                </a:solidFill>
                <a:latin typeface="Calibri"/>
              </a:rPr>
              <a:t>A private copy of open source becomes your own product to maintain.</a:t>
            </a:r>
          </a:p>
        </p:txBody>
      </p:sp>
      <p:sp>
        <p:nvSpPr>
          <p:cNvPr id="43" name="TextBox 42"/>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hl7.org/fhir  ·  ohdsi.org  ·  HealthDCAT-AP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424428"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424428"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3 OF 8  ·  DECISION CRITERIA</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Every decision is written down, and everyone can read it</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How decisions were made, and the criteria behind them.</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65960"/>
            <a:ext cx="10972800" cy="365760"/>
          </a:xfrm>
          <a:prstGeom prst="rect">
            <a:avLst/>
          </a:prstGeom>
          <a:noFill/>
        </p:spPr>
        <p:txBody>
          <a:bodyPr wrap="square" lIns="0" rIns="0" tIns="0" bIns="0">
            <a:spAutoFit/>
          </a:bodyPr>
          <a:lstStyle/>
          <a:p>
            <a:pPr>
              <a:lnSpc>
                <a:spcPct val="100000"/>
              </a:lnSpc>
            </a:pPr>
            <a:r>
              <a:rPr sz="1800" b="1">
                <a:solidFill>
                  <a:srgbClr val="143D59"/>
                </a:solidFill>
                <a:latin typeface="Calibri"/>
              </a:rPr>
              <a:t>How we decide</a:t>
            </a:r>
          </a:p>
        </p:txBody>
      </p:sp>
      <p:sp>
        <p:nvSpPr>
          <p:cNvPr id="17" name="Pentagon 16"/>
          <p:cNvSpPr/>
          <p:nvPr/>
        </p:nvSpPr>
        <p:spPr>
          <a:xfrm>
            <a:off x="548640" y="2423160"/>
            <a:ext cx="3611880" cy="1143000"/>
          </a:xfrm>
          <a:prstGeom prst="homePlat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2468880"/>
            <a:ext cx="2926080" cy="1051560"/>
          </a:xfrm>
          <a:prstGeom prst="rect">
            <a:avLst/>
          </a:prstGeom>
          <a:noFill/>
        </p:spPr>
        <p:txBody>
          <a:bodyPr wrap="square" lIns="0" rIns="0" tIns="0" bIns="0" anchor="ctr">
            <a:spAutoFit/>
          </a:bodyPr>
          <a:lstStyle/>
          <a:p>
            <a:pPr algn="ctr">
              <a:lnSpc>
                <a:spcPct val="105000"/>
              </a:lnSpc>
            </a:pPr>
            <a:r>
              <a:rPr sz="1600" b="1">
                <a:solidFill>
                  <a:srgbClr val="FFFFFF"/>
                </a:solidFill>
                <a:latin typeface="Calibri"/>
              </a:rPr>
              <a:t>Working groups</a:t>
            </a:r>
          </a:p>
          <a:p>
            <a:pPr algn="ctr">
              <a:lnSpc>
                <a:spcPct val="105000"/>
              </a:lnSpc>
            </a:pPr>
            <a:r>
              <a:rPr sz="1600" b="1">
                <a:solidFill>
                  <a:srgbClr val="FFFFFF"/>
                </a:solidFill>
                <a:latin typeface="Calibri"/>
              </a:rPr>
              <a:t>propose</a:t>
            </a:r>
          </a:p>
        </p:txBody>
      </p:sp>
      <p:sp>
        <p:nvSpPr>
          <p:cNvPr id="19" name="Chevron 18"/>
          <p:cNvSpPr/>
          <p:nvPr/>
        </p:nvSpPr>
        <p:spPr>
          <a:xfrm>
            <a:off x="4315968" y="2423160"/>
            <a:ext cx="3611880" cy="1143000"/>
          </a:xfrm>
          <a:prstGeom prst="chevron">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27448" y="2468880"/>
            <a:ext cx="2926080" cy="1051560"/>
          </a:xfrm>
          <a:prstGeom prst="rect">
            <a:avLst/>
          </a:prstGeom>
          <a:noFill/>
        </p:spPr>
        <p:txBody>
          <a:bodyPr wrap="square" lIns="0" rIns="0" tIns="0" bIns="0" anchor="ctr">
            <a:spAutoFit/>
          </a:bodyPr>
          <a:lstStyle/>
          <a:p>
            <a:pPr algn="ctr">
              <a:lnSpc>
                <a:spcPct val="105000"/>
              </a:lnSpc>
            </a:pPr>
            <a:r>
              <a:rPr sz="1600" b="1">
                <a:solidFill>
                  <a:srgbClr val="FFFFFF"/>
                </a:solidFill>
                <a:latin typeface="Calibri"/>
              </a:rPr>
              <a:t>Contributors who build it</a:t>
            </a:r>
          </a:p>
          <a:p>
            <a:pPr algn="ctr">
              <a:lnSpc>
                <a:spcPct val="105000"/>
              </a:lnSpc>
            </a:pPr>
            <a:r>
              <a:rPr sz="1600" b="1">
                <a:solidFill>
                  <a:srgbClr val="FFFFFF"/>
                </a:solidFill>
                <a:latin typeface="Calibri"/>
              </a:rPr>
              <a:t>decide the priorities</a:t>
            </a:r>
          </a:p>
        </p:txBody>
      </p:sp>
      <p:sp>
        <p:nvSpPr>
          <p:cNvPr id="21" name="Chevron 20"/>
          <p:cNvSpPr/>
          <p:nvPr/>
        </p:nvSpPr>
        <p:spPr>
          <a:xfrm>
            <a:off x="8083296" y="2423160"/>
            <a:ext cx="3611880" cy="1143000"/>
          </a:xfrm>
          <a:prstGeom prst="chevron">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94776" y="2468880"/>
            <a:ext cx="2926080" cy="1051560"/>
          </a:xfrm>
          <a:prstGeom prst="rect">
            <a:avLst/>
          </a:prstGeom>
          <a:noFill/>
        </p:spPr>
        <p:txBody>
          <a:bodyPr wrap="square" lIns="0" rIns="0" tIns="0" bIns="0" anchor="ctr">
            <a:spAutoFit/>
          </a:bodyPr>
          <a:lstStyle/>
          <a:p>
            <a:pPr algn="ctr">
              <a:lnSpc>
                <a:spcPct val="105000"/>
              </a:lnSpc>
            </a:pPr>
            <a:r>
              <a:rPr sz="1600" b="1">
                <a:solidFill>
                  <a:srgbClr val="FFFFFF"/>
                </a:solidFill>
                <a:latin typeface="Calibri"/>
              </a:rPr>
              <a:t>An Architecture Decision Record</a:t>
            </a:r>
          </a:p>
          <a:p>
            <a:pPr algn="ctr">
              <a:lnSpc>
                <a:spcPct val="105000"/>
              </a:lnSpc>
            </a:pPr>
            <a:r>
              <a:rPr sz="1600" b="1">
                <a:solidFill>
                  <a:srgbClr val="FFFFFF"/>
                </a:solidFill>
                <a:latin typeface="Calibri"/>
              </a:rPr>
              <a:t>is published for everyone</a:t>
            </a:r>
          </a:p>
        </p:txBody>
      </p:sp>
      <p:sp>
        <p:nvSpPr>
          <p:cNvPr id="23" name="TextBox 22"/>
          <p:cNvSpPr txBox="1"/>
          <p:nvPr/>
        </p:nvSpPr>
        <p:spPr>
          <a:xfrm>
            <a:off x="548640" y="3886200"/>
            <a:ext cx="10972800" cy="365760"/>
          </a:xfrm>
          <a:prstGeom prst="rect">
            <a:avLst/>
          </a:prstGeom>
          <a:noFill/>
        </p:spPr>
        <p:txBody>
          <a:bodyPr wrap="square" lIns="0" rIns="0" tIns="0" bIns="0">
            <a:spAutoFit/>
          </a:bodyPr>
          <a:lstStyle/>
          <a:p>
            <a:pPr>
              <a:lnSpc>
                <a:spcPct val="100000"/>
              </a:lnSpc>
            </a:pPr>
            <a:r>
              <a:rPr sz="1800" b="1">
                <a:solidFill>
                  <a:srgbClr val="143D59"/>
                </a:solidFill>
                <a:latin typeface="Calibri"/>
              </a:rPr>
              <a:t>Five criteria for every decision</a:t>
            </a:r>
          </a:p>
        </p:txBody>
      </p:sp>
      <p:sp>
        <p:nvSpPr>
          <p:cNvPr id="24" name="Rounded Rectangle 23"/>
          <p:cNvSpPr/>
          <p:nvPr/>
        </p:nvSpPr>
        <p:spPr>
          <a:xfrm>
            <a:off x="548640" y="4389120"/>
            <a:ext cx="1828800" cy="548640"/>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389120"/>
            <a:ext cx="182880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Open standards</a:t>
            </a:r>
          </a:p>
        </p:txBody>
      </p:sp>
      <p:sp>
        <p:nvSpPr>
          <p:cNvPr id="26" name="Rounded Rectangle 25"/>
          <p:cNvSpPr/>
          <p:nvPr/>
        </p:nvSpPr>
        <p:spPr>
          <a:xfrm>
            <a:off x="2372868" y="4389120"/>
            <a:ext cx="1965960" cy="548640"/>
          </a:xfrm>
          <a:prstGeom prst="roundRect">
            <a:avLst>
              <a:gd name="adj" fmla="val 50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72868" y="4389120"/>
            <a:ext cx="196596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Data sovereignty</a:t>
            </a:r>
          </a:p>
        </p:txBody>
      </p:sp>
      <p:sp>
        <p:nvSpPr>
          <p:cNvPr id="28" name="Rounded Rectangle 27"/>
          <p:cNvSpPr/>
          <p:nvPr/>
        </p:nvSpPr>
        <p:spPr>
          <a:xfrm>
            <a:off x="4334256" y="4389120"/>
            <a:ext cx="3246120" cy="548640"/>
          </a:xfrm>
          <a:prstGeom prst="roundRect">
            <a:avLst>
              <a:gd name="adj" fmla="val 50000"/>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34256" y="4389120"/>
            <a:ext cx="324612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Fits the law: EHDS, GDPR, Data Act</a:t>
            </a:r>
          </a:p>
        </p:txBody>
      </p:sp>
      <p:sp>
        <p:nvSpPr>
          <p:cNvPr id="30" name="Rounded Rectangle 29"/>
          <p:cNvSpPr/>
          <p:nvPr/>
        </p:nvSpPr>
        <p:spPr>
          <a:xfrm>
            <a:off x="7575804" y="4389120"/>
            <a:ext cx="2011680" cy="548640"/>
          </a:xfrm>
          <a:prstGeom prst="roundRect">
            <a:avLst>
              <a:gd name="adj" fmla="val 50000"/>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75804" y="4389120"/>
            <a:ext cx="201168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Mature technology</a:t>
            </a:r>
          </a:p>
        </p:txBody>
      </p:sp>
      <p:sp>
        <p:nvSpPr>
          <p:cNvPr id="32" name="Rounded Rectangle 31"/>
          <p:cNvSpPr/>
          <p:nvPr/>
        </p:nvSpPr>
        <p:spPr>
          <a:xfrm>
            <a:off x="9582912" y="4389120"/>
            <a:ext cx="2057400" cy="548640"/>
          </a:xfrm>
          <a:prstGeom prst="roundRect">
            <a:avLst>
              <a:gd name="adj" fmla="val 50000"/>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82912" y="4389120"/>
            <a:ext cx="205740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A clear exit strategy</a:t>
            </a:r>
          </a:p>
        </p:txBody>
      </p:sp>
      <p:sp>
        <p:nvSpPr>
          <p:cNvPr id="34" name="Rounded Rectangle 33"/>
          <p:cNvSpPr/>
          <p:nvPr/>
        </p:nvSpPr>
        <p:spPr>
          <a:xfrm>
            <a:off x="548640" y="5303520"/>
            <a:ext cx="11091672" cy="8686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303520"/>
            <a:ext cx="164592" cy="868680"/>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303520"/>
            <a:ext cx="10424160" cy="868680"/>
          </a:xfrm>
          <a:prstGeom prst="rect">
            <a:avLst/>
          </a:prstGeom>
          <a:noFill/>
        </p:spPr>
        <p:txBody>
          <a:bodyPr wrap="square" lIns="0" rIns="0" tIns="0" bIns="0" anchor="ctr">
            <a:spAutoFit/>
          </a:bodyPr>
          <a:lstStyle/>
          <a:p>
            <a:pPr>
              <a:lnSpc>
                <a:spcPct val="110000"/>
              </a:lnSpc>
            </a:pPr>
            <a:r>
              <a:rPr sz="1600" b="1">
                <a:solidFill>
                  <a:srgbClr val="143D59"/>
                </a:solidFill>
                <a:latin typeface="Calibri"/>
              </a:rPr>
              <a:t>Our EHDS demonstrator works the same way: 57 decision records, public on GitHub.</a:t>
            </a:r>
          </a:p>
        </p:txBody>
      </p:sp>
      <p:sp>
        <p:nvSpPr>
          <p:cNvPr id="37" name="TextBox 36"/>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github.com/ma3u/MinimumViableHealthDataspacev2  ·  docs/ADRs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813048"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813048"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4 OF 8  ·  REFERENCE ARCHITECTURE</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The reference architecture: the Catena-X operating model</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A service map with clear roles. The EHDS defines the roles, but not who runs them.</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hds-layers-simple.png"/>
          <p:cNvPicPr>
            <a:picLocks noChangeAspect="1"/>
          </p:cNvPicPr>
          <p:nvPr/>
        </p:nvPicPr>
        <p:blipFill>
          <a:blip r:embed="rId2"/>
          <a:stretch>
            <a:fillRect/>
          </a:stretch>
        </p:blipFill>
        <p:spPr>
          <a:xfrm>
            <a:off x="548640" y="1874519"/>
            <a:ext cx="11091672" cy="3694176"/>
          </a:xfrm>
          <a:prstGeom prst="rect">
            <a:avLst/>
          </a:prstGeom>
        </p:spPr>
      </p:pic>
      <p:sp>
        <p:nvSpPr>
          <p:cNvPr id="17" name="Rounded Rectangle 16"/>
          <p:cNvSpPr/>
          <p:nvPr/>
        </p:nvSpPr>
        <p:spPr>
          <a:xfrm>
            <a:off x="548640" y="5623560"/>
            <a:ext cx="5440680" cy="7315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5623560"/>
            <a:ext cx="137160" cy="731520"/>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669280"/>
            <a:ext cx="5029200" cy="640080"/>
          </a:xfrm>
          <a:prstGeom prst="rect">
            <a:avLst/>
          </a:prstGeom>
          <a:noFill/>
        </p:spPr>
        <p:txBody>
          <a:bodyPr wrap="square" lIns="0" rIns="0" tIns="0" bIns="0" anchor="ctr">
            <a:spAutoFit/>
          </a:bodyPr>
          <a:lstStyle/>
          <a:p>
            <a:pPr>
              <a:lnSpc>
                <a:spcPct val="105000"/>
              </a:lnSpc>
            </a:pPr>
            <a:r>
              <a:rPr sz="1300" b="1">
                <a:solidFill>
                  <a:srgbClr val="143D59"/>
                </a:solidFill>
                <a:latin typeface="Calibri"/>
              </a:rPr>
              <a:t>Implemented:  </a:t>
            </a:r>
            <a:r>
              <a:rPr sz="1300" b="0">
                <a:solidFill>
                  <a:srgbClr val="4F5560"/>
                </a:solidFill>
                <a:latin typeface="Calibri"/>
              </a:rPr>
              <a:t>the Catena-X operating model, with a service map and clear responsibilities.</a:t>
            </a:r>
          </a:p>
        </p:txBody>
      </p:sp>
      <p:sp>
        <p:nvSpPr>
          <p:cNvPr id="20" name="Rounded Rectangle 19"/>
          <p:cNvSpPr/>
          <p:nvPr/>
        </p:nvSpPr>
        <p:spPr>
          <a:xfrm>
            <a:off x="6199632" y="5623560"/>
            <a:ext cx="5440680" cy="7315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5623560"/>
            <a:ext cx="137160" cy="73152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5669280"/>
            <a:ext cx="5029200" cy="640080"/>
          </a:xfrm>
          <a:prstGeom prst="rect">
            <a:avLst/>
          </a:prstGeom>
          <a:noFill/>
        </p:spPr>
        <p:txBody>
          <a:bodyPr wrap="square" lIns="0" rIns="0" tIns="0" bIns="0" anchor="ctr">
            <a:spAutoFit/>
          </a:bodyPr>
          <a:lstStyle/>
          <a:p>
            <a:pPr>
              <a:lnSpc>
                <a:spcPct val="105000"/>
              </a:lnSpc>
            </a:pPr>
            <a:r>
              <a:rPr sz="1300" b="1">
                <a:solidFill>
                  <a:srgbClr val="143D59"/>
                </a:solidFill>
                <a:latin typeface="Calibri"/>
              </a:rPr>
              <a:t>Considered:  </a:t>
            </a:r>
            <a:r>
              <a:rPr sz="1300" b="0">
                <a:solidFill>
                  <a:srgbClr val="4F5560"/>
                </a:solidFill>
                <a:latin typeface="Calibri"/>
              </a:rPr>
              <a:t>the EHDS role model alone. It has no answer for operations and onboarding.</a:t>
            </a:r>
          </a:p>
        </p:txBody>
      </p:sp>
      <p:sp>
        <p:nvSpPr>
          <p:cNvPr id="23" name="TextBox 22"/>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catenax-ev.github.io/docs/operating-model  ·  Regulation (EU) 2025/327, Chapter IV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890772"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890772"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5 OF 8  ·  COMPONENTS AND MATURITY</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The components, and how mature they are</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The components follow the service map. Health standards are mature; secure environments are not yet.</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011680"/>
            <a:ext cx="3566160" cy="42062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011680"/>
            <a:ext cx="3566160" cy="41148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084832"/>
            <a:ext cx="3163824" cy="310896"/>
          </a:xfrm>
          <a:prstGeom prst="rect">
            <a:avLst/>
          </a:prstGeom>
          <a:noFill/>
        </p:spPr>
        <p:txBody>
          <a:bodyPr wrap="square" lIns="0" rIns="0" tIns="0" bIns="0">
            <a:spAutoFit/>
          </a:bodyPr>
          <a:lstStyle/>
          <a:p>
            <a:pPr>
              <a:lnSpc>
                <a:spcPct val="100000"/>
              </a:lnSpc>
            </a:pPr>
            <a:r>
              <a:rPr sz="1700" b="1">
                <a:solidFill>
                  <a:srgbClr val="FFFFFF"/>
                </a:solidFill>
                <a:latin typeface="Calibri"/>
              </a:rPr>
              <a:t>The service map</a:t>
            </a:r>
          </a:p>
        </p:txBody>
      </p:sp>
      <p:sp>
        <p:nvSpPr>
          <p:cNvPr id="19" name="TextBox 18"/>
          <p:cNvSpPr txBox="1"/>
          <p:nvPr/>
        </p:nvSpPr>
        <p:spPr>
          <a:xfrm>
            <a:off x="749808" y="2606040"/>
            <a:ext cx="3163824" cy="3474720"/>
          </a:xfrm>
          <a:prstGeom prst="rect">
            <a:avLst/>
          </a:prstGeom>
          <a:noFill/>
        </p:spPr>
        <p:txBody>
          <a:bodyPr wrap="square" lIns="0" rIns="0" tIns="0" bIns="0">
            <a:spAutoFit/>
          </a:bodyPr>
          <a:lstStyle/>
          <a:p/>
        </p:txBody>
      </p:sp>
      <p:sp>
        <p:nvSpPr>
          <p:cNvPr id="20" name="Rounded Rectangle 19"/>
          <p:cNvSpPr/>
          <p:nvPr/>
        </p:nvSpPr>
        <p:spPr>
          <a:xfrm>
            <a:off x="777240" y="26517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6517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Connectors</a:t>
            </a:r>
          </a:p>
        </p:txBody>
      </p:sp>
      <p:sp>
        <p:nvSpPr>
          <p:cNvPr id="22" name="Rounded Rectangle 21"/>
          <p:cNvSpPr/>
          <p:nvPr/>
        </p:nvSpPr>
        <p:spPr>
          <a:xfrm>
            <a:off x="777240" y="33375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3375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Identity and credentials</a:t>
            </a:r>
          </a:p>
        </p:txBody>
      </p:sp>
      <p:sp>
        <p:nvSpPr>
          <p:cNvPr id="24" name="Rounded Rectangle 23"/>
          <p:cNvSpPr/>
          <p:nvPr/>
        </p:nvSpPr>
        <p:spPr>
          <a:xfrm>
            <a:off x="777240" y="40233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0233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Catalogue</a:t>
            </a:r>
          </a:p>
        </p:txBody>
      </p:sp>
      <p:sp>
        <p:nvSpPr>
          <p:cNvPr id="26" name="Rounded Rectangle 25"/>
          <p:cNvSpPr/>
          <p:nvPr/>
        </p:nvSpPr>
        <p:spPr>
          <a:xfrm>
            <a:off x="777240" y="47091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7091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Onboarding</a:t>
            </a:r>
          </a:p>
        </p:txBody>
      </p:sp>
      <p:sp>
        <p:nvSpPr>
          <p:cNvPr id="28" name="Rounded Rectangle 27"/>
          <p:cNvSpPr/>
          <p:nvPr/>
        </p:nvSpPr>
        <p:spPr>
          <a:xfrm>
            <a:off x="777240" y="53949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3949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Conformity testing</a:t>
            </a:r>
          </a:p>
        </p:txBody>
      </p:sp>
      <p:sp>
        <p:nvSpPr>
          <p:cNvPr id="30" name="Rounded Rectangle 29"/>
          <p:cNvSpPr/>
          <p:nvPr/>
        </p:nvSpPr>
        <p:spPr>
          <a:xfrm>
            <a:off x="4343400" y="2011680"/>
            <a:ext cx="7296912" cy="960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526280" y="2258568"/>
            <a:ext cx="1325880" cy="457200"/>
          </a:xfrm>
          <a:prstGeom prst="roundRect">
            <a:avLst>
              <a:gd name="adj" fmla="val 50000"/>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80" y="2258568"/>
            <a:ext cx="132588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Stable</a:t>
            </a:r>
          </a:p>
        </p:txBody>
      </p:sp>
      <p:sp>
        <p:nvSpPr>
          <p:cNvPr id="33" name="TextBox 32"/>
          <p:cNvSpPr txBox="1"/>
          <p:nvPr/>
        </p:nvSpPr>
        <p:spPr>
          <a:xfrm>
            <a:off x="6035040" y="2121408"/>
            <a:ext cx="5486400" cy="365760"/>
          </a:xfrm>
          <a:prstGeom prst="rect">
            <a:avLst/>
          </a:prstGeom>
          <a:noFill/>
        </p:spPr>
        <p:txBody>
          <a:bodyPr wrap="square" lIns="0" rIns="0" tIns="0" bIns="0">
            <a:spAutoFit/>
          </a:bodyPr>
          <a:lstStyle/>
          <a:p>
            <a:pPr>
              <a:lnSpc>
                <a:spcPct val="100000"/>
              </a:lnSpc>
            </a:pPr>
            <a:r>
              <a:rPr sz="1600" b="1">
                <a:solidFill>
                  <a:srgbClr val="143D59"/>
                </a:solidFill>
                <a:latin typeface="Calibri"/>
              </a:rPr>
              <a:t>Dataspace Protocol</a:t>
            </a:r>
          </a:p>
        </p:txBody>
      </p:sp>
      <p:sp>
        <p:nvSpPr>
          <p:cNvPr id="34" name="TextBox 33"/>
          <p:cNvSpPr txBox="1"/>
          <p:nvPr/>
        </p:nvSpPr>
        <p:spPr>
          <a:xfrm>
            <a:off x="6035040" y="2468880"/>
            <a:ext cx="548640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Stable. On its way to an ISO standard, ISO/IEC 26450.</a:t>
            </a:r>
          </a:p>
        </p:txBody>
      </p:sp>
      <p:sp>
        <p:nvSpPr>
          <p:cNvPr id="35" name="Rounded Rectangle 34"/>
          <p:cNvSpPr/>
          <p:nvPr/>
        </p:nvSpPr>
        <p:spPr>
          <a:xfrm>
            <a:off x="4343400" y="3090672"/>
            <a:ext cx="7296912" cy="960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526280" y="3337560"/>
            <a:ext cx="1325880" cy="457200"/>
          </a:xfrm>
          <a:prstGeom prst="roundRect">
            <a:avLst>
              <a:gd name="adj" fmla="val 50000"/>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6280" y="3337560"/>
            <a:ext cx="132588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Mature</a:t>
            </a:r>
          </a:p>
        </p:txBody>
      </p:sp>
      <p:sp>
        <p:nvSpPr>
          <p:cNvPr id="38" name="TextBox 37"/>
          <p:cNvSpPr txBox="1"/>
          <p:nvPr/>
        </p:nvSpPr>
        <p:spPr>
          <a:xfrm>
            <a:off x="6035040" y="3200400"/>
            <a:ext cx="5486400" cy="365760"/>
          </a:xfrm>
          <a:prstGeom prst="rect">
            <a:avLst/>
          </a:prstGeom>
          <a:noFill/>
        </p:spPr>
        <p:txBody>
          <a:bodyPr wrap="square" lIns="0" rIns="0" tIns="0" bIns="0">
            <a:spAutoFit/>
          </a:bodyPr>
          <a:lstStyle/>
          <a:p>
            <a:pPr>
              <a:lnSpc>
                <a:spcPct val="100000"/>
              </a:lnSpc>
            </a:pPr>
            <a:r>
              <a:rPr sz="1600" b="1">
                <a:solidFill>
                  <a:srgbClr val="143D59"/>
                </a:solidFill>
                <a:latin typeface="Calibri"/>
              </a:rPr>
              <a:t>FHIR and OMOP</a:t>
            </a:r>
          </a:p>
        </p:txBody>
      </p:sp>
      <p:sp>
        <p:nvSpPr>
          <p:cNvPr id="39" name="TextBox 38"/>
          <p:cNvSpPr txBox="1"/>
          <p:nvPr/>
        </p:nvSpPr>
        <p:spPr>
          <a:xfrm>
            <a:off x="6035040" y="3547872"/>
            <a:ext cx="548640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Mature health standards, used around the world.</a:t>
            </a:r>
          </a:p>
        </p:txBody>
      </p:sp>
      <p:sp>
        <p:nvSpPr>
          <p:cNvPr id="40" name="Rounded Rectangle 39"/>
          <p:cNvSpPr/>
          <p:nvPr/>
        </p:nvSpPr>
        <p:spPr>
          <a:xfrm>
            <a:off x="4343400" y="4169664"/>
            <a:ext cx="7296912" cy="960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526280" y="4416552"/>
            <a:ext cx="1325880" cy="457200"/>
          </a:xfrm>
          <a:prstGeom prst="roundRect">
            <a:avLst>
              <a:gd name="adj" fmla="val 50000"/>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26280" y="4416552"/>
            <a:ext cx="132588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Changing</a:t>
            </a:r>
          </a:p>
        </p:txBody>
      </p:sp>
      <p:sp>
        <p:nvSpPr>
          <p:cNvPr id="43" name="TextBox 42"/>
          <p:cNvSpPr txBox="1"/>
          <p:nvPr/>
        </p:nvSpPr>
        <p:spPr>
          <a:xfrm>
            <a:off x="6035040" y="4279392"/>
            <a:ext cx="5486400" cy="365760"/>
          </a:xfrm>
          <a:prstGeom prst="rect">
            <a:avLst/>
          </a:prstGeom>
          <a:noFill/>
        </p:spPr>
        <p:txBody>
          <a:bodyPr wrap="square" lIns="0" rIns="0" tIns="0" bIns="0">
            <a:spAutoFit/>
          </a:bodyPr>
          <a:lstStyle/>
          <a:p>
            <a:pPr>
              <a:lnSpc>
                <a:spcPct val="100000"/>
              </a:lnSpc>
            </a:pPr>
            <a:r>
              <a:rPr sz="1600" b="1">
                <a:solidFill>
                  <a:srgbClr val="143D59"/>
                </a:solidFill>
                <a:latin typeface="Calibri"/>
              </a:rPr>
              <a:t>Tractus-X connector</a:t>
            </a:r>
          </a:p>
        </p:txBody>
      </p:sp>
      <p:sp>
        <p:nvSpPr>
          <p:cNvPr id="44" name="TextBox 43"/>
          <p:cNvSpPr txBox="1"/>
          <p:nvPr/>
        </p:nvSpPr>
        <p:spPr>
          <a:xfrm>
            <a:off x="6035040" y="4626864"/>
            <a:ext cx="548640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In production since 2023, but still version 0.x. Breaking changes every quarter.</a:t>
            </a:r>
          </a:p>
        </p:txBody>
      </p:sp>
      <p:sp>
        <p:nvSpPr>
          <p:cNvPr id="45" name="Rounded Rectangle 44"/>
          <p:cNvSpPr/>
          <p:nvPr/>
        </p:nvSpPr>
        <p:spPr>
          <a:xfrm>
            <a:off x="4343400" y="5248656"/>
            <a:ext cx="7296912" cy="960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526280" y="5495544"/>
            <a:ext cx="1325880" cy="457200"/>
          </a:xfrm>
          <a:prstGeom prst="roundRect">
            <a:avLst>
              <a:gd name="adj" fmla="val 50000"/>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26280" y="5495544"/>
            <a:ext cx="132588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Young</a:t>
            </a:r>
          </a:p>
        </p:txBody>
      </p:sp>
      <p:sp>
        <p:nvSpPr>
          <p:cNvPr id="48" name="TextBox 47"/>
          <p:cNvSpPr txBox="1"/>
          <p:nvPr/>
        </p:nvSpPr>
        <p:spPr>
          <a:xfrm>
            <a:off x="6035040" y="5358384"/>
            <a:ext cx="5486400" cy="365760"/>
          </a:xfrm>
          <a:prstGeom prst="rect">
            <a:avLst/>
          </a:prstGeom>
          <a:noFill/>
        </p:spPr>
        <p:txBody>
          <a:bodyPr wrap="square" lIns="0" rIns="0" tIns="0" bIns="0">
            <a:spAutoFit/>
          </a:bodyPr>
          <a:lstStyle/>
          <a:p>
            <a:pPr>
              <a:lnSpc>
                <a:spcPct val="100000"/>
              </a:lnSpc>
            </a:pPr>
            <a:r>
              <a:rPr sz="1600" b="1">
                <a:solidFill>
                  <a:srgbClr val="143D59"/>
                </a:solidFill>
                <a:latin typeface="Calibri"/>
              </a:rPr>
              <a:t>Secure processing and data permits</a:t>
            </a:r>
          </a:p>
        </p:txBody>
      </p:sp>
      <p:sp>
        <p:nvSpPr>
          <p:cNvPr id="49" name="TextBox 48"/>
          <p:cNvSpPr txBox="1"/>
          <p:nvPr/>
        </p:nvSpPr>
        <p:spPr>
          <a:xfrm>
            <a:off x="6035040" y="5705856"/>
            <a:ext cx="548640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The least mature parts. Plan time and budget here.</a:t>
            </a:r>
          </a:p>
        </p:txBody>
      </p:sp>
      <p:sp>
        <p:nvSpPr>
          <p:cNvPr id="50" name="TextBox 49"/>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eclipse-dataspace-protocol-base.github.io  ·  eclipse-tractusx.github.io  ·  hl7.org/fhir  ·  ohdsi.org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443484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443484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6 OF 8  ·  GOVERNANCE AND OPERATING MODEL</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Governance: three roles, kept apart</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Catena-X separates the rules, the code and the operation. We suggest the same for the Basque Country.</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65960"/>
            <a:ext cx="1828800" cy="365760"/>
          </a:xfrm>
          <a:prstGeom prst="rect">
            <a:avLst/>
          </a:prstGeom>
          <a:noFill/>
        </p:spPr>
        <p:txBody>
          <a:bodyPr wrap="square" lIns="0" rIns="0" tIns="0" bIns="0">
            <a:spAutoFit/>
          </a:bodyPr>
          <a:lstStyle/>
          <a:p>
            <a:pPr>
              <a:lnSpc>
                <a:spcPct val="100000"/>
              </a:lnSpc>
            </a:pPr>
            <a:r>
              <a:rPr sz="1400" b="1">
                <a:solidFill>
                  <a:srgbClr val="8A8F98"/>
                </a:solidFill>
                <a:latin typeface="Calibri"/>
              </a:rPr>
              <a:t>Catena-X</a:t>
            </a:r>
          </a:p>
        </p:txBody>
      </p:sp>
      <p:sp>
        <p:nvSpPr>
          <p:cNvPr id="17" name="TextBox 16"/>
          <p:cNvSpPr txBox="1"/>
          <p:nvPr/>
        </p:nvSpPr>
        <p:spPr>
          <a:xfrm>
            <a:off x="548640" y="4069080"/>
            <a:ext cx="2743200" cy="365760"/>
          </a:xfrm>
          <a:prstGeom prst="rect">
            <a:avLst/>
          </a:prstGeom>
          <a:noFill/>
        </p:spPr>
        <p:txBody>
          <a:bodyPr wrap="square" lIns="0" rIns="0" tIns="0" bIns="0">
            <a:spAutoFit/>
          </a:bodyPr>
          <a:lstStyle/>
          <a:p>
            <a:pPr>
              <a:lnSpc>
                <a:spcPct val="100000"/>
              </a:lnSpc>
            </a:pPr>
            <a:r>
              <a:rPr sz="1400" b="1">
                <a:solidFill>
                  <a:srgbClr val="8A8F98"/>
                </a:solidFill>
                <a:latin typeface="Calibri"/>
              </a:rPr>
              <a:t>Basque Country</a:t>
            </a:r>
          </a:p>
        </p:txBody>
      </p:sp>
      <p:sp>
        <p:nvSpPr>
          <p:cNvPr id="18" name="Rounded Rectangle 17"/>
          <p:cNvSpPr/>
          <p:nvPr/>
        </p:nvSpPr>
        <p:spPr>
          <a:xfrm>
            <a:off x="548640" y="228600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286000"/>
            <a:ext cx="3566160" cy="41148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359152"/>
            <a:ext cx="3163824" cy="310896"/>
          </a:xfrm>
          <a:prstGeom prst="rect">
            <a:avLst/>
          </a:prstGeom>
          <a:noFill/>
        </p:spPr>
        <p:txBody>
          <a:bodyPr wrap="square" lIns="0" rIns="0" tIns="0" bIns="0">
            <a:spAutoFit/>
          </a:bodyPr>
          <a:lstStyle/>
          <a:p>
            <a:pPr>
              <a:lnSpc>
                <a:spcPct val="100000"/>
              </a:lnSpc>
            </a:pPr>
            <a:r>
              <a:rPr sz="1500" b="1">
                <a:solidFill>
                  <a:srgbClr val="FFFFFF"/>
                </a:solidFill>
                <a:latin typeface="Calibri"/>
              </a:rPr>
              <a:t>Rules:  Catena-X Association</a:t>
            </a:r>
          </a:p>
        </p:txBody>
      </p:sp>
      <p:sp>
        <p:nvSpPr>
          <p:cNvPr id="21" name="TextBox 20"/>
          <p:cNvSpPr txBox="1"/>
          <p:nvPr/>
        </p:nvSpPr>
        <p:spPr>
          <a:xfrm>
            <a:off x="749808" y="2880360"/>
            <a:ext cx="3163824" cy="822959"/>
          </a:xfrm>
          <a:prstGeom prst="rect">
            <a:avLst/>
          </a:prstGeom>
          <a:noFill/>
        </p:spPr>
        <p:txBody>
          <a:bodyPr wrap="square" lIns="0" rIns="0" tIns="0" bIns="0">
            <a:spAutoFit/>
          </a:bodyPr>
          <a:lstStyle/>
          <a:p>
            <a:pPr>
              <a:lnSpc>
                <a:spcPct val="110000"/>
              </a:lnSpc>
            </a:pPr>
            <a:r>
              <a:rPr sz="1400" b="0">
                <a:solidFill>
                  <a:srgbClr val="4F5560"/>
                </a:solidFill>
                <a:latin typeface="Calibri"/>
              </a:rPr>
              <a:t>Sets the standards and runs certification.</a:t>
            </a:r>
          </a:p>
        </p:txBody>
      </p:sp>
      <p:sp>
        <p:nvSpPr>
          <p:cNvPr id="22" name="Down Arrow 21"/>
          <p:cNvSpPr/>
          <p:nvPr/>
        </p:nvSpPr>
        <p:spPr>
          <a:xfrm>
            <a:off x="2103120" y="3886200"/>
            <a:ext cx="457200" cy="411480"/>
          </a:xfrm>
          <a:prstGeom prst="downArrow">
            <a:avLst>
              <a:gd name="adj1" fmla="val 50000"/>
              <a:gd name="adj2" fmla="val 50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4389120"/>
            <a:ext cx="3566160" cy="960120"/>
          </a:xfrm>
          <a:prstGeom prst="roundRect">
            <a:avLst>
              <a:gd name="adj" fmla="val 5000"/>
            </a:avLst>
          </a:prstGeom>
          <a:solidFill>
            <a:srgbClr val="F4EFE6"/>
          </a:solidFill>
          <a:ln w="28575">
            <a:solidFill>
              <a:srgbClr val="143D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480560"/>
            <a:ext cx="3200400" cy="777240"/>
          </a:xfrm>
          <a:prstGeom prst="rect">
            <a:avLst/>
          </a:prstGeom>
          <a:noFill/>
        </p:spPr>
        <p:txBody>
          <a:bodyPr wrap="square" lIns="0" rIns="0" tIns="0" bIns="0" anchor="ctr">
            <a:spAutoFit/>
          </a:bodyPr>
          <a:lstStyle/>
          <a:p>
            <a:pPr>
              <a:lnSpc>
                <a:spcPct val="105000"/>
              </a:lnSpc>
            </a:pPr>
            <a:r>
              <a:rPr sz="1500" b="1">
                <a:solidFill>
                  <a:srgbClr val="143D59"/>
                </a:solidFill>
                <a:latin typeface="Calibri"/>
              </a:rPr>
              <a:t>Health Data Office</a:t>
            </a:r>
          </a:p>
          <a:p>
            <a:pPr>
              <a:lnSpc>
                <a:spcPct val="105000"/>
              </a:lnSpc>
            </a:pPr>
            <a:r>
              <a:rPr sz="1500" b="0">
                <a:solidFill>
                  <a:srgbClr val="4F5560"/>
                </a:solidFill>
                <a:latin typeface="Calibri"/>
              </a:rPr>
              <a:t>acts as the health data access body.</a:t>
            </a:r>
          </a:p>
        </p:txBody>
      </p:sp>
      <p:sp>
        <p:nvSpPr>
          <p:cNvPr id="25" name="Rounded Rectangle 24"/>
          <p:cNvSpPr/>
          <p:nvPr/>
        </p:nvSpPr>
        <p:spPr>
          <a:xfrm>
            <a:off x="4315968" y="228600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15968" y="2286000"/>
            <a:ext cx="3566160" cy="4114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17136" y="2359152"/>
            <a:ext cx="3163824" cy="310896"/>
          </a:xfrm>
          <a:prstGeom prst="rect">
            <a:avLst/>
          </a:prstGeom>
          <a:noFill/>
        </p:spPr>
        <p:txBody>
          <a:bodyPr wrap="square" lIns="0" rIns="0" tIns="0" bIns="0">
            <a:spAutoFit/>
          </a:bodyPr>
          <a:lstStyle/>
          <a:p>
            <a:pPr>
              <a:lnSpc>
                <a:spcPct val="100000"/>
              </a:lnSpc>
            </a:pPr>
            <a:r>
              <a:rPr sz="1500" b="1">
                <a:solidFill>
                  <a:srgbClr val="FFFFFF"/>
                </a:solidFill>
                <a:latin typeface="Calibri"/>
              </a:rPr>
              <a:t>Code:  Eclipse Foundation</a:t>
            </a:r>
          </a:p>
        </p:txBody>
      </p:sp>
      <p:sp>
        <p:nvSpPr>
          <p:cNvPr id="28" name="TextBox 27"/>
          <p:cNvSpPr txBox="1"/>
          <p:nvPr/>
        </p:nvSpPr>
        <p:spPr>
          <a:xfrm>
            <a:off x="4517136" y="2880360"/>
            <a:ext cx="3163824" cy="822959"/>
          </a:xfrm>
          <a:prstGeom prst="rect">
            <a:avLst/>
          </a:prstGeom>
          <a:noFill/>
        </p:spPr>
        <p:txBody>
          <a:bodyPr wrap="square" lIns="0" rIns="0" tIns="0" bIns="0">
            <a:spAutoFit/>
          </a:bodyPr>
          <a:lstStyle/>
          <a:p>
            <a:pPr>
              <a:lnSpc>
                <a:spcPct val="110000"/>
              </a:lnSpc>
            </a:pPr>
            <a:r>
              <a:rPr sz="1400" b="0">
                <a:solidFill>
                  <a:srgbClr val="4F5560"/>
                </a:solidFill>
                <a:latin typeface="Calibri"/>
              </a:rPr>
              <a:t>Hosts the open-source code.</a:t>
            </a:r>
          </a:p>
        </p:txBody>
      </p:sp>
      <p:sp>
        <p:nvSpPr>
          <p:cNvPr id="29" name="Down Arrow 28"/>
          <p:cNvSpPr/>
          <p:nvPr/>
        </p:nvSpPr>
        <p:spPr>
          <a:xfrm>
            <a:off x="5870448" y="3886200"/>
            <a:ext cx="457200" cy="411480"/>
          </a:xfrm>
          <a:prstGeom prst="downArrow">
            <a:avLst>
              <a:gd name="adj1" fmla="val 50000"/>
              <a:gd name="adj2"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5968" y="4389120"/>
            <a:ext cx="3566160" cy="960120"/>
          </a:xfrm>
          <a:prstGeom prst="roundRect">
            <a:avLst>
              <a:gd name="adj" fmla="val 5000"/>
            </a:avLst>
          </a:prstGeom>
          <a:solidFill>
            <a:srgbClr val="F4EFE6"/>
          </a:solidFill>
          <a:ln w="285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17136" y="4480560"/>
            <a:ext cx="3200400" cy="777240"/>
          </a:xfrm>
          <a:prstGeom prst="rect">
            <a:avLst/>
          </a:prstGeom>
          <a:noFill/>
        </p:spPr>
        <p:txBody>
          <a:bodyPr wrap="square" lIns="0" rIns="0" tIns="0" bIns="0" anchor="ctr">
            <a:spAutoFit/>
          </a:bodyPr>
          <a:lstStyle/>
          <a:p>
            <a:pPr>
              <a:lnSpc>
                <a:spcPct val="105000"/>
              </a:lnSpc>
            </a:pPr>
            <a:r>
              <a:rPr sz="1500" b="1">
                <a:solidFill>
                  <a:srgbClr val="143D59"/>
                </a:solidFill>
                <a:latin typeface="Calibri"/>
              </a:rPr>
              <a:t>Open-source projects</a:t>
            </a:r>
          </a:p>
          <a:p>
            <a:pPr>
              <a:lnSpc>
                <a:spcPct val="105000"/>
              </a:lnSpc>
            </a:pPr>
            <a:r>
              <a:rPr sz="1500" b="0">
                <a:solidFill>
                  <a:srgbClr val="4F5560"/>
                </a:solidFill>
                <a:latin typeface="Calibri"/>
              </a:rPr>
              <a:t>use them, and contribute back.</a:t>
            </a:r>
          </a:p>
        </p:txBody>
      </p:sp>
      <p:sp>
        <p:nvSpPr>
          <p:cNvPr id="32" name="Rounded Rectangle 31"/>
          <p:cNvSpPr/>
          <p:nvPr/>
        </p:nvSpPr>
        <p:spPr>
          <a:xfrm>
            <a:off x="8083296" y="228600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83296" y="2286000"/>
            <a:ext cx="3566160" cy="41148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84464" y="2359152"/>
            <a:ext cx="3163824" cy="310896"/>
          </a:xfrm>
          <a:prstGeom prst="rect">
            <a:avLst/>
          </a:prstGeom>
          <a:noFill/>
        </p:spPr>
        <p:txBody>
          <a:bodyPr wrap="square" lIns="0" rIns="0" tIns="0" bIns="0">
            <a:spAutoFit/>
          </a:bodyPr>
          <a:lstStyle/>
          <a:p>
            <a:pPr>
              <a:lnSpc>
                <a:spcPct val="100000"/>
              </a:lnSpc>
            </a:pPr>
            <a:r>
              <a:rPr sz="1500" b="1">
                <a:solidFill>
                  <a:srgbClr val="FFFFFF"/>
                </a:solidFill>
                <a:latin typeface="Calibri"/>
              </a:rPr>
              <a:t>Operation:  Cofinity-X</a:t>
            </a:r>
          </a:p>
        </p:txBody>
      </p:sp>
      <p:sp>
        <p:nvSpPr>
          <p:cNvPr id="35" name="TextBox 34"/>
          <p:cNvSpPr txBox="1"/>
          <p:nvPr/>
        </p:nvSpPr>
        <p:spPr>
          <a:xfrm>
            <a:off x="8284464" y="2880360"/>
            <a:ext cx="3163824" cy="822959"/>
          </a:xfrm>
          <a:prstGeom prst="rect">
            <a:avLst/>
          </a:prstGeom>
          <a:noFill/>
        </p:spPr>
        <p:txBody>
          <a:bodyPr wrap="square" lIns="0" rIns="0" tIns="0" bIns="0">
            <a:spAutoFit/>
          </a:bodyPr>
          <a:lstStyle/>
          <a:p>
            <a:pPr>
              <a:lnSpc>
                <a:spcPct val="110000"/>
              </a:lnSpc>
            </a:pPr>
            <a:r>
              <a:rPr sz="1400" b="0">
                <a:solidFill>
                  <a:srgbClr val="4F5560"/>
                </a:solidFill>
                <a:latin typeface="Calibri"/>
              </a:rPr>
              <a:t>Runs the operation and the core services.</a:t>
            </a:r>
          </a:p>
        </p:txBody>
      </p:sp>
      <p:sp>
        <p:nvSpPr>
          <p:cNvPr id="36" name="Down Arrow 35"/>
          <p:cNvSpPr/>
          <p:nvPr/>
        </p:nvSpPr>
        <p:spPr>
          <a:xfrm>
            <a:off x="9637776" y="3886200"/>
            <a:ext cx="457200" cy="411480"/>
          </a:xfrm>
          <a:prstGeom prst="downArrow">
            <a:avLst>
              <a:gd name="adj1" fmla="val 50000"/>
              <a:gd name="adj2" fmla="val 50000"/>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83296" y="4389120"/>
            <a:ext cx="3566160" cy="960120"/>
          </a:xfrm>
          <a:prstGeom prst="roundRect">
            <a:avLst>
              <a:gd name="adj" fmla="val 5000"/>
            </a:avLst>
          </a:prstGeom>
          <a:solidFill>
            <a:srgbClr val="F4EFE6"/>
          </a:solidFill>
          <a:ln w="28575">
            <a:solidFill>
              <a:srgbClr val="E6A8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84464" y="4480560"/>
            <a:ext cx="3200400" cy="777240"/>
          </a:xfrm>
          <a:prstGeom prst="rect">
            <a:avLst/>
          </a:prstGeom>
          <a:noFill/>
        </p:spPr>
        <p:txBody>
          <a:bodyPr wrap="square" lIns="0" rIns="0" tIns="0" bIns="0" anchor="ctr">
            <a:spAutoFit/>
          </a:bodyPr>
          <a:lstStyle/>
          <a:p>
            <a:pPr>
              <a:lnSpc>
                <a:spcPct val="105000"/>
              </a:lnSpc>
            </a:pPr>
            <a:r>
              <a:rPr sz="1500" b="1">
                <a:solidFill>
                  <a:srgbClr val="143D59"/>
                </a:solidFill>
                <a:latin typeface="Calibri"/>
              </a:rPr>
              <a:t>EJIE</a:t>
            </a:r>
          </a:p>
          <a:p>
            <a:pPr>
              <a:lnSpc>
                <a:spcPct val="105000"/>
              </a:lnSpc>
            </a:pPr>
            <a:r>
              <a:rPr sz="1500" b="0">
                <a:solidFill>
                  <a:srgbClr val="4F5560"/>
                </a:solidFill>
                <a:latin typeface="Calibri"/>
              </a:rPr>
              <a:t>operates the core services.</a:t>
            </a:r>
          </a:p>
        </p:txBody>
      </p:sp>
      <p:sp>
        <p:nvSpPr>
          <p:cNvPr id="39" name="Rounded Rectangle 38"/>
          <p:cNvSpPr/>
          <p:nvPr/>
        </p:nvSpPr>
        <p:spPr>
          <a:xfrm>
            <a:off x="548640" y="5532120"/>
            <a:ext cx="11091672" cy="7772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532120"/>
            <a:ext cx="164592" cy="7772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532120"/>
            <a:ext cx="10424160" cy="777240"/>
          </a:xfrm>
          <a:prstGeom prst="rect">
            <a:avLst/>
          </a:prstGeom>
          <a:noFill/>
        </p:spPr>
        <p:txBody>
          <a:bodyPr wrap="square" lIns="0" rIns="0" tIns="0" bIns="0" anchor="ctr">
            <a:spAutoFit/>
          </a:bodyPr>
          <a:lstStyle/>
          <a:p>
            <a:pPr>
              <a:lnSpc>
                <a:spcPct val="110000"/>
              </a:lnSpc>
            </a:pPr>
            <a:r>
              <a:rPr sz="1500" b="1">
                <a:solidFill>
                  <a:srgbClr val="143D59"/>
                </a:solidFill>
                <a:latin typeface="Calibri"/>
              </a:rPr>
              <a:t>Keep rule-setting and operation separate. Design the governance for several domains from the start, not only for health.</a:t>
            </a:r>
          </a:p>
        </p:txBody>
      </p:sp>
      <p:sp>
        <p:nvSpPr>
          <p:cNvPr id="42" name="TextBox 41"/>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catena-x.net  ·  eclipse.org  ·  cofinity-x.com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249174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249174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7 OF 8  ·  COSTS</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Costs: no licences, but people and hosting</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The core stack is open source. The money goes into engineering, hosting and operations.</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20240"/>
            <a:ext cx="5486400" cy="365760"/>
          </a:xfrm>
          <a:prstGeom prst="rect">
            <a:avLst/>
          </a:prstGeom>
          <a:noFill/>
        </p:spPr>
        <p:txBody>
          <a:bodyPr wrap="square" lIns="0" rIns="0" tIns="0" bIns="0">
            <a:spAutoFit/>
          </a:bodyPr>
          <a:lstStyle/>
          <a:p>
            <a:pPr>
              <a:lnSpc>
                <a:spcPct val="100000"/>
              </a:lnSpc>
            </a:pPr>
            <a:r>
              <a:rPr sz="1400" b="1">
                <a:solidFill>
                  <a:srgbClr val="8A8F98"/>
                </a:solidFill>
                <a:latin typeface="Calibri"/>
              </a:rPr>
              <a:t>Catena-X, for reference</a:t>
            </a:r>
          </a:p>
        </p:txBody>
      </p:sp>
      <p:sp>
        <p:nvSpPr>
          <p:cNvPr id="17" name="Rounded Rectangle 16"/>
          <p:cNvSpPr/>
          <p:nvPr/>
        </p:nvSpPr>
        <p:spPr>
          <a:xfrm>
            <a:off x="548640" y="2286000"/>
            <a:ext cx="3566160" cy="16916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286000"/>
            <a:ext cx="109728" cy="1691640"/>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395728"/>
            <a:ext cx="3108960" cy="640080"/>
          </a:xfrm>
          <a:prstGeom prst="rect">
            <a:avLst/>
          </a:prstGeom>
          <a:noFill/>
        </p:spPr>
        <p:txBody>
          <a:bodyPr wrap="square" lIns="0" rIns="0" tIns="0" bIns="0">
            <a:spAutoFit/>
          </a:bodyPr>
          <a:lstStyle/>
          <a:p>
            <a:pPr>
              <a:lnSpc>
                <a:spcPct val="100000"/>
              </a:lnSpc>
            </a:pPr>
            <a:r>
              <a:rPr sz="3000" b="1">
                <a:solidFill>
                  <a:srgbClr val="528B55"/>
                </a:solidFill>
                <a:latin typeface="Calibri"/>
              </a:rPr>
              <a:t>≈ €0</a:t>
            </a:r>
          </a:p>
        </p:txBody>
      </p:sp>
      <p:sp>
        <p:nvSpPr>
          <p:cNvPr id="20" name="TextBox 19"/>
          <p:cNvSpPr txBox="1"/>
          <p:nvPr/>
        </p:nvSpPr>
        <p:spPr>
          <a:xfrm>
            <a:off x="868680" y="3063240"/>
            <a:ext cx="3108960" cy="365760"/>
          </a:xfrm>
          <a:prstGeom prst="rect">
            <a:avLst/>
          </a:prstGeom>
          <a:noFill/>
        </p:spPr>
        <p:txBody>
          <a:bodyPr wrap="square" lIns="0" rIns="0" tIns="0" bIns="0">
            <a:spAutoFit/>
          </a:bodyPr>
          <a:lstStyle/>
          <a:p>
            <a:pPr>
              <a:lnSpc>
                <a:spcPct val="100000"/>
              </a:lnSpc>
            </a:pPr>
            <a:r>
              <a:rPr sz="1500" b="1">
                <a:solidFill>
                  <a:srgbClr val="143D59"/>
                </a:solidFill>
                <a:latin typeface="Calibri"/>
              </a:rPr>
              <a:t>Licence costs</a:t>
            </a:r>
          </a:p>
        </p:txBody>
      </p:sp>
      <p:sp>
        <p:nvSpPr>
          <p:cNvPr id="21" name="TextBox 20"/>
          <p:cNvSpPr txBox="1"/>
          <p:nvPr/>
        </p:nvSpPr>
        <p:spPr>
          <a:xfrm>
            <a:off x="868680" y="3429000"/>
            <a:ext cx="310896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The core stack is open source.</a:t>
            </a:r>
          </a:p>
        </p:txBody>
      </p:sp>
      <p:sp>
        <p:nvSpPr>
          <p:cNvPr id="22" name="Rounded Rectangle 21"/>
          <p:cNvSpPr/>
          <p:nvPr/>
        </p:nvSpPr>
        <p:spPr>
          <a:xfrm>
            <a:off x="4315968" y="2286000"/>
            <a:ext cx="3566160" cy="16916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15968" y="2286000"/>
            <a:ext cx="109728" cy="169164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36007" y="2395728"/>
            <a:ext cx="3108960" cy="640080"/>
          </a:xfrm>
          <a:prstGeom prst="rect">
            <a:avLst/>
          </a:prstGeom>
          <a:noFill/>
        </p:spPr>
        <p:txBody>
          <a:bodyPr wrap="square" lIns="0" rIns="0" tIns="0" bIns="0">
            <a:spAutoFit/>
          </a:bodyPr>
          <a:lstStyle/>
          <a:p>
            <a:pPr>
              <a:lnSpc>
                <a:spcPct val="100000"/>
              </a:lnSpc>
            </a:pPr>
            <a:r>
              <a:rPr sz="3000" b="1">
                <a:solidFill>
                  <a:srgbClr val="143D59"/>
                </a:solidFill>
                <a:latin typeface="Calibri"/>
              </a:rPr>
              <a:t>&gt; €100M</a:t>
            </a:r>
          </a:p>
        </p:txBody>
      </p:sp>
      <p:sp>
        <p:nvSpPr>
          <p:cNvPr id="25" name="TextBox 24"/>
          <p:cNvSpPr txBox="1"/>
          <p:nvPr/>
        </p:nvSpPr>
        <p:spPr>
          <a:xfrm>
            <a:off x="4636007" y="3063240"/>
            <a:ext cx="3108960" cy="365760"/>
          </a:xfrm>
          <a:prstGeom prst="rect">
            <a:avLst/>
          </a:prstGeom>
          <a:noFill/>
        </p:spPr>
        <p:txBody>
          <a:bodyPr wrap="square" lIns="0" rIns="0" tIns="0" bIns="0">
            <a:spAutoFit/>
          </a:bodyPr>
          <a:lstStyle/>
          <a:p>
            <a:pPr>
              <a:lnSpc>
                <a:spcPct val="100000"/>
              </a:lnSpc>
            </a:pPr>
            <a:r>
              <a:rPr sz="1500" b="1">
                <a:solidFill>
                  <a:srgbClr val="143D59"/>
                </a:solidFill>
                <a:latin typeface="Calibri"/>
              </a:rPr>
              <a:t>Public funding</a:t>
            </a:r>
          </a:p>
        </p:txBody>
      </p:sp>
      <p:sp>
        <p:nvSpPr>
          <p:cNvPr id="26" name="TextBox 25"/>
          <p:cNvSpPr txBox="1"/>
          <p:nvPr/>
        </p:nvSpPr>
        <p:spPr>
          <a:xfrm>
            <a:off x="4636007" y="3429000"/>
            <a:ext cx="310896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For a whole industry, not one region.</a:t>
            </a:r>
          </a:p>
        </p:txBody>
      </p:sp>
      <p:sp>
        <p:nvSpPr>
          <p:cNvPr id="27" name="Rounded Rectangle 26"/>
          <p:cNvSpPr/>
          <p:nvPr/>
        </p:nvSpPr>
        <p:spPr>
          <a:xfrm>
            <a:off x="8083296" y="2286000"/>
            <a:ext cx="3566160" cy="16916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3296" y="2286000"/>
            <a:ext cx="109728" cy="169164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6" y="2395728"/>
            <a:ext cx="3108960" cy="640080"/>
          </a:xfrm>
          <a:prstGeom prst="rect">
            <a:avLst/>
          </a:prstGeom>
          <a:noFill/>
        </p:spPr>
        <p:txBody>
          <a:bodyPr wrap="square" lIns="0" rIns="0" tIns="0" bIns="0">
            <a:spAutoFit/>
          </a:bodyPr>
          <a:lstStyle/>
          <a:p>
            <a:pPr>
              <a:lnSpc>
                <a:spcPct val="100000"/>
              </a:lnSpc>
            </a:pPr>
            <a:r>
              <a:rPr sz="3000" b="1">
                <a:solidFill>
                  <a:srgbClr val="E6A817"/>
                </a:solidFill>
                <a:latin typeface="Calibri"/>
              </a:rPr>
              <a:t>€1,500 – 71,000</a:t>
            </a:r>
          </a:p>
        </p:txBody>
      </p:sp>
      <p:sp>
        <p:nvSpPr>
          <p:cNvPr id="30" name="TextBox 29"/>
          <p:cNvSpPr txBox="1"/>
          <p:nvPr/>
        </p:nvSpPr>
        <p:spPr>
          <a:xfrm>
            <a:off x="8403336" y="3063240"/>
            <a:ext cx="3108960" cy="365760"/>
          </a:xfrm>
          <a:prstGeom prst="rect">
            <a:avLst/>
          </a:prstGeom>
          <a:noFill/>
        </p:spPr>
        <p:txBody>
          <a:bodyPr wrap="square" lIns="0" rIns="0" tIns="0" bIns="0">
            <a:spAutoFit/>
          </a:bodyPr>
          <a:lstStyle/>
          <a:p>
            <a:pPr>
              <a:lnSpc>
                <a:spcPct val="100000"/>
              </a:lnSpc>
            </a:pPr>
            <a:r>
              <a:rPr sz="1500" b="1">
                <a:solidFill>
                  <a:srgbClr val="143D59"/>
                </a:solidFill>
                <a:latin typeface="Calibri"/>
              </a:rPr>
              <a:t>Per participant, per year</a:t>
            </a:r>
          </a:p>
        </p:txBody>
      </p:sp>
      <p:sp>
        <p:nvSpPr>
          <p:cNvPr id="31" name="TextBox 30"/>
          <p:cNvSpPr txBox="1"/>
          <p:nvPr/>
        </p:nvSpPr>
        <p:spPr>
          <a:xfrm>
            <a:off x="8403336" y="3429000"/>
            <a:ext cx="310896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Paid to the operator.</a:t>
            </a:r>
          </a:p>
        </p:txBody>
      </p:sp>
      <p:sp>
        <p:nvSpPr>
          <p:cNvPr id="32" name="TextBox 31"/>
          <p:cNvSpPr txBox="1"/>
          <p:nvPr/>
        </p:nvSpPr>
        <p:spPr>
          <a:xfrm>
            <a:off x="548640" y="4206240"/>
            <a:ext cx="5486400" cy="365760"/>
          </a:xfrm>
          <a:prstGeom prst="rect">
            <a:avLst/>
          </a:prstGeom>
          <a:noFill/>
        </p:spPr>
        <p:txBody>
          <a:bodyPr wrap="square" lIns="0" rIns="0" tIns="0" bIns="0">
            <a:spAutoFit/>
          </a:bodyPr>
          <a:lstStyle/>
          <a:p>
            <a:pPr>
              <a:lnSpc>
                <a:spcPct val="100000"/>
              </a:lnSpc>
            </a:pPr>
            <a:r>
              <a:rPr sz="1400" b="1">
                <a:solidFill>
                  <a:srgbClr val="8A8F98"/>
                </a:solidFill>
                <a:latin typeface="Calibri"/>
              </a:rPr>
              <a:t>Basque regional pilot, our estimate</a:t>
            </a:r>
          </a:p>
        </p:txBody>
      </p:sp>
      <p:sp>
        <p:nvSpPr>
          <p:cNvPr id="33" name="Rounded Rectangle 32"/>
          <p:cNvSpPr/>
          <p:nvPr/>
        </p:nvSpPr>
        <p:spPr>
          <a:xfrm>
            <a:off x="548640" y="4572000"/>
            <a:ext cx="5440680" cy="1691640"/>
          </a:xfrm>
          <a:prstGeom prst="roundRect">
            <a:avLst>
              <a:gd name="adj" fmla="val 5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4572000"/>
            <a:ext cx="109728" cy="1691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709160"/>
            <a:ext cx="4846320" cy="685800"/>
          </a:xfrm>
          <a:prstGeom prst="rect">
            <a:avLst/>
          </a:prstGeom>
          <a:noFill/>
        </p:spPr>
        <p:txBody>
          <a:bodyPr wrap="square" lIns="0" rIns="0" tIns="0" bIns="0">
            <a:spAutoFit/>
          </a:bodyPr>
          <a:lstStyle/>
          <a:p>
            <a:pPr>
              <a:lnSpc>
                <a:spcPct val="100000"/>
              </a:lnSpc>
            </a:pPr>
            <a:r>
              <a:rPr sz="3400" b="1">
                <a:solidFill>
                  <a:srgbClr val="FFFFFF"/>
                </a:solidFill>
                <a:latin typeface="Calibri"/>
              </a:rPr>
              <a:t>€0.8 – 1.5M</a:t>
            </a:r>
          </a:p>
        </p:txBody>
      </p:sp>
      <p:sp>
        <p:nvSpPr>
          <p:cNvPr id="36" name="TextBox 35"/>
          <p:cNvSpPr txBox="1"/>
          <p:nvPr/>
        </p:nvSpPr>
        <p:spPr>
          <a:xfrm>
            <a:off x="914400" y="5440680"/>
            <a:ext cx="4846320" cy="365760"/>
          </a:xfrm>
          <a:prstGeom prst="rect">
            <a:avLst/>
          </a:prstGeom>
          <a:noFill/>
        </p:spPr>
        <p:txBody>
          <a:bodyPr wrap="square" lIns="0" rIns="0" tIns="0" bIns="0">
            <a:spAutoFit/>
          </a:bodyPr>
          <a:lstStyle/>
          <a:p>
            <a:pPr>
              <a:lnSpc>
                <a:spcPct val="100000"/>
              </a:lnSpc>
            </a:pPr>
            <a:r>
              <a:rPr sz="1600" b="1">
                <a:solidFill>
                  <a:srgbClr val="E6A817"/>
                </a:solidFill>
                <a:latin typeface="Calibri"/>
              </a:rPr>
              <a:t>To build the pilot</a:t>
            </a:r>
          </a:p>
        </p:txBody>
      </p:sp>
      <p:sp>
        <p:nvSpPr>
          <p:cNvPr id="37" name="TextBox 36"/>
          <p:cNvSpPr txBox="1"/>
          <p:nvPr/>
        </p:nvSpPr>
        <p:spPr>
          <a:xfrm>
            <a:off x="914400" y="5806440"/>
            <a:ext cx="4846320" cy="365760"/>
          </a:xfrm>
          <a:prstGeom prst="rect">
            <a:avLst/>
          </a:prstGeom>
          <a:noFill/>
        </p:spPr>
        <p:txBody>
          <a:bodyPr wrap="square" lIns="0" rIns="0" tIns="0" bIns="0">
            <a:spAutoFit/>
          </a:bodyPr>
          <a:lstStyle/>
          <a:p>
            <a:pPr>
              <a:lnSpc>
                <a:spcPct val="100000"/>
              </a:lnSpc>
            </a:pPr>
            <a:r>
              <a:rPr sz="1300" b="0">
                <a:solidFill>
                  <a:srgbClr val="FFFFFF"/>
                </a:solidFill>
                <a:latin typeface="Calibri"/>
              </a:rPr>
              <a:t>Engineering, hosting, onboarding.</a:t>
            </a:r>
          </a:p>
        </p:txBody>
      </p:sp>
      <p:sp>
        <p:nvSpPr>
          <p:cNvPr id="38" name="Rounded Rectangle 37"/>
          <p:cNvSpPr/>
          <p:nvPr/>
        </p:nvSpPr>
        <p:spPr>
          <a:xfrm>
            <a:off x="6199631" y="4572000"/>
            <a:ext cx="5440680" cy="1691640"/>
          </a:xfrm>
          <a:prstGeom prst="roundRect">
            <a:avLst>
              <a:gd name="adj" fmla="val 5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99631" y="4572000"/>
            <a:ext cx="109728" cy="1691640"/>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65392" y="4709160"/>
            <a:ext cx="4846320" cy="685800"/>
          </a:xfrm>
          <a:prstGeom prst="rect">
            <a:avLst/>
          </a:prstGeom>
          <a:noFill/>
        </p:spPr>
        <p:txBody>
          <a:bodyPr wrap="square" lIns="0" rIns="0" tIns="0" bIns="0">
            <a:spAutoFit/>
          </a:bodyPr>
          <a:lstStyle/>
          <a:p>
            <a:pPr>
              <a:lnSpc>
                <a:spcPct val="100000"/>
              </a:lnSpc>
            </a:pPr>
            <a:r>
              <a:rPr sz="3400" b="1">
                <a:solidFill>
                  <a:srgbClr val="FFFFFF"/>
                </a:solidFill>
                <a:latin typeface="Calibri"/>
              </a:rPr>
              <a:t>15 – 25% per year</a:t>
            </a:r>
          </a:p>
        </p:txBody>
      </p:sp>
      <p:sp>
        <p:nvSpPr>
          <p:cNvPr id="41" name="TextBox 40"/>
          <p:cNvSpPr txBox="1"/>
          <p:nvPr/>
        </p:nvSpPr>
        <p:spPr>
          <a:xfrm>
            <a:off x="6565392" y="5440680"/>
            <a:ext cx="4846320" cy="365760"/>
          </a:xfrm>
          <a:prstGeom prst="rect">
            <a:avLst/>
          </a:prstGeom>
          <a:noFill/>
        </p:spPr>
        <p:txBody>
          <a:bodyPr wrap="square" lIns="0" rIns="0" tIns="0" bIns="0">
            <a:spAutoFit/>
          </a:bodyPr>
          <a:lstStyle/>
          <a:p>
            <a:pPr>
              <a:lnSpc>
                <a:spcPct val="100000"/>
              </a:lnSpc>
            </a:pPr>
            <a:r>
              <a:rPr sz="1600" b="1">
                <a:solidFill>
                  <a:srgbClr val="E6A817"/>
                </a:solidFill>
                <a:latin typeface="Calibri"/>
              </a:rPr>
              <a:t>To operate it</a:t>
            </a:r>
          </a:p>
        </p:txBody>
      </p:sp>
      <p:sp>
        <p:nvSpPr>
          <p:cNvPr id="42" name="TextBox 41"/>
          <p:cNvSpPr txBox="1"/>
          <p:nvPr/>
        </p:nvSpPr>
        <p:spPr>
          <a:xfrm>
            <a:off x="6565392" y="5806440"/>
            <a:ext cx="4846320" cy="365760"/>
          </a:xfrm>
          <a:prstGeom prst="rect">
            <a:avLst/>
          </a:prstGeom>
          <a:noFill/>
        </p:spPr>
        <p:txBody>
          <a:bodyPr wrap="square" lIns="0" rIns="0" tIns="0" bIns="0">
            <a:spAutoFit/>
          </a:bodyPr>
          <a:lstStyle/>
          <a:p>
            <a:pPr>
              <a:lnSpc>
                <a:spcPct val="100000"/>
              </a:lnSpc>
            </a:pPr>
            <a:r>
              <a:rPr sz="1300" b="0">
                <a:solidFill>
                  <a:srgbClr val="FFFFFF"/>
                </a:solidFill>
                <a:latin typeface="Calibri"/>
              </a:rPr>
              <a:t>About €120,000 – 375,000 a year.</a:t>
            </a:r>
          </a:p>
        </p:txBody>
      </p:sp>
      <p:sp>
        <p:nvSpPr>
          <p:cNvPr id="43" name="TextBox 42"/>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catena-x.net  ·  cofinity-x.com  ·  operations: share of the build cost per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26898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26898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8 OF 8  ·  EFFORT AND TEAM</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The team: 8 to 12 people for a pilot</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Full-time people, with the right mix of skills.</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011680"/>
            <a:ext cx="3566160" cy="4206240"/>
          </a:xfrm>
          <a:prstGeom prst="roundRect">
            <a:avLst>
              <a:gd name="adj" fmla="val 5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514600"/>
            <a:ext cx="3566160" cy="1188720"/>
          </a:xfrm>
          <a:prstGeom prst="rect">
            <a:avLst/>
          </a:prstGeom>
          <a:noFill/>
        </p:spPr>
        <p:txBody>
          <a:bodyPr wrap="square" lIns="0" rIns="0" tIns="0" bIns="0">
            <a:spAutoFit/>
          </a:bodyPr>
          <a:lstStyle/>
          <a:p>
            <a:pPr algn="ctr">
              <a:lnSpc>
                <a:spcPct val="100000"/>
              </a:lnSpc>
            </a:pPr>
            <a:r>
              <a:rPr sz="7200" b="1">
                <a:solidFill>
                  <a:srgbClr val="FFFFFF"/>
                </a:solidFill>
                <a:latin typeface="Calibri"/>
              </a:rPr>
              <a:t>8 – 12</a:t>
            </a:r>
          </a:p>
        </p:txBody>
      </p:sp>
      <p:sp>
        <p:nvSpPr>
          <p:cNvPr id="18" name="TextBox 17"/>
          <p:cNvSpPr txBox="1"/>
          <p:nvPr/>
        </p:nvSpPr>
        <p:spPr>
          <a:xfrm>
            <a:off x="548640" y="3794760"/>
            <a:ext cx="3566160" cy="457200"/>
          </a:xfrm>
          <a:prstGeom prst="rect">
            <a:avLst/>
          </a:prstGeom>
          <a:noFill/>
        </p:spPr>
        <p:txBody>
          <a:bodyPr wrap="square" lIns="0" rIns="0" tIns="0" bIns="0">
            <a:spAutoFit/>
          </a:bodyPr>
          <a:lstStyle/>
          <a:p>
            <a:pPr algn="ctr">
              <a:lnSpc>
                <a:spcPct val="100000"/>
              </a:lnSpc>
            </a:pPr>
            <a:r>
              <a:rPr sz="2200" b="1">
                <a:solidFill>
                  <a:srgbClr val="E6A817"/>
                </a:solidFill>
                <a:latin typeface="Calibri"/>
              </a:rPr>
              <a:t>full-time people</a:t>
            </a:r>
          </a:p>
        </p:txBody>
      </p:sp>
      <p:sp>
        <p:nvSpPr>
          <p:cNvPr id="19" name="TextBox 18"/>
          <p:cNvSpPr txBox="1"/>
          <p:nvPr/>
        </p:nvSpPr>
        <p:spPr>
          <a:xfrm>
            <a:off x="822960" y="4572000"/>
            <a:ext cx="3017520" cy="1371600"/>
          </a:xfrm>
          <a:prstGeom prst="rect">
            <a:avLst/>
          </a:prstGeom>
          <a:noFill/>
        </p:spPr>
        <p:txBody>
          <a:bodyPr wrap="square" lIns="0" rIns="0" tIns="0" bIns="0">
            <a:spAutoFit/>
          </a:bodyPr>
          <a:lstStyle/>
          <a:p>
            <a:pPr algn="ctr">
              <a:lnSpc>
                <a:spcPct val="110000"/>
              </a:lnSpc>
            </a:pPr>
            <a:r>
              <a:rPr sz="1400" b="0">
                <a:solidFill>
                  <a:srgbClr val="FFFFFF"/>
                </a:solidFill>
                <a:latin typeface="Calibri"/>
              </a:rPr>
              <a:t>Experts need time and a mandate from top management. See question 1.</a:t>
            </a:r>
          </a:p>
        </p:txBody>
      </p:sp>
      <p:sp>
        <p:nvSpPr>
          <p:cNvPr id="20" name="Rounded Rectangle 19"/>
          <p:cNvSpPr/>
          <p:nvPr/>
        </p:nvSpPr>
        <p:spPr>
          <a:xfrm>
            <a:off x="4343400" y="2011680"/>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98848" y="2139696"/>
            <a:ext cx="493776" cy="493776"/>
          </a:xfrm>
          <a:prstGeom prst="ellipse">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8848" y="2139696"/>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1</a:t>
            </a:r>
          </a:p>
        </p:txBody>
      </p:sp>
      <p:sp>
        <p:nvSpPr>
          <p:cNvPr id="23" name="TextBox 22"/>
          <p:cNvSpPr txBox="1"/>
          <p:nvPr/>
        </p:nvSpPr>
        <p:spPr>
          <a:xfrm>
            <a:off x="5212080" y="2066544"/>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Architect</a:t>
            </a:r>
          </a:p>
        </p:txBody>
      </p:sp>
      <p:sp>
        <p:nvSpPr>
          <p:cNvPr id="24" name="TextBox 23"/>
          <p:cNvSpPr txBox="1"/>
          <p:nvPr/>
        </p:nvSpPr>
        <p:spPr>
          <a:xfrm>
            <a:off x="5212080" y="2404872"/>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One person who holds the whole picture.</a:t>
            </a:r>
          </a:p>
        </p:txBody>
      </p:sp>
      <p:sp>
        <p:nvSpPr>
          <p:cNvPr id="25" name="Rounded Rectangle 24"/>
          <p:cNvSpPr/>
          <p:nvPr/>
        </p:nvSpPr>
        <p:spPr>
          <a:xfrm>
            <a:off x="4343400" y="2871216"/>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98848" y="2999232"/>
            <a:ext cx="493776" cy="49377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8848" y="2999232"/>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2</a:t>
            </a:r>
          </a:p>
        </p:txBody>
      </p:sp>
      <p:sp>
        <p:nvSpPr>
          <p:cNvPr id="28" name="TextBox 27"/>
          <p:cNvSpPr txBox="1"/>
          <p:nvPr/>
        </p:nvSpPr>
        <p:spPr>
          <a:xfrm>
            <a:off x="5212080" y="2926080"/>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Connector engineers</a:t>
            </a:r>
          </a:p>
        </p:txBody>
      </p:sp>
      <p:sp>
        <p:nvSpPr>
          <p:cNvPr id="29" name="TextBox 28"/>
          <p:cNvSpPr txBox="1"/>
          <p:nvPr/>
        </p:nvSpPr>
        <p:spPr>
          <a:xfrm>
            <a:off x="5212080" y="3264408"/>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Run and update the dataspace connectors.</a:t>
            </a:r>
          </a:p>
        </p:txBody>
      </p:sp>
      <p:sp>
        <p:nvSpPr>
          <p:cNvPr id="30" name="Rounded Rectangle 29"/>
          <p:cNvSpPr/>
          <p:nvPr/>
        </p:nvSpPr>
        <p:spPr>
          <a:xfrm>
            <a:off x="4343400" y="3730752"/>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98848" y="3858768"/>
            <a:ext cx="493776" cy="493776"/>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98848" y="3858768"/>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3</a:t>
            </a:r>
          </a:p>
        </p:txBody>
      </p:sp>
      <p:sp>
        <p:nvSpPr>
          <p:cNvPr id="33" name="TextBox 32"/>
          <p:cNvSpPr txBox="1"/>
          <p:nvPr/>
        </p:nvSpPr>
        <p:spPr>
          <a:xfrm>
            <a:off x="5212080" y="3785615"/>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Platform and security (DevSecOps)</a:t>
            </a:r>
          </a:p>
        </p:txBody>
      </p:sp>
      <p:sp>
        <p:nvSpPr>
          <p:cNvPr id="34" name="TextBox 33"/>
          <p:cNvSpPr txBox="1"/>
          <p:nvPr/>
        </p:nvSpPr>
        <p:spPr>
          <a:xfrm>
            <a:off x="5212080" y="4123944"/>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Hosting, identity, monitoring, security.</a:t>
            </a:r>
          </a:p>
        </p:txBody>
      </p:sp>
      <p:sp>
        <p:nvSpPr>
          <p:cNvPr id="35" name="Rounded Rectangle 34"/>
          <p:cNvSpPr/>
          <p:nvPr/>
        </p:nvSpPr>
        <p:spPr>
          <a:xfrm>
            <a:off x="4343400" y="4590288"/>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498848" y="4718303"/>
            <a:ext cx="493776" cy="493776"/>
          </a:xfrm>
          <a:prstGeom prst="ellipse">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4718303"/>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4</a:t>
            </a:r>
          </a:p>
        </p:txBody>
      </p:sp>
      <p:sp>
        <p:nvSpPr>
          <p:cNvPr id="38" name="TextBox 37"/>
          <p:cNvSpPr txBox="1"/>
          <p:nvPr/>
        </p:nvSpPr>
        <p:spPr>
          <a:xfrm>
            <a:off x="5212080" y="4645151"/>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FHIR and OMOP specialist</a:t>
            </a:r>
          </a:p>
        </p:txBody>
      </p:sp>
      <p:sp>
        <p:nvSpPr>
          <p:cNvPr id="39" name="TextBox 38"/>
          <p:cNvSpPr txBox="1"/>
          <p:nvPr/>
        </p:nvSpPr>
        <p:spPr>
          <a:xfrm>
            <a:off x="5212080" y="4983479"/>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Makes the data mean the same thing everywhere.</a:t>
            </a:r>
          </a:p>
        </p:txBody>
      </p:sp>
      <p:sp>
        <p:nvSpPr>
          <p:cNvPr id="40" name="Rounded Rectangle 39"/>
          <p:cNvSpPr/>
          <p:nvPr/>
        </p:nvSpPr>
        <p:spPr>
          <a:xfrm>
            <a:off x="4343400" y="5449824"/>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498848" y="5577840"/>
            <a:ext cx="493776" cy="493776"/>
          </a:xfrm>
          <a:prstGeom prst="ellipse">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98848" y="5577840"/>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5</a:t>
            </a:r>
          </a:p>
        </p:txBody>
      </p:sp>
      <p:sp>
        <p:nvSpPr>
          <p:cNvPr id="43" name="TextBox 42"/>
          <p:cNvSpPr txBox="1"/>
          <p:nvPr/>
        </p:nvSpPr>
        <p:spPr>
          <a:xfrm>
            <a:off x="5212080" y="5504688"/>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Data protection and legal</a:t>
            </a:r>
          </a:p>
        </p:txBody>
      </p:sp>
      <p:sp>
        <p:nvSpPr>
          <p:cNvPr id="44" name="TextBox 43"/>
          <p:cNvSpPr txBox="1"/>
          <p:nvPr/>
        </p:nvSpPr>
        <p:spPr>
          <a:xfrm>
            <a:off x="5212080" y="5843016"/>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GDPR, EHDS, data permits and contracts.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6766560" cy="640080"/>
          </a:xfrm>
          <a:prstGeom prst="rect">
            <a:avLst/>
          </a:prstGeom>
          <a:noFill/>
        </p:spPr>
        <p:txBody>
          <a:bodyPr wrap="square" lIns="0" rIns="0" tIns="0" bIns="0">
            <a:spAutoFit/>
          </a:bodyPr>
          <a:lstStyle/>
          <a:p>
            <a:pPr>
              <a:lnSpc>
                <a:spcPct val="100000"/>
              </a:lnSpc>
            </a:pPr>
            <a:r>
              <a:rPr sz="3000" b="1">
                <a:solidFill>
                  <a:srgbClr val="143D59"/>
                </a:solidFill>
                <a:latin typeface="Calibri"/>
              </a:rPr>
              <a:t>Suggested next steps</a:t>
            </a:r>
          </a:p>
        </p:txBody>
      </p:sp>
      <p:sp>
        <p:nvSpPr>
          <p:cNvPr id="4" name="TextBox 3"/>
          <p:cNvSpPr txBox="1"/>
          <p:nvPr/>
        </p:nvSpPr>
        <p:spPr>
          <a:xfrm>
            <a:off x="548640" y="987552"/>
            <a:ext cx="676656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Small steps, each one useful on its own.</a:t>
            </a:r>
          </a:p>
        </p:txBody>
      </p:sp>
      <p:sp>
        <p:nvSpPr>
          <p:cNvPr id="5" name="Rounded Rectangle 4"/>
          <p:cNvSpPr/>
          <p:nvPr/>
        </p:nvSpPr>
        <p:spPr>
          <a:xfrm>
            <a:off x="548640" y="1645920"/>
            <a:ext cx="6766560" cy="82296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801368"/>
            <a:ext cx="512064" cy="512064"/>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01368"/>
            <a:ext cx="512064" cy="512064"/>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1</a:t>
            </a:r>
          </a:p>
        </p:txBody>
      </p:sp>
      <p:sp>
        <p:nvSpPr>
          <p:cNvPr id="8" name="TextBox 7"/>
          <p:cNvSpPr txBox="1"/>
          <p:nvPr/>
        </p:nvSpPr>
        <p:spPr>
          <a:xfrm>
            <a:off x="1463040" y="1737360"/>
            <a:ext cx="5669280" cy="365760"/>
          </a:xfrm>
          <a:prstGeom prst="rect">
            <a:avLst/>
          </a:prstGeom>
          <a:noFill/>
        </p:spPr>
        <p:txBody>
          <a:bodyPr wrap="square" lIns="0" rIns="0" tIns="0" bIns="0">
            <a:spAutoFit/>
          </a:bodyPr>
          <a:lstStyle/>
          <a:p>
            <a:pPr>
              <a:lnSpc>
                <a:spcPct val="100000"/>
              </a:lnSpc>
            </a:pPr>
            <a:r>
              <a:rPr sz="1700" b="1">
                <a:solidFill>
                  <a:srgbClr val="143D59"/>
                </a:solidFill>
                <a:latin typeface="Calibri"/>
              </a:rPr>
              <a:t>Choose one or two use cases</a:t>
            </a:r>
          </a:p>
        </p:txBody>
      </p:sp>
      <p:sp>
        <p:nvSpPr>
          <p:cNvPr id="9" name="TextBox 8"/>
          <p:cNvSpPr txBox="1"/>
          <p:nvPr/>
        </p:nvSpPr>
        <p:spPr>
          <a:xfrm>
            <a:off x="1463040" y="2103120"/>
            <a:ext cx="566928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with a result you can measure.</a:t>
            </a:r>
          </a:p>
        </p:txBody>
      </p:sp>
      <p:sp>
        <p:nvSpPr>
          <p:cNvPr id="10" name="Rounded Rectangle 9"/>
          <p:cNvSpPr/>
          <p:nvPr/>
        </p:nvSpPr>
        <p:spPr>
          <a:xfrm>
            <a:off x="548640" y="2606040"/>
            <a:ext cx="6766560" cy="82296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2761488"/>
            <a:ext cx="512064" cy="512064"/>
          </a:xfrm>
          <a:prstGeom prst="ellipse">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61488"/>
            <a:ext cx="512064" cy="512064"/>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2</a:t>
            </a:r>
          </a:p>
        </p:txBody>
      </p:sp>
      <p:sp>
        <p:nvSpPr>
          <p:cNvPr id="13" name="TextBox 12"/>
          <p:cNvSpPr txBox="1"/>
          <p:nvPr/>
        </p:nvSpPr>
        <p:spPr>
          <a:xfrm>
            <a:off x="1463040" y="2697480"/>
            <a:ext cx="5669280" cy="365760"/>
          </a:xfrm>
          <a:prstGeom prst="rect">
            <a:avLst/>
          </a:prstGeom>
          <a:noFill/>
        </p:spPr>
        <p:txBody>
          <a:bodyPr wrap="square" lIns="0" rIns="0" tIns="0" bIns="0">
            <a:spAutoFit/>
          </a:bodyPr>
          <a:lstStyle/>
          <a:p>
            <a:pPr>
              <a:lnSpc>
                <a:spcPct val="100000"/>
              </a:lnSpc>
            </a:pPr>
            <a:r>
              <a:rPr sz="1700" b="1">
                <a:solidFill>
                  <a:srgbClr val="143D59"/>
                </a:solidFill>
                <a:latin typeface="Calibri"/>
              </a:rPr>
              <a:t>Agree the roles</a:t>
            </a:r>
          </a:p>
        </p:txBody>
      </p:sp>
      <p:sp>
        <p:nvSpPr>
          <p:cNvPr id="14" name="TextBox 13"/>
          <p:cNvSpPr txBox="1"/>
          <p:nvPr/>
        </p:nvSpPr>
        <p:spPr>
          <a:xfrm>
            <a:off x="1463040" y="3063240"/>
            <a:ext cx="566928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the Health Data Office as access body, EJIE as operator.</a:t>
            </a:r>
          </a:p>
        </p:txBody>
      </p:sp>
      <p:sp>
        <p:nvSpPr>
          <p:cNvPr id="15" name="Rounded Rectangle 14"/>
          <p:cNvSpPr/>
          <p:nvPr/>
        </p:nvSpPr>
        <p:spPr>
          <a:xfrm>
            <a:off x="548640" y="3566160"/>
            <a:ext cx="6766560" cy="82296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3721608"/>
            <a:ext cx="512064" cy="512064"/>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721608"/>
            <a:ext cx="512064" cy="512064"/>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3</a:t>
            </a:r>
          </a:p>
        </p:txBody>
      </p:sp>
      <p:sp>
        <p:nvSpPr>
          <p:cNvPr id="18" name="TextBox 17"/>
          <p:cNvSpPr txBox="1"/>
          <p:nvPr/>
        </p:nvSpPr>
        <p:spPr>
          <a:xfrm>
            <a:off x="1463040" y="3657600"/>
            <a:ext cx="5669280" cy="365760"/>
          </a:xfrm>
          <a:prstGeom prst="rect">
            <a:avLst/>
          </a:prstGeom>
          <a:noFill/>
        </p:spPr>
        <p:txBody>
          <a:bodyPr wrap="square" lIns="0" rIns="0" tIns="0" bIns="0">
            <a:spAutoFit/>
          </a:bodyPr>
          <a:lstStyle/>
          <a:p>
            <a:pPr>
              <a:lnSpc>
                <a:spcPct val="100000"/>
              </a:lnSpc>
            </a:pPr>
            <a:r>
              <a:rPr sz="1700" b="1">
                <a:solidFill>
                  <a:srgbClr val="143D59"/>
                </a:solidFill>
                <a:latin typeface="Calibri"/>
              </a:rPr>
              <a:t>Start open working groups</a:t>
            </a:r>
          </a:p>
        </p:txBody>
      </p:sp>
      <p:sp>
        <p:nvSpPr>
          <p:cNvPr id="19" name="TextBox 18"/>
          <p:cNvSpPr txBox="1"/>
          <p:nvPr/>
        </p:nvSpPr>
        <p:spPr>
          <a:xfrm>
            <a:off x="1463040" y="4023360"/>
            <a:ext cx="566928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with the hospitals, on existing standards.</a:t>
            </a:r>
          </a:p>
        </p:txBody>
      </p:sp>
      <p:sp>
        <p:nvSpPr>
          <p:cNvPr id="20" name="Rounded Rectangle 19"/>
          <p:cNvSpPr/>
          <p:nvPr/>
        </p:nvSpPr>
        <p:spPr>
          <a:xfrm>
            <a:off x="548640" y="4526280"/>
            <a:ext cx="6766560" cy="82296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4681728"/>
            <a:ext cx="512064" cy="512064"/>
          </a:xfrm>
          <a:prstGeom prst="ellipse">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681728"/>
            <a:ext cx="512064" cy="512064"/>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4</a:t>
            </a:r>
          </a:p>
        </p:txBody>
      </p:sp>
      <p:sp>
        <p:nvSpPr>
          <p:cNvPr id="23" name="TextBox 22"/>
          <p:cNvSpPr txBox="1"/>
          <p:nvPr/>
        </p:nvSpPr>
        <p:spPr>
          <a:xfrm>
            <a:off x="1463040" y="4617720"/>
            <a:ext cx="5669280" cy="365760"/>
          </a:xfrm>
          <a:prstGeom prst="rect">
            <a:avLst/>
          </a:prstGeom>
          <a:noFill/>
        </p:spPr>
        <p:txBody>
          <a:bodyPr wrap="square" lIns="0" rIns="0" tIns="0" bIns="0">
            <a:spAutoFit/>
          </a:bodyPr>
          <a:lstStyle/>
          <a:p>
            <a:pPr>
              <a:lnSpc>
                <a:spcPct val="100000"/>
              </a:lnSpc>
            </a:pPr>
            <a:r>
              <a:rPr sz="1700" b="1">
                <a:solidFill>
                  <a:srgbClr val="143D59"/>
                </a:solidFill>
                <a:latin typeface="Calibri"/>
              </a:rPr>
              <a:t>Build a pilot</a:t>
            </a:r>
          </a:p>
        </p:txBody>
      </p:sp>
      <p:sp>
        <p:nvSpPr>
          <p:cNvPr id="24" name="TextBox 23"/>
          <p:cNvSpPr txBox="1"/>
          <p:nvPr/>
        </p:nvSpPr>
        <p:spPr>
          <a:xfrm>
            <a:off x="1463040" y="4983480"/>
            <a:ext cx="566928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tendered on standards and conformity tests.</a:t>
            </a:r>
          </a:p>
        </p:txBody>
      </p:sp>
      <p:sp>
        <p:nvSpPr>
          <p:cNvPr id="25" name="Rounded Rectangle 24"/>
          <p:cNvSpPr/>
          <p:nvPr/>
        </p:nvSpPr>
        <p:spPr>
          <a:xfrm>
            <a:off x="548640" y="5577840"/>
            <a:ext cx="6766560" cy="7315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577840"/>
            <a:ext cx="137160" cy="731520"/>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577840"/>
            <a:ext cx="6309360" cy="731520"/>
          </a:xfrm>
          <a:prstGeom prst="rect">
            <a:avLst/>
          </a:prstGeom>
          <a:noFill/>
        </p:spPr>
        <p:txBody>
          <a:bodyPr wrap="square" lIns="0" rIns="0" tIns="0" bIns="0" anchor="ctr">
            <a:spAutoFit/>
          </a:bodyPr>
          <a:lstStyle/>
          <a:p>
            <a:pPr>
              <a:lnSpc>
                <a:spcPct val="100000"/>
              </a:lnSpc>
            </a:pPr>
            <a:r>
              <a:rPr sz="1400" b="1">
                <a:solidFill>
                  <a:srgbClr val="143D59"/>
                </a:solidFill>
                <a:latin typeface="Calibri"/>
              </a:rPr>
              <a:t>March 2027  </a:t>
            </a:r>
            <a:r>
              <a:rPr sz="1400" b="0">
                <a:solidFill>
                  <a:srgbClr val="4F5560"/>
                </a:solidFill>
                <a:latin typeface="Calibri"/>
              </a:rPr>
              <a:t>access bodies designated.</a:t>
            </a:r>
          </a:p>
          <a:p>
            <a:pPr>
              <a:lnSpc>
                <a:spcPct val="100000"/>
              </a:lnSpc>
            </a:pPr>
            <a:r>
              <a:rPr sz="1400" b="1">
                <a:solidFill>
                  <a:srgbClr val="143D59"/>
                </a:solidFill>
                <a:latin typeface="Calibri"/>
              </a:rPr>
              <a:t>March 2029  </a:t>
            </a:r>
            <a:r>
              <a:rPr sz="1400" b="0">
                <a:solidFill>
                  <a:srgbClr val="4F5560"/>
                </a:solidFill>
                <a:latin typeface="Calibri"/>
              </a:rPr>
              <a:t>secondary use applies in full.</a:t>
            </a:r>
          </a:p>
        </p:txBody>
      </p:sp>
      <p:sp>
        <p:nvSpPr>
          <p:cNvPr id="28" name="Rectangle 27"/>
          <p:cNvSpPr/>
          <p:nvPr/>
        </p:nvSpPr>
        <p:spPr>
          <a:xfrm>
            <a:off x="7680960" y="164592"/>
            <a:ext cx="4507992" cy="6693408"/>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80960" y="164592"/>
            <a:ext cx="91440" cy="6693408"/>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1371600"/>
            <a:ext cx="3749039" cy="2194560"/>
          </a:xfrm>
          <a:prstGeom prst="rect">
            <a:avLst/>
          </a:prstGeom>
          <a:noFill/>
        </p:spPr>
        <p:txBody>
          <a:bodyPr wrap="square" lIns="0" rIns="0" tIns="0" bIns="0">
            <a:spAutoFit/>
          </a:bodyPr>
          <a:lstStyle/>
          <a:p>
            <a:pPr>
              <a:lnSpc>
                <a:spcPct val="115000"/>
              </a:lnSpc>
            </a:pPr>
            <a:r>
              <a:rPr sz="3400" b="1">
                <a:solidFill>
                  <a:srgbClr val="FFFFFF"/>
                </a:solidFill>
                <a:latin typeface="Calibri"/>
              </a:rPr>
              <a:t>Eskerrik asko</a:t>
            </a:r>
          </a:p>
          <a:p>
            <a:pPr>
              <a:lnSpc>
                <a:spcPct val="115000"/>
              </a:lnSpc>
            </a:pPr>
            <a:r>
              <a:rPr sz="3400" b="1">
                <a:solidFill>
                  <a:srgbClr val="FFFFFF"/>
                </a:solidFill>
                <a:latin typeface="Calibri"/>
              </a:rPr>
              <a:t>Gracias</a:t>
            </a:r>
          </a:p>
          <a:p>
            <a:pPr>
              <a:lnSpc>
                <a:spcPct val="115000"/>
              </a:lnSpc>
            </a:pPr>
            <a:r>
              <a:rPr sz="3400" b="1">
                <a:solidFill>
                  <a:srgbClr val="FFFFFF"/>
                </a:solidFill>
                <a:latin typeface="Calibri"/>
              </a:rPr>
              <a:t>Thank you</a:t>
            </a:r>
          </a:p>
        </p:txBody>
      </p:sp>
      <p:sp>
        <p:nvSpPr>
          <p:cNvPr id="31" name="Rectangle 30"/>
          <p:cNvSpPr/>
          <p:nvPr/>
        </p:nvSpPr>
        <p:spPr>
          <a:xfrm>
            <a:off x="8138160" y="3840480"/>
            <a:ext cx="1097280" cy="54864"/>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8160" y="4069080"/>
            <a:ext cx="3749039" cy="1280160"/>
          </a:xfrm>
          <a:prstGeom prst="rect">
            <a:avLst/>
          </a:prstGeom>
          <a:noFill/>
        </p:spPr>
        <p:txBody>
          <a:bodyPr wrap="square" lIns="0" rIns="0" tIns="0" bIns="0">
            <a:spAutoFit/>
          </a:bodyPr>
          <a:lstStyle/>
          <a:p>
            <a:pPr>
              <a:lnSpc>
                <a:spcPct val="120000"/>
              </a:lnSpc>
            </a:pPr>
            <a:r>
              <a:rPr sz="1600" b="0">
                <a:solidFill>
                  <a:srgbClr val="FFFFFF"/>
                </a:solidFill>
                <a:latin typeface="Calibri"/>
              </a:rPr>
              <a:t>Live demonstration</a:t>
            </a:r>
          </a:p>
          <a:p>
            <a:pPr>
              <a:lnSpc>
                <a:spcPct val="120000"/>
              </a:lnSpc>
            </a:pPr>
            <a:r>
              <a:rPr sz="1600" b="1">
                <a:solidFill>
                  <a:srgbClr val="E6A817"/>
                </a:solidFill>
                <a:latin typeface="Calibri"/>
              </a:rPr>
              <a:t>ehds.mabu.red</a:t>
            </a:r>
          </a:p>
        </p:txBody>
      </p:sp>
      <p:sp>
        <p:nvSpPr>
          <p:cNvPr id="33" name="TextBox 32"/>
          <p:cNvSpPr txBox="1"/>
          <p:nvPr/>
        </p:nvSpPr>
        <p:spPr>
          <a:xfrm>
            <a:off x="8138160" y="6035040"/>
            <a:ext cx="3840480" cy="457200"/>
          </a:xfrm>
          <a:prstGeom prst="rect">
            <a:avLst/>
          </a:prstGeom>
          <a:noFill/>
        </p:spPr>
        <p:txBody>
          <a:bodyPr wrap="square" lIns="0" rIns="0" tIns="0" bIns="0">
            <a:spAutoFit/>
          </a:bodyPr>
          <a:lstStyle/>
          <a:p>
            <a:pPr>
              <a:lnSpc>
                <a:spcPct val="100000"/>
              </a:lnSpc>
            </a:pPr>
            <a:r>
              <a:rPr sz="1000" b="0">
                <a:solidFill>
                  <a:srgbClr val="8A8F98"/>
                </a:solidFill>
                <a:latin typeface="Calibri"/>
              </a:rPr>
              <a:t>Sopra Steria  ·  European Health Data Space practice</a:t>
            </a:r>
          </a:p>
        </p:txBody>
      </p:sp>
      <p:sp>
        <p:nvSpPr>
          <p:cNvPr id="34" name="TextBox 33"/>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Lessons for the Basque Country</a:t>
            </a:r>
          </a:p>
        </p:txBody>
      </p:sp>
      <p:sp>
        <p:nvSpPr>
          <p:cNvPr id="35" name="TextBox 34"/>
          <p:cNvSpPr txBox="1"/>
          <p:nvPr/>
        </p:nvSpPr>
        <p:spPr>
          <a:xfrm>
            <a:off x="4023360" y="6446520"/>
            <a:ext cx="329184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Regulation (EU) 2025/327, Art. 55(6), 105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Connected Health System for the Basque Country</dc:title>
  <dc:subject>European Health Data Space, answers to eight questions</dc:subject>
  <dc:creator>Matthias Buchhorn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