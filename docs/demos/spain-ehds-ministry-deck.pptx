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59" r:id="rId9"/>
    <p:sldId id="260" r:id="rId10"/>
    <p:sldId id="261" r:id="rId11"/>
    <p:sldId id="262" r:id="rId12"/>
    <p:sldId id="263" r:id="rId13"/>
    <p:sldId id="264" r:id="rId14"/>
    <p:sldId id="273" r:id="rId15"/>
    <p:sldId id="277" r:id="rId16"/>
    <p:sldId id="265" r:id="rId17"/>
    <p:sldId id="276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/>
    <p:restoredTop sz="94684"/>
  </p:normalViewPr>
  <p:slideViewPr>
    <p:cSldViewPr snapToGrid="0" snapToObjects="1">
      <p:cViewPr varScale="1">
        <p:scale>
          <a:sx n="124" d="100"/>
          <a:sy n="124" d="100"/>
        </p:scale>
        <p:origin x="184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3FEEE48-2422-227E-8340-9FB28D6D9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051"/>
          <a:stretch>
            <a:fillRect/>
          </a:stretch>
        </p:blipFill>
        <p:spPr>
          <a:xfrm>
            <a:off x="58369" y="-19332"/>
            <a:ext cx="12133631" cy="385981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3823" y="868680"/>
            <a:ext cx="9595556" cy="2606040"/>
          </a:xfrm>
          <a:prstGeom prst="rect">
            <a:avLst/>
          </a:prstGeom>
          <a:solidFill>
            <a:srgbClr val="143D59">
              <a:alpha val="600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22860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69080"/>
            <a:ext cx="12191695" cy="7315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600" b="1" dirty="0">
                <a:solidFill>
                  <a:srgbClr val="FFFFFF"/>
                </a:solidFill>
                <a:latin typeface="Calibri"/>
              </a:rPr>
              <a:t>A Connected Health System for Spain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0" dirty="0">
                <a:solidFill>
                  <a:srgbClr val="FFFFFF"/>
                </a:solidFill>
                <a:latin typeface="Calibri"/>
              </a:rPr>
              <a:t>Building a federated European Health Data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E6A817"/>
                </a:solidFill>
                <a:latin typeface="Calibri"/>
              </a:rPr>
              <a:t>across the 17 regions of Spain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dirty="0">
                <a:solidFill>
                  <a:srgbClr val="143D59"/>
                </a:solidFill>
                <a:latin typeface="Calibri"/>
              </a:rPr>
              <a:t>Better care for every citizen.  Better research for every region.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600" b="0" dirty="0" err="1">
                <a:solidFill>
                  <a:srgbClr val="4F5560"/>
                </a:solidFill>
                <a:latin typeface="Calibri"/>
              </a:rPr>
              <a:t>Introduction</a:t>
            </a:r>
            <a:r>
              <a:rPr sz="1600" b="0" dirty="0">
                <a:solidFill>
                  <a:srgbClr val="4F5560"/>
                </a:solidFill>
                <a:latin typeface="Calibri"/>
              </a:rPr>
              <a:t> for the Spanish Ministry of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The challenge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Spain's strength is regional autonomy. The cost is fragmentation.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420624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657600" cy="16459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3108960" cy="15142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A citizen who lives in Madrid and falls ill in Seville cannot share their medical history easily with the local doctor.</a:t>
            </a:r>
            <a:r>
              <a:rPr lang="de-DE" sz="1600" b="0" dirty="0">
                <a:solidFill>
                  <a:srgbClr val="4F5560"/>
                </a:solidFill>
                <a:latin typeface="Calibri"/>
              </a:rPr>
              <a:t> </a:t>
            </a:r>
          </a:p>
          <a:p>
            <a:pPr algn="l"/>
            <a:endParaRPr lang="de-DE" sz="1600" dirty="0">
              <a:solidFill>
                <a:srgbClr val="4F5560"/>
              </a:solidFill>
              <a:latin typeface="Calibri"/>
            </a:endParaRPr>
          </a:p>
          <a:p>
            <a:pPr algn="l"/>
            <a:r>
              <a:rPr lang="de-DE" sz="1600" b="0" dirty="0">
                <a:solidFill>
                  <a:srgbClr val="4F5560"/>
                </a:solidFill>
                <a:latin typeface="Calibri"/>
              </a:rPr>
              <a:t>=&gt; Primary </a:t>
            </a:r>
            <a:r>
              <a:rPr lang="de-DE" sz="1600" b="0" dirty="0" err="1">
                <a:solidFill>
                  <a:srgbClr val="4F5560"/>
                </a:solidFill>
                <a:latin typeface="Calibri"/>
              </a:rPr>
              <a:t>use</a:t>
            </a:r>
            <a:r>
              <a:rPr lang="de-DE" sz="1600" b="0" dirty="0">
                <a:solidFill>
                  <a:srgbClr val="4F5560"/>
                </a:solidFill>
                <a:latin typeface="Calibri"/>
              </a:rPr>
              <a:t> </a:t>
            </a:r>
            <a:r>
              <a:rPr lang="de-DE" sz="1600" b="0" dirty="0" err="1">
                <a:solidFill>
                  <a:srgbClr val="4F5560"/>
                </a:solidFill>
                <a:latin typeface="Calibri"/>
              </a:rPr>
              <a:t>of</a:t>
            </a:r>
            <a:r>
              <a:rPr lang="de-DE" sz="1600" b="0" dirty="0">
                <a:solidFill>
                  <a:srgbClr val="4F5560"/>
                </a:solidFill>
                <a:latin typeface="Calibri"/>
              </a:rPr>
              <a:t> </a:t>
            </a:r>
            <a:r>
              <a:rPr lang="de-DE" sz="1600" b="0" dirty="0" err="1">
                <a:solidFill>
                  <a:srgbClr val="4F5560"/>
                </a:solidFill>
                <a:latin typeface="Calibri"/>
              </a:rPr>
              <a:t>data</a:t>
            </a:r>
            <a:endParaRPr sz="1600" b="0" dirty="0">
              <a:solidFill>
                <a:srgbClr val="4F556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657600" cy="420624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1645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Doctors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08960" cy="2834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Hospitals in different regions cannot see what care a patient already received elsewhere — tests get repeated, time is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657600" cy="420624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657600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Researchers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08960" cy="12680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Studying a rare disease across Spain means asking 17 separate regions for permission, data, and approvals</a:t>
            </a:r>
            <a:endParaRPr lang="de-DE" sz="1600" b="0" dirty="0">
              <a:solidFill>
                <a:srgbClr val="4F5560"/>
              </a:solidFill>
              <a:latin typeface="Calibri"/>
            </a:endParaRPr>
          </a:p>
          <a:p>
            <a:pPr algn="l"/>
            <a:endParaRPr lang="en-DE" sz="1600" dirty="0">
              <a:solidFill>
                <a:srgbClr val="4F5560"/>
              </a:solidFill>
              <a:latin typeface="Calibri"/>
            </a:endParaRPr>
          </a:p>
          <a:p>
            <a:pPr algn="l"/>
            <a:r>
              <a:rPr lang="en-DE" sz="1600" b="0" dirty="0">
                <a:solidFill>
                  <a:srgbClr val="4F5560"/>
                </a:solidFill>
                <a:latin typeface="Calibri"/>
              </a:rPr>
              <a:t>=&gt; Secondary use of data</a:t>
            </a:r>
            <a:r>
              <a:rPr sz="1600" b="0" dirty="0">
                <a:solidFill>
                  <a:srgbClr val="4F556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The patient — when care does not follow the citizen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Primary use of data. Continuous, safe care across all 17 regions of Spain.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pic>
        <p:nvPicPr>
          <p:cNvPr id="6" name="Picture 5" descr="persona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8521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31E2E"/>
                </a:solidFill>
                <a:latin typeface="Calibri"/>
              </a:rPr>
              <a:t>Today's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Records do not travel.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A Madrid resident on holiday in Valencia has to recite their history at the desk.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7919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Tests get repeated.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535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Lab results from one region cannot be seen by a hospital in another.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92424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Allergies and prescriptions are blind spots.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6674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In an emergency, doctors guess instead of read.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05656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No single view of consent.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79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The citizen does not know who has accessed what, or how to revoke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83480"/>
            <a:ext cx="4937760" cy="1325880"/>
          </a:xfrm>
          <a:prstGeom prst="roundRect">
            <a:avLst>
              <a:gd name="adj" fmla="val 6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6A817"/>
                </a:solidFill>
                <a:latin typeface="Calibri"/>
              </a:rPr>
              <a:t>What EHDS gives the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49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One record that follows them across regions and borders.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Always-visible consent and an access diary they control.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Right to view, correct, erase, and export their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The doctor and hospital — data holders, not data prisons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Hospitals keep the records. They become safer when records can travel under the right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pic>
        <p:nvPicPr>
          <p:cNvPr id="6" name="Picture 5" descr="persona_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8521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6A817"/>
                </a:solidFill>
                <a:latin typeface="Calibri"/>
              </a:rPr>
              <a:t>Today's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Each hospital is an island.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Strong systems internally; nothing speaks to the next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7919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Doctors face cognitive 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535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Re-asking history wastes 15 minutes of every consult.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92424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Liability without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6674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Treating without the full picture is a clinical and legal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05656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Integration costs are repeated 17 times.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79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Every region builds its own bridge, often twice.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83480"/>
            <a:ext cx="4937760" cy="1325880"/>
          </a:xfrm>
          <a:prstGeom prst="roundRect">
            <a:avLst>
              <a:gd name="adj" fmla="val 6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6A817"/>
                </a:solidFill>
                <a:latin typeface="Calibri"/>
              </a:rPr>
              <a:t>What EHDS gives the data holder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49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Common rules and shared connectors — build once, reuse 17 times.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Clear lawful basis and audit trail for every cross-region access.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Less duplicated tests, fewer repeated questions, safer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43D59"/>
                </a:solidFill>
                <a:latin typeface="Calibri"/>
              </a:rPr>
              <a:t>The researcher</a:t>
            </a:r>
            <a:r>
              <a:rPr lang="de-DE" sz="3000" b="1" dirty="0">
                <a:solidFill>
                  <a:srgbClr val="143D59"/>
                </a:solidFill>
                <a:latin typeface="Calibri"/>
              </a:rPr>
              <a:t>: </a:t>
            </a:r>
            <a:r>
              <a:rPr sz="3000" b="1" dirty="0">
                <a:solidFill>
                  <a:srgbClr val="143D59"/>
                </a:solidFill>
                <a:latin typeface="Calibri"/>
              </a:rPr>
              <a:t> 17 regions, 17 doors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Secondary use of data. Discovering Spain-wide patterns without ever exposing a single citizen.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pic>
        <p:nvPicPr>
          <p:cNvPr id="6" name="Picture 5" descr="persona_resear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8521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Today's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Asking 17 regions takes 17 negotiations.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A study of diabetes outcomes across Spain stalls before it begins.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7919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No common catalogue.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535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Researchers do not know what data exists and at what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92424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Re-identification fear blocks sharing.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6674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Privacy concerns prevent even safe research.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05656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Findings arrive years late.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79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By the time we know what works, the policy window has closed.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83480"/>
            <a:ext cx="4937760" cy="1325880"/>
          </a:xfrm>
          <a:prstGeom prst="roundRect">
            <a:avLst>
              <a:gd name="adj" fmla="val 6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6A817"/>
                </a:solidFill>
                <a:latin typeface="Calibri"/>
              </a:rPr>
              <a:t>What EHDS gives the researcher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49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One application, one approval — federated query across 17 regions.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Pseudonymous data inside a secure room; only summaries leave.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public catalogue with quality labels and clear lawful basis.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143D59"/>
                </a:solidFill>
                <a:latin typeface="Calibri"/>
              </a:rPr>
              <a:t>The regulator</a:t>
            </a:r>
            <a:r>
              <a:rPr lang="de-DE" sz="3000" b="1" dirty="0">
                <a:solidFill>
                  <a:srgbClr val="143D59"/>
                </a:solidFill>
                <a:latin typeface="Calibri"/>
              </a:rPr>
              <a:t>:</a:t>
            </a:r>
            <a:r>
              <a:rPr sz="3000" b="1" dirty="0">
                <a:solidFill>
                  <a:srgbClr val="143D59"/>
                </a:solidFill>
                <a:latin typeface="Calibri"/>
              </a:rPr>
              <a:t> keeping trust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Health Data Authority. Approving every secondary use, supervising every step, publishing every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3D59"/>
                </a:solidFill>
                <a:latin typeface="Calibri"/>
              </a:rPr>
              <a:t>Today's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65960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No single point of accountability.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Citizens do not know who decides who can access what.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7919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Slow, manual approvals.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95351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Each request is hand-evaluated with no shared evidence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92424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Limited cross-border peer cooperation.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6674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EU-level cooperation requires Spanish counterparts ready to engage.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05656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D59"/>
                </a:solidFill>
                <a:latin typeface="Calibri"/>
              </a:rPr>
              <a:t>Penalties exist but are invisible.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79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Without a public register, sanctions do not deter misuse.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83480"/>
            <a:ext cx="4937760" cy="1325880"/>
          </a:xfrm>
          <a:prstGeom prst="roundRect">
            <a:avLst>
              <a:gd name="adj" fmla="val 6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6A817"/>
                </a:solidFill>
                <a:latin typeface="Calibri"/>
              </a:rPr>
              <a:t>What EHDS gives the regulator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49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clear remit: gatekeeper for every secondary use.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standard process for approval, ethics, and supervision.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public register that makes oversight legible to citizens and the EU.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230B3C-C9FB-FEF1-629A-A8D4E6AC3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6840"/>
            <a:ext cx="60350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17 autonomous regions, one Spain, one EHDS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Each region keeps its data and its rules. The federation lets care and research cross the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907024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+ Aragón · Asturias · Balearic Islands · Canary Islands · Cantabria · Castile-La Mancha · Castile and León · Extremadura · La Rioja · Murcia · Navarre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6E53D9-A56C-7DD7-9526-AEFB278D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70" y="1418441"/>
            <a:ext cx="3930573" cy="2164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9F750C-D540-62B2-6FE3-8EA324CCB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536963"/>
            <a:ext cx="3749039" cy="20063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442BCC-5989-DB85-3DA1-AD9C44688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7" y="3630168"/>
            <a:ext cx="3749039" cy="20063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359948-932E-3AB7-54A3-FCB69F5E8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30168"/>
            <a:ext cx="3749039" cy="19989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76136C-FCD9-7871-89CD-F33341888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4" y="1536963"/>
            <a:ext cx="3749039" cy="20063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3EB090-6D24-E86C-4229-11DA2F980D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4" y="3637898"/>
            <a:ext cx="3749039" cy="2006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Two ways data helps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Both are equally important.  Both follow strict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212080" cy="457200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21208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6634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2A9D8F"/>
                </a:solidFill>
                <a:latin typeface="Calibri"/>
              </a:rPr>
              <a:t>1.  For your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663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43D59"/>
                </a:solidFill>
                <a:latin typeface="Calibri"/>
              </a:rPr>
              <a:t>Doctors see what they need to treat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66344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Your medical record follows you across hospitals and regions.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Emergency doctors can see allergies and prescriptions in seconds.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Less repeated tests, less lost paperwork, faster care.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You decide what is shared and you can withdraw consent.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212080" cy="457200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solidFill>
            <a:srgbClr val="52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6634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528B55"/>
                </a:solidFill>
                <a:latin typeface="Calibri"/>
              </a:rPr>
              <a:t>2.  For better health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6634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43D59"/>
                </a:solidFill>
                <a:latin typeface="Calibri"/>
              </a:rPr>
              <a:t>Researchers learn from millions of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66344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Hospitals and regions share patterns, never names.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Researchers spot diseases earlier and find better treatments.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The Ministry sees what is working in different regions.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Every research request is approved and supervised.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dirty="0">
                <a:solidFill>
                  <a:srgbClr val="143D59"/>
                </a:solidFill>
                <a:latin typeface="Calibri"/>
              </a:rPr>
              <a:t>The five </a:t>
            </a:r>
            <a:r>
              <a:rPr lang="de-DE" sz="3000" b="1" dirty="0" err="1">
                <a:solidFill>
                  <a:srgbClr val="143D59"/>
                </a:solidFill>
                <a:latin typeface="Calibri"/>
              </a:rPr>
              <a:t>roles</a:t>
            </a:r>
            <a:r>
              <a:rPr sz="3000" b="1" dirty="0">
                <a:solidFill>
                  <a:srgbClr val="143D59"/>
                </a:solidFill>
                <a:latin typeface="Calibri"/>
              </a:rPr>
              <a:t> in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Real roles you will meet in the live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725E854-10DE-1DC1-ABF5-A5E39CAA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9843"/>
            <a:ext cx="12173309" cy="3994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27940">
            <a:solidFill>
              <a:srgbClr val="143D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bentConnector3">
            <a:avLst/>
          </a:prstGeom>
          <a:ln w="27940">
            <a:solidFill>
              <a:srgbClr val="143D5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371A44F-541B-7C94-DDA0-F881E7A0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5" y="1697622"/>
            <a:ext cx="2754217" cy="34627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BB53A86-E750-B9EC-1239-9B0A854BD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48" y="1697622"/>
            <a:ext cx="2759328" cy="34627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8295EFE-59AB-A512-3EC0-B105D0AD1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402" y="1697291"/>
            <a:ext cx="2819726" cy="34627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57B287A-E42B-664D-461F-BDB1B9BD8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2854" y="1697292"/>
            <a:ext cx="2792899" cy="346275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B0417B0-B9C7-D937-B00D-68648EAA542D}"/>
              </a:ext>
            </a:extLst>
          </p:cNvPr>
          <p:cNvSpPr txBox="1"/>
          <p:nvPr/>
        </p:nvSpPr>
        <p:spPr>
          <a:xfrm>
            <a:off x="548640" y="320040"/>
            <a:ext cx="109728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3000" b="1" dirty="0">
                <a:solidFill>
                  <a:srgbClr val="143D59"/>
                </a:solidFill>
                <a:latin typeface="Calibri"/>
              </a:rPr>
              <a:t>The Patient User Journey</a:t>
            </a:r>
            <a:endParaRPr sz="3000" b="1" dirty="0">
              <a:solidFill>
                <a:srgbClr val="143D59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D86543-3CA7-EF20-F775-AE0F55464FCC}"/>
              </a:ext>
            </a:extLst>
          </p:cNvPr>
          <p:cNvSpPr/>
          <p:nvPr/>
        </p:nvSpPr>
        <p:spPr>
          <a:xfrm>
            <a:off x="264405" y="5376231"/>
            <a:ext cx="2754217" cy="61694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dirty="0"/>
              <a:t>My Electronic Health Record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C37D70-2B73-2D69-AFDC-AA831C3F7F65}"/>
              </a:ext>
            </a:extLst>
          </p:cNvPr>
          <p:cNvSpPr/>
          <p:nvPr/>
        </p:nvSpPr>
        <p:spPr>
          <a:xfrm>
            <a:off x="3140348" y="5376231"/>
            <a:ext cx="2754217" cy="61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dirty="0"/>
              <a:t>Know My Health Risks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95C190-01A9-33F5-C2DF-AE777666A71D}"/>
              </a:ext>
            </a:extLst>
          </p:cNvPr>
          <p:cNvSpPr/>
          <p:nvPr/>
        </p:nvSpPr>
        <p:spPr>
          <a:xfrm>
            <a:off x="6016291" y="5371548"/>
            <a:ext cx="2754217" cy="6169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dirty="0"/>
              <a:t>Know the Research Programs that fit my risks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3DB1B8-8D3A-335C-0408-314EDBC08344}"/>
              </a:ext>
            </a:extLst>
          </p:cNvPr>
          <p:cNvSpPr/>
          <p:nvPr/>
        </p:nvSpPr>
        <p:spPr>
          <a:xfrm>
            <a:off x="8962854" y="5371547"/>
            <a:ext cx="2754217" cy="6169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dirty="0"/>
              <a:t>I want to discuss with my doctor the result of the study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D664E-7C16-807B-3385-5FC371C7BFBF}"/>
              </a:ext>
            </a:extLst>
          </p:cNvPr>
          <p:cNvSpPr txBox="1"/>
          <p:nvPr/>
        </p:nvSpPr>
        <p:spPr>
          <a:xfrm>
            <a:off x="548640" y="960120"/>
            <a:ext cx="10972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600" dirty="0" err="1">
                <a:solidFill>
                  <a:srgbClr val="4F5560"/>
                </a:solidFill>
                <a:latin typeface="Calibri"/>
              </a:rPr>
              <a:t>What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I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have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built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as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a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Longevity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Enthusiast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with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a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known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 </a:t>
            </a:r>
            <a:r>
              <a:rPr lang="de-DE" sz="1600" dirty="0" err="1">
                <a:solidFill>
                  <a:srgbClr val="4F5560"/>
                </a:solidFill>
                <a:latin typeface="Calibri"/>
              </a:rPr>
              <a:t>risk</a:t>
            </a:r>
            <a:r>
              <a:rPr lang="de-DE" sz="1600" dirty="0">
                <a:solidFill>
                  <a:srgbClr val="4F5560"/>
                </a:solidFill>
                <a:latin typeface="Calibri"/>
              </a:rPr>
              <a:t>.</a:t>
            </a:r>
            <a:endParaRPr sz="1600" b="0" dirty="0">
              <a:solidFill>
                <a:srgbClr val="4F556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2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How it works for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A researcher studies how diabetes treatment differs across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6196" y="4526280"/>
            <a:ext cx="2194560" cy="1709928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6196" y="4526280"/>
            <a:ext cx="2194560" cy="164592"/>
          </a:xfrm>
          <a:prstGeom prst="rect">
            <a:avLst/>
          </a:prstGeom>
          <a:solidFill>
            <a:srgbClr val="52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0788" y="4782312"/>
            <a:ext cx="402336" cy="402336"/>
          </a:xfrm>
          <a:prstGeom prst="ellipse">
            <a:avLst/>
          </a:prstGeom>
          <a:solidFill>
            <a:srgbClr val="52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0788" y="4818888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428" y="4846320"/>
            <a:ext cx="13716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800" b="1" dirty="0">
                <a:solidFill>
                  <a:srgbClr val="528B55"/>
                </a:solidFill>
                <a:latin typeface="Calibri"/>
              </a:rPr>
              <a:t>Discover</a:t>
            </a:r>
            <a:endParaRPr sz="1800" b="1" dirty="0">
              <a:solidFill>
                <a:srgbClr val="528B5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796" y="5440680"/>
            <a:ext cx="17373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4F5560"/>
                </a:solidFill>
                <a:latin typeface="Calibri"/>
              </a:rPr>
              <a:t>Researcher submits a clear question and a study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5348" y="4526280"/>
            <a:ext cx="2194560" cy="1709928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95348" y="4526280"/>
            <a:ext cx="2194560" cy="16459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59940" y="4782312"/>
            <a:ext cx="402336" cy="402336"/>
          </a:xfrm>
          <a:prstGeom prst="ellipse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59940" y="4818888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8580" y="48463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C31E2E"/>
                </a:solidFill>
                <a:latin typeface="Calibri"/>
              </a:rPr>
              <a:t>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3948" y="5440680"/>
            <a:ext cx="17373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4F5560"/>
                </a:solidFill>
                <a:latin typeface="Calibri"/>
              </a:rPr>
              <a:t>Health Data Authority checks purpose, ethics,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4500" y="4526280"/>
            <a:ext cx="2194560" cy="1709928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54500" y="4526280"/>
            <a:ext cx="2194560" cy="1645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19092" y="4782312"/>
            <a:ext cx="402336" cy="402336"/>
          </a:xfrm>
          <a:prstGeom prst="ellipse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9092" y="4818888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7732" y="48463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E6A817"/>
                </a:solidFill>
                <a:latin typeface="Calibri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3100" y="5440680"/>
            <a:ext cx="17373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4F5560"/>
                </a:solidFill>
                <a:latin typeface="Calibri"/>
              </a:rPr>
              <a:t>Trust Centre replaces names with safe pseudonyms.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3652" y="4526280"/>
            <a:ext cx="2194560" cy="1709928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3652" y="4526280"/>
            <a:ext cx="2194560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478244" y="4782312"/>
            <a:ext cx="402336" cy="402336"/>
          </a:xfrm>
          <a:prstGeom prst="ellipse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8244" y="4818888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6884" y="48463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2252" y="5440680"/>
            <a:ext cx="17373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4F5560"/>
                </a:solidFill>
                <a:latin typeface="Calibri"/>
              </a:rPr>
              <a:t>Researcher works inside a secure room.  Data never leaves.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72804" y="4526280"/>
            <a:ext cx="2194560" cy="1709928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72804" y="4526280"/>
            <a:ext cx="2194560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37396" y="4782312"/>
            <a:ext cx="402336" cy="40233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37396" y="4818888"/>
            <a:ext cx="411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6036" y="48463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1404" y="5440680"/>
            <a:ext cx="17373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4F5560"/>
                </a:solidFill>
                <a:latin typeface="Calibri"/>
              </a:rPr>
              <a:t>Only summary results come out.  No individual is identifiable.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26E921F-A7E2-8B96-991E-D7669AED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6" y="1709929"/>
            <a:ext cx="4643472" cy="272491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B9A9149-086F-84B0-957B-2D45E48D5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500" y="1473909"/>
            <a:ext cx="2077638" cy="299304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844BE62-7C67-D6D0-8FC8-2C4443E45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553" y="1463040"/>
            <a:ext cx="2077638" cy="29560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925CBB-3309-E0D8-070F-6B2A0BB53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821" y="1328268"/>
            <a:ext cx="2202543" cy="31065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dirty="0">
                <a:solidFill>
                  <a:srgbClr val="143D59"/>
                </a:solidFill>
                <a:latin typeface="Calibri"/>
              </a:rPr>
              <a:t>The </a:t>
            </a:r>
            <a:r>
              <a:rPr lang="de-DE" sz="3000" b="1" dirty="0">
                <a:solidFill>
                  <a:srgbClr val="143D59"/>
                </a:solidFill>
                <a:latin typeface="Calibri"/>
              </a:rPr>
              <a:t>R</a:t>
            </a:r>
            <a:r>
              <a:rPr sz="3000" b="1" dirty="0">
                <a:solidFill>
                  <a:srgbClr val="143D59"/>
                </a:solidFill>
                <a:latin typeface="Calibri"/>
              </a:rPr>
              <a:t>ole </a:t>
            </a:r>
            <a:r>
              <a:rPr lang="de-DE" sz="3000" b="1" dirty="0">
                <a:solidFill>
                  <a:srgbClr val="143D59"/>
                </a:solidFill>
                <a:latin typeface="Calibri"/>
              </a:rPr>
              <a:t>O</a:t>
            </a:r>
            <a:r>
              <a:rPr sz="3000" b="1" dirty="0">
                <a:solidFill>
                  <a:srgbClr val="143D59"/>
                </a:solidFill>
                <a:latin typeface="Calibri"/>
              </a:rPr>
              <a:t>f Health Data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The Ministry's data office is the trusted gatekeeper for every secondary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1" y="5072375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7" name="Rectangle 6"/>
          <p:cNvSpPr/>
          <p:nvPr/>
        </p:nvSpPr>
        <p:spPr>
          <a:xfrm>
            <a:off x="548640" y="5072375"/>
            <a:ext cx="97473" cy="981251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705680" y="5133136"/>
            <a:ext cx="1583416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143D59"/>
                </a:solidFill>
                <a:latin typeface="Calibri"/>
              </a:rPr>
              <a:t>Approve research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528" y="5447052"/>
            <a:ext cx="1465311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Reviews each application: purpose, lawful basis, proportionality, ethics.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293" y="5053789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11" name="Rectangle 10"/>
          <p:cNvSpPr/>
          <p:nvPr/>
        </p:nvSpPr>
        <p:spPr>
          <a:xfrm>
            <a:off x="6254291" y="5053789"/>
            <a:ext cx="101231" cy="98125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6519170" y="5170548"/>
            <a:ext cx="134725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143D59"/>
                </a:solidFill>
                <a:latin typeface="Calibri"/>
              </a:rPr>
              <a:t>Run the secure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404" y="5461097"/>
            <a:ext cx="1468279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Operates the protected environment where researchers </a:t>
            </a:r>
            <a:r>
              <a:rPr sz="900" b="0" dirty="0" err="1">
                <a:solidFill>
                  <a:srgbClr val="4F5560"/>
                </a:solidFill>
                <a:latin typeface="Calibri"/>
              </a:rPr>
              <a:t>analyse</a:t>
            </a:r>
            <a:r>
              <a:rPr sz="900" b="0" dirty="0">
                <a:solidFill>
                  <a:srgbClr val="4F5560"/>
                </a:solidFill>
                <a:latin typeface="Calibri"/>
              </a:rPr>
              <a:t> the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6127" y="5072778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15" name="Rectangle 14"/>
          <p:cNvSpPr/>
          <p:nvPr/>
        </p:nvSpPr>
        <p:spPr>
          <a:xfrm>
            <a:off x="2456126" y="5072778"/>
            <a:ext cx="97473" cy="9812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TextBox 15"/>
          <p:cNvSpPr txBox="1"/>
          <p:nvPr/>
        </p:nvSpPr>
        <p:spPr>
          <a:xfrm>
            <a:off x="2613166" y="5135210"/>
            <a:ext cx="1583416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050" b="1" dirty="0">
                <a:solidFill>
                  <a:srgbClr val="143D59"/>
                </a:solidFill>
                <a:latin typeface="Calibri"/>
              </a:rPr>
              <a:t>T</a:t>
            </a:r>
            <a:r>
              <a:rPr sz="1050" b="1" dirty="0" err="1">
                <a:solidFill>
                  <a:srgbClr val="143D59"/>
                </a:solidFill>
                <a:latin typeface="Calibri"/>
              </a:rPr>
              <a:t>ransparent</a:t>
            </a:r>
            <a:r>
              <a:rPr sz="1050" b="1" dirty="0">
                <a:solidFill>
                  <a:srgbClr val="143D59"/>
                </a:solidFill>
                <a:latin typeface="Calibri"/>
              </a:rPr>
              <a:t>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1062" y="5447052"/>
            <a:ext cx="1583416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Every approval, every rejection, every research outcome is public.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1778" y="5045905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19" name="Rectangle 18"/>
          <p:cNvSpPr/>
          <p:nvPr/>
        </p:nvSpPr>
        <p:spPr>
          <a:xfrm>
            <a:off x="8161777" y="5045905"/>
            <a:ext cx="97473" cy="981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8352233" y="5165102"/>
            <a:ext cx="1516584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143D59"/>
                </a:solidFill>
                <a:latin typeface="Calibri"/>
              </a:rPr>
              <a:t>Cooperate across borders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233" y="5467277"/>
            <a:ext cx="1583416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Works with peer authorities in Germany, France, and the wider Union.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3860" y="5077482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23" name="Rectangle 22"/>
          <p:cNvSpPr/>
          <p:nvPr/>
        </p:nvSpPr>
        <p:spPr>
          <a:xfrm>
            <a:off x="4363859" y="5077482"/>
            <a:ext cx="97473" cy="9812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4" name="TextBox 23"/>
          <p:cNvSpPr txBox="1"/>
          <p:nvPr/>
        </p:nvSpPr>
        <p:spPr>
          <a:xfrm>
            <a:off x="4551744" y="5183231"/>
            <a:ext cx="1521725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143D59"/>
                </a:solidFill>
                <a:latin typeface="Calibri"/>
              </a:rPr>
              <a:t>Enforce the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1743" y="5475636"/>
            <a:ext cx="1521725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Suspends or revokes permits and applies penalties for misuse.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9510" y="5025224"/>
            <a:ext cx="1800022" cy="981251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27" name="Rectangle 26"/>
          <p:cNvSpPr/>
          <p:nvPr/>
        </p:nvSpPr>
        <p:spPr>
          <a:xfrm>
            <a:off x="10069509" y="5025224"/>
            <a:ext cx="97473" cy="98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10206750" y="5146402"/>
            <a:ext cx="1525542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dirty="0">
                <a:solidFill>
                  <a:srgbClr val="143D59"/>
                </a:solidFill>
                <a:latin typeface="Calibri"/>
              </a:rPr>
              <a:t>Maintain the catalogue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1572" y="5447052"/>
            <a:ext cx="1583416" cy="4524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4F5560"/>
                </a:solidFill>
                <a:latin typeface="Calibri"/>
              </a:rPr>
              <a:t>Publishes a public list of available datasets with quality labels.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1576BA3-6C47-67A7-316E-0C99A76F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00200"/>
            <a:ext cx="5658833" cy="33557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6BB2845-6C19-E22E-0D93-5C1757365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38" y="1655142"/>
            <a:ext cx="2795281" cy="33057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C546181-FD51-10C8-232E-646775CEA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50" y="1635624"/>
            <a:ext cx="2795281" cy="32887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Citizens stay in control.  Every step is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219456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64592" cy="21945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Citizen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93776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>
                <a:solidFill>
                  <a:srgbClr val="4F5560"/>
                </a:solidFill>
                <a:latin typeface="Calibri"/>
              </a:rPr>
              <a:t>The citizen always </a:t>
            </a:r>
            <a:r>
              <a:rPr lang="de-DE" sz="1400" b="0" dirty="0" err="1">
                <a:solidFill>
                  <a:srgbClr val="4F5560"/>
                </a:solidFill>
                <a:latin typeface="Calibri"/>
              </a:rPr>
              <a:t>see</a:t>
            </a:r>
            <a:r>
              <a:rPr sz="1400" b="0" dirty="0">
                <a:solidFill>
                  <a:srgbClr val="4F5560"/>
                </a:solidFill>
                <a:latin typeface="Calibri"/>
              </a:rPr>
              <a:t> what may be shared, with whom, and for how long.  Consent can be withdrawn at any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86400" cy="219456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164592" cy="21945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Pseudonyms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49377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Identifiers are replaced with safe codes before any researcher sees the data.  The link can be re-made only when the law requires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5486400" cy="219456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164592" cy="21945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A complete diary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9377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Every access — who, when, what, why — is recorded.  The citizen can read their own access diary.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51960"/>
            <a:ext cx="5486400" cy="219456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251960"/>
            <a:ext cx="164592" cy="21945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5262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Right to ask, change, erase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120640"/>
            <a:ext cx="49377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Citizens can request their record, ask for corrections, and ask for erasure under European data protection law.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Why integration is the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Without integration, EHDS is a policy. With it, EHDS is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411480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One citizen identity (Cl@ve / eIDAS) recognised everywhere.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20" y="1828800"/>
            <a:ext cx="502920" cy="502920"/>
          </a:xfrm>
          <a:prstGeom prst="ellipse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1892808"/>
            <a:ext cx="411480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4708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6888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HL7 FHIR, IPS, SNOMED CT, LOINC — same words for the same things.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892808"/>
            <a:ext cx="411480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4708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Consent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Consent travels with the request, not with the user's memory.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5544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4040" y="1828800"/>
            <a:ext cx="502920" cy="502920"/>
          </a:xfrm>
          <a:prstGeom prst="ellipse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892808"/>
            <a:ext cx="411480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84708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468880"/>
            <a:ext cx="2148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F5560"/>
                </a:solidFill>
                <a:latin typeface="Calibri"/>
              </a:rPr>
              <a:t>Lawful basis, audit, oversight — automated, not improvised.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1188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The hard part is not storing the data. The hard part is making 17 systems agree on what 'a patient', 'a consent', and 'a result' mean — and proving it to a citizen.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6A817"/>
                </a:solidFill>
                <a:latin typeface="Calibri"/>
              </a:rPr>
              <a:t>That is integration. That is what we build.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8348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3611880" cy="11887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3D59"/>
                </a:solidFill>
                <a:latin typeface="Calibri"/>
              </a:rPr>
              <a:t>A common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Shared profiles for medications, allergies, labs, imaging, and care episodes.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5112" y="498348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25112" y="4983480"/>
            <a:ext cx="3611880" cy="11887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07992" y="52120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3D59"/>
                </a:solidFill>
                <a:latin typeface="Calibri"/>
              </a:rPr>
              <a:t>A trusted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562356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Single integration hub; federated, observable, and EU-ready out of the box.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4" y="4983480"/>
            <a:ext cx="3611880" cy="137160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1584" y="4983480"/>
            <a:ext cx="3611880" cy="1188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4464" y="52120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3D59"/>
                </a:solidFill>
                <a:latin typeface="Calibri"/>
              </a:rPr>
              <a:t>A repeatable playbook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562356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Templates for each region's onboarding — legal, technical, operational.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CDC3-E24C-DB48-197C-EEC6B2F7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F1D29-AAAB-DAF4-4B8B-E4DDEC675CD2}"/>
              </a:ext>
            </a:extLst>
          </p:cNvPr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BCEA6-750F-425C-115F-BD6C2A45188A}"/>
              </a:ext>
            </a:extLst>
          </p:cNvPr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Why integration is the key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6311C-A0EB-6F73-D0FB-B2CBCDF6840F}"/>
              </a:ext>
            </a:extLst>
          </p:cNvPr>
          <p:cNvSpPr txBox="1"/>
          <p:nvPr/>
        </p:nvSpPr>
        <p:spPr>
          <a:xfrm>
            <a:off x="548640" y="96012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4F5560"/>
                </a:solidFill>
                <a:latin typeface="Calibri"/>
              </a:rPr>
              <a:t>Without integration, EHDS is a policy. With it, EHDS </a:t>
            </a:r>
            <a:r>
              <a:rPr lang="de-DE" sz="1600" b="0" dirty="0">
                <a:solidFill>
                  <a:srgbClr val="4F5560"/>
                </a:solidFill>
                <a:latin typeface="Calibri"/>
              </a:rPr>
              <a:t>Integration Hub </a:t>
            </a:r>
            <a:r>
              <a:rPr sz="1600" b="0" dirty="0">
                <a:solidFill>
                  <a:srgbClr val="4F5560"/>
                </a:solidFill>
                <a:latin typeface="Calibri"/>
              </a:rPr>
              <a:t>is care.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3D6B3E-363B-EF07-8518-09467B58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358"/>
            <a:ext cx="5722709" cy="459356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4AE2BFE-4437-62B2-981A-0B66DEBC0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075" y="1887018"/>
            <a:ext cx="6397924" cy="4010862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F76F2BB-8834-2234-0B4C-4742471F7D62}"/>
              </a:ext>
            </a:extLst>
          </p:cNvPr>
          <p:cNvSpPr/>
          <p:nvPr/>
        </p:nvSpPr>
        <p:spPr>
          <a:xfrm>
            <a:off x="689861" y="6070483"/>
            <a:ext cx="4900712" cy="467477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BA3CE37-F017-43D5-FFF1-A6EA351AD7F9}"/>
              </a:ext>
            </a:extLst>
          </p:cNvPr>
          <p:cNvSpPr/>
          <p:nvPr/>
        </p:nvSpPr>
        <p:spPr>
          <a:xfrm>
            <a:off x="689860" y="6070483"/>
            <a:ext cx="265378" cy="467477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E6E2F-930E-331C-BC88-34F50AAF6E7B}"/>
              </a:ext>
            </a:extLst>
          </p:cNvPr>
          <p:cNvSpPr txBox="1"/>
          <p:nvPr/>
        </p:nvSpPr>
        <p:spPr>
          <a:xfrm>
            <a:off x="1117413" y="6204963"/>
            <a:ext cx="4310984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050" b="1" dirty="0">
                <a:solidFill>
                  <a:srgbClr val="143D59"/>
                </a:solidFill>
                <a:latin typeface="Calibri"/>
              </a:rPr>
              <a:t>Integration Tests on Web </a:t>
            </a:r>
            <a:r>
              <a:rPr lang="de-DE" sz="1050" b="1" dirty="0" err="1">
                <a:solidFill>
                  <a:srgbClr val="143D59"/>
                </a:solidFill>
                <a:latin typeface="Calibri"/>
              </a:rPr>
              <a:t>with</a:t>
            </a:r>
            <a:r>
              <a:rPr lang="de-DE" sz="1050" b="1" dirty="0">
                <a:solidFill>
                  <a:srgbClr val="143D59"/>
                </a:solidFill>
                <a:latin typeface="Calibri"/>
              </a:rPr>
              <a:t> Scalar</a:t>
            </a:r>
            <a:endParaRPr sz="1050" b="1" dirty="0">
              <a:solidFill>
                <a:srgbClr val="143D59"/>
              </a:solidFill>
              <a:latin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4B1E160-18B5-C585-C650-FDAF03660E7C}"/>
              </a:ext>
            </a:extLst>
          </p:cNvPr>
          <p:cNvSpPr/>
          <p:nvPr/>
        </p:nvSpPr>
        <p:spPr>
          <a:xfrm>
            <a:off x="6620728" y="6070483"/>
            <a:ext cx="4900712" cy="467477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0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66ED45-7007-DAC6-8201-B823AB26E591}"/>
              </a:ext>
            </a:extLst>
          </p:cNvPr>
          <p:cNvSpPr/>
          <p:nvPr/>
        </p:nvSpPr>
        <p:spPr>
          <a:xfrm>
            <a:off x="6620727" y="6070483"/>
            <a:ext cx="265378" cy="467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23A9F-5AE1-61AB-6882-68356A77CFEF}"/>
              </a:ext>
            </a:extLst>
          </p:cNvPr>
          <p:cNvSpPr txBox="1"/>
          <p:nvPr/>
        </p:nvSpPr>
        <p:spPr>
          <a:xfrm>
            <a:off x="7048280" y="6204963"/>
            <a:ext cx="4310984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050" b="1" dirty="0">
                <a:solidFill>
                  <a:srgbClr val="143D59"/>
                </a:solidFill>
                <a:latin typeface="Calibri"/>
              </a:rPr>
              <a:t>Integration Tests on Web </a:t>
            </a:r>
            <a:r>
              <a:rPr lang="de-DE" sz="1050" b="1" dirty="0" err="1">
                <a:solidFill>
                  <a:srgbClr val="143D59"/>
                </a:solidFill>
                <a:latin typeface="Calibri"/>
              </a:rPr>
              <a:t>with</a:t>
            </a:r>
            <a:r>
              <a:rPr lang="de-DE" sz="1050" b="1" dirty="0">
                <a:solidFill>
                  <a:srgbClr val="143D59"/>
                </a:solidFill>
                <a:latin typeface="Calibri"/>
              </a:rPr>
              <a:t> Bruno Collection</a:t>
            </a:r>
            <a:endParaRPr sz="1050" b="1" dirty="0">
              <a:solidFill>
                <a:srgbClr val="143D5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958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A roadmap for Spain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Three phases.  Each one delivers value on its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41732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64592" cy="14173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121408"/>
            <a:ext cx="128016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93392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42032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Establish the Health Data Authority.  Agree common rules with the regions.  Set up the secure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64240" cy="141732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64592" cy="1417320"/>
          </a:xfrm>
          <a:prstGeom prst="rect">
            <a:avLst/>
          </a:prstGeom>
          <a:solidFill>
            <a:srgbClr val="52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767328"/>
            <a:ext cx="1280160" cy="502920"/>
          </a:xfrm>
          <a:prstGeom prst="roundRect">
            <a:avLst/>
          </a:prstGeom>
          <a:solidFill>
            <a:srgbClr val="528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639312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Connect three pioneer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87952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Madrid, Catalonia, Andalusia.  Citizens experience care that follows them.  First research approvals issued.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64240" cy="141732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164592" cy="1417320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5413248"/>
            <a:ext cx="1280160" cy="502920"/>
          </a:xfrm>
          <a:prstGeom prst="roundRect">
            <a:avLst/>
          </a:prstGeom>
          <a:solidFill>
            <a:srgbClr val="14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413248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285232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Federate all 17 regions and join Europe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833872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Every region connected.  Cross-border with Germany, France, the wider Union.  Spain becomes a leader in trusted health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What EHDS will bring for Spain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Outcomes — for citizens, for the system, for science, for Europe.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724912" cy="416052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724912" cy="16459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37944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31E2E"/>
                </a:solidFill>
                <a:latin typeface="Calibri"/>
              </a:rPr>
              <a:t>For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Better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31E2E"/>
                </a:solidFill>
                <a:latin typeface="Calibri"/>
              </a:rPr>
              <a:t>1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follows you everywhere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31E2E"/>
                </a:solidFill>
                <a:latin typeface="Calibri"/>
              </a:rPr>
              <a:t>0 repeats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of tests already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C31E2E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of accesses logged for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1508760"/>
            <a:ext cx="2724912" cy="416052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38144" y="1508760"/>
            <a:ext cx="2724912" cy="16459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4" y="1837944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6A817"/>
                </a:solidFill>
                <a:latin typeface="Calibri"/>
              </a:rPr>
              <a:t>For the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14884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Real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260604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6A817"/>
                </a:solidFill>
                <a:latin typeface="Calibri"/>
              </a:rPr>
              <a:t>≈ €1.2B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306324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potential annual savings (avoided duplication)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56616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6A817"/>
                </a:solidFill>
                <a:latin typeface="Calibri"/>
              </a:rPr>
              <a:t>17 →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4" y="402336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integration build, reused everywhere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4" y="45262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6A817"/>
                </a:solidFill>
                <a:latin typeface="Calibri"/>
              </a:rPr>
              <a:t>EU-ready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4" y="498348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from day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1508760"/>
            <a:ext cx="2724912" cy="416052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27648" y="1508760"/>
            <a:ext cx="2724912" cy="1645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1837944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Calibri"/>
              </a:rPr>
              <a:t>For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214884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Faster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260604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A9D8F"/>
                </a:solidFill>
                <a:latin typeface="Calibri"/>
              </a:rPr>
              <a:t>1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06324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to study all 17 regions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56616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A9D8F"/>
                </a:solidFill>
                <a:latin typeface="Calibri"/>
              </a:rPr>
              <a:t>Pseudonymised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02336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by design — no raw data leaves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5262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A9D8F"/>
                </a:solidFill>
                <a:latin typeface="Calibri"/>
              </a:rPr>
              <a:t>Public catalogue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98348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of datasets and approvals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2" y="1508760"/>
            <a:ext cx="2724912" cy="416052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17152" y="1508760"/>
            <a:ext cx="2724912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91472" y="1837944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3D59"/>
                </a:solidFill>
                <a:latin typeface="Calibri"/>
              </a:rPr>
              <a:t>For Europe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214884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3D59"/>
                </a:solidFill>
                <a:latin typeface="Calibri"/>
              </a:rPr>
              <a:t>Spain in the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260604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DE · FR · NL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306324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peers ready to federate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356616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MyHealth@EU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402336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active gateway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45262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3D59"/>
                </a:solidFill>
                <a:latin typeface="Calibri"/>
              </a:rPr>
              <a:t>Trust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4983480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F5560"/>
                </a:solidFill>
                <a:latin typeface="Calibri"/>
              </a:rPr>
              <a:t>as a Spanish export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30000"/>
            </a:avLst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Each outcome is measurable. Each is delivered region by region. Each is published in the public register.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143D59"/>
                </a:solidFill>
                <a:latin typeface="Calibri"/>
              </a:rPr>
              <a:t>The conversation we want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4F5560"/>
                </a:solidFill>
                <a:latin typeface="Calibri"/>
              </a:rPr>
              <a:t>Working together with the Ministry and the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4F5560"/>
                </a:solidFill>
                <a:latin typeface="Calibri"/>
              </a:rPr>
              <a:t>European Health Data Space  ·  A federated approach for Spain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57200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Questions for the Ministry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Which regions would be the first three to connect?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How will the Health Data Authority be staffed and funded?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Which existing public health programmes benefit most quickly?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How should citizens be informed and consulted?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Which European partners should Spain federate with first?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486400" cy="4572000"/>
          </a:xfrm>
          <a:prstGeom prst="round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What we bring to the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4937760" cy="3840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A working live demonstration with realistic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Experience federating data across European regions.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Templates for the legal, organisational, and operational setup.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A roadmap aligned with the European timetable.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4F5560"/>
                </a:solidFill>
                <a:latin typeface="Calibri"/>
              </a:rPr>
              <a:t>•  A team that has done this before, ready to support each region.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86200"/>
            <a:ext cx="12191695" cy="73152"/>
          </a:xfrm>
          <a:prstGeom prst="rect">
            <a:avLst/>
          </a:prstGeom>
          <a:solidFill>
            <a:srgbClr val="C3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Better care for every citizen.  Better research for every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143D59"/>
                </a:solidFill>
                <a:latin typeface="Calibri"/>
              </a:rPr>
              <a:t>Live demonstration available on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4F5560"/>
                </a:solidFill>
                <a:latin typeface="Calibri"/>
              </a:rPr>
              <a:t>Walk through the five roles, the patient journey, and the research approval process — end to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4F5560"/>
                </a:solidFill>
                <a:latin typeface="Calibri"/>
              </a:rPr>
              <a:t>Sopra Steria  ·  European Health Data Space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6dcdb79-e55b-491a-9e20-518c2a101f22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2002</Words>
  <Application>Microsoft Macintosh PowerPoint</Application>
  <PresentationFormat>Widescreen</PresentationFormat>
  <Paragraphs>251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BUCHHORN-ROTH Matthias</cp:lastModifiedBy>
  <cp:revision>4</cp:revision>
  <dcterms:created xsi:type="dcterms:W3CDTF">2013-01-27T09:14:16Z</dcterms:created>
  <dcterms:modified xsi:type="dcterms:W3CDTF">2026-05-10T07:36:57Z</dcterms:modified>
  <cp:category/>
</cp:coreProperties>
</file>