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6908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698480" cy="11887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A Connected Health System for Spain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Building a federated European Health Data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E6A817"/>
                </a:solidFill>
                <a:latin typeface="Calibri"/>
              </a:rPr>
              <a:t>across the 17 regions of Spain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143D59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Briefing for the Spanish Ministry of 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challenge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Spain's strength is regional autonomy. The cost is fragmentation.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365760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3108960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A citizen who lives in Madrid and falls ill in Seville cannot share their medical history easily with the local doctor.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Doctors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108960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Hospitals in different regions cannot see what care a patient already received elsewhere — tests get repeated, time is lost.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657600" cy="42062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65760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310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08960" cy="2834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Studying a rare disease across Spain means asking 17 separate regions for permission, data, and approvals.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One European Health Data Space.  Each region keeps its data and its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Oval 5"/>
          <p:cNvSpPr/>
          <p:nvPr/>
        </p:nvSpPr>
        <p:spPr>
          <a:xfrm>
            <a:off x="5184648" y="2743200"/>
            <a:ext cx="1828800" cy="1828800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18888" y="3383280"/>
            <a:ext cx="2560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Spain</a:t>
            </a:r>
          </a:p>
        </p:txBody>
      </p:sp>
      <p:sp>
        <p:nvSpPr>
          <p:cNvPr id="8" name="Oval 7"/>
          <p:cNvSpPr/>
          <p:nvPr/>
        </p:nvSpPr>
        <p:spPr>
          <a:xfrm>
            <a:off x="1783080" y="196596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Galicia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2468880"/>
            <a:ext cx="3813048" cy="118872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372600" y="196596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306324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Catalonia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99048" y="2468880"/>
            <a:ext cx="3776472" cy="118872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596128" y="132588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242316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Madrid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9048" y="1828800"/>
            <a:ext cx="0" cy="182880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596128" y="507492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1768" y="617220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Andalusia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6099048" y="3657600"/>
            <a:ext cx="0" cy="192024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783080" y="443484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5321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Basque Country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286000" y="3657600"/>
            <a:ext cx="3813048" cy="128016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372600" y="4434840"/>
            <a:ext cx="1005840" cy="1005840"/>
          </a:xfrm>
          <a:prstGeom prst="ellipse">
            <a:avLst/>
          </a:prstGeom>
          <a:solidFill>
            <a:srgbClr val="2A9D8F"/>
          </a:solidFill>
          <a:ln>
            <a:solidFill>
              <a:srgbClr val="143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55321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143D59"/>
                </a:solidFill>
                <a:latin typeface="Calibri"/>
              </a:rPr>
              <a:t>Valencia</a:t>
            </a:r>
          </a:p>
        </p:txBody>
      </p:sp>
      <p:cxnSp>
        <p:nvCxnSpPr>
          <p:cNvPr id="25" name="Connector 24"/>
          <p:cNvCxnSpPr/>
          <p:nvPr/>
        </p:nvCxnSpPr>
        <p:spPr>
          <a:xfrm flipH="1" flipV="1">
            <a:off x="6099048" y="3657600"/>
            <a:ext cx="3776472" cy="1280160"/>
          </a:xfrm>
          <a:prstGeom prst="bentConnector3">
            <a:avLst/>
          </a:prstGeom>
          <a:ln w="12700">
            <a:solidFill>
              <a:srgbClr val="4F556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0" y="585216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  +  16 more regions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143D59"/>
                </a:solidFill>
                <a:latin typeface="Calibri"/>
              </a:rPr>
              <a:t>Each region keeps its data.   Citizens carry one identity.   Trusted rules let information flow when it should.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Two ways data helps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Both are equally important.  Both follow strict rules.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21208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Calibri"/>
              </a:rPr>
              <a:t>1.  For your care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Doctors see what they need to treat you.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Your medical record follows you across hospitals and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Emergency doctors can see allergies and prescriptions in seconds.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Less repeated tests, less lost paperwork, faster care.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You decide what is shared and you can withdraw consent.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554480"/>
            <a:ext cx="521208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554480"/>
            <a:ext cx="5212080" cy="36576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057400"/>
            <a:ext cx="466344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528B55"/>
                </a:solidFill>
                <a:latin typeface="Calibri"/>
              </a:rPr>
              <a:t>2.  For better health policy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65176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43D59"/>
                </a:solidFill>
                <a:latin typeface="Calibri"/>
              </a:rPr>
              <a:t>Researchers learn from millions of records.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4663440" cy="23774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Hospitals and regions share patterns, never names.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Researchers spot diseases earlier and find better treatments.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The Ministry sees what is working in different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Every research request is approved and supervised.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five people in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Real roles you will meet in the live demonstration.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Oval 5"/>
          <p:cNvSpPr/>
          <p:nvPr/>
        </p:nvSpPr>
        <p:spPr>
          <a:xfrm>
            <a:off x="600303" y="1874520"/>
            <a:ext cx="1554480" cy="15544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0303" y="3291840"/>
            <a:ext cx="1554480" cy="914400"/>
          </a:xfrm>
          <a:prstGeom prst="roundRect">
            <a:avLst>
              <a:gd name="adj" fmla="val 40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823" y="4434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Citizen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823" y="4937760"/>
            <a:ext cx="23774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F5560"/>
                </a:solidFill>
                <a:latin typeface="Calibri"/>
              </a:rPr>
              <a:t>Their health,
their record.</a:t>
            </a:r>
          </a:p>
        </p:txBody>
      </p:sp>
      <p:sp>
        <p:nvSpPr>
          <p:cNvPr id="10" name="Oval 9"/>
          <p:cNvSpPr/>
          <p:nvPr/>
        </p:nvSpPr>
        <p:spPr>
          <a:xfrm>
            <a:off x="2959455" y="1874520"/>
            <a:ext cx="1554480" cy="1554480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59455" y="3291840"/>
            <a:ext cx="1554480" cy="914400"/>
          </a:xfrm>
          <a:prstGeom prst="roundRect">
            <a:avLst>
              <a:gd name="adj" fmla="val 40000"/>
            </a:avLst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7975" y="4434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Hospital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7975" y="4937760"/>
            <a:ext cx="23774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F5560"/>
                </a:solidFill>
                <a:latin typeface="Calibri"/>
              </a:rPr>
              <a:t>Provides care,
holds the records.</a:t>
            </a:r>
          </a:p>
        </p:txBody>
      </p:sp>
      <p:sp>
        <p:nvSpPr>
          <p:cNvPr id="14" name="Oval 13"/>
          <p:cNvSpPr/>
          <p:nvPr/>
        </p:nvSpPr>
        <p:spPr>
          <a:xfrm>
            <a:off x="5318607" y="1874520"/>
            <a:ext cx="1554480" cy="1554480"/>
          </a:xfrm>
          <a:prstGeom prst="ellipse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18607" y="3291840"/>
            <a:ext cx="1554480" cy="914400"/>
          </a:xfrm>
          <a:prstGeom prst="roundRect">
            <a:avLst>
              <a:gd name="adj" fmla="val 40000"/>
            </a:avLst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7127" y="4434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Researcher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07127" y="4937760"/>
            <a:ext cx="23774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F5560"/>
                </a:solidFill>
                <a:latin typeface="Calibri"/>
              </a:rPr>
              <a:t>Studies patterns
to improve health.</a:t>
            </a:r>
          </a:p>
        </p:txBody>
      </p:sp>
      <p:sp>
        <p:nvSpPr>
          <p:cNvPr id="18" name="Oval 17"/>
          <p:cNvSpPr/>
          <p:nvPr/>
        </p:nvSpPr>
        <p:spPr>
          <a:xfrm>
            <a:off x="7677759" y="1874520"/>
            <a:ext cx="1554480" cy="1554480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77759" y="3291840"/>
            <a:ext cx="1554480" cy="914400"/>
          </a:xfrm>
          <a:prstGeom prst="roundRect">
            <a:avLst>
              <a:gd name="adj" fmla="val 40000"/>
            </a:avLst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6279" y="4434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Health Data 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6279" y="4937760"/>
            <a:ext cx="23774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F5560"/>
                </a:solidFill>
                <a:latin typeface="Calibri"/>
              </a:rPr>
              <a:t>Approves and
supervises every request.</a:t>
            </a:r>
          </a:p>
        </p:txBody>
      </p:sp>
      <p:sp>
        <p:nvSpPr>
          <p:cNvPr id="22" name="Oval 21"/>
          <p:cNvSpPr/>
          <p:nvPr/>
        </p:nvSpPr>
        <p:spPr>
          <a:xfrm>
            <a:off x="10036911" y="1874520"/>
            <a:ext cx="1554480" cy="1554480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36911" y="3291840"/>
            <a:ext cx="1554480" cy="914400"/>
          </a:xfrm>
          <a:prstGeom prst="roundRect">
            <a:avLst>
              <a:gd name="adj" fmla="val 40000"/>
            </a:avLst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5431" y="4434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Trust Centre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5431" y="4937760"/>
            <a:ext cx="23774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4F5560"/>
                </a:solidFill>
                <a:latin typeface="Calibri"/>
              </a:rPr>
              <a:t>Protects identity,
resolves only when legal.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How it works for a citizen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A patient from Madrid is on holiday in Valencia and feels unwell.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6607" y="2194560"/>
            <a:ext cx="3291840" cy="201168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46607" y="2194560"/>
            <a:ext cx="329184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0927" y="248716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2A9D8F"/>
                </a:solidFill>
                <a:latin typeface="Calibri"/>
              </a:rPr>
              <a:t>1.  Show consent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0927" y="310896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The patient signs in with their national identity at the Valencian hospital.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84167.5" y="3200400.0"/>
            <a:ext cx="320040.0" cy="0.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49927" y="2194560"/>
            <a:ext cx="3291840" cy="201168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449927" y="2194560"/>
            <a:ext cx="3291840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4247" y="248716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2.  Records arrive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247" y="310896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The Madrid hospital is asked, the rules check out, the record is delivered.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87487.5" y="3200400.0"/>
            <a:ext cx="320040.0" cy="0.0"/>
          </a:xfrm>
          <a:prstGeom prst="bentConnector3">
            <a:avLst/>
          </a:prstGeom>
          <a:ln w="27940">
            <a:solidFill>
              <a:srgbClr val="143D5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53247" y="2194560"/>
            <a:ext cx="3291840" cy="201168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153247" y="2194560"/>
            <a:ext cx="3291840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7567" y="248716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528B55"/>
                </a:solidFill>
                <a:latin typeface="Calibri"/>
              </a:rPr>
              <a:t>3.  Care happens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7567" y="310896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Doctor sees allergies, current medications, recent tests.  Treats safely.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43D59"/>
                </a:solidFill>
                <a:latin typeface="Calibri"/>
              </a:rPr>
              <a:t>Three rules always apply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4F5560"/>
                </a:solidFill>
                <a:latin typeface="Calibri"/>
              </a:rPr>
              <a:t>Citizen consent.    Local rules in both regions.    Every access logged for the citizen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How it works for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A researcher studies how diabetes treatment differs across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263" y="1828800"/>
            <a:ext cx="2194560" cy="23774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280263" y="1828800"/>
            <a:ext cx="2194560" cy="164592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4855" y="2084832"/>
            <a:ext cx="402336" cy="402336"/>
          </a:xfrm>
          <a:prstGeom prst="ellipse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855" y="2121408"/>
            <a:ext cx="411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3495" y="214884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28B55"/>
                </a:solidFill>
                <a:latin typeface="Calibri"/>
              </a:rPr>
              <a:t>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863" y="2743200"/>
            <a:ext cx="17373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Researcher submits a clear question and a study plan.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39415" y="1828800"/>
            <a:ext cx="2194560" cy="23774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639415" y="1828800"/>
            <a:ext cx="2194560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4007" y="2084832"/>
            <a:ext cx="402336" cy="402336"/>
          </a:xfrm>
          <a:prstGeom prst="ellipse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2121408"/>
            <a:ext cx="411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2647" y="214884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C31E2E"/>
                </a:solidFill>
                <a:latin typeface="Calibri"/>
              </a:rPr>
              <a:t>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8015" y="2743200"/>
            <a:ext cx="17373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Health Data Authority checks purpose, ethics, scope.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98567" y="1828800"/>
            <a:ext cx="2194560" cy="23774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98567" y="1828800"/>
            <a:ext cx="2194560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163159" y="2084832"/>
            <a:ext cx="402336" cy="402336"/>
          </a:xfrm>
          <a:prstGeom prst="ellipse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3159" y="2121408"/>
            <a:ext cx="411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1799" y="214884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E6A817"/>
                </a:solidFill>
                <a:latin typeface="Calibri"/>
              </a:rPr>
              <a:t>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167" y="2743200"/>
            <a:ext cx="17373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Trust Centre replaces names with safe pseudonyms.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57719" y="1828800"/>
            <a:ext cx="2194560" cy="23774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357719" y="1828800"/>
            <a:ext cx="2194560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22311" y="2084832"/>
            <a:ext cx="402336" cy="402336"/>
          </a:xfrm>
          <a:prstGeom prst="ellipse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22311" y="2121408"/>
            <a:ext cx="411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0951" y="214884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Analyse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6319" y="2743200"/>
            <a:ext cx="17373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Researcher works inside a secure room.  Data never leaves.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16871" y="1828800"/>
            <a:ext cx="2194560" cy="237744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16871" y="1828800"/>
            <a:ext cx="2194560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881463" y="2084832"/>
            <a:ext cx="402336" cy="40233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81463" y="2121408"/>
            <a:ext cx="411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30103" y="214884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2A9D8F"/>
                </a:solidFill>
                <a:latin typeface="Calibri"/>
              </a:rPr>
              <a:t>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5471" y="2743200"/>
            <a:ext cx="173736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4F5560"/>
                </a:solidFill>
                <a:latin typeface="Calibri"/>
              </a:rPr>
              <a:t>Only summary results come out.  No individual is identifiable.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7200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C31E2E"/>
                </a:solidFill>
                <a:latin typeface="Calibri"/>
              </a:rPr>
              <a:t>What never happens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4F5560"/>
                </a:solidFill>
                <a:latin typeface="Calibri"/>
              </a:rPr>
              <a:t>Identifiable patient information never leaves the secure room.   No researcher sees a name, a national identity number, or a home address.   If a safety concern is found, only the Trust Centre — under legal authority — can re-link the data to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role of the Health Data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The Ministry's data office is the trusted gatekeeper for every secondary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Approve research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Reviews each application: purpose, lawful basis, proportionality, ethics.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562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Run the secure room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317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Operates the protected environment where researchers analyse the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918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564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Publish a transparent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9319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Every approval, every rejection, every research outcome is public.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2918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63640" y="32918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4564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Cooperate across borders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9319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Works with peer authorities in Germany, France, and the wider Union.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920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48920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0566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Enforce the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321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Suspends or revokes permits and applies penalties for misuse.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892040"/>
            <a:ext cx="5486400" cy="13716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63640" y="4892040"/>
            <a:ext cx="164592" cy="1371600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56632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143D59"/>
                </a:solidFill>
                <a:latin typeface="Calibri"/>
              </a:rPr>
              <a:t>Maintain the catalogue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Publishes a public list of available datasets with quality labels.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Trust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Citizens stay in control.  Every step is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Citizen consent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9377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The citizen always says what may be shared, with whom, and for how long.  Consent can be withdrawn at any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Pseudonyms by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51760"/>
            <a:ext cx="49377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Identifiers are replaced with safe codes before any researcher sees the data.  The link can be re-made only when the law requires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262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A complete diary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9377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access — who, when, what, why — is recorded.  The citizen can read their own access diary.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251960"/>
            <a:ext cx="5486400" cy="219456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263640" y="4251960"/>
            <a:ext cx="164592" cy="219456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5262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143D59"/>
                </a:solidFill>
                <a:latin typeface="Calibri"/>
              </a:rPr>
              <a:t>Right to ask, change, erase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5120640"/>
            <a:ext cx="49377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Citizens can request their record, ask for corrections, and ask for erasure under European data protection law.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A roadmap for Spain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Three phases.  Each one delivers value on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64592" cy="14173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121408"/>
            <a:ext cx="1280160" cy="502920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2121408"/>
            <a:ext cx="1280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993392"/>
            <a:ext cx="9144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42032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Establish the Health Data Authority.  Agree common rules with the regions.  Set up the secure room.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48640" y="3474720"/>
            <a:ext cx="164592" cy="1417320"/>
          </a:xfrm>
          <a:prstGeom prst="rect">
            <a:avLst/>
          </a:prstGeom>
          <a:solidFill>
            <a:srgbClr val="528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3767328"/>
            <a:ext cx="1280160" cy="502920"/>
          </a:xfrm>
          <a:prstGeom prst="roundRect">
            <a:avLst/>
          </a:prstGeom>
          <a:solidFill>
            <a:srgbClr val="528B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1280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639312"/>
            <a:ext cx="9144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Connect three pioneer regions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187952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Madrid, Catalonia, Andalusia.  Citizens experience care that follows them.  First research approvals issued.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20640"/>
            <a:ext cx="11064240" cy="141732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164592" cy="141732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5413248"/>
            <a:ext cx="1280160" cy="502920"/>
          </a:xfrm>
          <a:prstGeom prst="round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5413248"/>
            <a:ext cx="1280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285232"/>
            <a:ext cx="91440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143D59"/>
                </a:solidFill>
                <a:latin typeface="Calibri"/>
              </a:rPr>
              <a:t>Federate all 17 regions and join Europe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833872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Every region connected.  Cross-border with Germany, France, the wider Union.  Spain becomes a leader in trusted health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43D59"/>
                </a:solidFill>
                <a:latin typeface="Calibri"/>
              </a:rPr>
              <a:t>The conversation we want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4F5560"/>
                </a:solidFill>
                <a:latin typeface="Calibri"/>
              </a:rPr>
              <a:t>Working together with the Ministry and the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Questions for the Ministry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regions would be the first three to connect?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will the Health Data Authority be staffed and funded?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existing public health programmes benefit most quickly?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How should citizens be informed and consulted?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Which European partners should Spain federate with first?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4572000"/>
          </a:xfrm>
          <a:prstGeom prst="round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6576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830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What we bring to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3172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working live demonstration with realistic data.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Experience federating data across European regions.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Templates for the legal, organisational, and operational setup.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roadmap aligned with the European timetable.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>
                <a:solidFill>
                  <a:srgbClr val="4F5560"/>
                </a:solidFill>
                <a:latin typeface="Calibri"/>
              </a:rPr>
              <a:t>•  A team that has done this before, ready to support each region.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0"/>
          </a:xfrm>
          <a:prstGeom prst="rect">
            <a:avLst/>
          </a:prstGeom>
          <a:solidFill>
            <a:srgbClr val="143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12191695" cy="228600"/>
          </a:xfrm>
          <a:prstGeom prst="rect">
            <a:avLst/>
          </a:prstGeom>
          <a:solidFill>
            <a:srgbClr val="E6A8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86200"/>
            <a:ext cx="12191695" cy="73152"/>
          </a:xfrm>
          <a:prstGeom prst="rect">
            <a:avLst/>
          </a:prstGeom>
          <a:solidFill>
            <a:srgbClr val="C3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Better care for every citizen.  Better research for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143D59"/>
                </a:solidFill>
                <a:latin typeface="Calibri"/>
              </a:rPr>
              <a:t>Live demonstration available on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4F5560"/>
                </a:solidFill>
                <a:latin typeface="Calibri"/>
              </a:rPr>
              <a:t>Walk through the five roles, the patient journey, and the research approval process — end to 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4F5560"/>
                </a:solidFill>
                <a:latin typeface="Calibri"/>
              </a:rPr>
              <a:t>Sopra Steria  ·  European Health Data Space practice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