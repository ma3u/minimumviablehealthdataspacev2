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69" r:id="rId5"/>
    <p:sldId id="270" r:id="rId6"/>
    <p:sldId id="271" r:id="rId7"/>
    <p:sldId id="272" r:id="rId8"/>
    <p:sldId id="259" r:id="rId9"/>
    <p:sldId id="260" r:id="rId10"/>
    <p:sldId id="261" r:id="rId11"/>
    <p:sldId id="262" r:id="rId12"/>
    <p:sldId id="263" r:id="rId13"/>
    <p:sldId id="264" r:id="rId14"/>
    <p:sldId id="273" r:id="rId15"/>
    <p:sldId id="277" r:id="rId16"/>
    <p:sldId id="265" r:id="rId17"/>
    <p:sldId id="276" r:id="rId18"/>
    <p:sldId id="278" r:id="rId25"/>
    <p:sldId id="279" r:id="rId26"/>
    <p:sldId id="280" r:id="rId27"/>
    <p:sldId id="281" r:id="rId28"/>
    <p:sldId id="282" r:id="rId29"/>
    <p:sldId id="283" r:id="rId30"/>
    <p:sldId id="266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8"/>
    <p:restoredTop sz="94684"/>
  </p:normalViewPr>
  <p:slideViewPr>
    <p:cSldViewPr snapToGrid="0" snapToObjects="1">
      <p:cViewPr varScale="1">
        <p:scale>
          <a:sx n="124" d="100"/>
          <a:sy n="124" d="100"/>
        </p:scale>
        <p:origin x="184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3FEEE48-2422-227E-8340-9FB28D6D94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3051"/>
          <a:stretch>
            <a:fillRect/>
          </a:stretch>
        </p:blipFill>
        <p:spPr>
          <a:xfrm>
            <a:off x="58369" y="-19332"/>
            <a:ext cx="12133631" cy="385981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383823" y="868680"/>
            <a:ext cx="9595556" cy="2606040"/>
          </a:xfrm>
          <a:prstGeom prst="rect">
            <a:avLst/>
          </a:prstGeom>
          <a:solidFill>
            <a:srgbClr val="143D59">
              <a:alpha val="600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600" b="1" dirty="0">
                <a:solidFill>
                  <a:srgbClr val="FFFFFF"/>
                </a:solidFill>
                <a:latin typeface="Calibri"/>
              </a:rPr>
              <a:t>A Connected Health System for Spain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0" dirty="0">
                <a:solidFill>
                  <a:srgbClr val="FFFFFF"/>
                </a:solidFill>
                <a:latin typeface="Calibri"/>
              </a:rPr>
              <a:t>Building a federated European Health Data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across the 17 regions of Spain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0" dirty="0">
                <a:solidFill>
                  <a:srgbClr val="143D59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Introduction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 for the Spanish Ministry of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challenge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Spain's strength is regional autonomy. The cost is fragmentation.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3108960" cy="151426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A citizen who lives in Madrid and falls ill in Seville cannot share their medical history easily with the local doctor.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</a:p>
          <a:p>
            <a:pPr algn="l"/>
            <a:endParaRPr lang="de-DE" sz="1600" dirty="0">
              <a:solidFill>
                <a:srgbClr val="4F5560"/>
              </a:solidFill>
              <a:latin typeface="Calibri"/>
            </a:endParaRPr>
          </a:p>
          <a:p>
            <a:pPr algn="l"/>
            <a:r>
              <a:rPr lang="de-DE" sz="1600" b="0" dirty="0">
                <a:solidFill>
                  <a:srgbClr val="4F5560"/>
                </a:solidFill>
                <a:latin typeface="Calibri"/>
              </a:rPr>
              <a:t>=&gt; Primary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use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of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data</a:t>
            </a:r>
            <a:endParaRPr sz="1600" b="0" dirty="0">
              <a:solidFill>
                <a:srgbClr val="4F5560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Doctors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108960" cy="2834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Hospitals in different regions cannot see what care a patient already received elsewhere — tests get repeated, time is lost.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65760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08960" cy="126803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Studying a rare disease across Spain means asking 17 separate regions for permission, data, and approvals</a:t>
            </a:r>
            <a:endParaRPr lang="de-DE" sz="1600" b="0" dirty="0">
              <a:solidFill>
                <a:srgbClr val="4F5560"/>
              </a:solidFill>
              <a:latin typeface="Calibri"/>
            </a:endParaRPr>
          </a:p>
          <a:p>
            <a:pPr algn="l"/>
            <a:endParaRPr lang="en-DE" sz="1600" dirty="0">
              <a:solidFill>
                <a:srgbClr val="4F5560"/>
              </a:solidFill>
              <a:latin typeface="Calibri"/>
            </a:endParaRPr>
          </a:p>
          <a:p>
            <a:pPr algn="l"/>
            <a:r>
              <a:rPr lang="en-DE" sz="1600" b="0" dirty="0">
                <a:solidFill>
                  <a:srgbClr val="4F5560"/>
                </a:solidFill>
                <a:latin typeface="Calibri"/>
              </a:rPr>
              <a:t>=&gt; Secondary use of data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patient — when care does not follow the citizen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Primary use of data. Continuous, safe care across all 17 regions of Spain.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31E2E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Records do not travel.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Madrid resident on holiday in Valencia has to recite their history at the desk.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Tests get repeated.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Lab results from one region cannot be seen by a hospital in another.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Allergies and prescriptions are blind spots.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In an emergency, doctors guess instead of read.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single view of consent.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citizen does not know who has accessed what, or how to revoke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patient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One record that follows them across regions and borders.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Always-visible consent and an access diary they control.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Right to view, correct, erase, and export their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doctor and hospital — data holders, not data prisons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Hospitals keep the records. They become safer when records can travel under the right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6A817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Each hospital is an island.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Strong systems internally; nothing speaks to the next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Doctors face cognitive 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Re-asking history wastes 15 minutes of every consult.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Liability without information.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Treating without the full picture is a clinical and legal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Integration costs are repeated 17 times.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Every region builds its own bridge, often twice.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data holder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Common rules and shared connectors — build once, reuse 17 times.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Clear lawful basis and audit trail for every cross-region access.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Less duplicated tests, fewer repeated questions, safer care.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researcher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: 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17 regions, 17 doors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Secondary use of data. Discovering Spain-wide patterns without ever exposing a single citizen.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resear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Asking 17 regions takes 17 negotiations.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study of diabetes outcomes across Spain stalls before it begins.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common catalogue.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Researchers do not know what data exists and at what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Re-identification fear blocks sharing.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Privacy concerns prevent even safe research.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Findings arrive years late.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By the time we know what works, the policy window has closed.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researcher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One application, one approval — federated query across 17 regions.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Pseudonymous data inside a secure room; only summaries leave.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public catalogue with quality labels and clear lawful basis.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regulator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: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keeping trust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Health Data Authority. Approving every secondary use, supervising every step, publishing every outcome.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single point of accountability.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Citizens do not know who decides who can access what.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Slow, manual approvals.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Each request is hand-evaluated with no shared evidence 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Limited cross-border peer cooperation.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EU-level cooperation requires Spanish counterparts ready to engage.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Penalties exist but are invisible.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Without a public register, sanctions do not deter misuse.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regulator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clear remit: gatekeeper for every secondary use.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standard process for approval, ethics, and supervision.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public register that makes oversight legible to citizens and the EU.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1230B3C-C9FB-FEF1-629A-A8D4E6AC3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86840"/>
            <a:ext cx="60350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17 autonomous regions, one Spain, one EHDS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Each region keeps its data and its rules. The federation lets care and research cross the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5216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907024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+ Aragón · Asturias · Balearic Islands · Canary Islands · Cantabria · Castile-La Mancha · Castile and León · Extremadura · La Rioja · Murcia · Navarre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6E53D9-A56C-7DD7-9526-AEFB278DA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70" y="1418441"/>
            <a:ext cx="3930573" cy="21648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9F750C-D540-62B2-6FE3-8EA324CCB1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7" y="1536963"/>
            <a:ext cx="3749039" cy="20063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442BCC-5989-DB85-3DA1-AD9C44688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7" y="3630168"/>
            <a:ext cx="3749039" cy="20063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359948-932E-3AB7-54A3-FCB69F5E82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30168"/>
            <a:ext cx="3749039" cy="199899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876136C-FCD9-7871-89CD-F33341888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4" y="1536963"/>
            <a:ext cx="3749039" cy="20063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3EB090-6D24-E86C-4229-11DA2F980D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6174" y="3637898"/>
            <a:ext cx="3749039" cy="2006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Two ways data helps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Both are equally important.  Both follow strict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2120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46634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Calibri"/>
              </a:rPr>
              <a:t>1.  For your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46634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Doctors see what they need to treat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Your medical record follows you across hospitals and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Emergency doctors can see allergies and prescriptions in seconds.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Less repeated tests, less lost paperwork, faster care.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 decide what is shared and you can withdraw consent.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212080" cy="36576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2057400"/>
            <a:ext cx="46634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528B55"/>
                </a:solidFill>
                <a:latin typeface="Calibri"/>
              </a:rPr>
              <a:t>2.  For better health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6634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Researchers learn from millions of records.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Hospitals and regions share patterns, never names.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Researchers spot diseases earlier and find better treatments.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The Ministry sees what is working in different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Every research request is approved and supervised.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five </a:t>
            </a:r>
            <a:r>
              <a:rPr lang="de-DE" sz="3000" b="1" dirty="0" err="1">
                <a:solidFill>
                  <a:srgbClr val="143D59"/>
                </a:solidFill>
                <a:latin typeface="Calibri"/>
              </a:rPr>
              <a:t>roles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in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Real roles you will meet in the live demonstration.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725E854-10DE-1DC1-ABF5-A5E39CAA2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9843"/>
            <a:ext cx="12173309" cy="39943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0"/>
            <a:ext cx="0" cy="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0"/>
            <a:ext cx="0" cy="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1371A44F-541B-7C94-DDA0-F881E7A01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5" y="1697622"/>
            <a:ext cx="2754217" cy="34627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B53A86-E750-B9EC-1239-9B0A854BD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348" y="1697622"/>
            <a:ext cx="2759328" cy="346275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8295EFE-59AB-A512-3EC0-B105D0AD1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402" y="1697291"/>
            <a:ext cx="2819726" cy="34627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57B287A-E42B-664D-461F-BDB1B9BD8E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2854" y="1697292"/>
            <a:ext cx="2792899" cy="346275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B0417B0-B9C7-D937-B00D-68648EAA542D}"/>
              </a:ext>
            </a:extLst>
          </p:cNvPr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3000" b="1" dirty="0">
                <a:solidFill>
                  <a:srgbClr val="143D59"/>
                </a:solidFill>
                <a:latin typeface="Calibri"/>
              </a:rPr>
              <a:t>The Patient User Journey</a:t>
            </a:r>
            <a:endParaRPr sz="3000" b="1" dirty="0">
              <a:solidFill>
                <a:srgbClr val="143D59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DD86543-3CA7-EF20-F775-AE0F55464FCC}"/>
              </a:ext>
            </a:extLst>
          </p:cNvPr>
          <p:cNvSpPr/>
          <p:nvPr/>
        </p:nvSpPr>
        <p:spPr>
          <a:xfrm>
            <a:off x="264405" y="5376231"/>
            <a:ext cx="2754217" cy="61694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My Electronic Health Record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9C37D70-2B73-2D69-AFDC-AA831C3F7F65}"/>
              </a:ext>
            </a:extLst>
          </p:cNvPr>
          <p:cNvSpPr/>
          <p:nvPr/>
        </p:nvSpPr>
        <p:spPr>
          <a:xfrm>
            <a:off x="3140348" y="5376231"/>
            <a:ext cx="2754217" cy="6169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Know My Health Risks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95C190-01A9-33F5-C2DF-AE777666A71D}"/>
              </a:ext>
            </a:extLst>
          </p:cNvPr>
          <p:cNvSpPr/>
          <p:nvPr/>
        </p:nvSpPr>
        <p:spPr>
          <a:xfrm>
            <a:off x="6016291" y="5371548"/>
            <a:ext cx="2754217" cy="61694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Know the Research Programs that fit my risks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3DB1B8-8D3A-335C-0408-314EDBC08344}"/>
              </a:ext>
            </a:extLst>
          </p:cNvPr>
          <p:cNvSpPr/>
          <p:nvPr/>
        </p:nvSpPr>
        <p:spPr>
          <a:xfrm>
            <a:off x="8962854" y="5371547"/>
            <a:ext cx="2754217" cy="6169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I want to discuss with my doctor the result of the study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CD664E-7C16-807B-3385-5FC371C7BFBF}"/>
              </a:ext>
            </a:extLst>
          </p:cNvPr>
          <p:cNvSpPr txBox="1"/>
          <p:nvPr/>
        </p:nvSpPr>
        <p:spPr>
          <a:xfrm>
            <a:off x="548640" y="960120"/>
            <a:ext cx="1097280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600" dirty="0" err="1">
                <a:solidFill>
                  <a:srgbClr val="4F5560"/>
                </a:solidFill>
                <a:latin typeface="Calibri"/>
              </a:rPr>
              <a:t>What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I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have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built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as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a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Longevity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Enthusiast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with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a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known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risk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.</a:t>
            </a:r>
            <a:endParaRPr sz="1600" b="0" dirty="0">
              <a:solidFill>
                <a:srgbClr val="4F556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How it works for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A researcher studies how diabetes treatment differs across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6196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36196" y="4526280"/>
            <a:ext cx="2194560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00788" y="4782312"/>
            <a:ext cx="402336" cy="402336"/>
          </a:xfrm>
          <a:prstGeom prst="ellipse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0788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428" y="4846320"/>
            <a:ext cx="13716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800" b="1" dirty="0">
                <a:solidFill>
                  <a:srgbClr val="528B55"/>
                </a:solidFill>
                <a:latin typeface="Calibri"/>
              </a:rPr>
              <a:t>Discover</a:t>
            </a:r>
            <a:endParaRPr sz="1800" b="1" dirty="0">
              <a:solidFill>
                <a:srgbClr val="528B55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4796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Researcher submits a clear question and a study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5348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95348" y="4526280"/>
            <a:ext cx="219456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759940" y="4782312"/>
            <a:ext cx="402336" cy="402336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59940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8580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dirty="0">
                <a:solidFill>
                  <a:srgbClr val="C31E2E"/>
                </a:solidFill>
                <a:latin typeface="Calibri"/>
              </a:rPr>
              <a:t>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948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Health Data Authority checks purpose, ethics, scope.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4500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954500" y="4526280"/>
            <a:ext cx="219456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119092" y="4782312"/>
            <a:ext cx="402336" cy="402336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19092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7732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dirty="0">
                <a:solidFill>
                  <a:srgbClr val="E6A817"/>
                </a:solidFill>
                <a:latin typeface="Calibri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3100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Trust Centre replaces names with safe pseudonyms.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3652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3652" y="4526280"/>
            <a:ext cx="2194560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478244" y="4782312"/>
            <a:ext cx="402336" cy="402336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78244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6884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Analyse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2252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Researcher works inside a secure room.  Data never leaves.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72804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72804" y="4526280"/>
            <a:ext cx="219456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837396" y="4782312"/>
            <a:ext cx="402336" cy="40233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37396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6036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1404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Only summary results come out.  No individual is identifiable.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26E921F-A7E2-8B96-991E-D7669AED9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96" y="1709929"/>
            <a:ext cx="4643472" cy="272491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B9A9149-086F-84B0-957B-2D45E48D5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4500" y="1473909"/>
            <a:ext cx="2077638" cy="299304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844BE62-7C67-D6D0-8FC8-2C4443E45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553" y="1463040"/>
            <a:ext cx="2077638" cy="29560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C925CBB-3309-E0D8-070F-6B2A0BB531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821" y="1328268"/>
            <a:ext cx="2202543" cy="31065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R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ole 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O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f Health Data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The Ministry's data office is the trusted gatekeeper for every secondary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1" y="5072375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7" name="Rectangle 6"/>
          <p:cNvSpPr/>
          <p:nvPr/>
        </p:nvSpPr>
        <p:spPr>
          <a:xfrm>
            <a:off x="548640" y="5072375"/>
            <a:ext cx="97473" cy="981251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705680" y="5133136"/>
            <a:ext cx="1583416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Approve research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528" y="5447052"/>
            <a:ext cx="1465311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Reviews each application: purpose, lawful basis, proportionality, ethics.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293" y="5053789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1" name="Rectangle 10"/>
          <p:cNvSpPr/>
          <p:nvPr/>
        </p:nvSpPr>
        <p:spPr>
          <a:xfrm>
            <a:off x="6254291" y="5053789"/>
            <a:ext cx="101231" cy="98125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6519170" y="5170548"/>
            <a:ext cx="1347258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Run the secure 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404" y="5461097"/>
            <a:ext cx="1468279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Operates the protected environment where researchers </a:t>
            </a:r>
            <a:r>
              <a:rPr sz="900" b="0" dirty="0" err="1">
                <a:solidFill>
                  <a:srgbClr val="4F5560"/>
                </a:solidFill>
                <a:latin typeface="Calibri"/>
              </a:rPr>
              <a:t>analyse</a:t>
            </a:r>
            <a:r>
              <a:rPr sz="900" b="0" dirty="0">
                <a:solidFill>
                  <a:srgbClr val="4F5560"/>
                </a:solidFill>
                <a:latin typeface="Calibri"/>
              </a:rPr>
              <a:t> the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127" y="5072778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5" name="Rectangle 14"/>
          <p:cNvSpPr/>
          <p:nvPr/>
        </p:nvSpPr>
        <p:spPr>
          <a:xfrm>
            <a:off x="2456126" y="5072778"/>
            <a:ext cx="97473" cy="98125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6" name="TextBox 15"/>
          <p:cNvSpPr txBox="1"/>
          <p:nvPr/>
        </p:nvSpPr>
        <p:spPr>
          <a:xfrm>
            <a:off x="2613166" y="5135210"/>
            <a:ext cx="1583416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T</a:t>
            </a:r>
            <a:r>
              <a:rPr sz="1050" b="1" dirty="0" err="1">
                <a:solidFill>
                  <a:srgbClr val="143D59"/>
                </a:solidFill>
                <a:latin typeface="Calibri"/>
              </a:rPr>
              <a:t>ransparent</a:t>
            </a:r>
            <a:r>
              <a:rPr sz="1050" b="1" dirty="0">
                <a:solidFill>
                  <a:srgbClr val="143D59"/>
                </a:solidFill>
                <a:latin typeface="Calibri"/>
              </a:rPr>
              <a:t>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1062" y="5447052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Every approval, every rejection, every research outcome is public.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1778" y="5045905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9" name="Rectangle 18"/>
          <p:cNvSpPr/>
          <p:nvPr/>
        </p:nvSpPr>
        <p:spPr>
          <a:xfrm>
            <a:off x="8161777" y="5045905"/>
            <a:ext cx="97473" cy="9812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0" name="TextBox 19"/>
          <p:cNvSpPr txBox="1"/>
          <p:nvPr/>
        </p:nvSpPr>
        <p:spPr>
          <a:xfrm>
            <a:off x="8352233" y="5165102"/>
            <a:ext cx="15165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Cooperate across borders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2233" y="5467277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Works with peer authorities in Germany, France, and the wider Union.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3860" y="5077482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23" name="Rectangle 22"/>
          <p:cNvSpPr/>
          <p:nvPr/>
        </p:nvSpPr>
        <p:spPr>
          <a:xfrm>
            <a:off x="4363859" y="5077482"/>
            <a:ext cx="97473" cy="98125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4" name="TextBox 23"/>
          <p:cNvSpPr txBox="1"/>
          <p:nvPr/>
        </p:nvSpPr>
        <p:spPr>
          <a:xfrm>
            <a:off x="4551744" y="5183231"/>
            <a:ext cx="1521725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Enforce the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1743" y="5475636"/>
            <a:ext cx="1521725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Suspends or revokes permits and applies penalties for misuse.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9510" y="5025224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27" name="Rectangle 26"/>
          <p:cNvSpPr/>
          <p:nvPr/>
        </p:nvSpPr>
        <p:spPr>
          <a:xfrm>
            <a:off x="10069509" y="5025224"/>
            <a:ext cx="97473" cy="98125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8" name="TextBox 27"/>
          <p:cNvSpPr txBox="1"/>
          <p:nvPr/>
        </p:nvSpPr>
        <p:spPr>
          <a:xfrm>
            <a:off x="10206750" y="5146402"/>
            <a:ext cx="1525542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dirty="0">
                <a:solidFill>
                  <a:srgbClr val="143D59"/>
                </a:solidFill>
                <a:latin typeface="Calibri"/>
              </a:rPr>
              <a:t>Maintain the catalogue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11572" y="5447052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Publishes a public list of available datasets with quality labels.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1576BA3-6C47-67A7-316E-0C99A76FC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600200"/>
            <a:ext cx="5658833" cy="335577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6BB2845-6C19-E22E-0D93-5C1757365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638" y="1655142"/>
            <a:ext cx="2795281" cy="330572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C546181-FD51-10C8-232E-646775CEA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250" y="1635624"/>
            <a:ext cx="2795281" cy="32887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Trust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Citizens stay in control.  Every step is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Citizen consent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93776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dirty="0">
                <a:solidFill>
                  <a:srgbClr val="4F5560"/>
                </a:solidFill>
                <a:latin typeface="Calibri"/>
              </a:rPr>
              <a:t>The citizen always </a:t>
            </a:r>
            <a:r>
              <a:rPr lang="de-DE" sz="1400" b="0" dirty="0" err="1">
                <a:solidFill>
                  <a:srgbClr val="4F5560"/>
                </a:solidFill>
                <a:latin typeface="Calibri"/>
              </a:rPr>
              <a:t>see</a:t>
            </a:r>
            <a:r>
              <a:rPr sz="1400" b="0" dirty="0">
                <a:solidFill>
                  <a:srgbClr val="4F5560"/>
                </a:solidFill>
                <a:latin typeface="Calibri"/>
              </a:rPr>
              <a:t> what may be shared, with whom, and for how long.  Consent can be withdrawn at any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Pseudonyms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Identifiers are replaced with safe codes before any researcher sees the data.  The link can be re-made only when the law requires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A complete diary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access — who, when, what, why — is recorded.  The citizen can read their own access diary.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5262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Right to ask, change, erase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12064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Citizens can request their record, ask for corrections, and ask for erasure under European data protection law.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Why integration is the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Without integration, EHDS is a policy. With it, EHDS is care.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One citizen identity (Cl@ve / eIDAS) recognised everywhere.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703320" y="1828800"/>
            <a:ext cx="502920" cy="502920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HL7 FHIR, IPS, SNOMED CT, LOINC — same words for the same things.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Consent travels with the request, not with the user's memory.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464040" y="1828800"/>
            <a:ext cx="502920" cy="502920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Lawful basis, audit, oversight — automated, not improvised.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61188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The hard part is not storing the data. The hard part is making 17 systems agree on what 'a patient', 'a consent', and 'a result' mean — and proving it to a citizen.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E6A817"/>
                </a:solidFill>
                <a:latin typeface="Calibri"/>
              </a:rPr>
              <a:t>That is integration. That is what we build.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4983480"/>
            <a:ext cx="3611880" cy="11887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common language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Shared profiles for medications, allergies, labs, imaging, and care episodes.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25112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25112" y="4983480"/>
            <a:ext cx="3611880" cy="11887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07992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trusted gateway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Single integration hub; federated, observable, and EU-ready out of the box.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01584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1584" y="4983480"/>
            <a:ext cx="3611880" cy="11887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84464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repeatable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4464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Templates for each region's onboarding — legal, technical, operational.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CCDC3-E24C-DB48-197C-EEC6B2F7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F1D29-AAAB-DAF4-4B8B-E4DDEC675CD2}"/>
              </a:ext>
            </a:extLst>
          </p:cNvPr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9BCEA6-750F-425C-115F-BD6C2A45188A}"/>
              </a:ext>
            </a:extLst>
          </p:cNvPr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Why integration is the key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6311C-A0EB-6F73-D0FB-B2CBCDF6840F}"/>
              </a:ext>
            </a:extLst>
          </p:cNvPr>
          <p:cNvSpPr txBox="1"/>
          <p:nvPr/>
        </p:nvSpPr>
        <p:spPr>
          <a:xfrm>
            <a:off x="548640" y="960120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Without integration, EHDS is a policy. With it, EHDS 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Integration Hub 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is care.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03D6B3E-363B-EF07-8518-09467B582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358"/>
            <a:ext cx="5722709" cy="459356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4AE2BFE-4437-62B2-981A-0B66DEBC0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075" y="1887018"/>
            <a:ext cx="6397924" cy="4010862"/>
          </a:xfrm>
          <a:prstGeom prst="rect">
            <a:avLst/>
          </a:prstGeom>
        </p:spPr>
      </p:pic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F76F2BB-8834-2234-0B4C-4742471F7D62}"/>
              </a:ext>
            </a:extLst>
          </p:cNvPr>
          <p:cNvSpPr/>
          <p:nvPr/>
        </p:nvSpPr>
        <p:spPr>
          <a:xfrm>
            <a:off x="689861" y="6070483"/>
            <a:ext cx="4900712" cy="467477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BA3CE37-F017-43D5-FFF1-A6EA351AD7F9}"/>
              </a:ext>
            </a:extLst>
          </p:cNvPr>
          <p:cNvSpPr/>
          <p:nvPr/>
        </p:nvSpPr>
        <p:spPr>
          <a:xfrm>
            <a:off x="689860" y="6070483"/>
            <a:ext cx="265378" cy="467477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3E6E2F-930E-331C-BC88-34F50AAF6E7B}"/>
              </a:ext>
            </a:extLst>
          </p:cNvPr>
          <p:cNvSpPr txBox="1"/>
          <p:nvPr/>
        </p:nvSpPr>
        <p:spPr>
          <a:xfrm>
            <a:off x="1117413" y="6204963"/>
            <a:ext cx="43109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Integration Tests on Web </a:t>
            </a:r>
            <a:r>
              <a:rPr lang="de-DE" sz="1050" b="1" dirty="0" err="1">
                <a:solidFill>
                  <a:srgbClr val="143D59"/>
                </a:solidFill>
                <a:latin typeface="Calibri"/>
              </a:rPr>
              <a:t>with</a:t>
            </a:r>
            <a:r>
              <a:rPr lang="de-DE" sz="1050" b="1" dirty="0">
                <a:solidFill>
                  <a:srgbClr val="143D59"/>
                </a:solidFill>
                <a:latin typeface="Calibri"/>
              </a:rPr>
              <a:t> Scalar</a:t>
            </a:r>
            <a:endParaRPr sz="1050" b="1" dirty="0">
              <a:solidFill>
                <a:srgbClr val="143D59"/>
              </a:solidFill>
              <a:latin typeface="Calibri"/>
            </a:endParaRP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B4B1E160-18B5-C585-C650-FDAF03660E7C}"/>
              </a:ext>
            </a:extLst>
          </p:cNvPr>
          <p:cNvSpPr/>
          <p:nvPr/>
        </p:nvSpPr>
        <p:spPr>
          <a:xfrm>
            <a:off x="6620728" y="6070483"/>
            <a:ext cx="4900712" cy="467477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66ED45-7007-DAC6-8201-B823AB26E591}"/>
              </a:ext>
            </a:extLst>
          </p:cNvPr>
          <p:cNvSpPr/>
          <p:nvPr/>
        </p:nvSpPr>
        <p:spPr>
          <a:xfrm>
            <a:off x="6620727" y="6070483"/>
            <a:ext cx="265378" cy="467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723A9F-5AE1-61AB-6882-68356A77CFEF}"/>
              </a:ext>
            </a:extLst>
          </p:cNvPr>
          <p:cNvSpPr txBox="1"/>
          <p:nvPr/>
        </p:nvSpPr>
        <p:spPr>
          <a:xfrm>
            <a:off x="7048280" y="6204963"/>
            <a:ext cx="43109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Integration Tests on Web </a:t>
            </a:r>
            <a:r>
              <a:rPr lang="de-DE" sz="1050" b="1" dirty="0" err="1">
                <a:solidFill>
                  <a:srgbClr val="143D59"/>
                </a:solidFill>
                <a:latin typeface="Calibri"/>
              </a:rPr>
              <a:t>with</a:t>
            </a:r>
            <a:r>
              <a:rPr lang="de-DE" sz="1050" b="1" dirty="0">
                <a:solidFill>
                  <a:srgbClr val="143D59"/>
                </a:solidFill>
                <a:latin typeface="Calibri"/>
              </a:rPr>
              <a:t> Bruno Collection</a:t>
            </a:r>
            <a:endParaRPr sz="1050" b="1" dirty="0">
              <a:solidFill>
                <a:srgbClr val="143D59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09580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A roadmap for Spain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Three phases.  Each one delivers value on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64592" cy="14173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2121408"/>
            <a:ext cx="12801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9339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4203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Establish the Health Data Authority.  Agree common rules with the regions.  Set up the secure room.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3474720"/>
            <a:ext cx="164592" cy="141732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767328"/>
            <a:ext cx="1280160" cy="502920"/>
          </a:xfrm>
          <a:prstGeom prst="round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3931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Connect three pioneer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18795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Madrid, Catalonia, Andalusia.  Citizens experience care that follows them.  First research approvals issued.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164592" cy="141732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413248"/>
            <a:ext cx="1280160" cy="502920"/>
          </a:xfrm>
          <a:prstGeom prst="round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28523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Federate all 17 regions and join Europe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83387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region connected.  Cross-border with Germany, France, the wider Union.  Spain becomes a leader in trusted health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What EHDS will bring for Spain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Outcomes — for citizens, for the system, for science, for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724912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31E2E"/>
                </a:solidFill>
                <a:latin typeface="Calibri"/>
              </a:rPr>
              <a:t>For citizens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Better 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1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follows you everywhere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0 repeats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tests already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accesses logged for you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38144" y="1508760"/>
            <a:ext cx="2724912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2464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6A817"/>
                </a:solidFill>
                <a:latin typeface="Calibri"/>
              </a:rPr>
              <a:t>For the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Real efficiency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≈ €1.2B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2464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potential annual savings (avoided duplication)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4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17 →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2464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integration build, reused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4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EU-ready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2464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from day 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27648" y="1508760"/>
            <a:ext cx="2724912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01968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For science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Faster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1 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to study all 17 regions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Pseudonymised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by design — no raw data leaves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Public catalogue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datasets and approvals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17152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217152" y="1508760"/>
            <a:ext cx="2724912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491472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For Europe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1472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Spain in the lead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DE · FR · NL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1472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peers ready to federate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1472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MyHealth@EU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active gateway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1472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Trust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1472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as a Spanish export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30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Each outcome is measurable. Each is delivered region by region. Each is published in the public register.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conversation we want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Working together with the Ministry and the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Questions for the Ministry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regions would be the first three to connect?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will the Health Data Authority be staffed and funded?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existing public health programmes benefit most quickly?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should citizens be informed and consulted?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European partners should Spain federate with first?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7830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What we bring to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working live demonstration with realistic data.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Experience federating data across European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Templates for the legal, organisational, and operational setup.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roadmap aligned with the European timetable.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team that has done this before, ready to support each region.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88620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Live demonstration available on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Walk through the five roles, the patient journey, and the research approval process — end to 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Sopra Steria  ·  European Health Data Space practice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Who operates the Health Data Space?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Catena-X answered this question. Two thirds of the answer is already law in EHDS.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6616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Rules and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the Association writes the standards, the certification framework, the rulebook.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already law. The EHDS Board, the stakeholder forum, the steering groups, and Commission implementing acts.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statutory. Not open to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737360"/>
            <a:ext cx="356616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Reference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Eclipse Tractus-X. Open source, vendor neutral, with an integration sandbox.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nothing equivalent exists. Every access body is at risk of commissioning its own.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the biggest gap in Europe today.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1737360"/>
            <a:ext cx="356616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Operation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an operating company. Cofinity-X registers participants, issues identities, runs the core services, answers the phone.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undefined below the access body.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this is the opening.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577840"/>
            <a:ext cx="164592" cy="68580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Catena-X did not become a working dataspace when the standards were published. It became one when somebody was made accountable for running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operating model on one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The Catena-X operating model, re-cut for Regulation (EU) 2025/327.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ehds-operating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108192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645920"/>
            <a:ext cx="475488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168" y="1719072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Closed by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212848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Union layer is the Commission's: the federated EU catalogue, cross-border routing, compliance checks, a central environment. Art. 96.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273552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3273552"/>
            <a:ext cx="475488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3346704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Open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840480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Below the access body nothing is specified. That is where an operating company sits, as processor under Art. 28 GDPR.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901184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901184"/>
            <a:ext cx="475488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4974336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Never delegated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5468112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Issuing a permit, enforcement and fees stay with the access body. Art. 68, Art. 63, Art. 62.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What the access body keeps, and what an operator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The line is drawn by the access body's own conflict-of-interest duty, not by convenience.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5661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Stays with the Health Data Access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2834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Issuing, refusing and revoking a data permit   Art. 68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Enforcement, up to five years' exclusion   Art. 63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Setting fees, and settling a disagreement   Art. 62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Controllership for the secondary use   Art. 74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Supervising holders and users   Art. 57(1)(a)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These are sovereign acts of a public body. No contract moves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5661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Can be operated on its behalf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2834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Onboarding holders, and the identities they use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The national catalogue and the quality label   Art. 77, 78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Receiving and preparing data, pseudonymisation   Art. 57(1)(b)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Running the secure processing environment   Art. 73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Incident coordination and the support desk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As a processor under Art. 28 GDPR, on documented instructions.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64592" cy="82296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Art. 55(3) obliges the access body to segregate assessing applications, preparing datasets and running the environment. Read the other way round, that is a list of exactly what can be industrialised.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five things an operating company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Each one looks different under EHDS than under Catena-X, and the difference is the regulation.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10312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Planning and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release train against dates nobody gets to choose.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Two supported versions, a published deprecation window, a sandbox with synthetic data.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737360"/>
            <a:ext cx="210312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Data holders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Identify, register, validate, contract, connect, describe, label, sustain.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last two have no Catena-X counterpart, and are the ones ministries underestimate.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60, 77, 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737360"/>
            <a:ext cx="2103120" cy="384048"/>
          </a:xfrm>
          <a:prstGeom prst="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published service map, published prices, non-discriminatory access.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Onboarding, core, secure processing, and a competitive market above them.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57, 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1737360"/>
            <a:ext cx="2103120" cy="384048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Incidents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One record and one timeline across every party involved.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permit-scope breach is escalated to the access body, never quietly fixed.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63, 73(3)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9760" y="1737360"/>
            <a:ext cx="210312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1092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L1 in Spanish, L2 per service, L3 with the suppliers.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Plus holder success and a researcher feasibility desk, neither of which is a ticket queue.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82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532120"/>
            <a:ext cx="164592" cy="77724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Holders owe the data within three months, with a penalty for every day late. The body owes a decision in three. Descriptions are re-verified yearly. The clocks are the job.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dates are not negotiable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Counting procurement, March 2029 is about two release years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64592" cy="10515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011679"/>
            <a:ext cx="1417320" cy="457200"/>
          </a:xfrm>
          <a:prstGeom prst="roundRect">
            <a:avLst>
              <a:gd name="adj" fmla="val 5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Mar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883664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143D59"/>
                </a:solidFill>
                <a:latin typeface="Calibri"/>
              </a:rPr>
              <a:t>Designate, and tell the Commission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04288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The Regulation applies. Health data access bodies and the national contact point for secondary use are designated and notified.   Art. 55(6), Art. 75(1)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98648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898648"/>
            <a:ext cx="164592" cy="1051560"/>
          </a:xfrm>
          <a:prstGeom prst="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3172968"/>
            <a:ext cx="1417320" cy="457200"/>
          </a:xfrm>
          <a:prstGeom prst="roundRect">
            <a:avLst>
              <a:gd name="adj" fmla="val 5000"/>
            </a:avLst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Mar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044952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143D59"/>
                </a:solidFill>
                <a:latin typeface="Calibri"/>
              </a:rPr>
              <a:t>Chapter IV goes live in full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465576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Permits, data holders' duties, secure processing environments, HealthData@EU. Everything in today's demonstration becomes an obligation.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59936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59936"/>
            <a:ext cx="164592" cy="1051560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34256"/>
            <a:ext cx="1417320" cy="457200"/>
          </a:xfrm>
          <a:prstGeom prst="roundRect">
            <a:avLst>
              <a:gd name="adj" fmla="val 5000"/>
            </a:avLst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348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Mar 2031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2062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143D59"/>
                </a:solidFill>
                <a:latin typeface="Calibri"/>
              </a:rPr>
              <a:t>The wider data 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62686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Art. 51(1)(b), (f), (g), (m) and (p) join the scope, and Chapter III reaches EHR systems already in service.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21224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221224"/>
            <a:ext cx="164592" cy="105156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5495544"/>
            <a:ext cx="1417320" cy="457200"/>
          </a:xfrm>
          <a:prstGeom prst="roundRect">
            <a:avLst>
              <a:gd name="adj" fmla="val 5000"/>
            </a:avLst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9612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Mar 2035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367528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143D59"/>
                </a:solidFill>
                <a:latin typeface="Calibri"/>
              </a:rPr>
              <a:t>Third countries join HealthData@EU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788152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Art. 75(5). Only then does the infrastructure open beyond the Union, under Commission compliance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Cost recovery, not a platform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Art. 62 caps the business model. Better said now than discovered in year two.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3832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What Art. 62 fixes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Fees proportionate to the cost of making data available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They must not restrict competition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Transparent and non-discriminatory, without exception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Reduced rates for public bodies, universities, small firms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Part of the fee passes through to the data holder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If the parties disagree, the access body sets the price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3832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Which forms survive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An in-house entity of the ministry or the access body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A public-private joint venture, which is what Cofinity-X is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A competitively tendered concession, for a fixed term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The commercial upside is not the operating company. It is the layer above it: connectors, pipelines, secure-environment technology, analytics applications.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257800"/>
            <a:ext cx="164592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40680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Keeping the operator out of the application market is exactly what keeps that market open. Saying so plainly makes the proposition more credible, not less.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66dcdb79-e55b-491a-9e20-518c2a101f22}" enabled="1" method="Privileged" siteId="{8b87af7d-8647-4dc7-8df4-5f69a2011bb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2977</TotalTime>
  <Words>2002</Words>
  <Application>Microsoft Macintosh PowerPoint</Application>
  <PresentationFormat>Widescreen</PresentationFormat>
  <Paragraphs>251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BUCHHORN-ROTH Matthias</cp:lastModifiedBy>
  <cp:revision>4</cp:revision>
  <dcterms:created xsi:type="dcterms:W3CDTF">2013-01-27T09:14:16Z</dcterms:created>
  <dcterms:modified xsi:type="dcterms:W3CDTF">2026-05-10T07:36:57Z</dcterms:modified>
  <cp:category/>
</cp:coreProperties>
</file>