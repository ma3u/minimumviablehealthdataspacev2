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[0:30] Good morning. Egun on. You sent us eight questions; I answer them in your order. I speak from Catena-X and from an EHDS demonstrator that runs live today.</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[0:30]  Here are the eight answers in one page. If you remember one slide, remember this one.</a:t>
            </a:r>
          </a:p>
          <a:p/>
          <a:p>
            <a:r>
              <a:t>I will now go through them one by one.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[1:30]  The biggest challenge was culture, not technology.</a:t>
            </a:r>
          </a:p>
          <a:p/>
          <a:p>
            <a:r>
              <a:t>Open source was new for most companies. People were used to buying products, not to building together in public.</a:t>
            </a:r>
          </a:p>
          <a:p/>
          <a:p>
            <a:r>
              <a:t>The working groups delivered only when top management gave its experts time and a clear mandate. Without that, meetings happen, but nothing gets built.</a:t>
            </a:r>
          </a:p>
          <a:p/>
          <a:p>
            <a:r>
              <a:t>On the technical side: moving data is easy. Agreeing what the data means is hard. In health, that means FHIR, the terminologies, and OMOP.</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[1:30]  Four lessons.</a:t>
            </a:r>
          </a:p>
          <a:p/>
          <a:p>
            <a:r>
              <a:t>One: build on what already exists. FHIR, SNOMED CT, ICD-10, OMOP, HealthDCAT-AP. These communities already did the hard work. Do not invent your own standard.</a:t>
            </a:r>
          </a:p>
          <a:p/>
          <a:p>
            <a:r>
              <a:t>Two: start small. One or two use cases, with a result you can measure.</a:t>
            </a:r>
          </a:p>
          <a:p/>
          <a:p>
            <a:r>
              <a:t>Three: give back. If you fix something in an open-source project, send the fix back. A private copy becomes your own product, and you pay for it forever.</a:t>
            </a:r>
          </a:p>
          <a:p/>
          <a:p>
            <a:r>
              <a:t>Four: in the tender, ask for standards and conformity tests, not for a product name. That is how you avoid vendor lock-in.</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[1:30]  Every decision was written down as an Architecture Decision Record, an ADR. Everyone in the community could read it, and see why.</a:t>
            </a:r>
          </a:p>
          <a:p/>
          <a:p>
            <a:r>
              <a:t>The working groups made the proposals. But in the end, the people who build the software decided the priorities. That is how open source works.</a:t>
            </a:r>
          </a:p>
          <a:p/>
          <a:p>
            <a:r>
              <a:t>Five criteria: open standards, data sovereignty, fit with the law (EHDS, GDPR and the Data Act), mature technology, and a clear exit strategy.</a:t>
            </a:r>
          </a:p>
          <a:p/>
          <a:p>
            <a:r>
              <a:t>The exit strategy is important for a public body: you must always be able to change the supplier.</a:t>
            </a:r>
          </a:p>
          <a:p/>
          <a:p>
            <a:r>
              <a:t>Our demonstrator follows the same rule. It has 57 public decision records.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[1:45]  We implemented the Catena-X operating model. It has a service map: a list of every service, with a clear owner and clear responsibilities.</a:t>
            </a:r>
          </a:p>
          <a:p/>
          <a:p>
            <a:r>
              <a:t>The EHDS regulation already gives us a role model: the health data access body, the data holders, the data users, and the secure processing environments.</a:t>
            </a:r>
          </a:p>
          <a:p/>
          <a:p>
            <a:r>
              <a:t>But the regulation does not say who runs the system day to day. Who connects a new hospital? Who answers the phone when something breaks? That is the orange layer, the operating company.</a:t>
            </a:r>
          </a:p>
          <a:p/>
          <a:p>
            <a:r>
              <a:t>So the EHDS role model alone was not enough. We added the Catena-X operating model below it.</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[1:45]  On the left, the service map: connectors, identity and credentials, the catalogue, onboarding, and conformity testing.</a:t>
            </a:r>
          </a:p>
          <a:p/>
          <a:p>
            <a:r>
              <a:t>On the right, how mature they are.</a:t>
            </a:r>
          </a:p>
          <a:p/>
          <a:p>
            <a:r>
              <a:t>The Dataspace Protocol is stable. It is on its way to becoming an ISO standard.</a:t>
            </a:r>
          </a:p>
          <a:p/>
          <a:p>
            <a:r>
              <a:t>FHIR and OMOP are mature.</a:t>
            </a:r>
          </a:p>
          <a:p/>
          <a:p>
            <a:r>
              <a:t>The Tractus-X connector has run in production since 2023. But it is still version zero-point-something, and it has breaking changes every quarter. You need a team that can keep up.</a:t>
            </a:r>
          </a:p>
          <a:p/>
          <a:p>
            <a:r>
              <a:t>The least mature parts are the secure processing environments and the data permit workflows. This is where to plan extra time and budget.</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[1:45]  Catena-X keeps three functions separate.</a:t>
            </a:r>
          </a:p>
          <a:p/>
          <a:p>
            <a:r>
              <a:t>The association sets the standards and runs certification. The Eclipse Foundation hosts the open-source code. And Cofinity-X, a company, runs the operation.</a:t>
            </a:r>
          </a:p>
          <a:p/>
          <a:p>
            <a:r>
              <a:t>For the Basque Country, this could look like this: the Health Data Office acts as the data access body. It sets the rules and decides on data permits. EJIE operates the core services. And both use, and contribute to, the same open-source projects.</a:t>
            </a:r>
          </a:p>
          <a:p/>
          <a:p>
            <a:r>
              <a:t>Our two recommendations: keep rule-setting and operation in different hands. And design the governance for more than one domain from the start. Health is the first dataspace, but it will not be the last: energy, mobility, public administration.</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[1:45]  Licence costs are close to zero, because the core stack is open source. The real costs are engineering, hosting and operations.</a:t>
            </a:r>
          </a:p>
          <a:p/>
          <a:p>
            <a:r>
              <a:t>For reference: Catena-X received more than 100 million euros of public funding. But that was for a whole industry. Each participant pays the operator between 1,500 and 71,000 euros a year.</a:t>
            </a:r>
          </a:p>
          <a:p/>
          <a:p>
            <a:r>
              <a:t>For a regional pilot in the Basque Country we estimate 0.8 to 1.5 million euros to build. Operations then cost about 15 to 25 percent of that every year. That is roughly 120,000 to 375,000 euros a year.</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[1:15]  A pilot needs about 8 to 12 full-time people.</a:t>
            </a:r>
          </a:p>
          <a:p/>
          <a:p>
            <a:r>
              <a:t>An architect, who holds the whole picture. Connector engineers. Platform and security engineers, DevSecOps. A FHIR and OMOP specialist, for the meaning of the data. And data protection and legal expertise, because in health, every data flow needs a legal basis.</a:t>
            </a:r>
          </a:p>
          <a:p/>
          <a:p>
            <a:r>
              <a:t>And remember question one: these people need time and a mandate from top management.</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[0:45] Four small steps. The dates are fixed by the Regulation: access bodies by March 2027, secondary use in full by March 2029.</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[0:45, six clicks] Step 1 Euskadi pilot 2027 with Osakidetza and EJIE; connect upwards; Step 2 Spain 2028; connect upwards; Step 3 the EU, March 2029; and the foundation that is available today.</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[0:45, five clicks] Office announced Jan 2025, Aragón as model; data lake funded as Euskadi's ENDS part; one node run by EJIE; own or national secure environment; two use cases.</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[0:45, four clicks] ENDS opened Jan 2026 as a network of regional platforms; access body by March 2027, one or several; the law is still a draft; MyHealth@EU live since 2023.</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[0:45, eight clicks] HealthData@EU 2029; implementing acts 2027; EUDI wallet end 2026; then the four foundation blocks.</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[0:15, then discussion] Scan the code for LinkedIn. Three questions, one per click. Offer the live demo if there is time.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www.euskadi.eus/gobierno-vasco/-/noticia/2025/euskadi-dedicara-1-35-millones-fondos-europeos-creacion-del-espacio-nacional-datos-salud-consejo-gobierno-18-02-2025/" TargetMode="External"/><Relationship Id="rId3" Type="http://schemas.openxmlformats.org/officeDocument/2006/relationships/hyperlink" Target="https://www.redaccionmedica.com/autonomias/20251008/aragon-primera-comunidad-autonoma-en-crear-la-oficina-del-dato-de-salud/250739_0.html" TargetMode="External"/><Relationship Id="rId4" Type="http://schemas.openxmlformats.org/officeDocument/2006/relationships/hyperlink" Target="https://github.com/eclipse-edc" TargetMode="External"/><Relationship Id="rId5" Type="http://schemas.openxmlformats.org/officeDocument/2006/relationships/hyperlink" Target="https://www.ejie.eus/" TargetMode="External"/><Relationship Id="rId6" Type="http://schemas.openxmlformats.org/officeDocument/2006/relationships/hyperlink" Target="https://www.sanidad.gob.es/areas/saludDigital/espacioNacionalDS/home.htm" TargetMode="External"/><Relationship Id="rId7" Type="http://schemas.openxmlformats.org/officeDocument/2006/relationships/hyperlink" Target="https://ens.ccn.cni.es/" TargetMode="External"/><Relationship Id="rId8" Type="http://schemas.openxmlformats.org/officeDocument/2006/relationships/hyperlink" Target="https://www.osakidetza.euskadi.eus/contenidos/informacion/osk_pro_dat_datatable/es_def/adjuntos/avisos/ci-REGISTROS-HOSPITALARIOS-DEL-CANCER_v1.pdf" TargetMode="External"/><Relationship Id="rId9"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www.sanidad.gob.es/gabinete/notasPrensa.do?id=6837" TargetMode="External"/><Relationship Id="rId3" Type="http://schemas.openxmlformats.org/officeDocument/2006/relationships/hyperlink" Target="https://www.sanidad.gob.es/areas/saludDigital/espacioNacionalDS/home.htm" TargetMode="External"/><Relationship Id="rId4" Type="http://schemas.openxmlformats.org/officeDocument/2006/relationships/hyperlink" Target="https://eur-lex.europa.eu/eli/reg/2025/327/oj" TargetMode="External"/><Relationship Id="rId5" Type="http://schemas.openxmlformats.org/officeDocument/2006/relationships/hyperlink" Target="https://www.sanidad.gob.es/normativa/docs/2025.09.22_CPP_CPP_APL_Salud_Digital1_.pdf" TargetMode="External"/><Relationship Id="rId6" Type="http://schemas.openxmlformats.org/officeDocument/2006/relationships/hyperlink" Target="https://www.lamoncloa.gob.es/serviciosdeprensa/notasprensa/sanidad14/Paginas/2023/180423-interoperabilidad-clinica-paises-ue.aspx" TargetMode="External"/><Relationship Id="rId7" Type="http://schemas.openxmlformats.org/officeDocument/2006/relationships/hyperlink" Target="https://health.ec.europa.eu/ehealth-digital-health-and-care/electronic-cross-border-health-services_en" TargetMode="External"/><Relationship Id="rId8"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health.ec.europa.eu/ehealth-digital-health-and-care/european-health-data-space-regulation-ehds_en" TargetMode="External"/><Relationship Id="rId3" Type="http://schemas.openxmlformats.org/officeDocument/2006/relationships/hyperlink" Target="https://eur-lex.europa.eu/eli/reg/2025/327/oj" TargetMode="External"/><Relationship Id="rId4" Type="http://schemas.openxmlformats.org/officeDocument/2006/relationships/hyperlink" Target="https://commission.europa.eu/strategy-and-policy/priorities-2019-2024/europe-fit-digital-age/european-digital-identity_en" TargetMode="External"/><Relationship Id="rId5" Type="http://schemas.openxmlformats.org/officeDocument/2006/relationships/hyperlink" Target="https://github.com/eclipse-edc" TargetMode="External"/><Relationship Id="rId6" Type="http://schemas.openxmlformats.org/officeDocument/2006/relationships/hyperlink" Target="https://simpl-programme.ec.europa.eu/" TargetMode="External"/><Relationship Id="rId7" Type="http://schemas.openxmlformats.org/officeDocument/2006/relationships/hyperlink" Target="https://code.europa.eu/healthdataeu/healthdataeu-eu-dataset-catalogue" TargetMode="External"/><Relationship Id="rId8" Type="http://schemas.openxmlformats.org/officeDocument/2006/relationships/hyperlink" Target="https://hl7.org/fhir/R4/" TargetMode="External"/><Relationship Id="rId9" Type="http://schemas.openxmlformats.org/officeDocument/2006/relationships/hyperlink" Target="https://ohdsi.github.io/CommonDataModel/" TargetMode="External"/><Relationship Id="rId10" Type="http://schemas.openxmlformats.org/officeDocument/2006/relationships/hyperlink" Target="https://www.snomed.org/" TargetMode="External"/><Relationship Id="rId11" Type="http://schemas.openxmlformats.org/officeDocument/2006/relationships/hyperlink" Target="https://clave.gob.es/" TargetMode="External"/><Relationship Id="rId12" Type="http://schemas.openxmlformats.org/officeDocument/2006/relationships/hyperlink" Target="https://www.fnmt.es/" TargetMode="External"/><Relationship Id="rId13" Type="http://schemas.openxmlformats.org/officeDocument/2006/relationships/hyperlink" Target="https://ens.ccn.cni.es/" TargetMode="External"/><Relationship Id="rId14"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hyperlink" Target="https://www.linkedin.com/in/mbuchhorn" TargetMode="External"/><Relationship Id="rId4" Type="http://schemas.openxmlformats.org/officeDocument/2006/relationships/hyperlink" Target="https://ehds.mabu.red" TargetMode="External"/><Relationship Id="rId5" Type="http://schemas.openxmlformats.org/officeDocument/2006/relationships/notesSlide" Target="../notesSlides/notesSlide16.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6035040" cy="6858000"/>
          </a:xfrm>
          <a:prstGeom prst="rect">
            <a:avLst/>
          </a:prstGeom>
          <a:solidFill>
            <a:srgbClr val="143D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image.png"/>
          <p:cNvPicPr>
            <a:picLocks noChangeAspect="1"/>
          </p:cNvPicPr>
          <p:nvPr/>
        </p:nvPicPr>
        <p:blipFill>
          <a:blip r:embed="rId2"/>
          <a:srcRect b="13000" l="28000" r="28000"/>
          <a:stretch>
            <a:fillRect/>
          </a:stretch>
        </p:blipFill>
        <p:spPr>
          <a:xfrm>
            <a:off x="6126480" y="0"/>
            <a:ext cx="6065215" cy="6858000"/>
          </a:xfrm>
          <a:prstGeom prst="rect">
            <a:avLst/>
          </a:prstGeom>
        </p:spPr>
      </p:pic>
      <p:sp>
        <p:nvSpPr>
          <p:cNvPr id="4" name="Rectangle 3"/>
          <p:cNvSpPr/>
          <p:nvPr/>
        </p:nvSpPr>
        <p:spPr>
          <a:xfrm>
            <a:off x="6035040" y="0"/>
            <a:ext cx="91440" cy="6858000"/>
          </a:xfrm>
          <a:prstGeom prst="rect">
            <a:avLst/>
          </a:prstGeom>
          <a:solidFill>
            <a:srgbClr val="E6A8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960120"/>
            <a:ext cx="5212080" cy="320040"/>
          </a:xfrm>
          <a:prstGeom prst="rect">
            <a:avLst/>
          </a:prstGeom>
          <a:noFill/>
        </p:spPr>
        <p:txBody>
          <a:bodyPr wrap="square" lIns="0" rIns="0" tIns="0" bIns="0">
            <a:spAutoFit/>
          </a:bodyPr>
          <a:lstStyle/>
          <a:p>
            <a:pPr>
              <a:lnSpc>
                <a:spcPct val="100000"/>
              </a:lnSpc>
            </a:pPr>
            <a:r>
              <a:rPr sz="1400" b="1">
                <a:solidFill>
                  <a:srgbClr val="E6A817"/>
                </a:solidFill>
                <a:latin typeface="Calibri"/>
              </a:rPr>
              <a:t>REUNIÓN DE PREPARACIÓN</a:t>
            </a:r>
          </a:p>
        </p:txBody>
      </p:sp>
      <p:sp>
        <p:nvSpPr>
          <p:cNvPr id="6" name="TextBox 5"/>
          <p:cNvSpPr txBox="1"/>
          <p:nvPr/>
        </p:nvSpPr>
        <p:spPr>
          <a:xfrm>
            <a:off x="548640" y="1325880"/>
            <a:ext cx="5212080" cy="1737360"/>
          </a:xfrm>
          <a:prstGeom prst="rect">
            <a:avLst/>
          </a:prstGeom>
          <a:noFill/>
        </p:spPr>
        <p:txBody>
          <a:bodyPr wrap="square" lIns="0" rIns="0" tIns="0" bIns="0">
            <a:spAutoFit/>
          </a:bodyPr>
          <a:lstStyle/>
          <a:p>
            <a:pPr>
              <a:lnSpc>
                <a:spcPct val="95000"/>
              </a:lnSpc>
            </a:pPr>
            <a:r>
              <a:rPr sz="4000" b="1">
                <a:solidFill>
                  <a:srgbClr val="FFFFFF"/>
                </a:solidFill>
                <a:latin typeface="Calibri"/>
              </a:rPr>
              <a:t>Espacio de Datos EJIE · País Vasco</a:t>
            </a:r>
          </a:p>
        </p:txBody>
      </p:sp>
      <p:sp>
        <p:nvSpPr>
          <p:cNvPr id="7" name="TextBox 6"/>
          <p:cNvSpPr txBox="1"/>
          <p:nvPr/>
        </p:nvSpPr>
        <p:spPr>
          <a:xfrm>
            <a:off x="548640" y="3154680"/>
            <a:ext cx="5212080" cy="1005840"/>
          </a:xfrm>
          <a:prstGeom prst="rect">
            <a:avLst/>
          </a:prstGeom>
          <a:noFill/>
        </p:spPr>
        <p:txBody>
          <a:bodyPr wrap="square" lIns="0" rIns="0" tIns="0" bIns="0">
            <a:spAutoFit/>
          </a:bodyPr>
          <a:lstStyle/>
          <a:p>
            <a:pPr>
              <a:lnSpc>
                <a:spcPct val="105000"/>
              </a:lnSpc>
            </a:pPr>
            <a:r>
              <a:rPr sz="1700" b="0">
                <a:solidFill>
                  <a:srgbClr val="D5E0E8"/>
                </a:solidFill>
                <a:latin typeface="Calibri"/>
              </a:rPr>
              <a:t>A connected health system for the Basque Country: what we learned from Catena-X, and what it means for the EHDS</a:t>
            </a:r>
          </a:p>
        </p:txBody>
      </p:sp>
      <p:sp>
        <p:nvSpPr>
          <p:cNvPr id="8" name="TextBox 7"/>
          <p:cNvSpPr txBox="1"/>
          <p:nvPr/>
        </p:nvSpPr>
        <p:spPr>
          <a:xfrm>
            <a:off x="548640" y="4343400"/>
            <a:ext cx="5212080" cy="365760"/>
          </a:xfrm>
          <a:prstGeom prst="rect">
            <a:avLst/>
          </a:prstGeom>
          <a:noFill/>
        </p:spPr>
        <p:txBody>
          <a:bodyPr wrap="square" lIns="0" rIns="0" tIns="0" bIns="0">
            <a:spAutoFit/>
          </a:bodyPr>
          <a:lstStyle/>
          <a:p>
            <a:pPr>
              <a:lnSpc>
                <a:spcPct val="100000"/>
              </a:lnSpc>
            </a:pPr>
            <a:r>
              <a:rPr sz="1700" b="1">
                <a:solidFill>
                  <a:srgbClr val="E6A817"/>
                </a:solidFill>
                <a:latin typeface="Calibri"/>
              </a:rPr>
              <a:t>Answers to your eight questions, and a pilot</a:t>
            </a:r>
          </a:p>
        </p:txBody>
      </p:sp>
      <p:sp>
        <p:nvSpPr>
          <p:cNvPr id="9" name="TextBox 8"/>
          <p:cNvSpPr txBox="1"/>
          <p:nvPr/>
        </p:nvSpPr>
        <p:spPr>
          <a:xfrm>
            <a:off x="548640" y="5303520"/>
            <a:ext cx="5212080" cy="365760"/>
          </a:xfrm>
          <a:prstGeom prst="rect">
            <a:avLst/>
          </a:prstGeom>
          <a:noFill/>
        </p:spPr>
        <p:txBody>
          <a:bodyPr wrap="square" lIns="0" rIns="0" tIns="0" bIns="0">
            <a:spAutoFit/>
          </a:bodyPr>
          <a:lstStyle/>
          <a:p>
            <a:pPr>
              <a:lnSpc>
                <a:spcPct val="100000"/>
              </a:lnSpc>
            </a:pPr>
            <a:r>
              <a:rPr sz="1400" b="0">
                <a:solidFill>
                  <a:srgbClr val="D5E0E8"/>
                </a:solidFill>
                <a:latin typeface="Calibri"/>
              </a:rPr>
              <a:t>EJIE  ·  Gobierno Vasco  ·  October 2026</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23" fill="hold">
                      <p:stCondLst>
                        <p:cond delay="indefinite"/>
                        <p:cond evt="onBegin" delay="0">
                          <p:tn val="2"/>
                        </p:cond>
                      </p:stCondLst>
                      <p:childTnLst>
                        <p:par>
                          <p:cTn id="6" fill="hold">
                            <p:stCondLst>
                              <p:cond delay="0"/>
                            </p:stCondLst>
                            <p:childTnLst>
                              <p:par>
                                <p:cTn id="3" presetID="10" presetClass="entr" presetSubtype="0" fill="hold" grpId="0" nodeType="afterEffect">
                                  <p:stCondLst>
                                    <p:cond delay="0"/>
                                  </p:stCondLst>
                                  <p:childTnLst>
                                    <p:set>
                                      <p:cBhvr>
                                        <p:cTn id="4" dur="1" fill="hold">
                                          <p:stCondLst>
                                            <p:cond delay="0"/>
                                          </p:stCondLst>
                                        </p:cTn>
                                        <p:tgtEl>
                                          <p:spTgt spid="5"/>
                                        </p:tgtEl>
                                        <p:attrNameLst>
                                          <p:attrName>style.visibility</p:attrName>
                                        </p:attrNameLst>
                                      </p:cBhvr>
                                      <p:to>
                                        <p:strVal val="visible"/>
                                      </p:to>
                                    </p:set>
                                    <p:animEffect transition="in" filter="fade">
                                      <p:cBhvr>
                                        <p:cTn id="5" dur="500"/>
                                        <p:tgtEl>
                                          <p:spTgt spid="5"/>
                                        </p:tgtEl>
                                      </p:cBhvr>
                                    </p:animEffect>
                                  </p:childTnLst>
                                </p:cTn>
                              </p:par>
                            </p:childTnLst>
                          </p:cTn>
                        </p:par>
                        <p:par>
                          <p:cTn id="10" fill="hold">
                            <p:stCondLst>
                              <p:cond delay="300"/>
                            </p:stCondLst>
                            <p:childTnLst>
                              <p:par>
                                <p:cTn id="7" presetID="10" presetClass="entr" presetSubtype="0" fill="hold" grpId="0" nodeType="withEffect">
                                  <p:stCondLst>
                                    <p:cond delay="0"/>
                                  </p:stCondLst>
                                  <p:childTnLst>
                                    <p:set>
                                      <p:cBhvr>
                                        <p:cTn id="8" dur="1" fill="hold">
                                          <p:stCondLst>
                                            <p:cond delay="0"/>
                                          </p:stCondLst>
                                        </p:cTn>
                                        <p:tgtEl>
                                          <p:spTgt spid="6"/>
                                        </p:tgtEl>
                                        <p:attrNameLst>
                                          <p:attrName>style.visibility</p:attrName>
                                        </p:attrNameLst>
                                      </p:cBhvr>
                                      <p:to>
                                        <p:strVal val="visible"/>
                                      </p:to>
                                    </p:set>
                                    <p:animEffect transition="in" filter="fade">
                                      <p:cBhvr>
                                        <p:cTn id="9" dur="500"/>
                                        <p:tgtEl>
                                          <p:spTgt spid="6"/>
                                        </p:tgtEl>
                                      </p:cBhvr>
                                    </p:animEffect>
                                  </p:childTnLst>
                                </p:cTn>
                              </p:par>
                            </p:childTnLst>
                          </p:cTn>
                        </p:par>
                        <p:par>
                          <p:cTn id="14" fill="hold">
                            <p:stCondLst>
                              <p:cond delay="600"/>
                            </p:stCondLst>
                            <p:childTnLst>
                              <p:par>
                                <p:cTn id="11" presetID="10" presetClass="entr" presetSubtype="0" fill="hold" grpId="0" nodeType="with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fade">
                                      <p:cBhvr>
                                        <p:cTn id="13" dur="500"/>
                                        <p:tgtEl>
                                          <p:spTgt spid="7"/>
                                        </p:tgtEl>
                                      </p:cBhvr>
                                    </p:animEffect>
                                  </p:childTnLst>
                                </p:cTn>
                              </p:par>
                            </p:childTnLst>
                          </p:cTn>
                        </p:par>
                        <p:par>
                          <p:cTn id="18" fill="hold">
                            <p:stCondLst>
                              <p:cond delay="900"/>
                            </p:stCondLst>
                            <p:childTnLst>
                              <p:par>
                                <p:cTn id="15" presetID="10" presetClass="entr" presetSubtype="0" fill="hold" grpId="0" nodeType="withEffect">
                                  <p:stCondLst>
                                    <p:cond delay="0"/>
                                  </p:stCondLst>
                                  <p:childTnLst>
                                    <p:set>
                                      <p:cBhvr>
                                        <p:cTn id="16" dur="1" fill="hold">
                                          <p:stCondLst>
                                            <p:cond delay="0"/>
                                          </p:stCondLst>
                                        </p:cTn>
                                        <p:tgtEl>
                                          <p:spTgt spid="8"/>
                                        </p:tgtEl>
                                        <p:attrNameLst>
                                          <p:attrName>style.visibility</p:attrName>
                                        </p:attrNameLst>
                                      </p:cBhvr>
                                      <p:to>
                                        <p:strVal val="visible"/>
                                      </p:to>
                                    </p:set>
                                    <p:animEffect transition="in" filter="fade">
                                      <p:cBhvr>
                                        <p:cTn id="17" dur="500"/>
                                        <p:tgtEl>
                                          <p:spTgt spid="8"/>
                                        </p:tgtEl>
                                      </p:cBhvr>
                                    </p:animEffect>
                                  </p:childTnLst>
                                </p:cTn>
                              </p:par>
                            </p:childTnLst>
                          </p:cTn>
                        </p:par>
                        <p:par>
                          <p:cTn id="22" fill="hold">
                            <p:stCondLst>
                              <p:cond delay="1200"/>
                            </p:stCondLst>
                            <p:childTnLst>
                              <p:par>
                                <p:cTn id="19" presetID="10" presetClass="entr" presetSubtype="0" fill="hold" grpId="0" nodeType="withEffect">
                                  <p:stCondLst>
                                    <p:cond delay="0"/>
                                  </p:stCondLst>
                                  <p:childTnLst>
                                    <p:set>
                                      <p:cBhvr>
                                        <p:cTn id="20" dur="1" fill="hold">
                                          <p:stCondLst>
                                            <p:cond delay="0"/>
                                          </p:stCondLst>
                                        </p:cTn>
                                        <p:tgtEl>
                                          <p:spTgt spid="9"/>
                                        </p:tgtEl>
                                        <p:attrNameLst>
                                          <p:attrName>style.visibility</p:attrName>
                                        </p:attrNameLst>
                                      </p:cBhvr>
                                      <p:to>
                                        <p:strVal val="visible"/>
                                      </p:to>
                                    </p:set>
                                    <p:animEffect transition="in" filter="fade">
                                      <p:cBhvr>
                                        <p:cTn id="21"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64592"/>
          </a:xfrm>
          <a:prstGeom prst="rect">
            <a:avLst/>
          </a:prstGeom>
          <a:solidFill>
            <a:srgbClr val="143D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47472"/>
            <a:ext cx="10972800" cy="640080"/>
          </a:xfrm>
          <a:prstGeom prst="rect">
            <a:avLst/>
          </a:prstGeom>
          <a:noFill/>
        </p:spPr>
        <p:txBody>
          <a:bodyPr wrap="square" lIns="0" rIns="0" tIns="0" bIns="0">
            <a:spAutoFit/>
          </a:bodyPr>
          <a:lstStyle/>
          <a:p>
            <a:pPr>
              <a:lnSpc>
                <a:spcPct val="100000"/>
              </a:lnSpc>
            </a:pPr>
            <a:r>
              <a:rPr sz="3000" b="1">
                <a:solidFill>
                  <a:srgbClr val="143D59"/>
                </a:solidFill>
                <a:latin typeface="Calibri"/>
              </a:rPr>
              <a:t>Your eight questions, in one sentence each</a:t>
            </a:r>
          </a:p>
        </p:txBody>
      </p:sp>
      <p:sp>
        <p:nvSpPr>
          <p:cNvPr id="4" name="TextBox 3"/>
          <p:cNvSpPr txBox="1"/>
          <p:nvPr/>
        </p:nvSpPr>
        <p:spPr>
          <a:xfrm>
            <a:off x="548640" y="987552"/>
            <a:ext cx="10972800" cy="411480"/>
          </a:xfrm>
          <a:prstGeom prst="rect">
            <a:avLst/>
          </a:prstGeom>
          <a:noFill/>
        </p:spPr>
        <p:txBody>
          <a:bodyPr wrap="square" lIns="0" rIns="0" tIns="0" bIns="0">
            <a:spAutoFit/>
          </a:bodyPr>
          <a:lstStyle/>
          <a:p>
            <a:pPr>
              <a:lnSpc>
                <a:spcPct val="100000"/>
              </a:lnSpc>
            </a:pPr>
            <a:r>
              <a:rPr sz="1600" b="0">
                <a:solidFill>
                  <a:srgbClr val="4F5560"/>
                </a:solidFill>
                <a:latin typeface="Calibri"/>
              </a:rPr>
              <a:t>The short answers first. Each one has its own slide.</a:t>
            </a:r>
          </a:p>
        </p:txBody>
      </p:sp>
      <p:sp>
        <p:nvSpPr>
          <p:cNvPr id="5" name="Rounded Rectangle 4"/>
          <p:cNvSpPr/>
          <p:nvPr/>
        </p:nvSpPr>
        <p:spPr>
          <a:xfrm>
            <a:off x="548640" y="1691640"/>
            <a:ext cx="2606040" cy="2103120"/>
          </a:xfrm>
          <a:prstGeom prst="roundRect">
            <a:avLst>
              <a:gd name="adj" fmla="val 5000"/>
            </a:avLst>
          </a:prstGeom>
          <a:solidFill>
            <a:srgbClr val="F4EF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48640" y="1691640"/>
            <a:ext cx="2606040" cy="109728"/>
          </a:xfrm>
          <a:prstGeom prst="rect">
            <a:avLst/>
          </a:prstGeom>
          <a:solidFill>
            <a:srgbClr val="C31E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49808" y="2011680"/>
            <a:ext cx="502920" cy="502920"/>
          </a:xfrm>
          <a:prstGeom prst="ellipse">
            <a:avLst/>
          </a:prstGeom>
          <a:solidFill>
            <a:srgbClr val="C31E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9808" y="2011680"/>
            <a:ext cx="502920" cy="502920"/>
          </a:xfrm>
          <a:prstGeom prst="rect">
            <a:avLst/>
          </a:prstGeom>
          <a:noFill/>
        </p:spPr>
        <p:txBody>
          <a:bodyPr wrap="square" lIns="0" rIns="0" tIns="0" bIns="0" anchor="ctr">
            <a:spAutoFit/>
          </a:bodyPr>
          <a:lstStyle/>
          <a:p>
            <a:pPr algn="ctr">
              <a:lnSpc>
                <a:spcPct val="100000"/>
              </a:lnSpc>
            </a:pPr>
            <a:r>
              <a:rPr sz="1600" b="1">
                <a:solidFill>
                  <a:srgbClr val="FFFFFF"/>
                </a:solidFill>
                <a:latin typeface="Calibri"/>
              </a:rPr>
              <a:t>1</a:t>
            </a:r>
          </a:p>
        </p:txBody>
      </p:sp>
      <p:sp>
        <p:nvSpPr>
          <p:cNvPr id="9" name="TextBox 8"/>
          <p:cNvSpPr txBox="1"/>
          <p:nvPr/>
        </p:nvSpPr>
        <p:spPr>
          <a:xfrm>
            <a:off x="1371600" y="2039112"/>
            <a:ext cx="1645920" cy="457200"/>
          </a:xfrm>
          <a:prstGeom prst="rect">
            <a:avLst/>
          </a:prstGeom>
          <a:noFill/>
        </p:spPr>
        <p:txBody>
          <a:bodyPr wrap="square" lIns="0" rIns="0" tIns="0" bIns="0" anchor="ctr">
            <a:spAutoFit/>
          </a:bodyPr>
          <a:lstStyle/>
          <a:p>
            <a:pPr>
              <a:lnSpc>
                <a:spcPct val="100000"/>
              </a:lnSpc>
            </a:pPr>
            <a:r>
              <a:rPr sz="1300" b="1">
                <a:solidFill>
                  <a:srgbClr val="C31E2E"/>
                </a:solidFill>
                <a:latin typeface="Calibri"/>
              </a:rPr>
              <a:t>Main challenges</a:t>
            </a:r>
          </a:p>
        </p:txBody>
      </p:sp>
      <p:sp>
        <p:nvSpPr>
          <p:cNvPr id="10" name="TextBox 9"/>
          <p:cNvSpPr txBox="1"/>
          <p:nvPr/>
        </p:nvSpPr>
        <p:spPr>
          <a:xfrm>
            <a:off x="749808" y="2697480"/>
            <a:ext cx="2240280" cy="1005840"/>
          </a:xfrm>
          <a:prstGeom prst="rect">
            <a:avLst/>
          </a:prstGeom>
          <a:noFill/>
        </p:spPr>
        <p:txBody>
          <a:bodyPr wrap="square" lIns="0" rIns="0" tIns="0" bIns="0">
            <a:spAutoFit/>
          </a:bodyPr>
          <a:lstStyle/>
          <a:p>
            <a:pPr>
              <a:lnSpc>
                <a:spcPct val="105000"/>
              </a:lnSpc>
            </a:pPr>
            <a:r>
              <a:rPr sz="1500" b="1">
                <a:solidFill>
                  <a:srgbClr val="143D59"/>
                </a:solidFill>
                <a:latin typeface="Calibri"/>
              </a:rPr>
              <a:t>The hardest part was culture, not technology.</a:t>
            </a:r>
          </a:p>
        </p:txBody>
      </p:sp>
      <p:sp>
        <p:nvSpPr>
          <p:cNvPr id="11" name="Rounded Rectangle 10"/>
          <p:cNvSpPr/>
          <p:nvPr/>
        </p:nvSpPr>
        <p:spPr>
          <a:xfrm>
            <a:off x="3355848" y="1691640"/>
            <a:ext cx="2606040" cy="2103120"/>
          </a:xfrm>
          <a:prstGeom prst="roundRect">
            <a:avLst>
              <a:gd name="adj" fmla="val 5000"/>
            </a:avLst>
          </a:prstGeom>
          <a:solidFill>
            <a:srgbClr val="F4EF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3355848" y="1691640"/>
            <a:ext cx="2606040" cy="109728"/>
          </a:xfrm>
          <a:prstGeom prst="rect">
            <a:avLst/>
          </a:prstGeom>
          <a:solidFill>
            <a:srgbClr val="2A9D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3557016" y="2011680"/>
            <a:ext cx="502920" cy="502920"/>
          </a:xfrm>
          <a:prstGeom prst="ellipse">
            <a:avLst/>
          </a:prstGeom>
          <a:solidFill>
            <a:srgbClr val="2A9D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557016" y="2011680"/>
            <a:ext cx="502920" cy="502920"/>
          </a:xfrm>
          <a:prstGeom prst="rect">
            <a:avLst/>
          </a:prstGeom>
          <a:noFill/>
        </p:spPr>
        <p:txBody>
          <a:bodyPr wrap="square" lIns="0" rIns="0" tIns="0" bIns="0" anchor="ctr">
            <a:spAutoFit/>
          </a:bodyPr>
          <a:lstStyle/>
          <a:p>
            <a:pPr algn="ctr">
              <a:lnSpc>
                <a:spcPct val="100000"/>
              </a:lnSpc>
            </a:pPr>
            <a:r>
              <a:rPr sz="1600" b="1">
                <a:solidFill>
                  <a:srgbClr val="FFFFFF"/>
                </a:solidFill>
                <a:latin typeface="Calibri"/>
              </a:rPr>
              <a:t>2</a:t>
            </a:r>
          </a:p>
        </p:txBody>
      </p:sp>
      <p:sp>
        <p:nvSpPr>
          <p:cNvPr id="15" name="TextBox 14"/>
          <p:cNvSpPr txBox="1"/>
          <p:nvPr/>
        </p:nvSpPr>
        <p:spPr>
          <a:xfrm>
            <a:off x="4178808" y="2039112"/>
            <a:ext cx="1645920" cy="457200"/>
          </a:xfrm>
          <a:prstGeom prst="rect">
            <a:avLst/>
          </a:prstGeom>
          <a:noFill/>
        </p:spPr>
        <p:txBody>
          <a:bodyPr wrap="square" lIns="0" rIns="0" tIns="0" bIns="0" anchor="ctr">
            <a:spAutoFit/>
          </a:bodyPr>
          <a:lstStyle/>
          <a:p>
            <a:pPr>
              <a:lnSpc>
                <a:spcPct val="100000"/>
              </a:lnSpc>
            </a:pPr>
            <a:r>
              <a:rPr sz="1300" b="1">
                <a:solidFill>
                  <a:srgbClr val="2A9D8F"/>
                </a:solidFill>
                <a:latin typeface="Calibri"/>
              </a:rPr>
              <a:t>Lessons learned</a:t>
            </a:r>
          </a:p>
        </p:txBody>
      </p:sp>
      <p:sp>
        <p:nvSpPr>
          <p:cNvPr id="16" name="TextBox 15"/>
          <p:cNvSpPr txBox="1"/>
          <p:nvPr/>
        </p:nvSpPr>
        <p:spPr>
          <a:xfrm>
            <a:off x="3557016" y="2697480"/>
            <a:ext cx="2240280" cy="1005840"/>
          </a:xfrm>
          <a:prstGeom prst="rect">
            <a:avLst/>
          </a:prstGeom>
          <a:noFill/>
        </p:spPr>
        <p:txBody>
          <a:bodyPr wrap="square" lIns="0" rIns="0" tIns="0" bIns="0">
            <a:spAutoFit/>
          </a:bodyPr>
          <a:lstStyle/>
          <a:p>
            <a:pPr>
              <a:lnSpc>
                <a:spcPct val="105000"/>
              </a:lnSpc>
            </a:pPr>
            <a:r>
              <a:rPr sz="1500" b="1">
                <a:solidFill>
                  <a:srgbClr val="143D59"/>
                </a:solidFill>
                <a:latin typeface="Calibri"/>
              </a:rPr>
              <a:t>Build on existing standards and communities.</a:t>
            </a:r>
          </a:p>
        </p:txBody>
      </p:sp>
      <p:sp>
        <p:nvSpPr>
          <p:cNvPr id="17" name="Rounded Rectangle 16"/>
          <p:cNvSpPr/>
          <p:nvPr/>
        </p:nvSpPr>
        <p:spPr>
          <a:xfrm>
            <a:off x="6163055" y="1691640"/>
            <a:ext cx="2606040" cy="2103120"/>
          </a:xfrm>
          <a:prstGeom prst="roundRect">
            <a:avLst>
              <a:gd name="adj" fmla="val 5000"/>
            </a:avLst>
          </a:prstGeom>
          <a:solidFill>
            <a:srgbClr val="F4EF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6163055" y="1691640"/>
            <a:ext cx="2606040" cy="109728"/>
          </a:xfrm>
          <a:prstGeom prst="rect">
            <a:avLst/>
          </a:prstGeom>
          <a:solidFill>
            <a:srgbClr val="143D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6364223" y="2011680"/>
            <a:ext cx="502920" cy="502920"/>
          </a:xfrm>
          <a:prstGeom prst="ellipse">
            <a:avLst/>
          </a:prstGeom>
          <a:solidFill>
            <a:srgbClr val="143D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364223" y="2011680"/>
            <a:ext cx="502920" cy="502920"/>
          </a:xfrm>
          <a:prstGeom prst="rect">
            <a:avLst/>
          </a:prstGeom>
          <a:noFill/>
        </p:spPr>
        <p:txBody>
          <a:bodyPr wrap="square" lIns="0" rIns="0" tIns="0" bIns="0" anchor="ctr">
            <a:spAutoFit/>
          </a:bodyPr>
          <a:lstStyle/>
          <a:p>
            <a:pPr algn="ctr">
              <a:lnSpc>
                <a:spcPct val="100000"/>
              </a:lnSpc>
            </a:pPr>
            <a:r>
              <a:rPr sz="1600" b="1">
                <a:solidFill>
                  <a:srgbClr val="FFFFFF"/>
                </a:solidFill>
                <a:latin typeface="Calibri"/>
              </a:rPr>
              <a:t>3</a:t>
            </a:r>
          </a:p>
        </p:txBody>
      </p:sp>
      <p:sp>
        <p:nvSpPr>
          <p:cNvPr id="21" name="TextBox 20"/>
          <p:cNvSpPr txBox="1"/>
          <p:nvPr/>
        </p:nvSpPr>
        <p:spPr>
          <a:xfrm>
            <a:off x="6986016" y="2039112"/>
            <a:ext cx="1645920" cy="457200"/>
          </a:xfrm>
          <a:prstGeom prst="rect">
            <a:avLst/>
          </a:prstGeom>
          <a:noFill/>
        </p:spPr>
        <p:txBody>
          <a:bodyPr wrap="square" lIns="0" rIns="0" tIns="0" bIns="0" anchor="ctr">
            <a:spAutoFit/>
          </a:bodyPr>
          <a:lstStyle/>
          <a:p>
            <a:pPr>
              <a:lnSpc>
                <a:spcPct val="100000"/>
              </a:lnSpc>
            </a:pPr>
            <a:r>
              <a:rPr sz="1300" b="1">
                <a:solidFill>
                  <a:srgbClr val="143D59"/>
                </a:solidFill>
                <a:latin typeface="Calibri"/>
              </a:rPr>
              <a:t>Decision criteria</a:t>
            </a:r>
          </a:p>
        </p:txBody>
      </p:sp>
      <p:sp>
        <p:nvSpPr>
          <p:cNvPr id="22" name="TextBox 21"/>
          <p:cNvSpPr txBox="1"/>
          <p:nvPr/>
        </p:nvSpPr>
        <p:spPr>
          <a:xfrm>
            <a:off x="6364223" y="2697480"/>
            <a:ext cx="2240280" cy="1005840"/>
          </a:xfrm>
          <a:prstGeom prst="rect">
            <a:avLst/>
          </a:prstGeom>
          <a:noFill/>
        </p:spPr>
        <p:txBody>
          <a:bodyPr wrap="square" lIns="0" rIns="0" tIns="0" bIns="0">
            <a:spAutoFit/>
          </a:bodyPr>
          <a:lstStyle/>
          <a:p>
            <a:pPr>
              <a:lnSpc>
                <a:spcPct val="105000"/>
              </a:lnSpc>
            </a:pPr>
            <a:r>
              <a:rPr sz="1500" b="1">
                <a:solidFill>
                  <a:srgbClr val="143D59"/>
                </a:solidFill>
                <a:latin typeface="Calibri"/>
              </a:rPr>
              <a:t>Open standards, decided in public.</a:t>
            </a:r>
          </a:p>
        </p:txBody>
      </p:sp>
      <p:sp>
        <p:nvSpPr>
          <p:cNvPr id="23" name="Rounded Rectangle 22"/>
          <p:cNvSpPr/>
          <p:nvPr/>
        </p:nvSpPr>
        <p:spPr>
          <a:xfrm>
            <a:off x="8970263" y="1691640"/>
            <a:ext cx="2606040" cy="2103120"/>
          </a:xfrm>
          <a:prstGeom prst="roundRect">
            <a:avLst>
              <a:gd name="adj" fmla="val 5000"/>
            </a:avLst>
          </a:prstGeom>
          <a:solidFill>
            <a:srgbClr val="F4EF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8970263" y="1691640"/>
            <a:ext cx="2606040" cy="109728"/>
          </a:xfrm>
          <a:prstGeom prst="rect">
            <a:avLst/>
          </a:prstGeom>
          <a:solidFill>
            <a:srgbClr val="528B5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9171432" y="2011680"/>
            <a:ext cx="502920" cy="502920"/>
          </a:xfrm>
          <a:prstGeom prst="ellipse">
            <a:avLst/>
          </a:prstGeom>
          <a:solidFill>
            <a:srgbClr val="528B5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9171432" y="2011680"/>
            <a:ext cx="502920" cy="502920"/>
          </a:xfrm>
          <a:prstGeom prst="rect">
            <a:avLst/>
          </a:prstGeom>
          <a:noFill/>
        </p:spPr>
        <p:txBody>
          <a:bodyPr wrap="square" lIns="0" rIns="0" tIns="0" bIns="0" anchor="ctr">
            <a:spAutoFit/>
          </a:bodyPr>
          <a:lstStyle/>
          <a:p>
            <a:pPr algn="ctr">
              <a:lnSpc>
                <a:spcPct val="100000"/>
              </a:lnSpc>
            </a:pPr>
            <a:r>
              <a:rPr sz="1600" b="1">
                <a:solidFill>
                  <a:srgbClr val="FFFFFF"/>
                </a:solidFill>
                <a:latin typeface="Calibri"/>
              </a:rPr>
              <a:t>4</a:t>
            </a:r>
          </a:p>
        </p:txBody>
      </p:sp>
      <p:sp>
        <p:nvSpPr>
          <p:cNvPr id="27" name="TextBox 26"/>
          <p:cNvSpPr txBox="1"/>
          <p:nvPr/>
        </p:nvSpPr>
        <p:spPr>
          <a:xfrm>
            <a:off x="9793224" y="2039112"/>
            <a:ext cx="1645920" cy="457200"/>
          </a:xfrm>
          <a:prstGeom prst="rect">
            <a:avLst/>
          </a:prstGeom>
          <a:noFill/>
        </p:spPr>
        <p:txBody>
          <a:bodyPr wrap="square" lIns="0" rIns="0" tIns="0" bIns="0" anchor="ctr">
            <a:spAutoFit/>
          </a:bodyPr>
          <a:lstStyle/>
          <a:p>
            <a:pPr>
              <a:lnSpc>
                <a:spcPct val="100000"/>
              </a:lnSpc>
            </a:pPr>
            <a:r>
              <a:rPr sz="1300" b="1">
                <a:solidFill>
                  <a:srgbClr val="528B55"/>
                </a:solidFill>
                <a:latin typeface="Calibri"/>
              </a:rPr>
              <a:t>Reference architecture</a:t>
            </a:r>
          </a:p>
        </p:txBody>
      </p:sp>
      <p:sp>
        <p:nvSpPr>
          <p:cNvPr id="28" name="TextBox 27"/>
          <p:cNvSpPr txBox="1"/>
          <p:nvPr/>
        </p:nvSpPr>
        <p:spPr>
          <a:xfrm>
            <a:off x="9171432" y="2697480"/>
            <a:ext cx="2240280" cy="1005840"/>
          </a:xfrm>
          <a:prstGeom prst="rect">
            <a:avLst/>
          </a:prstGeom>
          <a:noFill/>
        </p:spPr>
        <p:txBody>
          <a:bodyPr wrap="square" lIns="0" rIns="0" tIns="0" bIns="0">
            <a:spAutoFit/>
          </a:bodyPr>
          <a:lstStyle/>
          <a:p>
            <a:pPr>
              <a:lnSpc>
                <a:spcPct val="105000"/>
              </a:lnSpc>
            </a:pPr>
            <a:r>
              <a:rPr sz="1500" b="1">
                <a:solidFill>
                  <a:srgbClr val="143D59"/>
                </a:solidFill>
                <a:latin typeface="Calibri"/>
              </a:rPr>
              <a:t>The Catena-X operating model.</a:t>
            </a:r>
          </a:p>
        </p:txBody>
      </p:sp>
      <p:sp>
        <p:nvSpPr>
          <p:cNvPr id="29" name="Rounded Rectangle 28"/>
          <p:cNvSpPr/>
          <p:nvPr/>
        </p:nvSpPr>
        <p:spPr>
          <a:xfrm>
            <a:off x="548640" y="4023360"/>
            <a:ext cx="2606040" cy="2103120"/>
          </a:xfrm>
          <a:prstGeom prst="roundRect">
            <a:avLst>
              <a:gd name="adj" fmla="val 5000"/>
            </a:avLst>
          </a:prstGeom>
          <a:solidFill>
            <a:srgbClr val="F4EF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548640" y="4023360"/>
            <a:ext cx="2606040" cy="109728"/>
          </a:xfrm>
          <a:prstGeom prst="rect">
            <a:avLst/>
          </a:prstGeom>
          <a:solidFill>
            <a:srgbClr val="E6A8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749808" y="4343400"/>
            <a:ext cx="502920" cy="502920"/>
          </a:xfrm>
          <a:prstGeom prst="ellipse">
            <a:avLst/>
          </a:prstGeom>
          <a:solidFill>
            <a:srgbClr val="E6A8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749808" y="4343400"/>
            <a:ext cx="502920" cy="502920"/>
          </a:xfrm>
          <a:prstGeom prst="rect">
            <a:avLst/>
          </a:prstGeom>
          <a:noFill/>
        </p:spPr>
        <p:txBody>
          <a:bodyPr wrap="square" lIns="0" rIns="0" tIns="0" bIns="0" anchor="ctr">
            <a:spAutoFit/>
          </a:bodyPr>
          <a:lstStyle/>
          <a:p>
            <a:pPr algn="ctr">
              <a:lnSpc>
                <a:spcPct val="100000"/>
              </a:lnSpc>
            </a:pPr>
            <a:r>
              <a:rPr sz="1600" b="1">
                <a:solidFill>
                  <a:srgbClr val="FFFFFF"/>
                </a:solidFill>
                <a:latin typeface="Calibri"/>
              </a:rPr>
              <a:t>5</a:t>
            </a:r>
          </a:p>
        </p:txBody>
      </p:sp>
      <p:sp>
        <p:nvSpPr>
          <p:cNvPr id="33" name="TextBox 32"/>
          <p:cNvSpPr txBox="1"/>
          <p:nvPr/>
        </p:nvSpPr>
        <p:spPr>
          <a:xfrm>
            <a:off x="1371600" y="4370832"/>
            <a:ext cx="1645920" cy="457200"/>
          </a:xfrm>
          <a:prstGeom prst="rect">
            <a:avLst/>
          </a:prstGeom>
          <a:noFill/>
        </p:spPr>
        <p:txBody>
          <a:bodyPr wrap="square" lIns="0" rIns="0" tIns="0" bIns="0" anchor="ctr">
            <a:spAutoFit/>
          </a:bodyPr>
          <a:lstStyle/>
          <a:p>
            <a:pPr>
              <a:lnSpc>
                <a:spcPct val="100000"/>
              </a:lnSpc>
            </a:pPr>
            <a:r>
              <a:rPr sz="1300" b="1">
                <a:solidFill>
                  <a:srgbClr val="E6A817"/>
                </a:solidFill>
                <a:latin typeface="Calibri"/>
              </a:rPr>
              <a:t>Components and maturity</a:t>
            </a:r>
          </a:p>
        </p:txBody>
      </p:sp>
      <p:sp>
        <p:nvSpPr>
          <p:cNvPr id="34" name="TextBox 33"/>
          <p:cNvSpPr txBox="1"/>
          <p:nvPr/>
        </p:nvSpPr>
        <p:spPr>
          <a:xfrm>
            <a:off x="749808" y="5029200"/>
            <a:ext cx="2240280" cy="1005840"/>
          </a:xfrm>
          <a:prstGeom prst="rect">
            <a:avLst/>
          </a:prstGeom>
          <a:noFill/>
        </p:spPr>
        <p:txBody>
          <a:bodyPr wrap="square" lIns="0" rIns="0" tIns="0" bIns="0">
            <a:spAutoFit/>
          </a:bodyPr>
          <a:lstStyle/>
          <a:p>
            <a:pPr>
              <a:lnSpc>
                <a:spcPct val="105000"/>
              </a:lnSpc>
            </a:pPr>
            <a:r>
              <a:rPr sz="1500" b="1">
                <a:solidFill>
                  <a:srgbClr val="143D59"/>
                </a:solidFill>
                <a:latin typeface="Calibri"/>
              </a:rPr>
              <a:t>The protocol is stable. Secure environments are still young.</a:t>
            </a:r>
          </a:p>
        </p:txBody>
      </p:sp>
      <p:sp>
        <p:nvSpPr>
          <p:cNvPr id="35" name="Rounded Rectangle 34"/>
          <p:cNvSpPr/>
          <p:nvPr/>
        </p:nvSpPr>
        <p:spPr>
          <a:xfrm>
            <a:off x="3355848" y="4023360"/>
            <a:ext cx="2606040" cy="2103120"/>
          </a:xfrm>
          <a:prstGeom prst="roundRect">
            <a:avLst>
              <a:gd name="adj" fmla="val 5000"/>
            </a:avLst>
          </a:prstGeom>
          <a:solidFill>
            <a:srgbClr val="F4EF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3355848" y="4023360"/>
            <a:ext cx="2606040" cy="109728"/>
          </a:xfrm>
          <a:prstGeom prst="rect">
            <a:avLst/>
          </a:prstGeom>
          <a:solidFill>
            <a:srgbClr val="2A9D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3557016" y="4343400"/>
            <a:ext cx="502920" cy="502920"/>
          </a:xfrm>
          <a:prstGeom prst="ellipse">
            <a:avLst/>
          </a:prstGeom>
          <a:solidFill>
            <a:srgbClr val="2A9D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3557016" y="4343400"/>
            <a:ext cx="502920" cy="502920"/>
          </a:xfrm>
          <a:prstGeom prst="rect">
            <a:avLst/>
          </a:prstGeom>
          <a:noFill/>
        </p:spPr>
        <p:txBody>
          <a:bodyPr wrap="square" lIns="0" rIns="0" tIns="0" bIns="0" anchor="ctr">
            <a:spAutoFit/>
          </a:bodyPr>
          <a:lstStyle/>
          <a:p>
            <a:pPr algn="ctr">
              <a:lnSpc>
                <a:spcPct val="100000"/>
              </a:lnSpc>
            </a:pPr>
            <a:r>
              <a:rPr sz="1600" b="1">
                <a:solidFill>
                  <a:srgbClr val="FFFFFF"/>
                </a:solidFill>
                <a:latin typeface="Calibri"/>
              </a:rPr>
              <a:t>6</a:t>
            </a:r>
          </a:p>
        </p:txBody>
      </p:sp>
      <p:sp>
        <p:nvSpPr>
          <p:cNvPr id="39" name="TextBox 38"/>
          <p:cNvSpPr txBox="1"/>
          <p:nvPr/>
        </p:nvSpPr>
        <p:spPr>
          <a:xfrm>
            <a:off x="4178808" y="4370832"/>
            <a:ext cx="1645920" cy="457200"/>
          </a:xfrm>
          <a:prstGeom prst="rect">
            <a:avLst/>
          </a:prstGeom>
          <a:noFill/>
        </p:spPr>
        <p:txBody>
          <a:bodyPr wrap="square" lIns="0" rIns="0" tIns="0" bIns="0" anchor="ctr">
            <a:spAutoFit/>
          </a:bodyPr>
          <a:lstStyle/>
          <a:p>
            <a:pPr>
              <a:lnSpc>
                <a:spcPct val="100000"/>
              </a:lnSpc>
            </a:pPr>
            <a:r>
              <a:rPr sz="1300" b="1">
                <a:solidFill>
                  <a:srgbClr val="2A9D8F"/>
                </a:solidFill>
                <a:latin typeface="Calibri"/>
              </a:rPr>
              <a:t>Governance and operating model</a:t>
            </a:r>
          </a:p>
        </p:txBody>
      </p:sp>
      <p:sp>
        <p:nvSpPr>
          <p:cNvPr id="40" name="TextBox 39"/>
          <p:cNvSpPr txBox="1"/>
          <p:nvPr/>
        </p:nvSpPr>
        <p:spPr>
          <a:xfrm>
            <a:off x="3557016" y="5029200"/>
            <a:ext cx="2240280" cy="1005840"/>
          </a:xfrm>
          <a:prstGeom prst="rect">
            <a:avLst/>
          </a:prstGeom>
          <a:noFill/>
        </p:spPr>
        <p:txBody>
          <a:bodyPr wrap="square" lIns="0" rIns="0" tIns="0" bIns="0">
            <a:spAutoFit/>
          </a:bodyPr>
          <a:lstStyle/>
          <a:p>
            <a:pPr>
              <a:lnSpc>
                <a:spcPct val="105000"/>
              </a:lnSpc>
            </a:pPr>
            <a:r>
              <a:rPr sz="1500" b="1">
                <a:solidFill>
                  <a:srgbClr val="143D59"/>
                </a:solidFill>
                <a:latin typeface="Calibri"/>
              </a:rPr>
              <a:t>Keep rule-setting and operation separate.</a:t>
            </a:r>
          </a:p>
        </p:txBody>
      </p:sp>
      <p:sp>
        <p:nvSpPr>
          <p:cNvPr id="41" name="Rounded Rectangle 40"/>
          <p:cNvSpPr/>
          <p:nvPr/>
        </p:nvSpPr>
        <p:spPr>
          <a:xfrm>
            <a:off x="6163055" y="4023360"/>
            <a:ext cx="2606040" cy="2103120"/>
          </a:xfrm>
          <a:prstGeom prst="roundRect">
            <a:avLst>
              <a:gd name="adj" fmla="val 5000"/>
            </a:avLst>
          </a:prstGeom>
          <a:solidFill>
            <a:srgbClr val="F4EF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6163055" y="4023360"/>
            <a:ext cx="2606040" cy="109728"/>
          </a:xfrm>
          <a:prstGeom prst="rect">
            <a:avLst/>
          </a:prstGeom>
          <a:solidFill>
            <a:srgbClr val="528B5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Oval 42"/>
          <p:cNvSpPr/>
          <p:nvPr/>
        </p:nvSpPr>
        <p:spPr>
          <a:xfrm>
            <a:off x="6364223" y="4343400"/>
            <a:ext cx="502920" cy="502920"/>
          </a:xfrm>
          <a:prstGeom prst="ellipse">
            <a:avLst/>
          </a:prstGeom>
          <a:solidFill>
            <a:srgbClr val="528B5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6364223" y="4343400"/>
            <a:ext cx="502920" cy="502920"/>
          </a:xfrm>
          <a:prstGeom prst="rect">
            <a:avLst/>
          </a:prstGeom>
          <a:noFill/>
        </p:spPr>
        <p:txBody>
          <a:bodyPr wrap="square" lIns="0" rIns="0" tIns="0" bIns="0" anchor="ctr">
            <a:spAutoFit/>
          </a:bodyPr>
          <a:lstStyle/>
          <a:p>
            <a:pPr algn="ctr">
              <a:lnSpc>
                <a:spcPct val="100000"/>
              </a:lnSpc>
            </a:pPr>
            <a:r>
              <a:rPr sz="1600" b="1">
                <a:solidFill>
                  <a:srgbClr val="FFFFFF"/>
                </a:solidFill>
                <a:latin typeface="Calibri"/>
              </a:rPr>
              <a:t>7</a:t>
            </a:r>
          </a:p>
        </p:txBody>
      </p:sp>
      <p:sp>
        <p:nvSpPr>
          <p:cNvPr id="45" name="TextBox 44"/>
          <p:cNvSpPr txBox="1"/>
          <p:nvPr/>
        </p:nvSpPr>
        <p:spPr>
          <a:xfrm>
            <a:off x="6986016" y="4370832"/>
            <a:ext cx="1645920" cy="457200"/>
          </a:xfrm>
          <a:prstGeom prst="rect">
            <a:avLst/>
          </a:prstGeom>
          <a:noFill/>
        </p:spPr>
        <p:txBody>
          <a:bodyPr wrap="square" lIns="0" rIns="0" tIns="0" bIns="0" anchor="ctr">
            <a:spAutoFit/>
          </a:bodyPr>
          <a:lstStyle/>
          <a:p>
            <a:pPr>
              <a:lnSpc>
                <a:spcPct val="100000"/>
              </a:lnSpc>
            </a:pPr>
            <a:r>
              <a:rPr sz="1300" b="1">
                <a:solidFill>
                  <a:srgbClr val="528B55"/>
                </a:solidFill>
                <a:latin typeface="Calibri"/>
              </a:rPr>
              <a:t>Costs</a:t>
            </a:r>
          </a:p>
        </p:txBody>
      </p:sp>
      <p:sp>
        <p:nvSpPr>
          <p:cNvPr id="46" name="TextBox 45"/>
          <p:cNvSpPr txBox="1"/>
          <p:nvPr/>
        </p:nvSpPr>
        <p:spPr>
          <a:xfrm>
            <a:off x="6364223" y="5029200"/>
            <a:ext cx="2240280" cy="1005840"/>
          </a:xfrm>
          <a:prstGeom prst="rect">
            <a:avLst/>
          </a:prstGeom>
          <a:noFill/>
        </p:spPr>
        <p:txBody>
          <a:bodyPr wrap="square" lIns="0" rIns="0" tIns="0" bIns="0">
            <a:spAutoFit/>
          </a:bodyPr>
          <a:lstStyle/>
          <a:p>
            <a:pPr>
              <a:lnSpc>
                <a:spcPct val="105000"/>
              </a:lnSpc>
            </a:pPr>
            <a:r>
              <a:rPr sz="1500" b="1">
                <a:solidFill>
                  <a:srgbClr val="143D59"/>
                </a:solidFill>
                <a:latin typeface="Calibri"/>
              </a:rPr>
              <a:t>No licences. You pay for people and hosting.</a:t>
            </a:r>
          </a:p>
        </p:txBody>
      </p:sp>
      <p:sp>
        <p:nvSpPr>
          <p:cNvPr id="47" name="Rounded Rectangle 46"/>
          <p:cNvSpPr/>
          <p:nvPr/>
        </p:nvSpPr>
        <p:spPr>
          <a:xfrm>
            <a:off x="8970263" y="4023360"/>
            <a:ext cx="2606040" cy="2103120"/>
          </a:xfrm>
          <a:prstGeom prst="roundRect">
            <a:avLst>
              <a:gd name="adj" fmla="val 5000"/>
            </a:avLst>
          </a:prstGeom>
          <a:solidFill>
            <a:srgbClr val="F4EF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Rectangle 47"/>
          <p:cNvSpPr/>
          <p:nvPr/>
        </p:nvSpPr>
        <p:spPr>
          <a:xfrm>
            <a:off x="8970263" y="4023360"/>
            <a:ext cx="2606040" cy="109728"/>
          </a:xfrm>
          <a:prstGeom prst="rect">
            <a:avLst/>
          </a:prstGeom>
          <a:solidFill>
            <a:srgbClr val="143D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Oval 48"/>
          <p:cNvSpPr/>
          <p:nvPr/>
        </p:nvSpPr>
        <p:spPr>
          <a:xfrm>
            <a:off x="9171432" y="4343400"/>
            <a:ext cx="502920" cy="502920"/>
          </a:xfrm>
          <a:prstGeom prst="ellipse">
            <a:avLst/>
          </a:prstGeom>
          <a:solidFill>
            <a:srgbClr val="143D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9171432" y="4343400"/>
            <a:ext cx="502920" cy="502920"/>
          </a:xfrm>
          <a:prstGeom prst="rect">
            <a:avLst/>
          </a:prstGeom>
          <a:noFill/>
        </p:spPr>
        <p:txBody>
          <a:bodyPr wrap="square" lIns="0" rIns="0" tIns="0" bIns="0" anchor="ctr">
            <a:spAutoFit/>
          </a:bodyPr>
          <a:lstStyle/>
          <a:p>
            <a:pPr algn="ctr">
              <a:lnSpc>
                <a:spcPct val="100000"/>
              </a:lnSpc>
            </a:pPr>
            <a:r>
              <a:rPr sz="1600" b="1">
                <a:solidFill>
                  <a:srgbClr val="FFFFFF"/>
                </a:solidFill>
                <a:latin typeface="Calibri"/>
              </a:rPr>
              <a:t>8</a:t>
            </a:r>
          </a:p>
        </p:txBody>
      </p:sp>
      <p:sp>
        <p:nvSpPr>
          <p:cNvPr id="51" name="TextBox 50"/>
          <p:cNvSpPr txBox="1"/>
          <p:nvPr/>
        </p:nvSpPr>
        <p:spPr>
          <a:xfrm>
            <a:off x="9793224" y="4370832"/>
            <a:ext cx="1645920" cy="457200"/>
          </a:xfrm>
          <a:prstGeom prst="rect">
            <a:avLst/>
          </a:prstGeom>
          <a:noFill/>
        </p:spPr>
        <p:txBody>
          <a:bodyPr wrap="square" lIns="0" rIns="0" tIns="0" bIns="0" anchor="ctr">
            <a:spAutoFit/>
          </a:bodyPr>
          <a:lstStyle/>
          <a:p>
            <a:pPr>
              <a:lnSpc>
                <a:spcPct val="100000"/>
              </a:lnSpc>
            </a:pPr>
            <a:r>
              <a:rPr sz="1300" b="1">
                <a:solidFill>
                  <a:srgbClr val="143D59"/>
                </a:solidFill>
                <a:latin typeface="Calibri"/>
              </a:rPr>
              <a:t>Effort and team</a:t>
            </a:r>
          </a:p>
        </p:txBody>
      </p:sp>
      <p:sp>
        <p:nvSpPr>
          <p:cNvPr id="52" name="TextBox 51"/>
          <p:cNvSpPr txBox="1"/>
          <p:nvPr/>
        </p:nvSpPr>
        <p:spPr>
          <a:xfrm>
            <a:off x="9171432" y="5029200"/>
            <a:ext cx="2240280" cy="1005840"/>
          </a:xfrm>
          <a:prstGeom prst="rect">
            <a:avLst/>
          </a:prstGeom>
          <a:noFill/>
        </p:spPr>
        <p:txBody>
          <a:bodyPr wrap="square" lIns="0" rIns="0" tIns="0" bIns="0">
            <a:spAutoFit/>
          </a:bodyPr>
          <a:lstStyle/>
          <a:p>
            <a:pPr>
              <a:lnSpc>
                <a:spcPct val="105000"/>
              </a:lnSpc>
            </a:pPr>
            <a:r>
              <a:rPr sz="1500" b="1">
                <a:solidFill>
                  <a:srgbClr val="143D59"/>
                </a:solidFill>
                <a:latin typeface="Calibri"/>
              </a:rPr>
              <a:t>8 to 12 people for a pilot.</a:t>
            </a:r>
          </a:p>
        </p:txBody>
      </p:sp>
      <p:sp>
        <p:nvSpPr>
          <p:cNvPr id="53" name="TextBox 52"/>
          <p:cNvSpPr txBox="1"/>
          <p:nvPr/>
        </p:nvSpPr>
        <p:spPr>
          <a:xfrm>
            <a:off x="548640" y="6446520"/>
            <a:ext cx="5120640" cy="274320"/>
          </a:xfrm>
          <a:prstGeom prst="rect">
            <a:avLst/>
          </a:prstGeom>
          <a:noFill/>
        </p:spPr>
        <p:txBody>
          <a:bodyPr wrap="square" lIns="0" rIns="0" tIns="0" bIns="0">
            <a:spAutoFit/>
          </a:bodyPr>
          <a:lstStyle/>
          <a:p>
            <a:pPr>
              <a:lnSpc>
                <a:spcPct val="100000"/>
              </a:lnSpc>
            </a:pPr>
            <a:r>
              <a:rPr sz="1000" b="0">
                <a:solidFill>
                  <a:srgbClr val="4F5560"/>
                </a:solidFill>
                <a:latin typeface="Calibri"/>
              </a:rPr>
              <a:t>Reunión de preparación  ·  Espacio de Datos EJIE  ·  País Vasco</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155" fill="hold">
                      <p:stCondLst>
                        <p:cond delay="indefinite"/>
                        <p:cond evt="onBegin" delay="0">
                          <p:tn val="2"/>
                        </p:cond>
                      </p:stCondLst>
                      <p:childTnLst>
                        <p:par>
                          <p:cTn id="21" fill="hold">
                            <p:stCondLst>
                              <p:cond delay="0"/>
                            </p:stCondLst>
                            <p:childTnLst>
                              <p:par>
                                <p:cTn id="3" presetID="10" presetClass="entr" presetSubtype="0" fill="hold" grpId="0" nodeType="afterEffect">
                                  <p:stCondLst>
                                    <p:cond delay="0"/>
                                  </p:stCondLst>
                                  <p:childTnLst>
                                    <p:set>
                                      <p:cBhvr>
                                        <p:cTn id="4" dur="1" fill="hold">
                                          <p:stCondLst>
                                            <p:cond delay="0"/>
                                          </p:stCondLst>
                                        </p:cTn>
                                        <p:tgtEl>
                                          <p:spTgt spid="5"/>
                                        </p:tgtEl>
                                        <p:attrNameLst>
                                          <p:attrName>style.visibility</p:attrName>
                                        </p:attrNameLst>
                                      </p:cBhvr>
                                      <p:to>
                                        <p:strVal val="visible"/>
                                      </p:to>
                                    </p:set>
                                    <p:animEffect transition="in" filter="fade">
                                      <p:cBhvr>
                                        <p:cTn id="5" dur="500"/>
                                        <p:tgtEl>
                                          <p:spTgt spid="5"/>
                                        </p:tgtEl>
                                      </p:cBhvr>
                                    </p:animEffect>
                                  </p:childTnLst>
                                </p:cTn>
                              </p:par>
                              <p:par>
                                <p:cTn id="6" presetID="10" presetClass="entr" presetSubtype="0" fill="hold" grpId="0" nodeType="withEffect">
                                  <p:stCondLst>
                                    <p:cond delay="0"/>
                                  </p:stCondLst>
                                  <p:childTnLst>
                                    <p:set>
                                      <p:cBhvr>
                                        <p:cTn id="7" dur="1" fill="hold">
                                          <p:stCondLst>
                                            <p:cond delay="0"/>
                                          </p:stCondLst>
                                        </p:cTn>
                                        <p:tgtEl>
                                          <p:spTgt spid="10"/>
                                        </p:tgtEl>
                                        <p:attrNameLst>
                                          <p:attrName>style.visibility</p:attrName>
                                        </p:attrNameLst>
                                      </p:cBhvr>
                                      <p:to>
                                        <p:strVal val="visible"/>
                                      </p:to>
                                    </p:set>
                                    <p:animEffect transition="in" filter="fade">
                                      <p:cBhvr>
                                        <p:cTn id="8" dur="500"/>
                                        <p:tgtEl>
                                          <p:spTgt spid="10"/>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9"/>
                                        </p:tgtEl>
                                        <p:attrNameLst>
                                          <p:attrName>style.visibility</p:attrName>
                                        </p:attrNameLst>
                                      </p:cBhvr>
                                      <p:to>
                                        <p:strVal val="visible"/>
                                      </p:to>
                                    </p:set>
                                    <p:animEffect transition="in" filter="fade">
                                      <p:cBhvr>
                                        <p:cTn id="11" dur="500"/>
                                        <p:tgtEl>
                                          <p:spTgt spid="9"/>
                                        </p:tgtEl>
                                      </p:cBhvr>
                                    </p:animEffect>
                                  </p:childTnLst>
                                </p:cTn>
                              </p:par>
                              <p:par>
                                <p:cTn id="12" presetID="10" presetClass="entr" presetSubtype="0" fill="hold" grpId="0" nodeType="withEffect">
                                  <p:stCondLst>
                                    <p:cond delay="0"/>
                                  </p:stCondLst>
                                  <p:childTnLst>
                                    <p:set>
                                      <p:cBhvr>
                                        <p:cTn id="13" dur="1" fill="hold">
                                          <p:stCondLst>
                                            <p:cond delay="0"/>
                                          </p:stCondLst>
                                        </p:cTn>
                                        <p:tgtEl>
                                          <p:spTgt spid="6"/>
                                        </p:tgtEl>
                                        <p:attrNameLst>
                                          <p:attrName>style.visibility</p:attrName>
                                        </p:attrNameLst>
                                      </p:cBhvr>
                                      <p:to>
                                        <p:strVal val="visible"/>
                                      </p:to>
                                    </p:set>
                                    <p:animEffect transition="in" filter="fade">
                                      <p:cBhvr>
                                        <p:cTn id="14" dur="500"/>
                                        <p:tgtEl>
                                          <p:spTgt spid="6"/>
                                        </p:tgtEl>
                                      </p:cBhvr>
                                    </p:animEffect>
                                  </p:childTnLst>
                                </p:cTn>
                              </p:par>
                              <p:par>
                                <p:cTn id="15" presetID="10" presetClass="entr" presetSubtype="0" fill="hold" grpId="0" nodeType="withEffect">
                                  <p:stCondLst>
                                    <p:cond delay="0"/>
                                  </p:stCondLst>
                                  <p:childTnLst>
                                    <p:set>
                                      <p:cBhvr>
                                        <p:cTn id="16" dur="1" fill="hold">
                                          <p:stCondLst>
                                            <p:cond delay="0"/>
                                          </p:stCondLst>
                                        </p:cTn>
                                        <p:tgtEl>
                                          <p:spTgt spid="7"/>
                                        </p:tgtEl>
                                        <p:attrNameLst>
                                          <p:attrName>style.visibility</p:attrName>
                                        </p:attrNameLst>
                                      </p:cBhvr>
                                      <p:to>
                                        <p:strVal val="visible"/>
                                      </p:to>
                                    </p:set>
                                    <p:animEffect transition="in" filter="fade">
                                      <p:cBhvr>
                                        <p:cTn id="17" dur="500"/>
                                        <p:tgtEl>
                                          <p:spTgt spid="7"/>
                                        </p:tgtEl>
                                      </p:cBhvr>
                                    </p:animEffect>
                                  </p:childTnLst>
                                </p:cTn>
                              </p:par>
                              <p:par>
                                <p:cTn id="18" presetID="10" presetClass="entr" presetSubtype="0" fill="hold" grpId="0" nodeType="withEffect">
                                  <p:stCondLst>
                                    <p:cond delay="0"/>
                                  </p:stCondLst>
                                  <p:childTnLst>
                                    <p:set>
                                      <p:cBhvr>
                                        <p:cTn id="19" dur="1" fill="hold">
                                          <p:stCondLst>
                                            <p:cond delay="0"/>
                                          </p:stCondLst>
                                        </p:cTn>
                                        <p:tgtEl>
                                          <p:spTgt spid="8"/>
                                        </p:tgtEl>
                                        <p:attrNameLst>
                                          <p:attrName>style.visibility</p:attrName>
                                        </p:attrNameLst>
                                      </p:cBhvr>
                                      <p:to>
                                        <p:strVal val="visible"/>
                                      </p:to>
                                    </p:set>
                                    <p:animEffect transition="in" filter="fade">
                                      <p:cBhvr>
                                        <p:cTn id="20" dur="500"/>
                                        <p:tgtEl>
                                          <p:spTgt spid="8"/>
                                        </p:tgtEl>
                                      </p:cBhvr>
                                    </p:animEffect>
                                  </p:childTnLst>
                                </p:cTn>
                              </p:par>
                            </p:childTnLst>
                          </p:cTn>
                        </p:par>
                        <p:par>
                          <p:cTn id="40" fill="hold">
                            <p:stCondLst>
                              <p:cond delay="300"/>
                            </p:stCondLst>
                            <p:childTnLst>
                              <p:par>
                                <p:cTn id="22" presetID="10" presetClass="entr" presetSubtype="0" fill="hold" grpId="0" nodeType="withEffect">
                                  <p:stCondLst>
                                    <p:cond delay="0"/>
                                  </p:stCondLst>
                                  <p:childTnLst>
                                    <p:set>
                                      <p:cBhvr>
                                        <p:cTn id="23" dur="1" fill="hold">
                                          <p:stCondLst>
                                            <p:cond delay="0"/>
                                          </p:stCondLst>
                                        </p:cTn>
                                        <p:tgtEl>
                                          <p:spTgt spid="11"/>
                                        </p:tgtEl>
                                        <p:attrNameLst>
                                          <p:attrName>style.visibility</p:attrName>
                                        </p:attrNameLst>
                                      </p:cBhvr>
                                      <p:to>
                                        <p:strVal val="visible"/>
                                      </p:to>
                                    </p:set>
                                    <p:animEffect transition="in" filter="fade">
                                      <p:cBhvr>
                                        <p:cTn id="24" dur="500"/>
                                        <p:tgtEl>
                                          <p:spTgt spid="11"/>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16"/>
                                        </p:tgtEl>
                                        <p:attrNameLst>
                                          <p:attrName>style.visibility</p:attrName>
                                        </p:attrNameLst>
                                      </p:cBhvr>
                                      <p:to>
                                        <p:strVal val="visible"/>
                                      </p:to>
                                    </p:set>
                                    <p:animEffect transition="in" filter="fade">
                                      <p:cBhvr>
                                        <p:cTn id="27" dur="500"/>
                                        <p:tgtEl>
                                          <p:spTgt spid="16"/>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15"/>
                                        </p:tgtEl>
                                        <p:attrNameLst>
                                          <p:attrName>style.visibility</p:attrName>
                                        </p:attrNameLst>
                                      </p:cBhvr>
                                      <p:to>
                                        <p:strVal val="visible"/>
                                      </p:to>
                                    </p:set>
                                    <p:animEffect transition="in" filter="fade">
                                      <p:cBhvr>
                                        <p:cTn id="30" dur="500"/>
                                        <p:tgtEl>
                                          <p:spTgt spid="15"/>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12"/>
                                        </p:tgtEl>
                                        <p:attrNameLst>
                                          <p:attrName>style.visibility</p:attrName>
                                        </p:attrNameLst>
                                      </p:cBhvr>
                                      <p:to>
                                        <p:strVal val="visible"/>
                                      </p:to>
                                    </p:set>
                                    <p:animEffect transition="in" filter="fade">
                                      <p:cBhvr>
                                        <p:cTn id="33" dur="500"/>
                                        <p:tgtEl>
                                          <p:spTgt spid="12"/>
                                        </p:tgtEl>
                                      </p:cBhvr>
                                    </p:animEffect>
                                  </p:childTnLst>
                                </p:cTn>
                              </p:par>
                              <p:par>
                                <p:cTn id="34" presetID="10" presetClass="entr" presetSubtype="0" fill="hold" grpId="0" nodeType="withEffect">
                                  <p:stCondLst>
                                    <p:cond delay="0"/>
                                  </p:stCondLst>
                                  <p:childTnLst>
                                    <p:set>
                                      <p:cBhvr>
                                        <p:cTn id="35" dur="1" fill="hold">
                                          <p:stCondLst>
                                            <p:cond delay="0"/>
                                          </p:stCondLst>
                                        </p:cTn>
                                        <p:tgtEl>
                                          <p:spTgt spid="13"/>
                                        </p:tgtEl>
                                        <p:attrNameLst>
                                          <p:attrName>style.visibility</p:attrName>
                                        </p:attrNameLst>
                                      </p:cBhvr>
                                      <p:to>
                                        <p:strVal val="visible"/>
                                      </p:to>
                                    </p:set>
                                    <p:animEffect transition="in" filter="fade">
                                      <p:cBhvr>
                                        <p:cTn id="36" dur="500"/>
                                        <p:tgtEl>
                                          <p:spTgt spid="13"/>
                                        </p:tgtEl>
                                      </p:cBhvr>
                                    </p:animEffect>
                                  </p:childTnLst>
                                </p:cTn>
                              </p:par>
                              <p:par>
                                <p:cTn id="37" presetID="10" presetClass="entr" presetSubtype="0" fill="hold" grpId="0" nodeType="withEffect">
                                  <p:stCondLst>
                                    <p:cond delay="0"/>
                                  </p:stCondLst>
                                  <p:childTnLst>
                                    <p:set>
                                      <p:cBhvr>
                                        <p:cTn id="38" dur="1" fill="hold">
                                          <p:stCondLst>
                                            <p:cond delay="0"/>
                                          </p:stCondLst>
                                        </p:cTn>
                                        <p:tgtEl>
                                          <p:spTgt spid="14"/>
                                        </p:tgtEl>
                                        <p:attrNameLst>
                                          <p:attrName>style.visibility</p:attrName>
                                        </p:attrNameLst>
                                      </p:cBhvr>
                                      <p:to>
                                        <p:strVal val="visible"/>
                                      </p:to>
                                    </p:set>
                                    <p:animEffect transition="in" filter="fade">
                                      <p:cBhvr>
                                        <p:cTn id="39" dur="500"/>
                                        <p:tgtEl>
                                          <p:spTgt spid="14"/>
                                        </p:tgtEl>
                                      </p:cBhvr>
                                    </p:animEffect>
                                  </p:childTnLst>
                                </p:cTn>
                              </p:par>
                            </p:childTnLst>
                          </p:cTn>
                        </p:par>
                        <p:par>
                          <p:cTn id="59" fill="hold">
                            <p:stCondLst>
                              <p:cond delay="600"/>
                            </p:stCondLst>
                            <p:childTnLst>
                              <p:par>
                                <p:cTn id="41" presetID="10" presetClass="entr" presetSubtype="0" fill="hold" grpId="0" nodeType="withEffect">
                                  <p:stCondLst>
                                    <p:cond delay="0"/>
                                  </p:stCondLst>
                                  <p:childTnLst>
                                    <p:set>
                                      <p:cBhvr>
                                        <p:cTn id="42" dur="1" fill="hold">
                                          <p:stCondLst>
                                            <p:cond delay="0"/>
                                          </p:stCondLst>
                                        </p:cTn>
                                        <p:tgtEl>
                                          <p:spTgt spid="17"/>
                                        </p:tgtEl>
                                        <p:attrNameLst>
                                          <p:attrName>style.visibility</p:attrName>
                                        </p:attrNameLst>
                                      </p:cBhvr>
                                      <p:to>
                                        <p:strVal val="visible"/>
                                      </p:to>
                                    </p:set>
                                    <p:animEffect transition="in" filter="fade">
                                      <p:cBhvr>
                                        <p:cTn id="43" dur="500"/>
                                        <p:tgtEl>
                                          <p:spTgt spid="17"/>
                                        </p:tgtEl>
                                      </p:cBhvr>
                                    </p:animEffect>
                                  </p:childTnLst>
                                </p:cTn>
                              </p:par>
                              <p:par>
                                <p:cTn id="44" presetID="10" presetClass="entr" presetSubtype="0" fill="hold" grpId="0" nodeType="withEffect">
                                  <p:stCondLst>
                                    <p:cond delay="0"/>
                                  </p:stCondLst>
                                  <p:childTnLst>
                                    <p:set>
                                      <p:cBhvr>
                                        <p:cTn id="45" dur="1" fill="hold">
                                          <p:stCondLst>
                                            <p:cond delay="0"/>
                                          </p:stCondLst>
                                        </p:cTn>
                                        <p:tgtEl>
                                          <p:spTgt spid="22"/>
                                        </p:tgtEl>
                                        <p:attrNameLst>
                                          <p:attrName>style.visibility</p:attrName>
                                        </p:attrNameLst>
                                      </p:cBhvr>
                                      <p:to>
                                        <p:strVal val="visible"/>
                                      </p:to>
                                    </p:set>
                                    <p:animEffect transition="in" filter="fade">
                                      <p:cBhvr>
                                        <p:cTn id="46" dur="500"/>
                                        <p:tgtEl>
                                          <p:spTgt spid="22"/>
                                        </p:tgtEl>
                                      </p:cBhvr>
                                    </p:animEffect>
                                  </p:childTnLst>
                                </p:cTn>
                              </p:par>
                              <p:par>
                                <p:cTn id="47" presetID="10" presetClass="entr" presetSubtype="0" fill="hold" grpId="0" nodeType="withEffect">
                                  <p:stCondLst>
                                    <p:cond delay="0"/>
                                  </p:stCondLst>
                                  <p:childTnLst>
                                    <p:set>
                                      <p:cBhvr>
                                        <p:cTn id="48" dur="1" fill="hold">
                                          <p:stCondLst>
                                            <p:cond delay="0"/>
                                          </p:stCondLst>
                                        </p:cTn>
                                        <p:tgtEl>
                                          <p:spTgt spid="21"/>
                                        </p:tgtEl>
                                        <p:attrNameLst>
                                          <p:attrName>style.visibility</p:attrName>
                                        </p:attrNameLst>
                                      </p:cBhvr>
                                      <p:to>
                                        <p:strVal val="visible"/>
                                      </p:to>
                                    </p:set>
                                    <p:animEffect transition="in" filter="fade">
                                      <p:cBhvr>
                                        <p:cTn id="49" dur="500"/>
                                        <p:tgtEl>
                                          <p:spTgt spid="21"/>
                                        </p:tgtEl>
                                      </p:cBhvr>
                                    </p:animEffect>
                                  </p:childTnLst>
                                </p:cTn>
                              </p:par>
                              <p:par>
                                <p:cTn id="50" presetID="10" presetClass="entr" presetSubtype="0" fill="hold" grpId="0" nodeType="withEffect">
                                  <p:stCondLst>
                                    <p:cond delay="0"/>
                                  </p:stCondLst>
                                  <p:childTnLst>
                                    <p:set>
                                      <p:cBhvr>
                                        <p:cTn id="51" dur="1" fill="hold">
                                          <p:stCondLst>
                                            <p:cond delay="0"/>
                                          </p:stCondLst>
                                        </p:cTn>
                                        <p:tgtEl>
                                          <p:spTgt spid="18"/>
                                        </p:tgtEl>
                                        <p:attrNameLst>
                                          <p:attrName>style.visibility</p:attrName>
                                        </p:attrNameLst>
                                      </p:cBhvr>
                                      <p:to>
                                        <p:strVal val="visible"/>
                                      </p:to>
                                    </p:set>
                                    <p:animEffect transition="in" filter="fade">
                                      <p:cBhvr>
                                        <p:cTn id="52" dur="500"/>
                                        <p:tgtEl>
                                          <p:spTgt spid="18"/>
                                        </p:tgtEl>
                                      </p:cBhvr>
                                    </p:animEffect>
                                  </p:childTnLst>
                                </p:cTn>
                              </p:par>
                              <p:par>
                                <p:cTn id="53" presetID="10" presetClass="entr" presetSubtype="0" fill="hold" grpId="0" nodeType="withEffect">
                                  <p:stCondLst>
                                    <p:cond delay="0"/>
                                  </p:stCondLst>
                                  <p:childTnLst>
                                    <p:set>
                                      <p:cBhvr>
                                        <p:cTn id="54" dur="1" fill="hold">
                                          <p:stCondLst>
                                            <p:cond delay="0"/>
                                          </p:stCondLst>
                                        </p:cTn>
                                        <p:tgtEl>
                                          <p:spTgt spid="19"/>
                                        </p:tgtEl>
                                        <p:attrNameLst>
                                          <p:attrName>style.visibility</p:attrName>
                                        </p:attrNameLst>
                                      </p:cBhvr>
                                      <p:to>
                                        <p:strVal val="visible"/>
                                      </p:to>
                                    </p:set>
                                    <p:animEffect transition="in" filter="fade">
                                      <p:cBhvr>
                                        <p:cTn id="55" dur="500"/>
                                        <p:tgtEl>
                                          <p:spTgt spid="19"/>
                                        </p:tgtEl>
                                      </p:cBhvr>
                                    </p:animEffect>
                                  </p:childTnLst>
                                </p:cTn>
                              </p:par>
                              <p:par>
                                <p:cTn id="56" presetID="10" presetClass="entr" presetSubtype="0" fill="hold" grpId="0" nodeType="withEffect">
                                  <p:stCondLst>
                                    <p:cond delay="0"/>
                                  </p:stCondLst>
                                  <p:childTnLst>
                                    <p:set>
                                      <p:cBhvr>
                                        <p:cTn id="57" dur="1" fill="hold">
                                          <p:stCondLst>
                                            <p:cond delay="0"/>
                                          </p:stCondLst>
                                        </p:cTn>
                                        <p:tgtEl>
                                          <p:spTgt spid="20"/>
                                        </p:tgtEl>
                                        <p:attrNameLst>
                                          <p:attrName>style.visibility</p:attrName>
                                        </p:attrNameLst>
                                      </p:cBhvr>
                                      <p:to>
                                        <p:strVal val="visible"/>
                                      </p:to>
                                    </p:set>
                                    <p:animEffect transition="in" filter="fade">
                                      <p:cBhvr>
                                        <p:cTn id="58" dur="500"/>
                                        <p:tgtEl>
                                          <p:spTgt spid="20"/>
                                        </p:tgtEl>
                                      </p:cBhvr>
                                    </p:animEffect>
                                  </p:childTnLst>
                                </p:cTn>
                              </p:par>
                            </p:childTnLst>
                          </p:cTn>
                        </p:par>
                        <p:par>
                          <p:cTn id="78" fill="hold">
                            <p:stCondLst>
                              <p:cond delay="900"/>
                            </p:stCondLst>
                            <p:childTnLst>
                              <p:par>
                                <p:cTn id="60" presetID="10" presetClass="entr" presetSubtype="0" fill="hold" grpId="0" nodeType="withEffect">
                                  <p:stCondLst>
                                    <p:cond delay="0"/>
                                  </p:stCondLst>
                                  <p:childTnLst>
                                    <p:set>
                                      <p:cBhvr>
                                        <p:cTn id="61" dur="1" fill="hold">
                                          <p:stCondLst>
                                            <p:cond delay="0"/>
                                          </p:stCondLst>
                                        </p:cTn>
                                        <p:tgtEl>
                                          <p:spTgt spid="23"/>
                                        </p:tgtEl>
                                        <p:attrNameLst>
                                          <p:attrName>style.visibility</p:attrName>
                                        </p:attrNameLst>
                                      </p:cBhvr>
                                      <p:to>
                                        <p:strVal val="visible"/>
                                      </p:to>
                                    </p:set>
                                    <p:animEffect transition="in" filter="fade">
                                      <p:cBhvr>
                                        <p:cTn id="62" dur="500"/>
                                        <p:tgtEl>
                                          <p:spTgt spid="23"/>
                                        </p:tgtEl>
                                      </p:cBhvr>
                                    </p:animEffect>
                                  </p:childTnLst>
                                </p:cTn>
                              </p:par>
                              <p:par>
                                <p:cTn id="63" presetID="10" presetClass="entr" presetSubtype="0" fill="hold" grpId="0" nodeType="withEffect">
                                  <p:stCondLst>
                                    <p:cond delay="0"/>
                                  </p:stCondLst>
                                  <p:childTnLst>
                                    <p:set>
                                      <p:cBhvr>
                                        <p:cTn id="64" dur="1" fill="hold">
                                          <p:stCondLst>
                                            <p:cond delay="0"/>
                                          </p:stCondLst>
                                        </p:cTn>
                                        <p:tgtEl>
                                          <p:spTgt spid="28"/>
                                        </p:tgtEl>
                                        <p:attrNameLst>
                                          <p:attrName>style.visibility</p:attrName>
                                        </p:attrNameLst>
                                      </p:cBhvr>
                                      <p:to>
                                        <p:strVal val="visible"/>
                                      </p:to>
                                    </p:set>
                                    <p:animEffect transition="in" filter="fade">
                                      <p:cBhvr>
                                        <p:cTn id="65" dur="500"/>
                                        <p:tgtEl>
                                          <p:spTgt spid="28"/>
                                        </p:tgtEl>
                                      </p:cBhvr>
                                    </p:animEffect>
                                  </p:childTnLst>
                                </p:cTn>
                              </p:par>
                              <p:par>
                                <p:cTn id="66" presetID="10" presetClass="entr" presetSubtype="0" fill="hold" grpId="0" nodeType="withEffect">
                                  <p:stCondLst>
                                    <p:cond delay="0"/>
                                  </p:stCondLst>
                                  <p:childTnLst>
                                    <p:set>
                                      <p:cBhvr>
                                        <p:cTn id="67" dur="1" fill="hold">
                                          <p:stCondLst>
                                            <p:cond delay="0"/>
                                          </p:stCondLst>
                                        </p:cTn>
                                        <p:tgtEl>
                                          <p:spTgt spid="27"/>
                                        </p:tgtEl>
                                        <p:attrNameLst>
                                          <p:attrName>style.visibility</p:attrName>
                                        </p:attrNameLst>
                                      </p:cBhvr>
                                      <p:to>
                                        <p:strVal val="visible"/>
                                      </p:to>
                                    </p:set>
                                    <p:animEffect transition="in" filter="fade">
                                      <p:cBhvr>
                                        <p:cTn id="68" dur="500"/>
                                        <p:tgtEl>
                                          <p:spTgt spid="27"/>
                                        </p:tgtEl>
                                      </p:cBhvr>
                                    </p:animEffect>
                                  </p:childTnLst>
                                </p:cTn>
                              </p:par>
                              <p:par>
                                <p:cTn id="69" presetID="10" presetClass="entr" presetSubtype="0" fill="hold" grpId="0" nodeType="withEffect">
                                  <p:stCondLst>
                                    <p:cond delay="0"/>
                                  </p:stCondLst>
                                  <p:childTnLst>
                                    <p:set>
                                      <p:cBhvr>
                                        <p:cTn id="70" dur="1" fill="hold">
                                          <p:stCondLst>
                                            <p:cond delay="0"/>
                                          </p:stCondLst>
                                        </p:cTn>
                                        <p:tgtEl>
                                          <p:spTgt spid="24"/>
                                        </p:tgtEl>
                                        <p:attrNameLst>
                                          <p:attrName>style.visibility</p:attrName>
                                        </p:attrNameLst>
                                      </p:cBhvr>
                                      <p:to>
                                        <p:strVal val="visible"/>
                                      </p:to>
                                    </p:set>
                                    <p:animEffect transition="in" filter="fade">
                                      <p:cBhvr>
                                        <p:cTn id="71" dur="500"/>
                                        <p:tgtEl>
                                          <p:spTgt spid="24"/>
                                        </p:tgtEl>
                                      </p:cBhvr>
                                    </p:animEffect>
                                  </p:childTnLst>
                                </p:cTn>
                              </p:par>
                              <p:par>
                                <p:cTn id="72" presetID="10" presetClass="entr" presetSubtype="0" fill="hold" grpId="0" nodeType="withEffect">
                                  <p:stCondLst>
                                    <p:cond delay="0"/>
                                  </p:stCondLst>
                                  <p:childTnLst>
                                    <p:set>
                                      <p:cBhvr>
                                        <p:cTn id="73" dur="1" fill="hold">
                                          <p:stCondLst>
                                            <p:cond delay="0"/>
                                          </p:stCondLst>
                                        </p:cTn>
                                        <p:tgtEl>
                                          <p:spTgt spid="25"/>
                                        </p:tgtEl>
                                        <p:attrNameLst>
                                          <p:attrName>style.visibility</p:attrName>
                                        </p:attrNameLst>
                                      </p:cBhvr>
                                      <p:to>
                                        <p:strVal val="visible"/>
                                      </p:to>
                                    </p:set>
                                    <p:animEffect transition="in" filter="fade">
                                      <p:cBhvr>
                                        <p:cTn id="74" dur="500"/>
                                        <p:tgtEl>
                                          <p:spTgt spid="25"/>
                                        </p:tgtEl>
                                      </p:cBhvr>
                                    </p:animEffect>
                                  </p:childTnLst>
                                </p:cTn>
                              </p:par>
                              <p:par>
                                <p:cTn id="75" presetID="10" presetClass="entr" presetSubtype="0" fill="hold" grpId="0" nodeType="withEffect">
                                  <p:stCondLst>
                                    <p:cond delay="0"/>
                                  </p:stCondLst>
                                  <p:childTnLst>
                                    <p:set>
                                      <p:cBhvr>
                                        <p:cTn id="76" dur="1" fill="hold">
                                          <p:stCondLst>
                                            <p:cond delay="0"/>
                                          </p:stCondLst>
                                        </p:cTn>
                                        <p:tgtEl>
                                          <p:spTgt spid="26"/>
                                        </p:tgtEl>
                                        <p:attrNameLst>
                                          <p:attrName>style.visibility</p:attrName>
                                        </p:attrNameLst>
                                      </p:cBhvr>
                                      <p:to>
                                        <p:strVal val="visible"/>
                                      </p:to>
                                    </p:set>
                                    <p:animEffect transition="in" filter="fade">
                                      <p:cBhvr>
                                        <p:cTn id="77" dur="500"/>
                                        <p:tgtEl>
                                          <p:spTgt spid="26"/>
                                        </p:tgtEl>
                                      </p:cBhvr>
                                    </p:animEffect>
                                  </p:childTnLst>
                                </p:cTn>
                              </p:par>
                            </p:childTnLst>
                          </p:cTn>
                        </p:par>
                        <p:par>
                          <p:cTn id="97" fill="hold">
                            <p:stCondLst>
                              <p:cond delay="1200"/>
                            </p:stCondLst>
                            <p:childTnLst>
                              <p:par>
                                <p:cTn id="79" presetID="10" presetClass="entr" presetSubtype="0" fill="hold" grpId="0" nodeType="withEffect">
                                  <p:stCondLst>
                                    <p:cond delay="0"/>
                                  </p:stCondLst>
                                  <p:childTnLst>
                                    <p:set>
                                      <p:cBhvr>
                                        <p:cTn id="80" dur="1" fill="hold">
                                          <p:stCondLst>
                                            <p:cond delay="0"/>
                                          </p:stCondLst>
                                        </p:cTn>
                                        <p:tgtEl>
                                          <p:spTgt spid="29"/>
                                        </p:tgtEl>
                                        <p:attrNameLst>
                                          <p:attrName>style.visibility</p:attrName>
                                        </p:attrNameLst>
                                      </p:cBhvr>
                                      <p:to>
                                        <p:strVal val="visible"/>
                                      </p:to>
                                    </p:set>
                                    <p:animEffect transition="in" filter="fade">
                                      <p:cBhvr>
                                        <p:cTn id="81" dur="500"/>
                                        <p:tgtEl>
                                          <p:spTgt spid="29"/>
                                        </p:tgtEl>
                                      </p:cBhvr>
                                    </p:animEffect>
                                  </p:childTnLst>
                                </p:cTn>
                              </p:par>
                              <p:par>
                                <p:cTn id="82" presetID="10" presetClass="entr" presetSubtype="0" fill="hold" grpId="0" nodeType="withEffect">
                                  <p:stCondLst>
                                    <p:cond delay="0"/>
                                  </p:stCondLst>
                                  <p:childTnLst>
                                    <p:set>
                                      <p:cBhvr>
                                        <p:cTn id="83" dur="1" fill="hold">
                                          <p:stCondLst>
                                            <p:cond delay="0"/>
                                          </p:stCondLst>
                                        </p:cTn>
                                        <p:tgtEl>
                                          <p:spTgt spid="34"/>
                                        </p:tgtEl>
                                        <p:attrNameLst>
                                          <p:attrName>style.visibility</p:attrName>
                                        </p:attrNameLst>
                                      </p:cBhvr>
                                      <p:to>
                                        <p:strVal val="visible"/>
                                      </p:to>
                                    </p:set>
                                    <p:animEffect transition="in" filter="fade">
                                      <p:cBhvr>
                                        <p:cTn id="84" dur="500"/>
                                        <p:tgtEl>
                                          <p:spTgt spid="34"/>
                                        </p:tgtEl>
                                      </p:cBhvr>
                                    </p:animEffect>
                                  </p:childTnLst>
                                </p:cTn>
                              </p:par>
                              <p:par>
                                <p:cTn id="85" presetID="10" presetClass="entr" presetSubtype="0" fill="hold" grpId="0" nodeType="withEffect">
                                  <p:stCondLst>
                                    <p:cond delay="0"/>
                                  </p:stCondLst>
                                  <p:childTnLst>
                                    <p:set>
                                      <p:cBhvr>
                                        <p:cTn id="86" dur="1" fill="hold">
                                          <p:stCondLst>
                                            <p:cond delay="0"/>
                                          </p:stCondLst>
                                        </p:cTn>
                                        <p:tgtEl>
                                          <p:spTgt spid="33"/>
                                        </p:tgtEl>
                                        <p:attrNameLst>
                                          <p:attrName>style.visibility</p:attrName>
                                        </p:attrNameLst>
                                      </p:cBhvr>
                                      <p:to>
                                        <p:strVal val="visible"/>
                                      </p:to>
                                    </p:set>
                                    <p:animEffect transition="in" filter="fade">
                                      <p:cBhvr>
                                        <p:cTn id="87" dur="500"/>
                                        <p:tgtEl>
                                          <p:spTgt spid="33"/>
                                        </p:tgtEl>
                                      </p:cBhvr>
                                    </p:animEffect>
                                  </p:childTnLst>
                                </p:cTn>
                              </p:par>
                              <p:par>
                                <p:cTn id="88" presetID="10" presetClass="entr" presetSubtype="0" fill="hold" grpId="0" nodeType="withEffect">
                                  <p:stCondLst>
                                    <p:cond delay="0"/>
                                  </p:stCondLst>
                                  <p:childTnLst>
                                    <p:set>
                                      <p:cBhvr>
                                        <p:cTn id="89" dur="1" fill="hold">
                                          <p:stCondLst>
                                            <p:cond delay="0"/>
                                          </p:stCondLst>
                                        </p:cTn>
                                        <p:tgtEl>
                                          <p:spTgt spid="30"/>
                                        </p:tgtEl>
                                        <p:attrNameLst>
                                          <p:attrName>style.visibility</p:attrName>
                                        </p:attrNameLst>
                                      </p:cBhvr>
                                      <p:to>
                                        <p:strVal val="visible"/>
                                      </p:to>
                                    </p:set>
                                    <p:animEffect transition="in" filter="fade">
                                      <p:cBhvr>
                                        <p:cTn id="90" dur="500"/>
                                        <p:tgtEl>
                                          <p:spTgt spid="30"/>
                                        </p:tgtEl>
                                      </p:cBhvr>
                                    </p:animEffect>
                                  </p:childTnLst>
                                </p:cTn>
                              </p:par>
                              <p:par>
                                <p:cTn id="91" presetID="10" presetClass="entr" presetSubtype="0" fill="hold" grpId="0" nodeType="withEffect">
                                  <p:stCondLst>
                                    <p:cond delay="0"/>
                                  </p:stCondLst>
                                  <p:childTnLst>
                                    <p:set>
                                      <p:cBhvr>
                                        <p:cTn id="92" dur="1" fill="hold">
                                          <p:stCondLst>
                                            <p:cond delay="0"/>
                                          </p:stCondLst>
                                        </p:cTn>
                                        <p:tgtEl>
                                          <p:spTgt spid="31"/>
                                        </p:tgtEl>
                                        <p:attrNameLst>
                                          <p:attrName>style.visibility</p:attrName>
                                        </p:attrNameLst>
                                      </p:cBhvr>
                                      <p:to>
                                        <p:strVal val="visible"/>
                                      </p:to>
                                    </p:set>
                                    <p:animEffect transition="in" filter="fade">
                                      <p:cBhvr>
                                        <p:cTn id="93" dur="500"/>
                                        <p:tgtEl>
                                          <p:spTgt spid="31"/>
                                        </p:tgtEl>
                                      </p:cBhvr>
                                    </p:animEffect>
                                  </p:childTnLst>
                                </p:cTn>
                              </p:par>
                              <p:par>
                                <p:cTn id="94" presetID="10" presetClass="entr" presetSubtype="0" fill="hold" grpId="0" nodeType="withEffect">
                                  <p:stCondLst>
                                    <p:cond delay="0"/>
                                  </p:stCondLst>
                                  <p:childTnLst>
                                    <p:set>
                                      <p:cBhvr>
                                        <p:cTn id="95" dur="1" fill="hold">
                                          <p:stCondLst>
                                            <p:cond delay="0"/>
                                          </p:stCondLst>
                                        </p:cTn>
                                        <p:tgtEl>
                                          <p:spTgt spid="32"/>
                                        </p:tgtEl>
                                        <p:attrNameLst>
                                          <p:attrName>style.visibility</p:attrName>
                                        </p:attrNameLst>
                                      </p:cBhvr>
                                      <p:to>
                                        <p:strVal val="visible"/>
                                      </p:to>
                                    </p:set>
                                    <p:animEffect transition="in" filter="fade">
                                      <p:cBhvr>
                                        <p:cTn id="96" dur="500"/>
                                        <p:tgtEl>
                                          <p:spTgt spid="32"/>
                                        </p:tgtEl>
                                      </p:cBhvr>
                                    </p:animEffect>
                                  </p:childTnLst>
                                </p:cTn>
                              </p:par>
                            </p:childTnLst>
                          </p:cTn>
                        </p:par>
                        <p:par>
                          <p:cTn id="116" fill="hold">
                            <p:stCondLst>
                              <p:cond delay="1500"/>
                            </p:stCondLst>
                            <p:childTnLst>
                              <p:par>
                                <p:cTn id="98" presetID="10" presetClass="entr" presetSubtype="0" fill="hold" grpId="0" nodeType="withEffect">
                                  <p:stCondLst>
                                    <p:cond delay="0"/>
                                  </p:stCondLst>
                                  <p:childTnLst>
                                    <p:set>
                                      <p:cBhvr>
                                        <p:cTn id="99" dur="1" fill="hold">
                                          <p:stCondLst>
                                            <p:cond delay="0"/>
                                          </p:stCondLst>
                                        </p:cTn>
                                        <p:tgtEl>
                                          <p:spTgt spid="35"/>
                                        </p:tgtEl>
                                        <p:attrNameLst>
                                          <p:attrName>style.visibility</p:attrName>
                                        </p:attrNameLst>
                                      </p:cBhvr>
                                      <p:to>
                                        <p:strVal val="visible"/>
                                      </p:to>
                                    </p:set>
                                    <p:animEffect transition="in" filter="fade">
                                      <p:cBhvr>
                                        <p:cTn id="100" dur="500"/>
                                        <p:tgtEl>
                                          <p:spTgt spid="35"/>
                                        </p:tgtEl>
                                      </p:cBhvr>
                                    </p:animEffect>
                                  </p:childTnLst>
                                </p:cTn>
                              </p:par>
                              <p:par>
                                <p:cTn id="101" presetID="10" presetClass="entr" presetSubtype="0" fill="hold" grpId="0" nodeType="withEffect">
                                  <p:stCondLst>
                                    <p:cond delay="0"/>
                                  </p:stCondLst>
                                  <p:childTnLst>
                                    <p:set>
                                      <p:cBhvr>
                                        <p:cTn id="102" dur="1" fill="hold">
                                          <p:stCondLst>
                                            <p:cond delay="0"/>
                                          </p:stCondLst>
                                        </p:cTn>
                                        <p:tgtEl>
                                          <p:spTgt spid="40"/>
                                        </p:tgtEl>
                                        <p:attrNameLst>
                                          <p:attrName>style.visibility</p:attrName>
                                        </p:attrNameLst>
                                      </p:cBhvr>
                                      <p:to>
                                        <p:strVal val="visible"/>
                                      </p:to>
                                    </p:set>
                                    <p:animEffect transition="in" filter="fade">
                                      <p:cBhvr>
                                        <p:cTn id="103" dur="500"/>
                                        <p:tgtEl>
                                          <p:spTgt spid="40"/>
                                        </p:tgtEl>
                                      </p:cBhvr>
                                    </p:animEffect>
                                  </p:childTnLst>
                                </p:cTn>
                              </p:par>
                              <p:par>
                                <p:cTn id="104" presetID="10" presetClass="entr" presetSubtype="0" fill="hold" grpId="0" nodeType="withEffect">
                                  <p:stCondLst>
                                    <p:cond delay="0"/>
                                  </p:stCondLst>
                                  <p:childTnLst>
                                    <p:set>
                                      <p:cBhvr>
                                        <p:cTn id="105" dur="1" fill="hold">
                                          <p:stCondLst>
                                            <p:cond delay="0"/>
                                          </p:stCondLst>
                                        </p:cTn>
                                        <p:tgtEl>
                                          <p:spTgt spid="39"/>
                                        </p:tgtEl>
                                        <p:attrNameLst>
                                          <p:attrName>style.visibility</p:attrName>
                                        </p:attrNameLst>
                                      </p:cBhvr>
                                      <p:to>
                                        <p:strVal val="visible"/>
                                      </p:to>
                                    </p:set>
                                    <p:animEffect transition="in" filter="fade">
                                      <p:cBhvr>
                                        <p:cTn id="106" dur="500"/>
                                        <p:tgtEl>
                                          <p:spTgt spid="39"/>
                                        </p:tgtEl>
                                      </p:cBhvr>
                                    </p:animEffect>
                                  </p:childTnLst>
                                </p:cTn>
                              </p:par>
                              <p:par>
                                <p:cTn id="107" presetID="10" presetClass="entr" presetSubtype="0" fill="hold" grpId="0" nodeType="withEffect">
                                  <p:stCondLst>
                                    <p:cond delay="0"/>
                                  </p:stCondLst>
                                  <p:childTnLst>
                                    <p:set>
                                      <p:cBhvr>
                                        <p:cTn id="108" dur="1" fill="hold">
                                          <p:stCondLst>
                                            <p:cond delay="0"/>
                                          </p:stCondLst>
                                        </p:cTn>
                                        <p:tgtEl>
                                          <p:spTgt spid="36"/>
                                        </p:tgtEl>
                                        <p:attrNameLst>
                                          <p:attrName>style.visibility</p:attrName>
                                        </p:attrNameLst>
                                      </p:cBhvr>
                                      <p:to>
                                        <p:strVal val="visible"/>
                                      </p:to>
                                    </p:set>
                                    <p:animEffect transition="in" filter="fade">
                                      <p:cBhvr>
                                        <p:cTn id="109" dur="500"/>
                                        <p:tgtEl>
                                          <p:spTgt spid="36"/>
                                        </p:tgtEl>
                                      </p:cBhvr>
                                    </p:animEffect>
                                  </p:childTnLst>
                                </p:cTn>
                              </p:par>
                              <p:par>
                                <p:cTn id="110" presetID="10" presetClass="entr" presetSubtype="0" fill="hold" grpId="0" nodeType="withEffect">
                                  <p:stCondLst>
                                    <p:cond delay="0"/>
                                  </p:stCondLst>
                                  <p:childTnLst>
                                    <p:set>
                                      <p:cBhvr>
                                        <p:cTn id="111" dur="1" fill="hold">
                                          <p:stCondLst>
                                            <p:cond delay="0"/>
                                          </p:stCondLst>
                                        </p:cTn>
                                        <p:tgtEl>
                                          <p:spTgt spid="37"/>
                                        </p:tgtEl>
                                        <p:attrNameLst>
                                          <p:attrName>style.visibility</p:attrName>
                                        </p:attrNameLst>
                                      </p:cBhvr>
                                      <p:to>
                                        <p:strVal val="visible"/>
                                      </p:to>
                                    </p:set>
                                    <p:animEffect transition="in" filter="fade">
                                      <p:cBhvr>
                                        <p:cTn id="112" dur="500"/>
                                        <p:tgtEl>
                                          <p:spTgt spid="37"/>
                                        </p:tgtEl>
                                      </p:cBhvr>
                                    </p:animEffect>
                                  </p:childTnLst>
                                </p:cTn>
                              </p:par>
                              <p:par>
                                <p:cTn id="113" presetID="10" presetClass="entr" presetSubtype="0" fill="hold" grpId="0" nodeType="withEffect">
                                  <p:stCondLst>
                                    <p:cond delay="0"/>
                                  </p:stCondLst>
                                  <p:childTnLst>
                                    <p:set>
                                      <p:cBhvr>
                                        <p:cTn id="114" dur="1" fill="hold">
                                          <p:stCondLst>
                                            <p:cond delay="0"/>
                                          </p:stCondLst>
                                        </p:cTn>
                                        <p:tgtEl>
                                          <p:spTgt spid="38"/>
                                        </p:tgtEl>
                                        <p:attrNameLst>
                                          <p:attrName>style.visibility</p:attrName>
                                        </p:attrNameLst>
                                      </p:cBhvr>
                                      <p:to>
                                        <p:strVal val="visible"/>
                                      </p:to>
                                    </p:set>
                                    <p:animEffect transition="in" filter="fade">
                                      <p:cBhvr>
                                        <p:cTn id="115" dur="500"/>
                                        <p:tgtEl>
                                          <p:spTgt spid="38"/>
                                        </p:tgtEl>
                                      </p:cBhvr>
                                    </p:animEffect>
                                  </p:childTnLst>
                                </p:cTn>
                              </p:par>
                            </p:childTnLst>
                          </p:cTn>
                        </p:par>
                        <p:par>
                          <p:cTn id="135" fill="hold">
                            <p:stCondLst>
                              <p:cond delay="1800"/>
                            </p:stCondLst>
                            <p:childTnLst>
                              <p:par>
                                <p:cTn id="117" presetID="10" presetClass="entr" presetSubtype="0" fill="hold" grpId="0" nodeType="withEffect">
                                  <p:stCondLst>
                                    <p:cond delay="0"/>
                                  </p:stCondLst>
                                  <p:childTnLst>
                                    <p:set>
                                      <p:cBhvr>
                                        <p:cTn id="118" dur="1" fill="hold">
                                          <p:stCondLst>
                                            <p:cond delay="0"/>
                                          </p:stCondLst>
                                        </p:cTn>
                                        <p:tgtEl>
                                          <p:spTgt spid="41"/>
                                        </p:tgtEl>
                                        <p:attrNameLst>
                                          <p:attrName>style.visibility</p:attrName>
                                        </p:attrNameLst>
                                      </p:cBhvr>
                                      <p:to>
                                        <p:strVal val="visible"/>
                                      </p:to>
                                    </p:set>
                                    <p:animEffect transition="in" filter="fade">
                                      <p:cBhvr>
                                        <p:cTn id="119" dur="500"/>
                                        <p:tgtEl>
                                          <p:spTgt spid="41"/>
                                        </p:tgtEl>
                                      </p:cBhvr>
                                    </p:animEffect>
                                  </p:childTnLst>
                                </p:cTn>
                              </p:par>
                              <p:par>
                                <p:cTn id="120" presetID="10" presetClass="entr" presetSubtype="0" fill="hold" grpId="0" nodeType="withEffect">
                                  <p:stCondLst>
                                    <p:cond delay="0"/>
                                  </p:stCondLst>
                                  <p:childTnLst>
                                    <p:set>
                                      <p:cBhvr>
                                        <p:cTn id="121" dur="1" fill="hold">
                                          <p:stCondLst>
                                            <p:cond delay="0"/>
                                          </p:stCondLst>
                                        </p:cTn>
                                        <p:tgtEl>
                                          <p:spTgt spid="46"/>
                                        </p:tgtEl>
                                        <p:attrNameLst>
                                          <p:attrName>style.visibility</p:attrName>
                                        </p:attrNameLst>
                                      </p:cBhvr>
                                      <p:to>
                                        <p:strVal val="visible"/>
                                      </p:to>
                                    </p:set>
                                    <p:animEffect transition="in" filter="fade">
                                      <p:cBhvr>
                                        <p:cTn id="122" dur="500"/>
                                        <p:tgtEl>
                                          <p:spTgt spid="46"/>
                                        </p:tgtEl>
                                      </p:cBhvr>
                                    </p:animEffect>
                                  </p:childTnLst>
                                </p:cTn>
                              </p:par>
                              <p:par>
                                <p:cTn id="123" presetID="10" presetClass="entr" presetSubtype="0" fill="hold" grpId="0" nodeType="withEffect">
                                  <p:stCondLst>
                                    <p:cond delay="0"/>
                                  </p:stCondLst>
                                  <p:childTnLst>
                                    <p:set>
                                      <p:cBhvr>
                                        <p:cTn id="124" dur="1" fill="hold">
                                          <p:stCondLst>
                                            <p:cond delay="0"/>
                                          </p:stCondLst>
                                        </p:cTn>
                                        <p:tgtEl>
                                          <p:spTgt spid="45"/>
                                        </p:tgtEl>
                                        <p:attrNameLst>
                                          <p:attrName>style.visibility</p:attrName>
                                        </p:attrNameLst>
                                      </p:cBhvr>
                                      <p:to>
                                        <p:strVal val="visible"/>
                                      </p:to>
                                    </p:set>
                                    <p:animEffect transition="in" filter="fade">
                                      <p:cBhvr>
                                        <p:cTn id="125" dur="500"/>
                                        <p:tgtEl>
                                          <p:spTgt spid="45"/>
                                        </p:tgtEl>
                                      </p:cBhvr>
                                    </p:animEffect>
                                  </p:childTnLst>
                                </p:cTn>
                              </p:par>
                              <p:par>
                                <p:cTn id="126" presetID="10" presetClass="entr" presetSubtype="0" fill="hold" grpId="0" nodeType="withEffect">
                                  <p:stCondLst>
                                    <p:cond delay="0"/>
                                  </p:stCondLst>
                                  <p:childTnLst>
                                    <p:set>
                                      <p:cBhvr>
                                        <p:cTn id="127" dur="1" fill="hold">
                                          <p:stCondLst>
                                            <p:cond delay="0"/>
                                          </p:stCondLst>
                                        </p:cTn>
                                        <p:tgtEl>
                                          <p:spTgt spid="42"/>
                                        </p:tgtEl>
                                        <p:attrNameLst>
                                          <p:attrName>style.visibility</p:attrName>
                                        </p:attrNameLst>
                                      </p:cBhvr>
                                      <p:to>
                                        <p:strVal val="visible"/>
                                      </p:to>
                                    </p:set>
                                    <p:animEffect transition="in" filter="fade">
                                      <p:cBhvr>
                                        <p:cTn id="128" dur="500"/>
                                        <p:tgtEl>
                                          <p:spTgt spid="42"/>
                                        </p:tgtEl>
                                      </p:cBhvr>
                                    </p:animEffect>
                                  </p:childTnLst>
                                </p:cTn>
                              </p:par>
                              <p:par>
                                <p:cTn id="129" presetID="10" presetClass="entr" presetSubtype="0" fill="hold" grpId="0" nodeType="withEffect">
                                  <p:stCondLst>
                                    <p:cond delay="0"/>
                                  </p:stCondLst>
                                  <p:childTnLst>
                                    <p:set>
                                      <p:cBhvr>
                                        <p:cTn id="130" dur="1" fill="hold">
                                          <p:stCondLst>
                                            <p:cond delay="0"/>
                                          </p:stCondLst>
                                        </p:cTn>
                                        <p:tgtEl>
                                          <p:spTgt spid="43"/>
                                        </p:tgtEl>
                                        <p:attrNameLst>
                                          <p:attrName>style.visibility</p:attrName>
                                        </p:attrNameLst>
                                      </p:cBhvr>
                                      <p:to>
                                        <p:strVal val="visible"/>
                                      </p:to>
                                    </p:set>
                                    <p:animEffect transition="in" filter="fade">
                                      <p:cBhvr>
                                        <p:cTn id="131" dur="500"/>
                                        <p:tgtEl>
                                          <p:spTgt spid="43"/>
                                        </p:tgtEl>
                                      </p:cBhvr>
                                    </p:animEffect>
                                  </p:childTnLst>
                                </p:cTn>
                              </p:par>
                              <p:par>
                                <p:cTn id="132" presetID="10" presetClass="entr" presetSubtype="0" fill="hold" grpId="0" nodeType="withEffect">
                                  <p:stCondLst>
                                    <p:cond delay="0"/>
                                  </p:stCondLst>
                                  <p:childTnLst>
                                    <p:set>
                                      <p:cBhvr>
                                        <p:cTn id="133" dur="1" fill="hold">
                                          <p:stCondLst>
                                            <p:cond delay="0"/>
                                          </p:stCondLst>
                                        </p:cTn>
                                        <p:tgtEl>
                                          <p:spTgt spid="44"/>
                                        </p:tgtEl>
                                        <p:attrNameLst>
                                          <p:attrName>style.visibility</p:attrName>
                                        </p:attrNameLst>
                                      </p:cBhvr>
                                      <p:to>
                                        <p:strVal val="visible"/>
                                      </p:to>
                                    </p:set>
                                    <p:animEffect transition="in" filter="fade">
                                      <p:cBhvr>
                                        <p:cTn id="134" dur="500"/>
                                        <p:tgtEl>
                                          <p:spTgt spid="44"/>
                                        </p:tgtEl>
                                      </p:cBhvr>
                                    </p:animEffect>
                                  </p:childTnLst>
                                </p:cTn>
                              </p:par>
                            </p:childTnLst>
                          </p:cTn>
                        </p:par>
                        <p:par>
                          <p:cTn id="154" fill="hold">
                            <p:stCondLst>
                              <p:cond delay="2100"/>
                            </p:stCondLst>
                            <p:childTnLst>
                              <p:par>
                                <p:cTn id="136" presetID="10" presetClass="entr" presetSubtype="0" fill="hold" grpId="0" nodeType="withEffect">
                                  <p:stCondLst>
                                    <p:cond delay="0"/>
                                  </p:stCondLst>
                                  <p:childTnLst>
                                    <p:set>
                                      <p:cBhvr>
                                        <p:cTn id="137" dur="1" fill="hold">
                                          <p:stCondLst>
                                            <p:cond delay="0"/>
                                          </p:stCondLst>
                                        </p:cTn>
                                        <p:tgtEl>
                                          <p:spTgt spid="47"/>
                                        </p:tgtEl>
                                        <p:attrNameLst>
                                          <p:attrName>style.visibility</p:attrName>
                                        </p:attrNameLst>
                                      </p:cBhvr>
                                      <p:to>
                                        <p:strVal val="visible"/>
                                      </p:to>
                                    </p:set>
                                    <p:animEffect transition="in" filter="fade">
                                      <p:cBhvr>
                                        <p:cTn id="138" dur="500"/>
                                        <p:tgtEl>
                                          <p:spTgt spid="47"/>
                                        </p:tgtEl>
                                      </p:cBhvr>
                                    </p:animEffect>
                                  </p:childTnLst>
                                </p:cTn>
                              </p:par>
                              <p:par>
                                <p:cTn id="139" presetID="10" presetClass="entr" presetSubtype="0" fill="hold" grpId="0" nodeType="withEffect">
                                  <p:stCondLst>
                                    <p:cond delay="0"/>
                                  </p:stCondLst>
                                  <p:childTnLst>
                                    <p:set>
                                      <p:cBhvr>
                                        <p:cTn id="140" dur="1" fill="hold">
                                          <p:stCondLst>
                                            <p:cond delay="0"/>
                                          </p:stCondLst>
                                        </p:cTn>
                                        <p:tgtEl>
                                          <p:spTgt spid="52"/>
                                        </p:tgtEl>
                                        <p:attrNameLst>
                                          <p:attrName>style.visibility</p:attrName>
                                        </p:attrNameLst>
                                      </p:cBhvr>
                                      <p:to>
                                        <p:strVal val="visible"/>
                                      </p:to>
                                    </p:set>
                                    <p:animEffect transition="in" filter="fade">
                                      <p:cBhvr>
                                        <p:cTn id="141" dur="500"/>
                                        <p:tgtEl>
                                          <p:spTgt spid="52"/>
                                        </p:tgtEl>
                                      </p:cBhvr>
                                    </p:animEffect>
                                  </p:childTnLst>
                                </p:cTn>
                              </p:par>
                              <p:par>
                                <p:cTn id="142" presetID="10" presetClass="entr" presetSubtype="0" fill="hold" grpId="0" nodeType="withEffect">
                                  <p:stCondLst>
                                    <p:cond delay="0"/>
                                  </p:stCondLst>
                                  <p:childTnLst>
                                    <p:set>
                                      <p:cBhvr>
                                        <p:cTn id="143" dur="1" fill="hold">
                                          <p:stCondLst>
                                            <p:cond delay="0"/>
                                          </p:stCondLst>
                                        </p:cTn>
                                        <p:tgtEl>
                                          <p:spTgt spid="51"/>
                                        </p:tgtEl>
                                        <p:attrNameLst>
                                          <p:attrName>style.visibility</p:attrName>
                                        </p:attrNameLst>
                                      </p:cBhvr>
                                      <p:to>
                                        <p:strVal val="visible"/>
                                      </p:to>
                                    </p:set>
                                    <p:animEffect transition="in" filter="fade">
                                      <p:cBhvr>
                                        <p:cTn id="144" dur="500"/>
                                        <p:tgtEl>
                                          <p:spTgt spid="51"/>
                                        </p:tgtEl>
                                      </p:cBhvr>
                                    </p:animEffect>
                                  </p:childTnLst>
                                </p:cTn>
                              </p:par>
                              <p:par>
                                <p:cTn id="145" presetID="10" presetClass="entr" presetSubtype="0" fill="hold" grpId="0" nodeType="withEffect">
                                  <p:stCondLst>
                                    <p:cond delay="0"/>
                                  </p:stCondLst>
                                  <p:childTnLst>
                                    <p:set>
                                      <p:cBhvr>
                                        <p:cTn id="146" dur="1" fill="hold">
                                          <p:stCondLst>
                                            <p:cond delay="0"/>
                                          </p:stCondLst>
                                        </p:cTn>
                                        <p:tgtEl>
                                          <p:spTgt spid="48"/>
                                        </p:tgtEl>
                                        <p:attrNameLst>
                                          <p:attrName>style.visibility</p:attrName>
                                        </p:attrNameLst>
                                      </p:cBhvr>
                                      <p:to>
                                        <p:strVal val="visible"/>
                                      </p:to>
                                    </p:set>
                                    <p:animEffect transition="in" filter="fade">
                                      <p:cBhvr>
                                        <p:cTn id="147" dur="500"/>
                                        <p:tgtEl>
                                          <p:spTgt spid="48"/>
                                        </p:tgtEl>
                                      </p:cBhvr>
                                    </p:animEffect>
                                  </p:childTnLst>
                                </p:cTn>
                              </p:par>
                              <p:par>
                                <p:cTn id="148" presetID="10" presetClass="entr" presetSubtype="0" fill="hold" grpId="0" nodeType="withEffect">
                                  <p:stCondLst>
                                    <p:cond delay="0"/>
                                  </p:stCondLst>
                                  <p:childTnLst>
                                    <p:set>
                                      <p:cBhvr>
                                        <p:cTn id="149" dur="1" fill="hold">
                                          <p:stCondLst>
                                            <p:cond delay="0"/>
                                          </p:stCondLst>
                                        </p:cTn>
                                        <p:tgtEl>
                                          <p:spTgt spid="49"/>
                                        </p:tgtEl>
                                        <p:attrNameLst>
                                          <p:attrName>style.visibility</p:attrName>
                                        </p:attrNameLst>
                                      </p:cBhvr>
                                      <p:to>
                                        <p:strVal val="visible"/>
                                      </p:to>
                                    </p:set>
                                    <p:animEffect transition="in" filter="fade">
                                      <p:cBhvr>
                                        <p:cTn id="150" dur="500"/>
                                        <p:tgtEl>
                                          <p:spTgt spid="49"/>
                                        </p:tgtEl>
                                      </p:cBhvr>
                                    </p:animEffect>
                                  </p:childTnLst>
                                </p:cTn>
                              </p:par>
                              <p:par>
                                <p:cTn id="151" presetID="10" presetClass="entr" presetSubtype="0" fill="hold" grpId="0" nodeType="withEffect">
                                  <p:stCondLst>
                                    <p:cond delay="0"/>
                                  </p:stCondLst>
                                  <p:childTnLst>
                                    <p:set>
                                      <p:cBhvr>
                                        <p:cTn id="152" dur="1" fill="hold">
                                          <p:stCondLst>
                                            <p:cond delay="0"/>
                                          </p:stCondLst>
                                        </p:cTn>
                                        <p:tgtEl>
                                          <p:spTgt spid="50"/>
                                        </p:tgtEl>
                                        <p:attrNameLst>
                                          <p:attrName>style.visibility</p:attrName>
                                        </p:attrNameLst>
                                      </p:cBhvr>
                                      <p:to>
                                        <p:strVal val="visible"/>
                                      </p:to>
                                    </p:set>
                                    <p:animEffect transition="in" filter="fade">
                                      <p:cBhvr>
                                        <p:cTn id="153" dur="500"/>
                                        <p:tgtEl>
                                          <p:spTgt spid="5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64592"/>
          </a:xfrm>
          <a:prstGeom prst="rect">
            <a:avLst/>
          </a:prstGeom>
          <a:solidFill>
            <a:srgbClr val="143D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548640" y="347472"/>
            <a:ext cx="3268980" cy="329184"/>
          </a:xfrm>
          <a:prstGeom prst="roundRect">
            <a:avLst>
              <a:gd name="adj" fmla="val 50000"/>
            </a:avLst>
          </a:prstGeom>
          <a:solidFill>
            <a:srgbClr val="2A9D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347472"/>
            <a:ext cx="3268980" cy="329184"/>
          </a:xfrm>
          <a:prstGeom prst="rect">
            <a:avLst/>
          </a:prstGeom>
          <a:noFill/>
        </p:spPr>
        <p:txBody>
          <a:bodyPr wrap="square" lIns="0" rIns="0" tIns="0" bIns="0" anchor="ctr">
            <a:spAutoFit/>
          </a:bodyPr>
          <a:lstStyle/>
          <a:p>
            <a:pPr algn="ctr">
              <a:lnSpc>
                <a:spcPct val="100000"/>
              </a:lnSpc>
            </a:pPr>
            <a:r>
              <a:rPr sz="1100" b="1">
                <a:solidFill>
                  <a:srgbClr val="FFFFFF"/>
                </a:solidFill>
                <a:latin typeface="Calibri"/>
              </a:rPr>
              <a:t>QUESTION 1 OF 8  ·  MAIN CHALLENGES</a:t>
            </a:r>
          </a:p>
        </p:txBody>
      </p:sp>
      <p:sp>
        <p:nvSpPr>
          <p:cNvPr id="5" name="TextBox 4"/>
          <p:cNvSpPr txBox="1"/>
          <p:nvPr/>
        </p:nvSpPr>
        <p:spPr>
          <a:xfrm>
            <a:off x="548640" y="777240"/>
            <a:ext cx="11064240" cy="594360"/>
          </a:xfrm>
          <a:prstGeom prst="rect">
            <a:avLst/>
          </a:prstGeom>
          <a:noFill/>
        </p:spPr>
        <p:txBody>
          <a:bodyPr wrap="square" lIns="0" rIns="0" tIns="0" bIns="0">
            <a:spAutoFit/>
          </a:bodyPr>
          <a:lstStyle/>
          <a:p>
            <a:pPr>
              <a:lnSpc>
                <a:spcPct val="100000"/>
              </a:lnSpc>
            </a:pPr>
            <a:r>
              <a:rPr sz="3000" b="1">
                <a:solidFill>
                  <a:srgbClr val="143D59"/>
                </a:solidFill>
                <a:latin typeface="Calibri"/>
              </a:rPr>
              <a:t>The hardest part was culture, not technology</a:t>
            </a:r>
          </a:p>
        </p:txBody>
      </p:sp>
      <p:sp>
        <p:nvSpPr>
          <p:cNvPr id="6" name="TextBox 5"/>
          <p:cNvSpPr txBox="1"/>
          <p:nvPr/>
        </p:nvSpPr>
        <p:spPr>
          <a:xfrm>
            <a:off x="548640" y="1389888"/>
            <a:ext cx="11064240" cy="411480"/>
          </a:xfrm>
          <a:prstGeom prst="rect">
            <a:avLst/>
          </a:prstGeom>
          <a:noFill/>
        </p:spPr>
        <p:txBody>
          <a:bodyPr wrap="square" lIns="0" rIns="0" tIns="0" bIns="0">
            <a:spAutoFit/>
          </a:bodyPr>
          <a:lstStyle/>
          <a:p>
            <a:pPr>
              <a:lnSpc>
                <a:spcPct val="100000"/>
              </a:lnSpc>
            </a:pPr>
            <a:r>
              <a:rPr sz="1600" b="0">
                <a:solidFill>
                  <a:srgbClr val="4F5560"/>
                </a:solidFill>
                <a:latin typeface="Calibri"/>
              </a:rPr>
              <a:t>What we met in Catena-X, and what it means for health.</a:t>
            </a:r>
          </a:p>
        </p:txBody>
      </p:sp>
      <p:sp>
        <p:nvSpPr>
          <p:cNvPr id="7" name="TextBox 6"/>
          <p:cNvSpPr txBox="1"/>
          <p:nvPr/>
        </p:nvSpPr>
        <p:spPr>
          <a:xfrm>
            <a:off x="548640" y="6446520"/>
            <a:ext cx="5120640" cy="274320"/>
          </a:xfrm>
          <a:prstGeom prst="rect">
            <a:avLst/>
          </a:prstGeom>
          <a:noFill/>
        </p:spPr>
        <p:txBody>
          <a:bodyPr wrap="square" lIns="0" rIns="0" tIns="0" bIns="0">
            <a:spAutoFit/>
          </a:bodyPr>
          <a:lstStyle/>
          <a:p>
            <a:pPr>
              <a:lnSpc>
                <a:spcPct val="100000"/>
              </a:lnSpc>
            </a:pPr>
            <a:r>
              <a:rPr sz="1000" b="0">
                <a:solidFill>
                  <a:srgbClr val="4F5560"/>
                </a:solidFill>
                <a:latin typeface="Calibri"/>
              </a:rPr>
              <a:t>Reunión de preparación  ·  Espacio de Datos EJIE  ·  País Vasco</a:t>
            </a:r>
          </a:p>
        </p:txBody>
      </p:sp>
      <p:sp>
        <p:nvSpPr>
          <p:cNvPr id="8" name="Rectangle 7"/>
          <p:cNvSpPr/>
          <p:nvPr/>
        </p:nvSpPr>
        <p:spPr>
          <a:xfrm>
            <a:off x="10012680" y="429768"/>
            <a:ext cx="155448" cy="155448"/>
          </a:xfrm>
          <a:prstGeom prst="rect">
            <a:avLst/>
          </a:prstGeom>
          <a:solidFill>
            <a:srgbClr val="2A9D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10222992" y="429768"/>
            <a:ext cx="155448" cy="155448"/>
          </a:xfrm>
          <a:prstGeom prst="rect">
            <a:avLst/>
          </a:prstGeom>
          <a:solidFill>
            <a:srgbClr val="F4EF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10433304" y="429768"/>
            <a:ext cx="155448" cy="155448"/>
          </a:xfrm>
          <a:prstGeom prst="rect">
            <a:avLst/>
          </a:prstGeom>
          <a:solidFill>
            <a:srgbClr val="F4EF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10643615" y="429768"/>
            <a:ext cx="155448" cy="155448"/>
          </a:xfrm>
          <a:prstGeom prst="rect">
            <a:avLst/>
          </a:prstGeom>
          <a:solidFill>
            <a:srgbClr val="F4EF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10853928" y="429768"/>
            <a:ext cx="155448" cy="155448"/>
          </a:xfrm>
          <a:prstGeom prst="rect">
            <a:avLst/>
          </a:prstGeom>
          <a:solidFill>
            <a:srgbClr val="F4EF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11064240" y="429768"/>
            <a:ext cx="155448" cy="155448"/>
          </a:xfrm>
          <a:prstGeom prst="rect">
            <a:avLst/>
          </a:prstGeom>
          <a:solidFill>
            <a:srgbClr val="F4EF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11274552" y="429768"/>
            <a:ext cx="155448" cy="155448"/>
          </a:xfrm>
          <a:prstGeom prst="rect">
            <a:avLst/>
          </a:prstGeom>
          <a:solidFill>
            <a:srgbClr val="F4EF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11484863" y="429768"/>
            <a:ext cx="155448" cy="155448"/>
          </a:xfrm>
          <a:prstGeom prst="rect">
            <a:avLst/>
          </a:prstGeom>
          <a:solidFill>
            <a:srgbClr val="F4EF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548640" y="2011680"/>
            <a:ext cx="5440680" cy="3108960"/>
          </a:xfrm>
          <a:prstGeom prst="roundRect">
            <a:avLst>
              <a:gd name="adj" fmla="val 5000"/>
            </a:avLst>
          </a:prstGeom>
          <a:solidFill>
            <a:srgbClr val="F4EF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548640" y="2011680"/>
            <a:ext cx="5440680" cy="411480"/>
          </a:xfrm>
          <a:prstGeom prst="rect">
            <a:avLst/>
          </a:prstGeom>
          <a:solidFill>
            <a:srgbClr val="C31E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49808" y="2084832"/>
            <a:ext cx="5038344" cy="310896"/>
          </a:xfrm>
          <a:prstGeom prst="rect">
            <a:avLst/>
          </a:prstGeom>
          <a:noFill/>
        </p:spPr>
        <p:txBody>
          <a:bodyPr wrap="square" lIns="0" rIns="0" tIns="0" bIns="0">
            <a:spAutoFit/>
          </a:bodyPr>
          <a:lstStyle/>
          <a:p>
            <a:pPr>
              <a:lnSpc>
                <a:spcPct val="100000"/>
              </a:lnSpc>
            </a:pPr>
            <a:r>
              <a:rPr sz="1700" b="1">
                <a:solidFill>
                  <a:srgbClr val="FFFFFF"/>
                </a:solidFill>
                <a:latin typeface="Calibri"/>
              </a:rPr>
              <a:t>Culture</a:t>
            </a:r>
          </a:p>
        </p:txBody>
      </p:sp>
      <p:sp>
        <p:nvSpPr>
          <p:cNvPr id="19" name="TextBox 18"/>
          <p:cNvSpPr txBox="1"/>
          <p:nvPr/>
        </p:nvSpPr>
        <p:spPr>
          <a:xfrm>
            <a:off x="749808" y="2606040"/>
            <a:ext cx="5038344" cy="2377439"/>
          </a:xfrm>
          <a:prstGeom prst="rect">
            <a:avLst/>
          </a:prstGeom>
          <a:noFill/>
        </p:spPr>
        <p:txBody>
          <a:bodyPr wrap="square" lIns="0" rIns="0" tIns="0" bIns="0">
            <a:spAutoFit/>
          </a:bodyPr>
          <a:lstStyle/>
          <a:p>
            <a:pPr>
              <a:lnSpc>
                <a:spcPct val="110000"/>
              </a:lnSpc>
            </a:pPr>
            <a:r>
              <a:rPr sz="1600" b="0">
                <a:solidFill>
                  <a:srgbClr val="4F5560"/>
                </a:solidFill>
                <a:latin typeface="Calibri"/>
              </a:rPr>
              <a:t>Open source and open collaboration were new for most companies and institutions.</a:t>
            </a:r>
          </a:p>
          <a:p>
            <a:pPr>
              <a:lnSpc>
                <a:spcPct val="110000"/>
              </a:lnSpc>
            </a:pPr>
            <a:r>
              <a:rPr sz="1600" b="0">
                <a:solidFill>
                  <a:srgbClr val="4F5560"/>
                </a:solidFill>
                <a:latin typeface="Calibri"/>
              </a:rPr>
              <a:t/>
            </a:r>
          </a:p>
          <a:p>
            <a:pPr>
              <a:lnSpc>
                <a:spcPct val="110000"/>
              </a:lnSpc>
            </a:pPr>
            <a:r>
              <a:rPr sz="1600" b="0">
                <a:solidFill>
                  <a:srgbClr val="4F5560"/>
                </a:solidFill>
                <a:latin typeface="Calibri"/>
              </a:rPr>
              <a:t>The committees and working groups delivered only when top management gave its experts time and a mandate.</a:t>
            </a:r>
          </a:p>
        </p:txBody>
      </p:sp>
      <p:sp>
        <p:nvSpPr>
          <p:cNvPr id="20" name="Rounded Rectangle 19"/>
          <p:cNvSpPr/>
          <p:nvPr/>
        </p:nvSpPr>
        <p:spPr>
          <a:xfrm>
            <a:off x="6199632" y="2011680"/>
            <a:ext cx="5440680" cy="3108960"/>
          </a:xfrm>
          <a:prstGeom prst="roundRect">
            <a:avLst>
              <a:gd name="adj" fmla="val 5000"/>
            </a:avLst>
          </a:prstGeom>
          <a:solidFill>
            <a:srgbClr val="F4EF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199632" y="2011680"/>
            <a:ext cx="5440680" cy="411480"/>
          </a:xfrm>
          <a:prstGeom prst="rect">
            <a:avLst/>
          </a:prstGeom>
          <a:solidFill>
            <a:srgbClr val="E6A8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400800" y="2084832"/>
            <a:ext cx="5038344" cy="310896"/>
          </a:xfrm>
          <a:prstGeom prst="rect">
            <a:avLst/>
          </a:prstGeom>
          <a:noFill/>
        </p:spPr>
        <p:txBody>
          <a:bodyPr wrap="square" lIns="0" rIns="0" tIns="0" bIns="0">
            <a:spAutoFit/>
          </a:bodyPr>
          <a:lstStyle/>
          <a:p>
            <a:pPr>
              <a:lnSpc>
                <a:spcPct val="100000"/>
              </a:lnSpc>
            </a:pPr>
            <a:r>
              <a:rPr sz="1700" b="1">
                <a:solidFill>
                  <a:srgbClr val="FFFFFF"/>
                </a:solidFill>
                <a:latin typeface="Calibri"/>
              </a:rPr>
              <a:t>Meaning of the data</a:t>
            </a:r>
          </a:p>
        </p:txBody>
      </p:sp>
      <p:sp>
        <p:nvSpPr>
          <p:cNvPr id="23" name="TextBox 22"/>
          <p:cNvSpPr txBox="1"/>
          <p:nvPr/>
        </p:nvSpPr>
        <p:spPr>
          <a:xfrm>
            <a:off x="6400800" y="2606040"/>
            <a:ext cx="5038344" cy="2377439"/>
          </a:xfrm>
          <a:prstGeom prst="rect">
            <a:avLst/>
          </a:prstGeom>
          <a:noFill/>
        </p:spPr>
        <p:txBody>
          <a:bodyPr wrap="square" lIns="0" rIns="0" tIns="0" bIns="0">
            <a:spAutoFit/>
          </a:bodyPr>
          <a:lstStyle/>
          <a:p>
            <a:pPr>
              <a:lnSpc>
                <a:spcPct val="110000"/>
              </a:lnSpc>
            </a:pPr>
            <a:r>
              <a:rPr sz="1600" b="0">
                <a:solidFill>
                  <a:srgbClr val="4F5560"/>
                </a:solidFill>
                <a:latin typeface="Calibri"/>
              </a:rPr>
              <a:t>Agreeing what the data means took far more work than moving it.</a:t>
            </a:r>
          </a:p>
          <a:p>
            <a:pPr>
              <a:lnSpc>
                <a:spcPct val="110000"/>
              </a:lnSpc>
            </a:pPr>
            <a:r>
              <a:rPr sz="1600" b="0">
                <a:solidFill>
                  <a:srgbClr val="4F5560"/>
                </a:solidFill>
                <a:latin typeface="Calibri"/>
              </a:rPr>
              <a:t/>
            </a:r>
          </a:p>
          <a:p>
            <a:pPr>
              <a:lnSpc>
                <a:spcPct val="110000"/>
              </a:lnSpc>
            </a:pPr>
            <a:r>
              <a:rPr sz="1600" b="0">
                <a:solidFill>
                  <a:srgbClr val="4F5560"/>
                </a:solidFill>
                <a:latin typeface="Calibri"/>
              </a:rPr>
              <a:t>In health this means FHIR, terminologies such as SNOMED CT and ICD-10, and OMOP.</a:t>
            </a:r>
          </a:p>
        </p:txBody>
      </p:sp>
      <p:sp>
        <p:nvSpPr>
          <p:cNvPr id="24" name="Rounded Rectangle 23"/>
          <p:cNvSpPr/>
          <p:nvPr/>
        </p:nvSpPr>
        <p:spPr>
          <a:xfrm>
            <a:off x="548640" y="5349240"/>
            <a:ext cx="11091672" cy="868680"/>
          </a:xfrm>
          <a:prstGeom prst="roundRect">
            <a:avLst>
              <a:gd name="adj" fmla="val 5000"/>
            </a:avLst>
          </a:prstGeom>
          <a:solidFill>
            <a:srgbClr val="F4EF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548640" y="5349240"/>
            <a:ext cx="164592" cy="868680"/>
          </a:xfrm>
          <a:prstGeom prst="rect">
            <a:avLst/>
          </a:prstGeom>
          <a:solidFill>
            <a:srgbClr val="C31E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960120" y="5349240"/>
            <a:ext cx="10424160" cy="868680"/>
          </a:xfrm>
          <a:prstGeom prst="rect">
            <a:avLst/>
          </a:prstGeom>
          <a:noFill/>
        </p:spPr>
        <p:txBody>
          <a:bodyPr wrap="square" lIns="0" rIns="0" tIns="0" bIns="0" anchor="ctr">
            <a:spAutoFit/>
          </a:bodyPr>
          <a:lstStyle/>
          <a:p>
            <a:pPr>
              <a:lnSpc>
                <a:spcPct val="110000"/>
              </a:lnSpc>
            </a:pPr>
            <a:r>
              <a:rPr sz="1800" b="1">
                <a:solidFill>
                  <a:srgbClr val="143D59"/>
                </a:solidFill>
                <a:latin typeface="Calibri"/>
              </a:rPr>
              <a:t>Moving data is the easy part. Agreeing on what it means is the hard part.</a:t>
            </a:r>
          </a:p>
        </p:txBody>
      </p:sp>
      <p:sp>
        <p:nvSpPr>
          <p:cNvPr id="27" name="TextBox 26"/>
          <p:cNvSpPr txBox="1"/>
          <p:nvPr/>
        </p:nvSpPr>
        <p:spPr>
          <a:xfrm>
            <a:off x="5852160" y="6446520"/>
            <a:ext cx="5760720" cy="274320"/>
          </a:xfrm>
          <a:prstGeom prst="rect">
            <a:avLst/>
          </a:prstGeom>
          <a:noFill/>
        </p:spPr>
        <p:txBody>
          <a:bodyPr wrap="square" lIns="0" rIns="0" tIns="0" bIns="0">
            <a:spAutoFit/>
          </a:bodyPr>
          <a:lstStyle/>
          <a:p>
            <a:pPr algn="r">
              <a:lnSpc>
                <a:spcPct val="100000"/>
              </a:lnSpc>
            </a:pPr>
            <a:r>
              <a:rPr sz="900" b="0">
                <a:solidFill>
                  <a:srgbClr val="8A8F98"/>
                </a:solidFill>
                <a:latin typeface="Calibri"/>
              </a:rPr>
              <a:t>Catena-X Automotive Network  ·  Eclipse Dataspace and Eclipse Tractus-X</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9" fill="hold">
                      <p:stCondLst>
                        <p:cond delay="indefinite"/>
                        <p:cond evt="onBegin" delay="0">
                          <p:tn val="2"/>
                        </p:cond>
                      </p:stCondLst>
                      <p:childTnLst>
                        <p:par>
                          <p:cTn id="15" fill="hold">
                            <p:stCondLst>
                              <p:cond delay="0"/>
                            </p:stCondLst>
                            <p:childTnLst>
                              <p:par>
                                <p:cTn id="3" presetID="10" presetClass="entr" presetSubtype="0" fill="hold" grpId="0" nodeType="afterEffect">
                                  <p:stCondLst>
                                    <p:cond delay="0"/>
                                  </p:stCondLst>
                                  <p:childTnLst>
                                    <p:set>
                                      <p:cBhvr>
                                        <p:cTn id="4" dur="1" fill="hold">
                                          <p:stCondLst>
                                            <p:cond delay="0"/>
                                          </p:stCondLst>
                                        </p:cTn>
                                        <p:tgtEl>
                                          <p:spTgt spid="16"/>
                                        </p:tgtEl>
                                        <p:attrNameLst>
                                          <p:attrName>style.visibility</p:attrName>
                                        </p:attrNameLst>
                                      </p:cBhvr>
                                      <p:to>
                                        <p:strVal val="visible"/>
                                      </p:to>
                                    </p:set>
                                    <p:animEffect transition="in" filter="fade">
                                      <p:cBhvr>
                                        <p:cTn id="5" dur="500"/>
                                        <p:tgtEl>
                                          <p:spTgt spid="16"/>
                                        </p:tgtEl>
                                      </p:cBhvr>
                                    </p:animEffect>
                                  </p:childTnLst>
                                </p:cTn>
                              </p:par>
                              <p:par>
                                <p:cTn id="6" presetID="10" presetClass="entr" presetSubtype="0" fill="hold" grpId="0" nodeType="withEffect">
                                  <p:stCondLst>
                                    <p:cond delay="0"/>
                                  </p:stCondLst>
                                  <p:childTnLst>
                                    <p:set>
                                      <p:cBhvr>
                                        <p:cTn id="7" dur="1" fill="hold">
                                          <p:stCondLst>
                                            <p:cond delay="0"/>
                                          </p:stCondLst>
                                        </p:cTn>
                                        <p:tgtEl>
                                          <p:spTgt spid="19"/>
                                        </p:tgtEl>
                                        <p:attrNameLst>
                                          <p:attrName>style.visibility</p:attrName>
                                        </p:attrNameLst>
                                      </p:cBhvr>
                                      <p:to>
                                        <p:strVal val="visible"/>
                                      </p:to>
                                    </p:set>
                                    <p:animEffect transition="in" filter="fade">
                                      <p:cBhvr>
                                        <p:cTn id="8" dur="500"/>
                                        <p:tgtEl>
                                          <p:spTgt spid="19"/>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17"/>
                                        </p:tgtEl>
                                        <p:attrNameLst>
                                          <p:attrName>style.visibility</p:attrName>
                                        </p:attrNameLst>
                                      </p:cBhvr>
                                      <p:to>
                                        <p:strVal val="visible"/>
                                      </p:to>
                                    </p:set>
                                    <p:animEffect transition="in" filter="fade">
                                      <p:cBhvr>
                                        <p:cTn id="11" dur="500"/>
                                        <p:tgtEl>
                                          <p:spTgt spid="17"/>
                                        </p:tgtEl>
                                      </p:cBhvr>
                                    </p:animEffect>
                                  </p:childTnLst>
                                </p:cTn>
                              </p:par>
                              <p:par>
                                <p:cTn id="12" presetID="10" presetClass="entr" presetSubtype="0" fill="hold" grpId="0" nodeType="withEffect">
                                  <p:stCondLst>
                                    <p:cond delay="0"/>
                                  </p:stCondLst>
                                  <p:childTnLst>
                                    <p:set>
                                      <p:cBhvr>
                                        <p:cTn id="13" dur="1" fill="hold">
                                          <p:stCondLst>
                                            <p:cond delay="0"/>
                                          </p:stCondLst>
                                        </p:cTn>
                                        <p:tgtEl>
                                          <p:spTgt spid="18"/>
                                        </p:tgtEl>
                                        <p:attrNameLst>
                                          <p:attrName>style.visibility</p:attrName>
                                        </p:attrNameLst>
                                      </p:cBhvr>
                                      <p:to>
                                        <p:strVal val="visible"/>
                                      </p:to>
                                    </p:set>
                                    <p:animEffect transition="in" filter="fade">
                                      <p:cBhvr>
                                        <p:cTn id="14" dur="500"/>
                                        <p:tgtEl>
                                          <p:spTgt spid="18"/>
                                        </p:tgtEl>
                                      </p:cBhvr>
                                    </p:animEffect>
                                  </p:childTnLst>
                                </p:cTn>
                              </p:par>
                            </p:childTnLst>
                          </p:cTn>
                        </p:par>
                        <p:par>
                          <p:cTn id="28" fill="hold">
                            <p:stCondLst>
                              <p:cond delay="300"/>
                            </p:stCondLst>
                            <p:childTnLst>
                              <p:par>
                                <p:cTn id="16" presetID="10" presetClass="entr" presetSubtype="0" fill="hold" grpId="0" nodeType="withEffect">
                                  <p:stCondLst>
                                    <p:cond delay="0"/>
                                  </p:stCondLst>
                                  <p:childTnLst>
                                    <p:set>
                                      <p:cBhvr>
                                        <p:cTn id="17" dur="1" fill="hold">
                                          <p:stCondLst>
                                            <p:cond delay="0"/>
                                          </p:stCondLst>
                                        </p:cTn>
                                        <p:tgtEl>
                                          <p:spTgt spid="20"/>
                                        </p:tgtEl>
                                        <p:attrNameLst>
                                          <p:attrName>style.visibility</p:attrName>
                                        </p:attrNameLst>
                                      </p:cBhvr>
                                      <p:to>
                                        <p:strVal val="visible"/>
                                      </p:to>
                                    </p:set>
                                    <p:animEffect transition="in" filter="fade">
                                      <p:cBhvr>
                                        <p:cTn id="18" dur="500"/>
                                        <p:tgtEl>
                                          <p:spTgt spid="20"/>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23"/>
                                        </p:tgtEl>
                                        <p:attrNameLst>
                                          <p:attrName>style.visibility</p:attrName>
                                        </p:attrNameLst>
                                      </p:cBhvr>
                                      <p:to>
                                        <p:strVal val="visible"/>
                                      </p:to>
                                    </p:set>
                                    <p:animEffect transition="in" filter="fade">
                                      <p:cBhvr>
                                        <p:cTn id="21" dur="500"/>
                                        <p:tgtEl>
                                          <p:spTgt spid="23"/>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21"/>
                                        </p:tgtEl>
                                        <p:attrNameLst>
                                          <p:attrName>style.visibility</p:attrName>
                                        </p:attrNameLst>
                                      </p:cBhvr>
                                      <p:to>
                                        <p:strVal val="visible"/>
                                      </p:to>
                                    </p:set>
                                    <p:animEffect transition="in" filter="fade">
                                      <p:cBhvr>
                                        <p:cTn id="24" dur="500"/>
                                        <p:tgtEl>
                                          <p:spTgt spid="21"/>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22"/>
                                        </p:tgtEl>
                                        <p:attrNameLst>
                                          <p:attrName>style.visibility</p:attrName>
                                        </p:attrNameLst>
                                      </p:cBhvr>
                                      <p:to>
                                        <p:strVal val="visible"/>
                                      </p:to>
                                    </p:set>
                                    <p:animEffect transition="in" filter="fade">
                                      <p:cBhvr>
                                        <p:cTn id="27" dur="500"/>
                                        <p:tgtEl>
                                          <p:spTgt spid="22"/>
                                        </p:tgtEl>
                                      </p:cBhvr>
                                    </p:animEffect>
                                  </p:childTnLst>
                                </p:cTn>
                              </p:par>
                            </p:childTnLst>
                          </p:cTn>
                        </p:par>
                        <p:par>
                          <p:cTn id="38" fill="hold">
                            <p:stCondLst>
                              <p:cond delay="600"/>
                            </p:stCondLst>
                            <p:childTnLst>
                              <p:par>
                                <p:cTn id="29" presetID="10" presetClass="entr" presetSubtype="0" fill="hold" grpId="0" nodeType="withEffect">
                                  <p:stCondLst>
                                    <p:cond delay="0"/>
                                  </p:stCondLst>
                                  <p:childTnLst>
                                    <p:set>
                                      <p:cBhvr>
                                        <p:cTn id="30" dur="1" fill="hold">
                                          <p:stCondLst>
                                            <p:cond delay="0"/>
                                          </p:stCondLst>
                                        </p:cTn>
                                        <p:tgtEl>
                                          <p:spTgt spid="24"/>
                                        </p:tgtEl>
                                        <p:attrNameLst>
                                          <p:attrName>style.visibility</p:attrName>
                                        </p:attrNameLst>
                                      </p:cBhvr>
                                      <p:to>
                                        <p:strVal val="visible"/>
                                      </p:to>
                                    </p:set>
                                    <p:animEffect transition="in" filter="fade">
                                      <p:cBhvr>
                                        <p:cTn id="31" dur="500"/>
                                        <p:tgtEl>
                                          <p:spTgt spid="24"/>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26"/>
                                        </p:tgtEl>
                                        <p:attrNameLst>
                                          <p:attrName>style.visibility</p:attrName>
                                        </p:attrNameLst>
                                      </p:cBhvr>
                                      <p:to>
                                        <p:strVal val="visible"/>
                                      </p:to>
                                    </p:set>
                                    <p:animEffect transition="in" filter="fade">
                                      <p:cBhvr>
                                        <p:cTn id="34" dur="500"/>
                                        <p:tgtEl>
                                          <p:spTgt spid="26"/>
                                        </p:tgtEl>
                                      </p:cBhvr>
                                    </p:animEffect>
                                  </p:childTnLst>
                                </p:cTn>
                              </p:par>
                              <p:par>
                                <p:cTn id="35" presetID="10" presetClass="entr" presetSubtype="0" fill="hold" grpId="0" nodeType="withEffect">
                                  <p:stCondLst>
                                    <p:cond delay="0"/>
                                  </p:stCondLst>
                                  <p:childTnLst>
                                    <p:set>
                                      <p:cBhvr>
                                        <p:cTn id="36" dur="1" fill="hold">
                                          <p:stCondLst>
                                            <p:cond delay="0"/>
                                          </p:stCondLst>
                                        </p:cTn>
                                        <p:tgtEl>
                                          <p:spTgt spid="25"/>
                                        </p:tgtEl>
                                        <p:attrNameLst>
                                          <p:attrName>style.visibility</p:attrName>
                                        </p:attrNameLst>
                                      </p:cBhvr>
                                      <p:to>
                                        <p:strVal val="visible"/>
                                      </p:to>
                                    </p:set>
                                    <p:animEffect transition="in" filter="fade">
                                      <p:cBhvr>
                                        <p:cTn id="37" dur="500"/>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64592"/>
          </a:xfrm>
          <a:prstGeom prst="rect">
            <a:avLst/>
          </a:prstGeom>
          <a:solidFill>
            <a:srgbClr val="143D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548640" y="347472"/>
            <a:ext cx="3268980" cy="329184"/>
          </a:xfrm>
          <a:prstGeom prst="roundRect">
            <a:avLst>
              <a:gd name="adj" fmla="val 50000"/>
            </a:avLst>
          </a:prstGeom>
          <a:solidFill>
            <a:srgbClr val="2A9D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347472"/>
            <a:ext cx="3268980" cy="329184"/>
          </a:xfrm>
          <a:prstGeom prst="rect">
            <a:avLst/>
          </a:prstGeom>
          <a:noFill/>
        </p:spPr>
        <p:txBody>
          <a:bodyPr wrap="square" lIns="0" rIns="0" tIns="0" bIns="0" anchor="ctr">
            <a:spAutoFit/>
          </a:bodyPr>
          <a:lstStyle/>
          <a:p>
            <a:pPr algn="ctr">
              <a:lnSpc>
                <a:spcPct val="100000"/>
              </a:lnSpc>
            </a:pPr>
            <a:r>
              <a:rPr sz="1100" b="1">
                <a:solidFill>
                  <a:srgbClr val="FFFFFF"/>
                </a:solidFill>
                <a:latin typeface="Calibri"/>
              </a:rPr>
              <a:t>QUESTION 2 OF 8  ·  LESSONS LEARNED</a:t>
            </a:r>
          </a:p>
        </p:txBody>
      </p:sp>
      <p:sp>
        <p:nvSpPr>
          <p:cNvPr id="5" name="TextBox 4"/>
          <p:cNvSpPr txBox="1"/>
          <p:nvPr/>
        </p:nvSpPr>
        <p:spPr>
          <a:xfrm>
            <a:off x="548640" y="777240"/>
            <a:ext cx="11064240" cy="594360"/>
          </a:xfrm>
          <a:prstGeom prst="rect">
            <a:avLst/>
          </a:prstGeom>
          <a:noFill/>
        </p:spPr>
        <p:txBody>
          <a:bodyPr wrap="square" lIns="0" rIns="0" tIns="0" bIns="0">
            <a:spAutoFit/>
          </a:bodyPr>
          <a:lstStyle/>
          <a:p>
            <a:pPr>
              <a:lnSpc>
                <a:spcPct val="100000"/>
              </a:lnSpc>
            </a:pPr>
            <a:r>
              <a:rPr sz="3000" b="1">
                <a:solidFill>
                  <a:srgbClr val="143D59"/>
                </a:solidFill>
                <a:latin typeface="Calibri"/>
              </a:rPr>
              <a:t>Four lessons to avoid common mistakes</a:t>
            </a:r>
          </a:p>
        </p:txBody>
      </p:sp>
      <p:sp>
        <p:nvSpPr>
          <p:cNvPr id="6" name="TextBox 5"/>
          <p:cNvSpPr txBox="1"/>
          <p:nvPr/>
        </p:nvSpPr>
        <p:spPr>
          <a:xfrm>
            <a:off x="548640" y="1389888"/>
            <a:ext cx="11064240" cy="411480"/>
          </a:xfrm>
          <a:prstGeom prst="rect">
            <a:avLst/>
          </a:prstGeom>
          <a:noFill/>
        </p:spPr>
        <p:txBody>
          <a:bodyPr wrap="square" lIns="0" rIns="0" tIns="0" bIns="0">
            <a:spAutoFit/>
          </a:bodyPr>
          <a:lstStyle/>
          <a:p>
            <a:pPr>
              <a:lnSpc>
                <a:spcPct val="100000"/>
              </a:lnSpc>
            </a:pPr>
            <a:r>
              <a:rPr sz="1600" b="0">
                <a:solidFill>
                  <a:srgbClr val="4F5560"/>
                </a:solidFill>
                <a:latin typeface="Calibri"/>
              </a:rPr>
              <a:t>What we would do again, and what we recommend for the Basque Country.</a:t>
            </a:r>
          </a:p>
        </p:txBody>
      </p:sp>
      <p:sp>
        <p:nvSpPr>
          <p:cNvPr id="7" name="TextBox 6"/>
          <p:cNvSpPr txBox="1"/>
          <p:nvPr/>
        </p:nvSpPr>
        <p:spPr>
          <a:xfrm>
            <a:off x="548640" y="6446520"/>
            <a:ext cx="5120640" cy="274320"/>
          </a:xfrm>
          <a:prstGeom prst="rect">
            <a:avLst/>
          </a:prstGeom>
          <a:noFill/>
        </p:spPr>
        <p:txBody>
          <a:bodyPr wrap="square" lIns="0" rIns="0" tIns="0" bIns="0">
            <a:spAutoFit/>
          </a:bodyPr>
          <a:lstStyle/>
          <a:p>
            <a:pPr>
              <a:lnSpc>
                <a:spcPct val="100000"/>
              </a:lnSpc>
            </a:pPr>
            <a:r>
              <a:rPr sz="1000" b="0">
                <a:solidFill>
                  <a:srgbClr val="4F5560"/>
                </a:solidFill>
                <a:latin typeface="Calibri"/>
              </a:rPr>
              <a:t>Reunión de preparación  ·  Espacio de Datos EJIE  ·  País Vasco</a:t>
            </a:r>
          </a:p>
        </p:txBody>
      </p:sp>
      <p:sp>
        <p:nvSpPr>
          <p:cNvPr id="8" name="Rectangle 7"/>
          <p:cNvSpPr/>
          <p:nvPr/>
        </p:nvSpPr>
        <p:spPr>
          <a:xfrm>
            <a:off x="10012680" y="429768"/>
            <a:ext cx="155448" cy="155448"/>
          </a:xfrm>
          <a:prstGeom prst="rect">
            <a:avLst/>
          </a:prstGeom>
          <a:solidFill>
            <a:srgbClr val="F4EF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10222992" y="429768"/>
            <a:ext cx="155448" cy="155448"/>
          </a:xfrm>
          <a:prstGeom prst="rect">
            <a:avLst/>
          </a:prstGeom>
          <a:solidFill>
            <a:srgbClr val="2A9D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10433304" y="429768"/>
            <a:ext cx="155448" cy="155448"/>
          </a:xfrm>
          <a:prstGeom prst="rect">
            <a:avLst/>
          </a:prstGeom>
          <a:solidFill>
            <a:srgbClr val="F4EF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10643615" y="429768"/>
            <a:ext cx="155448" cy="155448"/>
          </a:xfrm>
          <a:prstGeom prst="rect">
            <a:avLst/>
          </a:prstGeom>
          <a:solidFill>
            <a:srgbClr val="F4EF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10853928" y="429768"/>
            <a:ext cx="155448" cy="155448"/>
          </a:xfrm>
          <a:prstGeom prst="rect">
            <a:avLst/>
          </a:prstGeom>
          <a:solidFill>
            <a:srgbClr val="F4EF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11064240" y="429768"/>
            <a:ext cx="155448" cy="155448"/>
          </a:xfrm>
          <a:prstGeom prst="rect">
            <a:avLst/>
          </a:prstGeom>
          <a:solidFill>
            <a:srgbClr val="F4EF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11274552" y="429768"/>
            <a:ext cx="155448" cy="155448"/>
          </a:xfrm>
          <a:prstGeom prst="rect">
            <a:avLst/>
          </a:prstGeom>
          <a:solidFill>
            <a:srgbClr val="F4EF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11484863" y="429768"/>
            <a:ext cx="155448" cy="155448"/>
          </a:xfrm>
          <a:prstGeom prst="rect">
            <a:avLst/>
          </a:prstGeom>
          <a:solidFill>
            <a:srgbClr val="F4EF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548640" y="2011680"/>
            <a:ext cx="2606040" cy="3611880"/>
          </a:xfrm>
          <a:prstGeom prst="roundRect">
            <a:avLst>
              <a:gd name="adj" fmla="val 5000"/>
            </a:avLst>
          </a:prstGeom>
          <a:solidFill>
            <a:srgbClr val="F4EF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548640" y="2011680"/>
            <a:ext cx="2606040" cy="109728"/>
          </a:xfrm>
          <a:prstGeom prst="rect">
            <a:avLst/>
          </a:prstGeom>
          <a:solidFill>
            <a:srgbClr val="2A9D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749808" y="2331720"/>
            <a:ext cx="548640" cy="548640"/>
          </a:xfrm>
          <a:prstGeom prst="ellipse">
            <a:avLst/>
          </a:prstGeom>
          <a:solidFill>
            <a:srgbClr val="2A9D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49808" y="2331720"/>
            <a:ext cx="548640" cy="548640"/>
          </a:xfrm>
          <a:prstGeom prst="rect">
            <a:avLst/>
          </a:prstGeom>
          <a:noFill/>
        </p:spPr>
        <p:txBody>
          <a:bodyPr wrap="square" lIns="0" rIns="0" tIns="0" bIns="0" anchor="ctr">
            <a:spAutoFit/>
          </a:bodyPr>
          <a:lstStyle/>
          <a:p>
            <a:pPr algn="ctr">
              <a:lnSpc>
                <a:spcPct val="100000"/>
              </a:lnSpc>
            </a:pPr>
            <a:r>
              <a:rPr sz="1800" b="1">
                <a:solidFill>
                  <a:srgbClr val="FFFFFF"/>
                </a:solidFill>
                <a:latin typeface="Calibri"/>
              </a:rPr>
              <a:t>1</a:t>
            </a:r>
          </a:p>
        </p:txBody>
      </p:sp>
      <p:sp>
        <p:nvSpPr>
          <p:cNvPr id="20" name="TextBox 19"/>
          <p:cNvSpPr txBox="1"/>
          <p:nvPr/>
        </p:nvSpPr>
        <p:spPr>
          <a:xfrm>
            <a:off x="749808" y="3063240"/>
            <a:ext cx="2240280" cy="685800"/>
          </a:xfrm>
          <a:prstGeom prst="rect">
            <a:avLst/>
          </a:prstGeom>
          <a:noFill/>
        </p:spPr>
        <p:txBody>
          <a:bodyPr wrap="square" lIns="0" rIns="0" tIns="0" bIns="0">
            <a:spAutoFit/>
          </a:bodyPr>
          <a:lstStyle/>
          <a:p>
            <a:pPr>
              <a:lnSpc>
                <a:spcPct val="100000"/>
              </a:lnSpc>
            </a:pPr>
            <a:r>
              <a:rPr sz="1800" b="1">
                <a:solidFill>
                  <a:srgbClr val="143D59"/>
                </a:solidFill>
                <a:latin typeface="Calibri"/>
              </a:rPr>
              <a:t>Build on what exists</a:t>
            </a:r>
          </a:p>
        </p:txBody>
      </p:sp>
      <p:sp>
        <p:nvSpPr>
          <p:cNvPr id="21" name="TextBox 20"/>
          <p:cNvSpPr txBox="1"/>
          <p:nvPr/>
        </p:nvSpPr>
        <p:spPr>
          <a:xfrm>
            <a:off x="749808" y="3794760"/>
            <a:ext cx="2240280" cy="1783080"/>
          </a:xfrm>
          <a:prstGeom prst="rect">
            <a:avLst/>
          </a:prstGeom>
          <a:noFill/>
        </p:spPr>
        <p:txBody>
          <a:bodyPr wrap="square" lIns="0" rIns="0" tIns="0" bIns="0">
            <a:spAutoFit/>
          </a:bodyPr>
          <a:lstStyle/>
          <a:p>
            <a:pPr>
              <a:lnSpc>
                <a:spcPct val="112000"/>
              </a:lnSpc>
            </a:pPr>
            <a:r>
              <a:rPr sz="1550" b="0">
                <a:solidFill>
                  <a:srgbClr val="4F5560"/>
                </a:solidFill>
                <a:latin typeface="Calibri"/>
              </a:rPr>
              <a:t>Run open working groups. Use FHIR, ICD-10, SNOMED CT, OMOP and HealthDCAT-AP. Do not invent new standards.</a:t>
            </a:r>
          </a:p>
        </p:txBody>
      </p:sp>
      <p:sp>
        <p:nvSpPr>
          <p:cNvPr id="22" name="Rounded Rectangle 21"/>
          <p:cNvSpPr/>
          <p:nvPr/>
        </p:nvSpPr>
        <p:spPr>
          <a:xfrm>
            <a:off x="3355848" y="2011680"/>
            <a:ext cx="2606040" cy="3611880"/>
          </a:xfrm>
          <a:prstGeom prst="roundRect">
            <a:avLst>
              <a:gd name="adj" fmla="val 5000"/>
            </a:avLst>
          </a:prstGeom>
          <a:solidFill>
            <a:srgbClr val="F4EF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3355848" y="2011680"/>
            <a:ext cx="2606040" cy="109728"/>
          </a:xfrm>
          <a:prstGeom prst="rect">
            <a:avLst/>
          </a:prstGeom>
          <a:solidFill>
            <a:srgbClr val="528B5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3557016" y="2331720"/>
            <a:ext cx="548640" cy="548640"/>
          </a:xfrm>
          <a:prstGeom prst="ellipse">
            <a:avLst/>
          </a:prstGeom>
          <a:solidFill>
            <a:srgbClr val="528B5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3557016" y="2331720"/>
            <a:ext cx="548640" cy="548640"/>
          </a:xfrm>
          <a:prstGeom prst="rect">
            <a:avLst/>
          </a:prstGeom>
          <a:noFill/>
        </p:spPr>
        <p:txBody>
          <a:bodyPr wrap="square" lIns="0" rIns="0" tIns="0" bIns="0" anchor="ctr">
            <a:spAutoFit/>
          </a:bodyPr>
          <a:lstStyle/>
          <a:p>
            <a:pPr algn="ctr">
              <a:lnSpc>
                <a:spcPct val="100000"/>
              </a:lnSpc>
            </a:pPr>
            <a:r>
              <a:rPr sz="1800" b="1">
                <a:solidFill>
                  <a:srgbClr val="FFFFFF"/>
                </a:solidFill>
                <a:latin typeface="Calibri"/>
              </a:rPr>
              <a:t>2</a:t>
            </a:r>
          </a:p>
        </p:txBody>
      </p:sp>
      <p:sp>
        <p:nvSpPr>
          <p:cNvPr id="26" name="TextBox 25"/>
          <p:cNvSpPr txBox="1"/>
          <p:nvPr/>
        </p:nvSpPr>
        <p:spPr>
          <a:xfrm>
            <a:off x="3557016" y="3063240"/>
            <a:ext cx="2240280" cy="685800"/>
          </a:xfrm>
          <a:prstGeom prst="rect">
            <a:avLst/>
          </a:prstGeom>
          <a:noFill/>
        </p:spPr>
        <p:txBody>
          <a:bodyPr wrap="square" lIns="0" rIns="0" tIns="0" bIns="0">
            <a:spAutoFit/>
          </a:bodyPr>
          <a:lstStyle/>
          <a:p>
            <a:pPr>
              <a:lnSpc>
                <a:spcPct val="100000"/>
              </a:lnSpc>
            </a:pPr>
            <a:r>
              <a:rPr sz="1800" b="1">
                <a:solidFill>
                  <a:srgbClr val="143D59"/>
                </a:solidFill>
                <a:latin typeface="Calibri"/>
              </a:rPr>
              <a:t>Start small</a:t>
            </a:r>
          </a:p>
        </p:txBody>
      </p:sp>
      <p:sp>
        <p:nvSpPr>
          <p:cNvPr id="27" name="TextBox 26"/>
          <p:cNvSpPr txBox="1"/>
          <p:nvPr/>
        </p:nvSpPr>
        <p:spPr>
          <a:xfrm>
            <a:off x="3557016" y="3794760"/>
            <a:ext cx="2240280" cy="1783080"/>
          </a:xfrm>
          <a:prstGeom prst="rect">
            <a:avLst/>
          </a:prstGeom>
          <a:noFill/>
        </p:spPr>
        <p:txBody>
          <a:bodyPr wrap="square" lIns="0" rIns="0" tIns="0" bIns="0">
            <a:spAutoFit/>
          </a:bodyPr>
          <a:lstStyle/>
          <a:p>
            <a:pPr>
              <a:lnSpc>
                <a:spcPct val="112000"/>
              </a:lnSpc>
            </a:pPr>
            <a:r>
              <a:rPr sz="1550" b="0">
                <a:solidFill>
                  <a:srgbClr val="4F5560"/>
                </a:solidFill>
                <a:latin typeface="Calibri"/>
              </a:rPr>
              <a:t>Choose one or two use cases. Show value that you can measure.</a:t>
            </a:r>
          </a:p>
        </p:txBody>
      </p:sp>
      <p:sp>
        <p:nvSpPr>
          <p:cNvPr id="28" name="Rounded Rectangle 27"/>
          <p:cNvSpPr/>
          <p:nvPr/>
        </p:nvSpPr>
        <p:spPr>
          <a:xfrm>
            <a:off x="6163055" y="2011680"/>
            <a:ext cx="2606040" cy="3611880"/>
          </a:xfrm>
          <a:prstGeom prst="roundRect">
            <a:avLst>
              <a:gd name="adj" fmla="val 5000"/>
            </a:avLst>
          </a:prstGeom>
          <a:solidFill>
            <a:srgbClr val="F4EF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6163055" y="2011680"/>
            <a:ext cx="2606040" cy="109728"/>
          </a:xfrm>
          <a:prstGeom prst="rect">
            <a:avLst/>
          </a:prstGeom>
          <a:solidFill>
            <a:srgbClr val="E6A8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6364223" y="2331720"/>
            <a:ext cx="548640" cy="548640"/>
          </a:xfrm>
          <a:prstGeom prst="ellipse">
            <a:avLst/>
          </a:prstGeom>
          <a:solidFill>
            <a:srgbClr val="E6A8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364223" y="2331720"/>
            <a:ext cx="548640" cy="548640"/>
          </a:xfrm>
          <a:prstGeom prst="rect">
            <a:avLst/>
          </a:prstGeom>
          <a:noFill/>
        </p:spPr>
        <p:txBody>
          <a:bodyPr wrap="square" lIns="0" rIns="0" tIns="0" bIns="0" anchor="ctr">
            <a:spAutoFit/>
          </a:bodyPr>
          <a:lstStyle/>
          <a:p>
            <a:pPr algn="ctr">
              <a:lnSpc>
                <a:spcPct val="100000"/>
              </a:lnSpc>
            </a:pPr>
            <a:r>
              <a:rPr sz="1800" b="1">
                <a:solidFill>
                  <a:srgbClr val="FFFFFF"/>
                </a:solidFill>
                <a:latin typeface="Calibri"/>
              </a:rPr>
              <a:t>3</a:t>
            </a:r>
          </a:p>
        </p:txBody>
      </p:sp>
      <p:sp>
        <p:nvSpPr>
          <p:cNvPr id="32" name="TextBox 31"/>
          <p:cNvSpPr txBox="1"/>
          <p:nvPr/>
        </p:nvSpPr>
        <p:spPr>
          <a:xfrm>
            <a:off x="6364223" y="3063240"/>
            <a:ext cx="2240280" cy="685800"/>
          </a:xfrm>
          <a:prstGeom prst="rect">
            <a:avLst/>
          </a:prstGeom>
          <a:noFill/>
        </p:spPr>
        <p:txBody>
          <a:bodyPr wrap="square" lIns="0" rIns="0" tIns="0" bIns="0">
            <a:spAutoFit/>
          </a:bodyPr>
          <a:lstStyle/>
          <a:p>
            <a:pPr>
              <a:lnSpc>
                <a:spcPct val="100000"/>
              </a:lnSpc>
            </a:pPr>
            <a:r>
              <a:rPr sz="1800" b="1">
                <a:solidFill>
                  <a:srgbClr val="143D59"/>
                </a:solidFill>
                <a:latin typeface="Calibri"/>
              </a:rPr>
              <a:t>Give back</a:t>
            </a:r>
          </a:p>
        </p:txBody>
      </p:sp>
      <p:sp>
        <p:nvSpPr>
          <p:cNvPr id="33" name="TextBox 32"/>
          <p:cNvSpPr txBox="1"/>
          <p:nvPr/>
        </p:nvSpPr>
        <p:spPr>
          <a:xfrm>
            <a:off x="6364223" y="3794760"/>
            <a:ext cx="2240280" cy="1783080"/>
          </a:xfrm>
          <a:prstGeom prst="rect">
            <a:avLst/>
          </a:prstGeom>
          <a:noFill/>
        </p:spPr>
        <p:txBody>
          <a:bodyPr wrap="square" lIns="0" rIns="0" tIns="0" bIns="0">
            <a:spAutoFit/>
          </a:bodyPr>
          <a:lstStyle/>
          <a:p>
            <a:pPr>
              <a:lnSpc>
                <a:spcPct val="112000"/>
              </a:lnSpc>
            </a:pPr>
            <a:r>
              <a:rPr sz="1550" b="0">
                <a:solidFill>
                  <a:srgbClr val="4F5560"/>
                </a:solidFill>
                <a:latin typeface="Calibri"/>
              </a:rPr>
              <a:t>Contribute improvements to the open-source projects. Do not keep private copies.</a:t>
            </a:r>
          </a:p>
        </p:txBody>
      </p:sp>
      <p:sp>
        <p:nvSpPr>
          <p:cNvPr id="34" name="Rounded Rectangle 33"/>
          <p:cNvSpPr/>
          <p:nvPr/>
        </p:nvSpPr>
        <p:spPr>
          <a:xfrm>
            <a:off x="8970263" y="2011680"/>
            <a:ext cx="2606040" cy="3611880"/>
          </a:xfrm>
          <a:prstGeom prst="roundRect">
            <a:avLst>
              <a:gd name="adj" fmla="val 5000"/>
            </a:avLst>
          </a:prstGeom>
          <a:solidFill>
            <a:srgbClr val="F4EF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8970263" y="2011680"/>
            <a:ext cx="2606040" cy="109728"/>
          </a:xfrm>
          <a:prstGeom prst="rect">
            <a:avLst/>
          </a:prstGeom>
          <a:solidFill>
            <a:srgbClr val="C31E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Oval 35"/>
          <p:cNvSpPr/>
          <p:nvPr/>
        </p:nvSpPr>
        <p:spPr>
          <a:xfrm>
            <a:off x="9171432" y="2331720"/>
            <a:ext cx="548640" cy="548640"/>
          </a:xfrm>
          <a:prstGeom prst="ellipse">
            <a:avLst/>
          </a:prstGeom>
          <a:solidFill>
            <a:srgbClr val="C31E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9171432" y="2331720"/>
            <a:ext cx="548640" cy="548640"/>
          </a:xfrm>
          <a:prstGeom prst="rect">
            <a:avLst/>
          </a:prstGeom>
          <a:noFill/>
        </p:spPr>
        <p:txBody>
          <a:bodyPr wrap="square" lIns="0" rIns="0" tIns="0" bIns="0" anchor="ctr">
            <a:spAutoFit/>
          </a:bodyPr>
          <a:lstStyle/>
          <a:p>
            <a:pPr algn="ctr">
              <a:lnSpc>
                <a:spcPct val="100000"/>
              </a:lnSpc>
            </a:pPr>
            <a:r>
              <a:rPr sz="1800" b="1">
                <a:solidFill>
                  <a:srgbClr val="FFFFFF"/>
                </a:solidFill>
                <a:latin typeface="Calibri"/>
              </a:rPr>
              <a:t>4</a:t>
            </a:r>
          </a:p>
        </p:txBody>
      </p:sp>
      <p:sp>
        <p:nvSpPr>
          <p:cNvPr id="38" name="TextBox 37"/>
          <p:cNvSpPr txBox="1"/>
          <p:nvPr/>
        </p:nvSpPr>
        <p:spPr>
          <a:xfrm>
            <a:off x="9171432" y="3063240"/>
            <a:ext cx="2240280" cy="685800"/>
          </a:xfrm>
          <a:prstGeom prst="rect">
            <a:avLst/>
          </a:prstGeom>
          <a:noFill/>
        </p:spPr>
        <p:txBody>
          <a:bodyPr wrap="square" lIns="0" rIns="0" tIns="0" bIns="0">
            <a:spAutoFit/>
          </a:bodyPr>
          <a:lstStyle/>
          <a:p>
            <a:pPr>
              <a:lnSpc>
                <a:spcPct val="100000"/>
              </a:lnSpc>
            </a:pPr>
            <a:r>
              <a:rPr sz="1800" b="1">
                <a:solidFill>
                  <a:srgbClr val="143D59"/>
                </a:solidFill>
                <a:latin typeface="Calibri"/>
              </a:rPr>
              <a:t>Buy standards, not products</a:t>
            </a:r>
          </a:p>
        </p:txBody>
      </p:sp>
      <p:sp>
        <p:nvSpPr>
          <p:cNvPr id="39" name="TextBox 38"/>
          <p:cNvSpPr txBox="1"/>
          <p:nvPr/>
        </p:nvSpPr>
        <p:spPr>
          <a:xfrm>
            <a:off x="9171432" y="3794760"/>
            <a:ext cx="2240280" cy="1783080"/>
          </a:xfrm>
          <a:prstGeom prst="rect">
            <a:avLst/>
          </a:prstGeom>
          <a:noFill/>
        </p:spPr>
        <p:txBody>
          <a:bodyPr wrap="square" lIns="0" rIns="0" tIns="0" bIns="0">
            <a:spAutoFit/>
          </a:bodyPr>
          <a:lstStyle/>
          <a:p>
            <a:pPr>
              <a:lnSpc>
                <a:spcPct val="112000"/>
              </a:lnSpc>
            </a:pPr>
            <a:r>
              <a:rPr sz="1550" b="0">
                <a:solidFill>
                  <a:srgbClr val="4F5560"/>
                </a:solidFill>
                <a:latin typeface="Calibri"/>
              </a:rPr>
              <a:t>Write the tender around standards and conformity tests. This avoids vendor lock-in.</a:t>
            </a:r>
          </a:p>
        </p:txBody>
      </p:sp>
      <p:sp>
        <p:nvSpPr>
          <p:cNvPr id="40" name="Rounded Rectangle 39"/>
          <p:cNvSpPr/>
          <p:nvPr/>
        </p:nvSpPr>
        <p:spPr>
          <a:xfrm>
            <a:off x="548640" y="5806440"/>
            <a:ext cx="11091672" cy="548640"/>
          </a:xfrm>
          <a:prstGeom prst="roundRect">
            <a:avLst>
              <a:gd name="adj" fmla="val 5000"/>
            </a:avLst>
          </a:prstGeom>
          <a:solidFill>
            <a:srgbClr val="F4EF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548640" y="5806440"/>
            <a:ext cx="164592" cy="548640"/>
          </a:xfrm>
          <a:prstGeom prst="rect">
            <a:avLst/>
          </a:prstGeom>
          <a:solidFill>
            <a:srgbClr val="E6A8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960120" y="5806440"/>
            <a:ext cx="10424160" cy="548640"/>
          </a:xfrm>
          <a:prstGeom prst="rect">
            <a:avLst/>
          </a:prstGeom>
          <a:noFill/>
        </p:spPr>
        <p:txBody>
          <a:bodyPr wrap="square" lIns="0" rIns="0" tIns="0" bIns="0" anchor="ctr">
            <a:spAutoFit/>
          </a:bodyPr>
          <a:lstStyle/>
          <a:p>
            <a:pPr>
              <a:lnSpc>
                <a:spcPct val="110000"/>
              </a:lnSpc>
            </a:pPr>
            <a:r>
              <a:rPr sz="1500" b="1">
                <a:solidFill>
                  <a:srgbClr val="143D59"/>
                </a:solidFill>
                <a:latin typeface="Calibri"/>
              </a:rPr>
              <a:t>A private copy of open source becomes your own product to maintain.</a:t>
            </a:r>
          </a:p>
        </p:txBody>
      </p:sp>
      <p:sp>
        <p:nvSpPr>
          <p:cNvPr id="43" name="TextBox 42"/>
          <p:cNvSpPr txBox="1"/>
          <p:nvPr/>
        </p:nvSpPr>
        <p:spPr>
          <a:xfrm>
            <a:off x="5852160" y="6446520"/>
            <a:ext cx="5760720" cy="274320"/>
          </a:xfrm>
          <a:prstGeom prst="rect">
            <a:avLst/>
          </a:prstGeom>
          <a:noFill/>
        </p:spPr>
        <p:txBody>
          <a:bodyPr wrap="square" lIns="0" rIns="0" tIns="0" bIns="0">
            <a:spAutoFit/>
          </a:bodyPr>
          <a:lstStyle/>
          <a:p>
            <a:pPr algn="r">
              <a:lnSpc>
                <a:spcPct val="100000"/>
              </a:lnSpc>
            </a:pPr>
            <a:r>
              <a:rPr sz="900" b="0">
                <a:solidFill>
                  <a:srgbClr val="8A8F98"/>
                </a:solidFill>
                <a:latin typeface="Calibri"/>
              </a:rPr>
              <a:t>hl7.org/fhir  ·  ohdsi.org  ·  HealthDCAT-AP</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89" fill="hold">
                      <p:stCondLst>
                        <p:cond delay="indefinite"/>
                        <p:cond evt="onBegin" delay="0">
                          <p:tn val="2"/>
                        </p:cond>
                      </p:stCondLst>
                      <p:childTnLst>
                        <p:par>
                          <p:cTn id="21" fill="hold">
                            <p:stCondLst>
                              <p:cond delay="0"/>
                            </p:stCondLst>
                            <p:childTnLst>
                              <p:par>
                                <p:cTn id="3" presetID="10" presetClass="entr" presetSubtype="0" fill="hold" grpId="0" nodeType="afterEffect">
                                  <p:stCondLst>
                                    <p:cond delay="0"/>
                                  </p:stCondLst>
                                  <p:childTnLst>
                                    <p:set>
                                      <p:cBhvr>
                                        <p:cTn id="4" dur="1" fill="hold">
                                          <p:stCondLst>
                                            <p:cond delay="0"/>
                                          </p:stCondLst>
                                        </p:cTn>
                                        <p:tgtEl>
                                          <p:spTgt spid="16"/>
                                        </p:tgtEl>
                                        <p:attrNameLst>
                                          <p:attrName>style.visibility</p:attrName>
                                        </p:attrNameLst>
                                      </p:cBhvr>
                                      <p:to>
                                        <p:strVal val="visible"/>
                                      </p:to>
                                    </p:set>
                                    <p:animEffect transition="in" filter="fade">
                                      <p:cBhvr>
                                        <p:cTn id="5" dur="500"/>
                                        <p:tgtEl>
                                          <p:spTgt spid="16"/>
                                        </p:tgtEl>
                                      </p:cBhvr>
                                    </p:animEffect>
                                  </p:childTnLst>
                                </p:cTn>
                              </p:par>
                              <p:par>
                                <p:cTn id="6" presetID="10" presetClass="entr" presetSubtype="0" fill="hold" grpId="0" nodeType="withEffect">
                                  <p:stCondLst>
                                    <p:cond delay="0"/>
                                  </p:stCondLst>
                                  <p:childTnLst>
                                    <p:set>
                                      <p:cBhvr>
                                        <p:cTn id="7" dur="1" fill="hold">
                                          <p:stCondLst>
                                            <p:cond delay="0"/>
                                          </p:stCondLst>
                                        </p:cTn>
                                        <p:tgtEl>
                                          <p:spTgt spid="21"/>
                                        </p:tgtEl>
                                        <p:attrNameLst>
                                          <p:attrName>style.visibility</p:attrName>
                                        </p:attrNameLst>
                                      </p:cBhvr>
                                      <p:to>
                                        <p:strVal val="visible"/>
                                      </p:to>
                                    </p:set>
                                    <p:animEffect transition="in" filter="fade">
                                      <p:cBhvr>
                                        <p:cTn id="8" dur="500"/>
                                        <p:tgtEl>
                                          <p:spTgt spid="21"/>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20"/>
                                        </p:tgtEl>
                                        <p:attrNameLst>
                                          <p:attrName>style.visibility</p:attrName>
                                        </p:attrNameLst>
                                      </p:cBhvr>
                                      <p:to>
                                        <p:strVal val="visible"/>
                                      </p:to>
                                    </p:set>
                                    <p:animEffect transition="in" filter="fade">
                                      <p:cBhvr>
                                        <p:cTn id="11" dur="500"/>
                                        <p:tgtEl>
                                          <p:spTgt spid="20"/>
                                        </p:tgtEl>
                                      </p:cBhvr>
                                    </p:animEffect>
                                  </p:childTnLst>
                                </p:cTn>
                              </p:par>
                              <p:par>
                                <p:cTn id="12" presetID="10" presetClass="entr" presetSubtype="0" fill="hold" grpId="0" nodeType="withEffect">
                                  <p:stCondLst>
                                    <p:cond delay="0"/>
                                  </p:stCondLst>
                                  <p:childTnLst>
                                    <p:set>
                                      <p:cBhvr>
                                        <p:cTn id="13" dur="1" fill="hold">
                                          <p:stCondLst>
                                            <p:cond delay="0"/>
                                          </p:stCondLst>
                                        </p:cTn>
                                        <p:tgtEl>
                                          <p:spTgt spid="18"/>
                                        </p:tgtEl>
                                        <p:attrNameLst>
                                          <p:attrName>style.visibility</p:attrName>
                                        </p:attrNameLst>
                                      </p:cBhvr>
                                      <p:to>
                                        <p:strVal val="visible"/>
                                      </p:to>
                                    </p:set>
                                    <p:animEffect transition="in" filter="fade">
                                      <p:cBhvr>
                                        <p:cTn id="14" dur="500"/>
                                        <p:tgtEl>
                                          <p:spTgt spid="18"/>
                                        </p:tgtEl>
                                      </p:cBhvr>
                                    </p:animEffect>
                                  </p:childTnLst>
                                </p:cTn>
                              </p:par>
                              <p:par>
                                <p:cTn id="15" presetID="10" presetClass="entr" presetSubtype="0" fill="hold" grpId="0" nodeType="withEffect">
                                  <p:stCondLst>
                                    <p:cond delay="0"/>
                                  </p:stCondLst>
                                  <p:childTnLst>
                                    <p:set>
                                      <p:cBhvr>
                                        <p:cTn id="16" dur="1" fill="hold">
                                          <p:stCondLst>
                                            <p:cond delay="0"/>
                                          </p:stCondLst>
                                        </p:cTn>
                                        <p:tgtEl>
                                          <p:spTgt spid="19"/>
                                        </p:tgtEl>
                                        <p:attrNameLst>
                                          <p:attrName>style.visibility</p:attrName>
                                        </p:attrNameLst>
                                      </p:cBhvr>
                                      <p:to>
                                        <p:strVal val="visible"/>
                                      </p:to>
                                    </p:set>
                                    <p:animEffect transition="in" filter="fade">
                                      <p:cBhvr>
                                        <p:cTn id="17" dur="500"/>
                                        <p:tgtEl>
                                          <p:spTgt spid="19"/>
                                        </p:tgtEl>
                                      </p:cBhvr>
                                    </p:animEffect>
                                  </p:childTnLst>
                                </p:cTn>
                              </p:par>
                              <p:par>
                                <p:cTn id="18" presetID="10" presetClass="entr" presetSubtype="0" fill="hold" grpId="0" nodeType="withEffect">
                                  <p:stCondLst>
                                    <p:cond delay="0"/>
                                  </p:stCondLst>
                                  <p:childTnLst>
                                    <p:set>
                                      <p:cBhvr>
                                        <p:cTn id="19" dur="1" fill="hold">
                                          <p:stCondLst>
                                            <p:cond delay="0"/>
                                          </p:stCondLst>
                                        </p:cTn>
                                        <p:tgtEl>
                                          <p:spTgt spid="17"/>
                                        </p:tgtEl>
                                        <p:attrNameLst>
                                          <p:attrName>style.visibility</p:attrName>
                                        </p:attrNameLst>
                                      </p:cBhvr>
                                      <p:to>
                                        <p:strVal val="visible"/>
                                      </p:to>
                                    </p:set>
                                    <p:animEffect transition="in" filter="fade">
                                      <p:cBhvr>
                                        <p:cTn id="20" dur="500"/>
                                        <p:tgtEl>
                                          <p:spTgt spid="17"/>
                                        </p:tgtEl>
                                      </p:cBhvr>
                                    </p:animEffect>
                                  </p:childTnLst>
                                </p:cTn>
                              </p:par>
                            </p:childTnLst>
                          </p:cTn>
                        </p:par>
                        <p:par>
                          <p:cTn id="40" fill="hold">
                            <p:stCondLst>
                              <p:cond delay="300"/>
                            </p:stCondLst>
                            <p:childTnLst>
                              <p:par>
                                <p:cTn id="22" presetID="10" presetClass="entr" presetSubtype="0" fill="hold" grpId="0" nodeType="withEffect">
                                  <p:stCondLst>
                                    <p:cond delay="0"/>
                                  </p:stCondLst>
                                  <p:childTnLst>
                                    <p:set>
                                      <p:cBhvr>
                                        <p:cTn id="23" dur="1" fill="hold">
                                          <p:stCondLst>
                                            <p:cond delay="0"/>
                                          </p:stCondLst>
                                        </p:cTn>
                                        <p:tgtEl>
                                          <p:spTgt spid="22"/>
                                        </p:tgtEl>
                                        <p:attrNameLst>
                                          <p:attrName>style.visibility</p:attrName>
                                        </p:attrNameLst>
                                      </p:cBhvr>
                                      <p:to>
                                        <p:strVal val="visible"/>
                                      </p:to>
                                    </p:set>
                                    <p:animEffect transition="in" filter="fade">
                                      <p:cBhvr>
                                        <p:cTn id="24" dur="500"/>
                                        <p:tgtEl>
                                          <p:spTgt spid="22"/>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27"/>
                                        </p:tgtEl>
                                        <p:attrNameLst>
                                          <p:attrName>style.visibility</p:attrName>
                                        </p:attrNameLst>
                                      </p:cBhvr>
                                      <p:to>
                                        <p:strVal val="visible"/>
                                      </p:to>
                                    </p:set>
                                    <p:animEffect transition="in" filter="fade">
                                      <p:cBhvr>
                                        <p:cTn id="27" dur="500"/>
                                        <p:tgtEl>
                                          <p:spTgt spid="27"/>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26"/>
                                        </p:tgtEl>
                                        <p:attrNameLst>
                                          <p:attrName>style.visibility</p:attrName>
                                        </p:attrNameLst>
                                      </p:cBhvr>
                                      <p:to>
                                        <p:strVal val="visible"/>
                                      </p:to>
                                    </p:set>
                                    <p:animEffect transition="in" filter="fade">
                                      <p:cBhvr>
                                        <p:cTn id="30" dur="500"/>
                                        <p:tgtEl>
                                          <p:spTgt spid="26"/>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24"/>
                                        </p:tgtEl>
                                        <p:attrNameLst>
                                          <p:attrName>style.visibility</p:attrName>
                                        </p:attrNameLst>
                                      </p:cBhvr>
                                      <p:to>
                                        <p:strVal val="visible"/>
                                      </p:to>
                                    </p:set>
                                    <p:animEffect transition="in" filter="fade">
                                      <p:cBhvr>
                                        <p:cTn id="33" dur="500"/>
                                        <p:tgtEl>
                                          <p:spTgt spid="24"/>
                                        </p:tgtEl>
                                      </p:cBhvr>
                                    </p:animEffect>
                                  </p:childTnLst>
                                </p:cTn>
                              </p:par>
                              <p:par>
                                <p:cTn id="34" presetID="10" presetClass="entr" presetSubtype="0" fill="hold" grpId="0" nodeType="withEffect">
                                  <p:stCondLst>
                                    <p:cond delay="0"/>
                                  </p:stCondLst>
                                  <p:childTnLst>
                                    <p:set>
                                      <p:cBhvr>
                                        <p:cTn id="35" dur="1" fill="hold">
                                          <p:stCondLst>
                                            <p:cond delay="0"/>
                                          </p:stCondLst>
                                        </p:cTn>
                                        <p:tgtEl>
                                          <p:spTgt spid="25"/>
                                        </p:tgtEl>
                                        <p:attrNameLst>
                                          <p:attrName>style.visibility</p:attrName>
                                        </p:attrNameLst>
                                      </p:cBhvr>
                                      <p:to>
                                        <p:strVal val="visible"/>
                                      </p:to>
                                    </p:set>
                                    <p:animEffect transition="in" filter="fade">
                                      <p:cBhvr>
                                        <p:cTn id="36" dur="500"/>
                                        <p:tgtEl>
                                          <p:spTgt spid="25"/>
                                        </p:tgtEl>
                                      </p:cBhvr>
                                    </p:animEffect>
                                  </p:childTnLst>
                                </p:cTn>
                              </p:par>
                              <p:par>
                                <p:cTn id="37" presetID="10" presetClass="entr" presetSubtype="0" fill="hold" grpId="0" nodeType="withEffect">
                                  <p:stCondLst>
                                    <p:cond delay="0"/>
                                  </p:stCondLst>
                                  <p:childTnLst>
                                    <p:set>
                                      <p:cBhvr>
                                        <p:cTn id="38" dur="1" fill="hold">
                                          <p:stCondLst>
                                            <p:cond delay="0"/>
                                          </p:stCondLst>
                                        </p:cTn>
                                        <p:tgtEl>
                                          <p:spTgt spid="23"/>
                                        </p:tgtEl>
                                        <p:attrNameLst>
                                          <p:attrName>style.visibility</p:attrName>
                                        </p:attrNameLst>
                                      </p:cBhvr>
                                      <p:to>
                                        <p:strVal val="visible"/>
                                      </p:to>
                                    </p:set>
                                    <p:animEffect transition="in" filter="fade">
                                      <p:cBhvr>
                                        <p:cTn id="39" dur="500"/>
                                        <p:tgtEl>
                                          <p:spTgt spid="23"/>
                                        </p:tgtEl>
                                      </p:cBhvr>
                                    </p:animEffect>
                                  </p:childTnLst>
                                </p:cTn>
                              </p:par>
                            </p:childTnLst>
                          </p:cTn>
                        </p:par>
                        <p:par>
                          <p:cTn id="59" fill="hold">
                            <p:stCondLst>
                              <p:cond delay="600"/>
                            </p:stCondLst>
                            <p:childTnLst>
                              <p:par>
                                <p:cTn id="41" presetID="10" presetClass="entr" presetSubtype="0" fill="hold" grpId="0" nodeType="withEffect">
                                  <p:stCondLst>
                                    <p:cond delay="0"/>
                                  </p:stCondLst>
                                  <p:childTnLst>
                                    <p:set>
                                      <p:cBhvr>
                                        <p:cTn id="42" dur="1" fill="hold">
                                          <p:stCondLst>
                                            <p:cond delay="0"/>
                                          </p:stCondLst>
                                        </p:cTn>
                                        <p:tgtEl>
                                          <p:spTgt spid="28"/>
                                        </p:tgtEl>
                                        <p:attrNameLst>
                                          <p:attrName>style.visibility</p:attrName>
                                        </p:attrNameLst>
                                      </p:cBhvr>
                                      <p:to>
                                        <p:strVal val="visible"/>
                                      </p:to>
                                    </p:set>
                                    <p:animEffect transition="in" filter="fade">
                                      <p:cBhvr>
                                        <p:cTn id="43" dur="500"/>
                                        <p:tgtEl>
                                          <p:spTgt spid="28"/>
                                        </p:tgtEl>
                                      </p:cBhvr>
                                    </p:animEffect>
                                  </p:childTnLst>
                                </p:cTn>
                              </p:par>
                              <p:par>
                                <p:cTn id="44" presetID="10" presetClass="entr" presetSubtype="0" fill="hold" grpId="0" nodeType="withEffect">
                                  <p:stCondLst>
                                    <p:cond delay="0"/>
                                  </p:stCondLst>
                                  <p:childTnLst>
                                    <p:set>
                                      <p:cBhvr>
                                        <p:cTn id="45" dur="1" fill="hold">
                                          <p:stCondLst>
                                            <p:cond delay="0"/>
                                          </p:stCondLst>
                                        </p:cTn>
                                        <p:tgtEl>
                                          <p:spTgt spid="33"/>
                                        </p:tgtEl>
                                        <p:attrNameLst>
                                          <p:attrName>style.visibility</p:attrName>
                                        </p:attrNameLst>
                                      </p:cBhvr>
                                      <p:to>
                                        <p:strVal val="visible"/>
                                      </p:to>
                                    </p:set>
                                    <p:animEffect transition="in" filter="fade">
                                      <p:cBhvr>
                                        <p:cTn id="46" dur="500"/>
                                        <p:tgtEl>
                                          <p:spTgt spid="33"/>
                                        </p:tgtEl>
                                      </p:cBhvr>
                                    </p:animEffect>
                                  </p:childTnLst>
                                </p:cTn>
                              </p:par>
                              <p:par>
                                <p:cTn id="47" presetID="10" presetClass="entr" presetSubtype="0" fill="hold" grpId="0" nodeType="withEffect">
                                  <p:stCondLst>
                                    <p:cond delay="0"/>
                                  </p:stCondLst>
                                  <p:childTnLst>
                                    <p:set>
                                      <p:cBhvr>
                                        <p:cTn id="48" dur="1" fill="hold">
                                          <p:stCondLst>
                                            <p:cond delay="0"/>
                                          </p:stCondLst>
                                        </p:cTn>
                                        <p:tgtEl>
                                          <p:spTgt spid="32"/>
                                        </p:tgtEl>
                                        <p:attrNameLst>
                                          <p:attrName>style.visibility</p:attrName>
                                        </p:attrNameLst>
                                      </p:cBhvr>
                                      <p:to>
                                        <p:strVal val="visible"/>
                                      </p:to>
                                    </p:set>
                                    <p:animEffect transition="in" filter="fade">
                                      <p:cBhvr>
                                        <p:cTn id="49" dur="500"/>
                                        <p:tgtEl>
                                          <p:spTgt spid="32"/>
                                        </p:tgtEl>
                                      </p:cBhvr>
                                    </p:animEffect>
                                  </p:childTnLst>
                                </p:cTn>
                              </p:par>
                              <p:par>
                                <p:cTn id="50" presetID="10" presetClass="entr" presetSubtype="0" fill="hold" grpId="0" nodeType="withEffect">
                                  <p:stCondLst>
                                    <p:cond delay="0"/>
                                  </p:stCondLst>
                                  <p:childTnLst>
                                    <p:set>
                                      <p:cBhvr>
                                        <p:cTn id="51" dur="1" fill="hold">
                                          <p:stCondLst>
                                            <p:cond delay="0"/>
                                          </p:stCondLst>
                                        </p:cTn>
                                        <p:tgtEl>
                                          <p:spTgt spid="30"/>
                                        </p:tgtEl>
                                        <p:attrNameLst>
                                          <p:attrName>style.visibility</p:attrName>
                                        </p:attrNameLst>
                                      </p:cBhvr>
                                      <p:to>
                                        <p:strVal val="visible"/>
                                      </p:to>
                                    </p:set>
                                    <p:animEffect transition="in" filter="fade">
                                      <p:cBhvr>
                                        <p:cTn id="52" dur="500"/>
                                        <p:tgtEl>
                                          <p:spTgt spid="30"/>
                                        </p:tgtEl>
                                      </p:cBhvr>
                                    </p:animEffect>
                                  </p:childTnLst>
                                </p:cTn>
                              </p:par>
                              <p:par>
                                <p:cTn id="53" presetID="10" presetClass="entr" presetSubtype="0" fill="hold" grpId="0" nodeType="withEffect">
                                  <p:stCondLst>
                                    <p:cond delay="0"/>
                                  </p:stCondLst>
                                  <p:childTnLst>
                                    <p:set>
                                      <p:cBhvr>
                                        <p:cTn id="54" dur="1" fill="hold">
                                          <p:stCondLst>
                                            <p:cond delay="0"/>
                                          </p:stCondLst>
                                        </p:cTn>
                                        <p:tgtEl>
                                          <p:spTgt spid="31"/>
                                        </p:tgtEl>
                                        <p:attrNameLst>
                                          <p:attrName>style.visibility</p:attrName>
                                        </p:attrNameLst>
                                      </p:cBhvr>
                                      <p:to>
                                        <p:strVal val="visible"/>
                                      </p:to>
                                    </p:set>
                                    <p:animEffect transition="in" filter="fade">
                                      <p:cBhvr>
                                        <p:cTn id="55" dur="500"/>
                                        <p:tgtEl>
                                          <p:spTgt spid="31"/>
                                        </p:tgtEl>
                                      </p:cBhvr>
                                    </p:animEffect>
                                  </p:childTnLst>
                                </p:cTn>
                              </p:par>
                              <p:par>
                                <p:cTn id="56" presetID="10" presetClass="entr" presetSubtype="0" fill="hold" grpId="0" nodeType="withEffect">
                                  <p:stCondLst>
                                    <p:cond delay="0"/>
                                  </p:stCondLst>
                                  <p:childTnLst>
                                    <p:set>
                                      <p:cBhvr>
                                        <p:cTn id="57" dur="1" fill="hold">
                                          <p:stCondLst>
                                            <p:cond delay="0"/>
                                          </p:stCondLst>
                                        </p:cTn>
                                        <p:tgtEl>
                                          <p:spTgt spid="29"/>
                                        </p:tgtEl>
                                        <p:attrNameLst>
                                          <p:attrName>style.visibility</p:attrName>
                                        </p:attrNameLst>
                                      </p:cBhvr>
                                      <p:to>
                                        <p:strVal val="visible"/>
                                      </p:to>
                                    </p:set>
                                    <p:animEffect transition="in" filter="fade">
                                      <p:cBhvr>
                                        <p:cTn id="58" dur="500"/>
                                        <p:tgtEl>
                                          <p:spTgt spid="29"/>
                                        </p:tgtEl>
                                      </p:cBhvr>
                                    </p:animEffect>
                                  </p:childTnLst>
                                </p:cTn>
                              </p:par>
                            </p:childTnLst>
                          </p:cTn>
                        </p:par>
                        <p:par>
                          <p:cTn id="78" fill="hold">
                            <p:stCondLst>
                              <p:cond delay="900"/>
                            </p:stCondLst>
                            <p:childTnLst>
                              <p:par>
                                <p:cTn id="60" presetID="10" presetClass="entr" presetSubtype="0" fill="hold" grpId="0" nodeType="withEffect">
                                  <p:stCondLst>
                                    <p:cond delay="0"/>
                                  </p:stCondLst>
                                  <p:childTnLst>
                                    <p:set>
                                      <p:cBhvr>
                                        <p:cTn id="61" dur="1" fill="hold">
                                          <p:stCondLst>
                                            <p:cond delay="0"/>
                                          </p:stCondLst>
                                        </p:cTn>
                                        <p:tgtEl>
                                          <p:spTgt spid="34"/>
                                        </p:tgtEl>
                                        <p:attrNameLst>
                                          <p:attrName>style.visibility</p:attrName>
                                        </p:attrNameLst>
                                      </p:cBhvr>
                                      <p:to>
                                        <p:strVal val="visible"/>
                                      </p:to>
                                    </p:set>
                                    <p:animEffect transition="in" filter="fade">
                                      <p:cBhvr>
                                        <p:cTn id="62" dur="500"/>
                                        <p:tgtEl>
                                          <p:spTgt spid="34"/>
                                        </p:tgtEl>
                                      </p:cBhvr>
                                    </p:animEffect>
                                  </p:childTnLst>
                                </p:cTn>
                              </p:par>
                              <p:par>
                                <p:cTn id="63" presetID="10" presetClass="entr" presetSubtype="0" fill="hold" grpId="0" nodeType="withEffect">
                                  <p:stCondLst>
                                    <p:cond delay="0"/>
                                  </p:stCondLst>
                                  <p:childTnLst>
                                    <p:set>
                                      <p:cBhvr>
                                        <p:cTn id="64" dur="1" fill="hold">
                                          <p:stCondLst>
                                            <p:cond delay="0"/>
                                          </p:stCondLst>
                                        </p:cTn>
                                        <p:tgtEl>
                                          <p:spTgt spid="39"/>
                                        </p:tgtEl>
                                        <p:attrNameLst>
                                          <p:attrName>style.visibility</p:attrName>
                                        </p:attrNameLst>
                                      </p:cBhvr>
                                      <p:to>
                                        <p:strVal val="visible"/>
                                      </p:to>
                                    </p:set>
                                    <p:animEffect transition="in" filter="fade">
                                      <p:cBhvr>
                                        <p:cTn id="65" dur="500"/>
                                        <p:tgtEl>
                                          <p:spTgt spid="39"/>
                                        </p:tgtEl>
                                      </p:cBhvr>
                                    </p:animEffect>
                                  </p:childTnLst>
                                </p:cTn>
                              </p:par>
                              <p:par>
                                <p:cTn id="66" presetID="10" presetClass="entr" presetSubtype="0" fill="hold" grpId="0" nodeType="withEffect">
                                  <p:stCondLst>
                                    <p:cond delay="0"/>
                                  </p:stCondLst>
                                  <p:childTnLst>
                                    <p:set>
                                      <p:cBhvr>
                                        <p:cTn id="67" dur="1" fill="hold">
                                          <p:stCondLst>
                                            <p:cond delay="0"/>
                                          </p:stCondLst>
                                        </p:cTn>
                                        <p:tgtEl>
                                          <p:spTgt spid="38"/>
                                        </p:tgtEl>
                                        <p:attrNameLst>
                                          <p:attrName>style.visibility</p:attrName>
                                        </p:attrNameLst>
                                      </p:cBhvr>
                                      <p:to>
                                        <p:strVal val="visible"/>
                                      </p:to>
                                    </p:set>
                                    <p:animEffect transition="in" filter="fade">
                                      <p:cBhvr>
                                        <p:cTn id="68" dur="500"/>
                                        <p:tgtEl>
                                          <p:spTgt spid="38"/>
                                        </p:tgtEl>
                                      </p:cBhvr>
                                    </p:animEffect>
                                  </p:childTnLst>
                                </p:cTn>
                              </p:par>
                              <p:par>
                                <p:cTn id="69" presetID="10" presetClass="entr" presetSubtype="0" fill="hold" grpId="0" nodeType="withEffect">
                                  <p:stCondLst>
                                    <p:cond delay="0"/>
                                  </p:stCondLst>
                                  <p:childTnLst>
                                    <p:set>
                                      <p:cBhvr>
                                        <p:cTn id="70" dur="1" fill="hold">
                                          <p:stCondLst>
                                            <p:cond delay="0"/>
                                          </p:stCondLst>
                                        </p:cTn>
                                        <p:tgtEl>
                                          <p:spTgt spid="36"/>
                                        </p:tgtEl>
                                        <p:attrNameLst>
                                          <p:attrName>style.visibility</p:attrName>
                                        </p:attrNameLst>
                                      </p:cBhvr>
                                      <p:to>
                                        <p:strVal val="visible"/>
                                      </p:to>
                                    </p:set>
                                    <p:animEffect transition="in" filter="fade">
                                      <p:cBhvr>
                                        <p:cTn id="71" dur="500"/>
                                        <p:tgtEl>
                                          <p:spTgt spid="36"/>
                                        </p:tgtEl>
                                      </p:cBhvr>
                                    </p:animEffect>
                                  </p:childTnLst>
                                </p:cTn>
                              </p:par>
                              <p:par>
                                <p:cTn id="72" presetID="10" presetClass="entr" presetSubtype="0" fill="hold" grpId="0" nodeType="withEffect">
                                  <p:stCondLst>
                                    <p:cond delay="0"/>
                                  </p:stCondLst>
                                  <p:childTnLst>
                                    <p:set>
                                      <p:cBhvr>
                                        <p:cTn id="73" dur="1" fill="hold">
                                          <p:stCondLst>
                                            <p:cond delay="0"/>
                                          </p:stCondLst>
                                        </p:cTn>
                                        <p:tgtEl>
                                          <p:spTgt spid="37"/>
                                        </p:tgtEl>
                                        <p:attrNameLst>
                                          <p:attrName>style.visibility</p:attrName>
                                        </p:attrNameLst>
                                      </p:cBhvr>
                                      <p:to>
                                        <p:strVal val="visible"/>
                                      </p:to>
                                    </p:set>
                                    <p:animEffect transition="in" filter="fade">
                                      <p:cBhvr>
                                        <p:cTn id="74" dur="500"/>
                                        <p:tgtEl>
                                          <p:spTgt spid="37"/>
                                        </p:tgtEl>
                                      </p:cBhvr>
                                    </p:animEffect>
                                  </p:childTnLst>
                                </p:cTn>
                              </p:par>
                              <p:par>
                                <p:cTn id="75" presetID="10" presetClass="entr" presetSubtype="0" fill="hold" grpId="0" nodeType="withEffect">
                                  <p:stCondLst>
                                    <p:cond delay="0"/>
                                  </p:stCondLst>
                                  <p:childTnLst>
                                    <p:set>
                                      <p:cBhvr>
                                        <p:cTn id="76" dur="1" fill="hold">
                                          <p:stCondLst>
                                            <p:cond delay="0"/>
                                          </p:stCondLst>
                                        </p:cTn>
                                        <p:tgtEl>
                                          <p:spTgt spid="35"/>
                                        </p:tgtEl>
                                        <p:attrNameLst>
                                          <p:attrName>style.visibility</p:attrName>
                                        </p:attrNameLst>
                                      </p:cBhvr>
                                      <p:to>
                                        <p:strVal val="visible"/>
                                      </p:to>
                                    </p:set>
                                    <p:animEffect transition="in" filter="fade">
                                      <p:cBhvr>
                                        <p:cTn id="77" dur="500"/>
                                        <p:tgtEl>
                                          <p:spTgt spid="35"/>
                                        </p:tgtEl>
                                      </p:cBhvr>
                                    </p:animEffect>
                                  </p:childTnLst>
                                </p:cTn>
                              </p:par>
                            </p:childTnLst>
                          </p:cTn>
                        </p:par>
                        <p:par>
                          <p:cTn id="88" fill="hold">
                            <p:stCondLst>
                              <p:cond delay="1200"/>
                            </p:stCondLst>
                            <p:childTnLst>
                              <p:par>
                                <p:cTn id="79" presetID="10" presetClass="entr" presetSubtype="0" fill="hold" grpId="0" nodeType="withEffect">
                                  <p:stCondLst>
                                    <p:cond delay="0"/>
                                  </p:stCondLst>
                                  <p:childTnLst>
                                    <p:set>
                                      <p:cBhvr>
                                        <p:cTn id="80" dur="1" fill="hold">
                                          <p:stCondLst>
                                            <p:cond delay="0"/>
                                          </p:stCondLst>
                                        </p:cTn>
                                        <p:tgtEl>
                                          <p:spTgt spid="40"/>
                                        </p:tgtEl>
                                        <p:attrNameLst>
                                          <p:attrName>style.visibility</p:attrName>
                                        </p:attrNameLst>
                                      </p:cBhvr>
                                      <p:to>
                                        <p:strVal val="visible"/>
                                      </p:to>
                                    </p:set>
                                    <p:animEffect transition="in" filter="fade">
                                      <p:cBhvr>
                                        <p:cTn id="81" dur="500"/>
                                        <p:tgtEl>
                                          <p:spTgt spid="40"/>
                                        </p:tgtEl>
                                      </p:cBhvr>
                                    </p:animEffect>
                                  </p:childTnLst>
                                </p:cTn>
                              </p:par>
                              <p:par>
                                <p:cTn id="82" presetID="10" presetClass="entr" presetSubtype="0" fill="hold" grpId="0" nodeType="withEffect">
                                  <p:stCondLst>
                                    <p:cond delay="0"/>
                                  </p:stCondLst>
                                  <p:childTnLst>
                                    <p:set>
                                      <p:cBhvr>
                                        <p:cTn id="83" dur="1" fill="hold">
                                          <p:stCondLst>
                                            <p:cond delay="0"/>
                                          </p:stCondLst>
                                        </p:cTn>
                                        <p:tgtEl>
                                          <p:spTgt spid="42"/>
                                        </p:tgtEl>
                                        <p:attrNameLst>
                                          <p:attrName>style.visibility</p:attrName>
                                        </p:attrNameLst>
                                      </p:cBhvr>
                                      <p:to>
                                        <p:strVal val="visible"/>
                                      </p:to>
                                    </p:set>
                                    <p:animEffect transition="in" filter="fade">
                                      <p:cBhvr>
                                        <p:cTn id="84" dur="500"/>
                                        <p:tgtEl>
                                          <p:spTgt spid="42"/>
                                        </p:tgtEl>
                                      </p:cBhvr>
                                    </p:animEffect>
                                  </p:childTnLst>
                                </p:cTn>
                              </p:par>
                              <p:par>
                                <p:cTn id="85" presetID="10" presetClass="entr" presetSubtype="0" fill="hold" grpId="0" nodeType="withEffect">
                                  <p:stCondLst>
                                    <p:cond delay="0"/>
                                  </p:stCondLst>
                                  <p:childTnLst>
                                    <p:set>
                                      <p:cBhvr>
                                        <p:cTn id="86" dur="1" fill="hold">
                                          <p:stCondLst>
                                            <p:cond delay="0"/>
                                          </p:stCondLst>
                                        </p:cTn>
                                        <p:tgtEl>
                                          <p:spTgt spid="41"/>
                                        </p:tgtEl>
                                        <p:attrNameLst>
                                          <p:attrName>style.visibility</p:attrName>
                                        </p:attrNameLst>
                                      </p:cBhvr>
                                      <p:to>
                                        <p:strVal val="visible"/>
                                      </p:to>
                                    </p:set>
                                    <p:animEffect transition="in" filter="fade">
                                      <p:cBhvr>
                                        <p:cTn id="87" dur="500"/>
                                        <p:tgtEl>
                                          <p:spTgt spid="4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64592"/>
          </a:xfrm>
          <a:prstGeom prst="rect">
            <a:avLst/>
          </a:prstGeom>
          <a:solidFill>
            <a:srgbClr val="143D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548640" y="347472"/>
            <a:ext cx="3424428" cy="329184"/>
          </a:xfrm>
          <a:prstGeom prst="roundRect">
            <a:avLst>
              <a:gd name="adj" fmla="val 50000"/>
            </a:avLst>
          </a:prstGeom>
          <a:solidFill>
            <a:srgbClr val="2A9D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347472"/>
            <a:ext cx="3424428" cy="329184"/>
          </a:xfrm>
          <a:prstGeom prst="rect">
            <a:avLst/>
          </a:prstGeom>
          <a:noFill/>
        </p:spPr>
        <p:txBody>
          <a:bodyPr wrap="square" lIns="0" rIns="0" tIns="0" bIns="0" anchor="ctr">
            <a:spAutoFit/>
          </a:bodyPr>
          <a:lstStyle/>
          <a:p>
            <a:pPr algn="ctr">
              <a:lnSpc>
                <a:spcPct val="100000"/>
              </a:lnSpc>
            </a:pPr>
            <a:r>
              <a:rPr sz="1100" b="1">
                <a:solidFill>
                  <a:srgbClr val="FFFFFF"/>
                </a:solidFill>
                <a:latin typeface="Calibri"/>
              </a:rPr>
              <a:t>QUESTION 3 OF 8  ·  DECISION CRITERIA</a:t>
            </a:r>
          </a:p>
        </p:txBody>
      </p:sp>
      <p:sp>
        <p:nvSpPr>
          <p:cNvPr id="5" name="TextBox 4"/>
          <p:cNvSpPr txBox="1"/>
          <p:nvPr/>
        </p:nvSpPr>
        <p:spPr>
          <a:xfrm>
            <a:off x="548640" y="777240"/>
            <a:ext cx="11064240" cy="594360"/>
          </a:xfrm>
          <a:prstGeom prst="rect">
            <a:avLst/>
          </a:prstGeom>
          <a:noFill/>
        </p:spPr>
        <p:txBody>
          <a:bodyPr wrap="square" lIns="0" rIns="0" tIns="0" bIns="0">
            <a:spAutoFit/>
          </a:bodyPr>
          <a:lstStyle/>
          <a:p>
            <a:pPr>
              <a:lnSpc>
                <a:spcPct val="100000"/>
              </a:lnSpc>
            </a:pPr>
            <a:r>
              <a:rPr sz="3000" b="1">
                <a:solidFill>
                  <a:srgbClr val="143D59"/>
                </a:solidFill>
                <a:latin typeface="Calibri"/>
              </a:rPr>
              <a:t>Every decision is written down, and everyone can read it</a:t>
            </a:r>
          </a:p>
        </p:txBody>
      </p:sp>
      <p:sp>
        <p:nvSpPr>
          <p:cNvPr id="6" name="TextBox 5"/>
          <p:cNvSpPr txBox="1"/>
          <p:nvPr/>
        </p:nvSpPr>
        <p:spPr>
          <a:xfrm>
            <a:off x="548640" y="1389888"/>
            <a:ext cx="11064240" cy="411480"/>
          </a:xfrm>
          <a:prstGeom prst="rect">
            <a:avLst/>
          </a:prstGeom>
          <a:noFill/>
        </p:spPr>
        <p:txBody>
          <a:bodyPr wrap="square" lIns="0" rIns="0" tIns="0" bIns="0">
            <a:spAutoFit/>
          </a:bodyPr>
          <a:lstStyle/>
          <a:p>
            <a:pPr>
              <a:lnSpc>
                <a:spcPct val="100000"/>
              </a:lnSpc>
            </a:pPr>
            <a:r>
              <a:rPr sz="1600" b="0">
                <a:solidFill>
                  <a:srgbClr val="4F5560"/>
                </a:solidFill>
                <a:latin typeface="Calibri"/>
              </a:rPr>
              <a:t>How decisions were made, and the criteria behind them.</a:t>
            </a:r>
          </a:p>
        </p:txBody>
      </p:sp>
      <p:sp>
        <p:nvSpPr>
          <p:cNvPr id="7" name="TextBox 6"/>
          <p:cNvSpPr txBox="1"/>
          <p:nvPr/>
        </p:nvSpPr>
        <p:spPr>
          <a:xfrm>
            <a:off x="548640" y="6446520"/>
            <a:ext cx="5120640" cy="274320"/>
          </a:xfrm>
          <a:prstGeom prst="rect">
            <a:avLst/>
          </a:prstGeom>
          <a:noFill/>
        </p:spPr>
        <p:txBody>
          <a:bodyPr wrap="square" lIns="0" rIns="0" tIns="0" bIns="0">
            <a:spAutoFit/>
          </a:bodyPr>
          <a:lstStyle/>
          <a:p>
            <a:pPr>
              <a:lnSpc>
                <a:spcPct val="100000"/>
              </a:lnSpc>
            </a:pPr>
            <a:r>
              <a:rPr sz="1000" b="0">
                <a:solidFill>
                  <a:srgbClr val="4F5560"/>
                </a:solidFill>
                <a:latin typeface="Calibri"/>
              </a:rPr>
              <a:t>Reunión de preparación  ·  Espacio de Datos EJIE  ·  País Vasco</a:t>
            </a:r>
          </a:p>
        </p:txBody>
      </p:sp>
      <p:sp>
        <p:nvSpPr>
          <p:cNvPr id="8" name="Rectangle 7"/>
          <p:cNvSpPr/>
          <p:nvPr/>
        </p:nvSpPr>
        <p:spPr>
          <a:xfrm>
            <a:off x="10012680" y="429768"/>
            <a:ext cx="155448" cy="155448"/>
          </a:xfrm>
          <a:prstGeom prst="rect">
            <a:avLst/>
          </a:prstGeom>
          <a:solidFill>
            <a:srgbClr val="F4EF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10222992" y="429768"/>
            <a:ext cx="155448" cy="155448"/>
          </a:xfrm>
          <a:prstGeom prst="rect">
            <a:avLst/>
          </a:prstGeom>
          <a:solidFill>
            <a:srgbClr val="F4EF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10433304" y="429768"/>
            <a:ext cx="155448" cy="155448"/>
          </a:xfrm>
          <a:prstGeom prst="rect">
            <a:avLst/>
          </a:prstGeom>
          <a:solidFill>
            <a:srgbClr val="2A9D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10643615" y="429768"/>
            <a:ext cx="155448" cy="155448"/>
          </a:xfrm>
          <a:prstGeom prst="rect">
            <a:avLst/>
          </a:prstGeom>
          <a:solidFill>
            <a:srgbClr val="F4EF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10853928" y="429768"/>
            <a:ext cx="155448" cy="155448"/>
          </a:xfrm>
          <a:prstGeom prst="rect">
            <a:avLst/>
          </a:prstGeom>
          <a:solidFill>
            <a:srgbClr val="F4EF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11064240" y="429768"/>
            <a:ext cx="155448" cy="155448"/>
          </a:xfrm>
          <a:prstGeom prst="rect">
            <a:avLst/>
          </a:prstGeom>
          <a:solidFill>
            <a:srgbClr val="F4EF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11274552" y="429768"/>
            <a:ext cx="155448" cy="155448"/>
          </a:xfrm>
          <a:prstGeom prst="rect">
            <a:avLst/>
          </a:prstGeom>
          <a:solidFill>
            <a:srgbClr val="F4EF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11484863" y="429768"/>
            <a:ext cx="155448" cy="155448"/>
          </a:xfrm>
          <a:prstGeom prst="rect">
            <a:avLst/>
          </a:prstGeom>
          <a:solidFill>
            <a:srgbClr val="F4EF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48640" y="1965960"/>
            <a:ext cx="10972800" cy="365760"/>
          </a:xfrm>
          <a:prstGeom prst="rect">
            <a:avLst/>
          </a:prstGeom>
          <a:noFill/>
        </p:spPr>
        <p:txBody>
          <a:bodyPr wrap="square" lIns="0" rIns="0" tIns="0" bIns="0">
            <a:spAutoFit/>
          </a:bodyPr>
          <a:lstStyle/>
          <a:p>
            <a:pPr>
              <a:lnSpc>
                <a:spcPct val="100000"/>
              </a:lnSpc>
            </a:pPr>
            <a:r>
              <a:rPr sz="1800" b="1">
                <a:solidFill>
                  <a:srgbClr val="143D59"/>
                </a:solidFill>
                <a:latin typeface="Calibri"/>
              </a:rPr>
              <a:t>How we decide</a:t>
            </a:r>
          </a:p>
        </p:txBody>
      </p:sp>
      <p:sp>
        <p:nvSpPr>
          <p:cNvPr id="17" name="Pentagon 16"/>
          <p:cNvSpPr/>
          <p:nvPr/>
        </p:nvSpPr>
        <p:spPr>
          <a:xfrm>
            <a:off x="548640" y="2423160"/>
            <a:ext cx="3611880" cy="1143000"/>
          </a:xfrm>
          <a:prstGeom prst="homePlate">
            <a:avLst/>
          </a:prstGeom>
          <a:solidFill>
            <a:srgbClr val="2A9D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60120" y="2468880"/>
            <a:ext cx="2926080" cy="1051560"/>
          </a:xfrm>
          <a:prstGeom prst="rect">
            <a:avLst/>
          </a:prstGeom>
          <a:noFill/>
        </p:spPr>
        <p:txBody>
          <a:bodyPr wrap="square" lIns="0" rIns="0" tIns="0" bIns="0" anchor="ctr">
            <a:spAutoFit/>
          </a:bodyPr>
          <a:lstStyle/>
          <a:p>
            <a:pPr algn="ctr">
              <a:lnSpc>
                <a:spcPct val="105000"/>
              </a:lnSpc>
            </a:pPr>
            <a:r>
              <a:rPr sz="1600" b="1">
                <a:solidFill>
                  <a:srgbClr val="FFFFFF"/>
                </a:solidFill>
                <a:latin typeface="Calibri"/>
              </a:rPr>
              <a:t>Working groups</a:t>
            </a:r>
          </a:p>
          <a:p>
            <a:pPr algn="ctr">
              <a:lnSpc>
                <a:spcPct val="105000"/>
              </a:lnSpc>
            </a:pPr>
            <a:r>
              <a:rPr sz="1600" b="1">
                <a:solidFill>
                  <a:srgbClr val="FFFFFF"/>
                </a:solidFill>
                <a:latin typeface="Calibri"/>
              </a:rPr>
              <a:t>propose</a:t>
            </a:r>
          </a:p>
        </p:txBody>
      </p:sp>
      <p:sp>
        <p:nvSpPr>
          <p:cNvPr id="19" name="Chevron 18"/>
          <p:cNvSpPr/>
          <p:nvPr/>
        </p:nvSpPr>
        <p:spPr>
          <a:xfrm>
            <a:off x="4315968" y="2423160"/>
            <a:ext cx="3611880" cy="1143000"/>
          </a:xfrm>
          <a:prstGeom prst="chevron">
            <a:avLst/>
          </a:prstGeom>
          <a:solidFill>
            <a:srgbClr val="143D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727448" y="2468880"/>
            <a:ext cx="2926080" cy="1051560"/>
          </a:xfrm>
          <a:prstGeom prst="rect">
            <a:avLst/>
          </a:prstGeom>
          <a:noFill/>
        </p:spPr>
        <p:txBody>
          <a:bodyPr wrap="square" lIns="0" rIns="0" tIns="0" bIns="0" anchor="ctr">
            <a:spAutoFit/>
          </a:bodyPr>
          <a:lstStyle/>
          <a:p>
            <a:pPr algn="ctr">
              <a:lnSpc>
                <a:spcPct val="105000"/>
              </a:lnSpc>
            </a:pPr>
            <a:r>
              <a:rPr sz="1600" b="1">
                <a:solidFill>
                  <a:srgbClr val="FFFFFF"/>
                </a:solidFill>
                <a:latin typeface="Calibri"/>
              </a:rPr>
              <a:t>Contributors who build it</a:t>
            </a:r>
          </a:p>
          <a:p>
            <a:pPr algn="ctr">
              <a:lnSpc>
                <a:spcPct val="105000"/>
              </a:lnSpc>
            </a:pPr>
            <a:r>
              <a:rPr sz="1600" b="1">
                <a:solidFill>
                  <a:srgbClr val="FFFFFF"/>
                </a:solidFill>
                <a:latin typeface="Calibri"/>
              </a:rPr>
              <a:t>decide the priorities</a:t>
            </a:r>
          </a:p>
        </p:txBody>
      </p:sp>
      <p:sp>
        <p:nvSpPr>
          <p:cNvPr id="21" name="Chevron 20"/>
          <p:cNvSpPr/>
          <p:nvPr/>
        </p:nvSpPr>
        <p:spPr>
          <a:xfrm>
            <a:off x="8083296" y="2423160"/>
            <a:ext cx="3611880" cy="1143000"/>
          </a:xfrm>
          <a:prstGeom prst="chevron">
            <a:avLst/>
          </a:prstGeom>
          <a:solidFill>
            <a:srgbClr val="528B5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494776" y="2468880"/>
            <a:ext cx="2926080" cy="1051560"/>
          </a:xfrm>
          <a:prstGeom prst="rect">
            <a:avLst/>
          </a:prstGeom>
          <a:noFill/>
        </p:spPr>
        <p:txBody>
          <a:bodyPr wrap="square" lIns="0" rIns="0" tIns="0" bIns="0" anchor="ctr">
            <a:spAutoFit/>
          </a:bodyPr>
          <a:lstStyle/>
          <a:p>
            <a:pPr algn="ctr">
              <a:lnSpc>
                <a:spcPct val="105000"/>
              </a:lnSpc>
            </a:pPr>
            <a:r>
              <a:rPr sz="1600" b="1">
                <a:solidFill>
                  <a:srgbClr val="FFFFFF"/>
                </a:solidFill>
                <a:latin typeface="Calibri"/>
              </a:rPr>
              <a:t>An Architecture Decision Record</a:t>
            </a:r>
          </a:p>
          <a:p>
            <a:pPr algn="ctr">
              <a:lnSpc>
                <a:spcPct val="105000"/>
              </a:lnSpc>
            </a:pPr>
            <a:r>
              <a:rPr sz="1600" b="1">
                <a:solidFill>
                  <a:srgbClr val="FFFFFF"/>
                </a:solidFill>
                <a:latin typeface="Calibri"/>
              </a:rPr>
              <a:t>is published for everyone</a:t>
            </a:r>
          </a:p>
        </p:txBody>
      </p:sp>
      <p:sp>
        <p:nvSpPr>
          <p:cNvPr id="23" name="TextBox 22"/>
          <p:cNvSpPr txBox="1"/>
          <p:nvPr/>
        </p:nvSpPr>
        <p:spPr>
          <a:xfrm>
            <a:off x="548640" y="3886200"/>
            <a:ext cx="10972800" cy="365760"/>
          </a:xfrm>
          <a:prstGeom prst="rect">
            <a:avLst/>
          </a:prstGeom>
          <a:noFill/>
        </p:spPr>
        <p:txBody>
          <a:bodyPr wrap="square" lIns="0" rIns="0" tIns="0" bIns="0">
            <a:spAutoFit/>
          </a:bodyPr>
          <a:lstStyle/>
          <a:p>
            <a:pPr>
              <a:lnSpc>
                <a:spcPct val="100000"/>
              </a:lnSpc>
            </a:pPr>
            <a:r>
              <a:rPr sz="1800" b="1">
                <a:solidFill>
                  <a:srgbClr val="143D59"/>
                </a:solidFill>
                <a:latin typeface="Calibri"/>
              </a:rPr>
              <a:t>Five criteria for every decision</a:t>
            </a:r>
          </a:p>
        </p:txBody>
      </p:sp>
      <p:sp>
        <p:nvSpPr>
          <p:cNvPr id="24" name="Rounded Rectangle 23"/>
          <p:cNvSpPr/>
          <p:nvPr/>
        </p:nvSpPr>
        <p:spPr>
          <a:xfrm>
            <a:off x="548640" y="4389120"/>
            <a:ext cx="1828800" cy="548640"/>
          </a:xfrm>
          <a:prstGeom prst="roundRect">
            <a:avLst>
              <a:gd name="adj" fmla="val 50000"/>
            </a:avLst>
          </a:prstGeom>
          <a:solidFill>
            <a:srgbClr val="2A9D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548640" y="4389120"/>
            <a:ext cx="1828800" cy="548640"/>
          </a:xfrm>
          <a:prstGeom prst="rect">
            <a:avLst/>
          </a:prstGeom>
          <a:noFill/>
        </p:spPr>
        <p:txBody>
          <a:bodyPr wrap="square" lIns="0" rIns="0" tIns="0" bIns="0" anchor="ctr">
            <a:spAutoFit/>
          </a:bodyPr>
          <a:lstStyle/>
          <a:p>
            <a:pPr algn="ctr">
              <a:lnSpc>
                <a:spcPct val="100000"/>
              </a:lnSpc>
            </a:pPr>
            <a:r>
              <a:rPr sz="1400" b="1">
                <a:solidFill>
                  <a:srgbClr val="FFFFFF"/>
                </a:solidFill>
                <a:latin typeface="Calibri"/>
              </a:rPr>
              <a:t>Open standards</a:t>
            </a:r>
          </a:p>
        </p:txBody>
      </p:sp>
      <p:sp>
        <p:nvSpPr>
          <p:cNvPr id="26" name="Rounded Rectangle 25"/>
          <p:cNvSpPr/>
          <p:nvPr/>
        </p:nvSpPr>
        <p:spPr>
          <a:xfrm>
            <a:off x="2372868" y="4389120"/>
            <a:ext cx="1965960" cy="548640"/>
          </a:xfrm>
          <a:prstGeom prst="roundRect">
            <a:avLst>
              <a:gd name="adj" fmla="val 50000"/>
            </a:avLst>
          </a:prstGeom>
          <a:solidFill>
            <a:srgbClr val="143D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2372868" y="4389120"/>
            <a:ext cx="1965960" cy="548640"/>
          </a:xfrm>
          <a:prstGeom prst="rect">
            <a:avLst/>
          </a:prstGeom>
          <a:noFill/>
        </p:spPr>
        <p:txBody>
          <a:bodyPr wrap="square" lIns="0" rIns="0" tIns="0" bIns="0" anchor="ctr">
            <a:spAutoFit/>
          </a:bodyPr>
          <a:lstStyle/>
          <a:p>
            <a:pPr algn="ctr">
              <a:lnSpc>
                <a:spcPct val="100000"/>
              </a:lnSpc>
            </a:pPr>
            <a:r>
              <a:rPr sz="1400" b="1">
                <a:solidFill>
                  <a:srgbClr val="FFFFFF"/>
                </a:solidFill>
                <a:latin typeface="Calibri"/>
              </a:rPr>
              <a:t>Data sovereignty</a:t>
            </a:r>
          </a:p>
        </p:txBody>
      </p:sp>
      <p:sp>
        <p:nvSpPr>
          <p:cNvPr id="28" name="Rounded Rectangle 27"/>
          <p:cNvSpPr/>
          <p:nvPr/>
        </p:nvSpPr>
        <p:spPr>
          <a:xfrm>
            <a:off x="4334256" y="4389120"/>
            <a:ext cx="3246120" cy="548640"/>
          </a:xfrm>
          <a:prstGeom prst="roundRect">
            <a:avLst>
              <a:gd name="adj" fmla="val 50000"/>
            </a:avLst>
          </a:prstGeom>
          <a:solidFill>
            <a:srgbClr val="528B5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4334256" y="4389120"/>
            <a:ext cx="3246120" cy="548640"/>
          </a:xfrm>
          <a:prstGeom prst="rect">
            <a:avLst/>
          </a:prstGeom>
          <a:noFill/>
        </p:spPr>
        <p:txBody>
          <a:bodyPr wrap="square" lIns="0" rIns="0" tIns="0" bIns="0" anchor="ctr">
            <a:spAutoFit/>
          </a:bodyPr>
          <a:lstStyle/>
          <a:p>
            <a:pPr algn="ctr">
              <a:lnSpc>
                <a:spcPct val="100000"/>
              </a:lnSpc>
            </a:pPr>
            <a:r>
              <a:rPr sz="1400" b="1">
                <a:solidFill>
                  <a:srgbClr val="FFFFFF"/>
                </a:solidFill>
                <a:latin typeface="Calibri"/>
              </a:rPr>
              <a:t>Fits the law: EHDS, GDPR, Data Act</a:t>
            </a:r>
          </a:p>
        </p:txBody>
      </p:sp>
      <p:sp>
        <p:nvSpPr>
          <p:cNvPr id="30" name="Rounded Rectangle 29"/>
          <p:cNvSpPr/>
          <p:nvPr/>
        </p:nvSpPr>
        <p:spPr>
          <a:xfrm>
            <a:off x="7575804" y="4389120"/>
            <a:ext cx="2011680" cy="548640"/>
          </a:xfrm>
          <a:prstGeom prst="roundRect">
            <a:avLst>
              <a:gd name="adj" fmla="val 50000"/>
            </a:avLst>
          </a:prstGeom>
          <a:solidFill>
            <a:srgbClr val="E6A8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575804" y="4389120"/>
            <a:ext cx="2011680" cy="548640"/>
          </a:xfrm>
          <a:prstGeom prst="rect">
            <a:avLst/>
          </a:prstGeom>
          <a:noFill/>
        </p:spPr>
        <p:txBody>
          <a:bodyPr wrap="square" lIns="0" rIns="0" tIns="0" bIns="0" anchor="ctr">
            <a:spAutoFit/>
          </a:bodyPr>
          <a:lstStyle/>
          <a:p>
            <a:pPr algn="ctr">
              <a:lnSpc>
                <a:spcPct val="100000"/>
              </a:lnSpc>
            </a:pPr>
            <a:r>
              <a:rPr sz="1400" b="1">
                <a:solidFill>
                  <a:srgbClr val="FFFFFF"/>
                </a:solidFill>
                <a:latin typeface="Calibri"/>
              </a:rPr>
              <a:t>Mature technology</a:t>
            </a:r>
          </a:p>
        </p:txBody>
      </p:sp>
      <p:sp>
        <p:nvSpPr>
          <p:cNvPr id="32" name="Rounded Rectangle 31"/>
          <p:cNvSpPr/>
          <p:nvPr/>
        </p:nvSpPr>
        <p:spPr>
          <a:xfrm>
            <a:off x="9582912" y="4389120"/>
            <a:ext cx="2057400" cy="548640"/>
          </a:xfrm>
          <a:prstGeom prst="roundRect">
            <a:avLst>
              <a:gd name="adj" fmla="val 50000"/>
            </a:avLst>
          </a:prstGeom>
          <a:solidFill>
            <a:srgbClr val="C31E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9582912" y="4389120"/>
            <a:ext cx="2057400" cy="548640"/>
          </a:xfrm>
          <a:prstGeom prst="rect">
            <a:avLst/>
          </a:prstGeom>
          <a:noFill/>
        </p:spPr>
        <p:txBody>
          <a:bodyPr wrap="square" lIns="0" rIns="0" tIns="0" bIns="0" anchor="ctr">
            <a:spAutoFit/>
          </a:bodyPr>
          <a:lstStyle/>
          <a:p>
            <a:pPr algn="ctr">
              <a:lnSpc>
                <a:spcPct val="100000"/>
              </a:lnSpc>
            </a:pPr>
            <a:r>
              <a:rPr sz="1400" b="1">
                <a:solidFill>
                  <a:srgbClr val="FFFFFF"/>
                </a:solidFill>
                <a:latin typeface="Calibri"/>
              </a:rPr>
              <a:t>A clear exit strategy</a:t>
            </a:r>
          </a:p>
        </p:txBody>
      </p:sp>
      <p:sp>
        <p:nvSpPr>
          <p:cNvPr id="34" name="Rounded Rectangle 33"/>
          <p:cNvSpPr/>
          <p:nvPr/>
        </p:nvSpPr>
        <p:spPr>
          <a:xfrm>
            <a:off x="548640" y="5303520"/>
            <a:ext cx="11091672" cy="868680"/>
          </a:xfrm>
          <a:prstGeom prst="roundRect">
            <a:avLst>
              <a:gd name="adj" fmla="val 5000"/>
            </a:avLst>
          </a:prstGeom>
          <a:solidFill>
            <a:srgbClr val="F4EF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548640" y="5303520"/>
            <a:ext cx="164592" cy="868680"/>
          </a:xfrm>
          <a:prstGeom prst="rect">
            <a:avLst/>
          </a:prstGeom>
          <a:solidFill>
            <a:srgbClr val="528B5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960120" y="5303520"/>
            <a:ext cx="10424160" cy="868680"/>
          </a:xfrm>
          <a:prstGeom prst="rect">
            <a:avLst/>
          </a:prstGeom>
          <a:noFill/>
        </p:spPr>
        <p:txBody>
          <a:bodyPr wrap="square" lIns="0" rIns="0" tIns="0" bIns="0" anchor="ctr">
            <a:spAutoFit/>
          </a:bodyPr>
          <a:lstStyle/>
          <a:p>
            <a:pPr>
              <a:lnSpc>
                <a:spcPct val="110000"/>
              </a:lnSpc>
            </a:pPr>
            <a:r>
              <a:rPr sz="1600" b="1">
                <a:solidFill>
                  <a:srgbClr val="143D59"/>
                </a:solidFill>
                <a:latin typeface="Calibri"/>
              </a:rPr>
              <a:t>Our EHDS demonstrator works the same way: 57 decision records, public on GitHub.</a:t>
            </a:r>
          </a:p>
        </p:txBody>
      </p:sp>
      <p:sp>
        <p:nvSpPr>
          <p:cNvPr id="37" name="TextBox 36"/>
          <p:cNvSpPr txBox="1"/>
          <p:nvPr/>
        </p:nvSpPr>
        <p:spPr>
          <a:xfrm>
            <a:off x="5852160" y="6446520"/>
            <a:ext cx="5760720" cy="274320"/>
          </a:xfrm>
          <a:prstGeom prst="rect">
            <a:avLst/>
          </a:prstGeom>
          <a:noFill/>
        </p:spPr>
        <p:txBody>
          <a:bodyPr wrap="square" lIns="0" rIns="0" tIns="0" bIns="0">
            <a:spAutoFit/>
          </a:bodyPr>
          <a:lstStyle/>
          <a:p>
            <a:pPr algn="r">
              <a:lnSpc>
                <a:spcPct val="100000"/>
              </a:lnSpc>
            </a:pPr>
            <a:r>
              <a:rPr sz="900" b="0">
                <a:solidFill>
                  <a:srgbClr val="8A8F98"/>
                </a:solidFill>
                <a:latin typeface="Calibri"/>
              </a:rPr>
              <a:t>github.com/ma3u/MinimumViableHealthDataspacev2  ·  docs/ADRs</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77" fill="hold">
                      <p:stCondLst>
                        <p:cond delay="indefinite"/>
                        <p:cond evt="onBegin" delay="0">
                          <p:tn val="2"/>
                        </p:cond>
                      </p:stCondLst>
                      <p:childTnLst>
                        <p:par>
                          <p:cTn id="6" fill="hold">
                            <p:stCondLst>
                              <p:cond delay="0"/>
                            </p:stCondLst>
                            <p:childTnLst>
                              <p:par>
                                <p:cTn id="3" presetID="10" presetClass="entr" presetSubtype="0" fill="hold" grpId="0" nodeType="afterEffect">
                                  <p:stCondLst>
                                    <p:cond delay="0"/>
                                  </p:stCondLst>
                                  <p:childTnLst>
                                    <p:set>
                                      <p:cBhvr>
                                        <p:cTn id="4" dur="1" fill="hold">
                                          <p:stCondLst>
                                            <p:cond delay="0"/>
                                          </p:stCondLst>
                                        </p:cTn>
                                        <p:tgtEl>
                                          <p:spTgt spid="16"/>
                                        </p:tgtEl>
                                        <p:attrNameLst>
                                          <p:attrName>style.visibility</p:attrName>
                                        </p:attrNameLst>
                                      </p:cBhvr>
                                      <p:to>
                                        <p:strVal val="visible"/>
                                      </p:to>
                                    </p:set>
                                    <p:animEffect transition="in" filter="fade">
                                      <p:cBhvr>
                                        <p:cTn id="5" dur="500"/>
                                        <p:tgtEl>
                                          <p:spTgt spid="16"/>
                                        </p:tgtEl>
                                      </p:cBhvr>
                                    </p:animEffect>
                                  </p:childTnLst>
                                </p:cTn>
                              </p:par>
                            </p:childTnLst>
                          </p:cTn>
                        </p:par>
                        <p:par>
                          <p:cTn id="13" fill="hold">
                            <p:stCondLst>
                              <p:cond delay="300"/>
                            </p:stCondLst>
                            <p:childTnLst>
                              <p:par>
                                <p:cTn id="7" presetID="10" presetClass="entr" presetSubtype="0" fill="hold" grpId="0" nodeType="withEffect">
                                  <p:stCondLst>
                                    <p:cond delay="0"/>
                                  </p:stCondLst>
                                  <p:childTnLst>
                                    <p:set>
                                      <p:cBhvr>
                                        <p:cTn id="8" dur="1" fill="hold">
                                          <p:stCondLst>
                                            <p:cond delay="0"/>
                                          </p:stCondLst>
                                        </p:cTn>
                                        <p:tgtEl>
                                          <p:spTgt spid="17"/>
                                        </p:tgtEl>
                                        <p:attrNameLst>
                                          <p:attrName>style.visibility</p:attrName>
                                        </p:attrNameLst>
                                      </p:cBhvr>
                                      <p:to>
                                        <p:strVal val="visible"/>
                                      </p:to>
                                    </p:set>
                                    <p:animEffect transition="in" filter="fade">
                                      <p:cBhvr>
                                        <p:cTn id="9" dur="500"/>
                                        <p:tgtEl>
                                          <p:spTgt spid="17"/>
                                        </p:tgtEl>
                                      </p:cBhvr>
                                    </p:animEffect>
                                  </p:childTnLst>
                                </p:cTn>
                              </p:par>
                              <p:par>
                                <p:cTn id="10" presetID="10" presetClass="entr" presetSubtype="0" fill="hold" grpId="0" nodeType="withEffect">
                                  <p:stCondLst>
                                    <p:cond delay="0"/>
                                  </p:stCondLst>
                                  <p:childTnLst>
                                    <p:set>
                                      <p:cBhvr>
                                        <p:cTn id="11" dur="1" fill="hold">
                                          <p:stCondLst>
                                            <p:cond delay="0"/>
                                          </p:stCondLst>
                                        </p:cTn>
                                        <p:tgtEl>
                                          <p:spTgt spid="18"/>
                                        </p:tgtEl>
                                        <p:attrNameLst>
                                          <p:attrName>style.visibility</p:attrName>
                                        </p:attrNameLst>
                                      </p:cBhvr>
                                      <p:to>
                                        <p:strVal val="visible"/>
                                      </p:to>
                                    </p:set>
                                    <p:animEffect transition="in" filter="fade">
                                      <p:cBhvr>
                                        <p:cTn id="12" dur="500"/>
                                        <p:tgtEl>
                                          <p:spTgt spid="18"/>
                                        </p:tgtEl>
                                      </p:cBhvr>
                                    </p:animEffect>
                                  </p:childTnLst>
                                </p:cTn>
                              </p:par>
                            </p:childTnLst>
                          </p:cTn>
                        </p:par>
                        <p:par>
                          <p:cTn id="20" fill="hold">
                            <p:stCondLst>
                              <p:cond delay="600"/>
                            </p:stCondLst>
                            <p:childTnLst>
                              <p:par>
                                <p:cTn id="14" presetID="10" presetClass="entr" presetSubtype="0" fill="hold" grpId="0" nodeType="withEffect">
                                  <p:stCondLst>
                                    <p:cond delay="0"/>
                                  </p:stCondLst>
                                  <p:childTnLst>
                                    <p:set>
                                      <p:cBhvr>
                                        <p:cTn id="15" dur="1" fill="hold">
                                          <p:stCondLst>
                                            <p:cond delay="0"/>
                                          </p:stCondLst>
                                        </p:cTn>
                                        <p:tgtEl>
                                          <p:spTgt spid="19"/>
                                        </p:tgtEl>
                                        <p:attrNameLst>
                                          <p:attrName>style.visibility</p:attrName>
                                        </p:attrNameLst>
                                      </p:cBhvr>
                                      <p:to>
                                        <p:strVal val="visible"/>
                                      </p:to>
                                    </p:set>
                                    <p:animEffect transition="in" filter="fade">
                                      <p:cBhvr>
                                        <p:cTn id="16" dur="500"/>
                                        <p:tgtEl>
                                          <p:spTgt spid="19"/>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20"/>
                                        </p:tgtEl>
                                        <p:attrNameLst>
                                          <p:attrName>style.visibility</p:attrName>
                                        </p:attrNameLst>
                                      </p:cBhvr>
                                      <p:to>
                                        <p:strVal val="visible"/>
                                      </p:to>
                                    </p:set>
                                    <p:animEffect transition="in" filter="fade">
                                      <p:cBhvr>
                                        <p:cTn id="19" dur="500"/>
                                        <p:tgtEl>
                                          <p:spTgt spid="20"/>
                                        </p:tgtEl>
                                      </p:cBhvr>
                                    </p:animEffect>
                                  </p:childTnLst>
                                </p:cTn>
                              </p:par>
                            </p:childTnLst>
                          </p:cTn>
                        </p:par>
                        <p:par>
                          <p:cTn id="27" fill="hold">
                            <p:stCondLst>
                              <p:cond delay="900"/>
                            </p:stCondLst>
                            <p:childTnLst>
                              <p:par>
                                <p:cTn id="21" presetID="10" presetClass="entr" presetSubtype="0" fill="hold" grpId="0" nodeType="withEffect">
                                  <p:stCondLst>
                                    <p:cond delay="0"/>
                                  </p:stCondLst>
                                  <p:childTnLst>
                                    <p:set>
                                      <p:cBhvr>
                                        <p:cTn id="22" dur="1" fill="hold">
                                          <p:stCondLst>
                                            <p:cond delay="0"/>
                                          </p:stCondLst>
                                        </p:cTn>
                                        <p:tgtEl>
                                          <p:spTgt spid="21"/>
                                        </p:tgtEl>
                                        <p:attrNameLst>
                                          <p:attrName>style.visibility</p:attrName>
                                        </p:attrNameLst>
                                      </p:cBhvr>
                                      <p:to>
                                        <p:strVal val="visible"/>
                                      </p:to>
                                    </p:set>
                                    <p:animEffect transition="in" filter="fade">
                                      <p:cBhvr>
                                        <p:cTn id="23" dur="500"/>
                                        <p:tgtEl>
                                          <p:spTgt spid="21"/>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22"/>
                                        </p:tgtEl>
                                        <p:attrNameLst>
                                          <p:attrName>style.visibility</p:attrName>
                                        </p:attrNameLst>
                                      </p:cBhvr>
                                      <p:to>
                                        <p:strVal val="visible"/>
                                      </p:to>
                                    </p:set>
                                    <p:animEffect transition="in" filter="fade">
                                      <p:cBhvr>
                                        <p:cTn id="26" dur="500"/>
                                        <p:tgtEl>
                                          <p:spTgt spid="22"/>
                                        </p:tgtEl>
                                      </p:cBhvr>
                                    </p:animEffect>
                                  </p:childTnLst>
                                </p:cTn>
                              </p:par>
                            </p:childTnLst>
                          </p:cTn>
                        </p:par>
                        <p:par>
                          <p:cTn id="31" fill="hold">
                            <p:stCondLst>
                              <p:cond delay="1200"/>
                            </p:stCondLst>
                            <p:childTnLst>
                              <p:par>
                                <p:cTn id="28" presetID="10" presetClass="entr" presetSubtype="0" fill="hold" grpId="0" nodeType="withEffect">
                                  <p:stCondLst>
                                    <p:cond delay="0"/>
                                  </p:stCondLst>
                                  <p:childTnLst>
                                    <p:set>
                                      <p:cBhvr>
                                        <p:cTn id="29" dur="1" fill="hold">
                                          <p:stCondLst>
                                            <p:cond delay="0"/>
                                          </p:stCondLst>
                                        </p:cTn>
                                        <p:tgtEl>
                                          <p:spTgt spid="23"/>
                                        </p:tgtEl>
                                        <p:attrNameLst>
                                          <p:attrName>style.visibility</p:attrName>
                                        </p:attrNameLst>
                                      </p:cBhvr>
                                      <p:to>
                                        <p:strVal val="visible"/>
                                      </p:to>
                                    </p:set>
                                    <p:animEffect transition="in" filter="fade">
                                      <p:cBhvr>
                                        <p:cTn id="30" dur="500"/>
                                        <p:tgtEl>
                                          <p:spTgt spid="23"/>
                                        </p:tgtEl>
                                      </p:cBhvr>
                                    </p:animEffect>
                                  </p:childTnLst>
                                </p:cTn>
                              </p:par>
                            </p:childTnLst>
                          </p:cTn>
                        </p:par>
                        <p:par>
                          <p:cTn id="38" fill="hold">
                            <p:stCondLst>
                              <p:cond delay="1500"/>
                            </p:stCondLst>
                            <p:childTnLst>
                              <p:par>
                                <p:cTn id="32" presetID="10" presetClass="entr" presetSubtype="0" fill="hold" grpId="0" nodeType="withEffect">
                                  <p:stCondLst>
                                    <p:cond delay="0"/>
                                  </p:stCondLst>
                                  <p:childTnLst>
                                    <p:set>
                                      <p:cBhvr>
                                        <p:cTn id="33" dur="1" fill="hold">
                                          <p:stCondLst>
                                            <p:cond delay="0"/>
                                          </p:stCondLst>
                                        </p:cTn>
                                        <p:tgtEl>
                                          <p:spTgt spid="24"/>
                                        </p:tgtEl>
                                        <p:attrNameLst>
                                          <p:attrName>style.visibility</p:attrName>
                                        </p:attrNameLst>
                                      </p:cBhvr>
                                      <p:to>
                                        <p:strVal val="visible"/>
                                      </p:to>
                                    </p:set>
                                    <p:animEffect transition="in" filter="fade">
                                      <p:cBhvr>
                                        <p:cTn id="34" dur="500"/>
                                        <p:tgtEl>
                                          <p:spTgt spid="24"/>
                                        </p:tgtEl>
                                      </p:cBhvr>
                                    </p:animEffect>
                                  </p:childTnLst>
                                </p:cTn>
                              </p:par>
                              <p:par>
                                <p:cTn id="35" presetID="10" presetClass="entr" presetSubtype="0" fill="hold" grpId="0" nodeType="withEffect">
                                  <p:stCondLst>
                                    <p:cond delay="0"/>
                                  </p:stCondLst>
                                  <p:childTnLst>
                                    <p:set>
                                      <p:cBhvr>
                                        <p:cTn id="36" dur="1" fill="hold">
                                          <p:stCondLst>
                                            <p:cond delay="0"/>
                                          </p:stCondLst>
                                        </p:cTn>
                                        <p:tgtEl>
                                          <p:spTgt spid="25"/>
                                        </p:tgtEl>
                                        <p:attrNameLst>
                                          <p:attrName>style.visibility</p:attrName>
                                        </p:attrNameLst>
                                      </p:cBhvr>
                                      <p:to>
                                        <p:strVal val="visible"/>
                                      </p:to>
                                    </p:set>
                                    <p:animEffect transition="in" filter="fade">
                                      <p:cBhvr>
                                        <p:cTn id="37" dur="500"/>
                                        <p:tgtEl>
                                          <p:spTgt spid="25"/>
                                        </p:tgtEl>
                                      </p:cBhvr>
                                    </p:animEffect>
                                  </p:childTnLst>
                                </p:cTn>
                              </p:par>
                            </p:childTnLst>
                          </p:cTn>
                        </p:par>
                        <p:par>
                          <p:cTn id="45" fill="hold">
                            <p:stCondLst>
                              <p:cond delay="1800"/>
                            </p:stCondLst>
                            <p:childTnLst>
                              <p:par>
                                <p:cTn id="39" presetID="10" presetClass="entr" presetSubtype="0" fill="hold" grpId="0" nodeType="withEffect">
                                  <p:stCondLst>
                                    <p:cond delay="0"/>
                                  </p:stCondLst>
                                  <p:childTnLst>
                                    <p:set>
                                      <p:cBhvr>
                                        <p:cTn id="40" dur="1" fill="hold">
                                          <p:stCondLst>
                                            <p:cond delay="0"/>
                                          </p:stCondLst>
                                        </p:cTn>
                                        <p:tgtEl>
                                          <p:spTgt spid="26"/>
                                        </p:tgtEl>
                                        <p:attrNameLst>
                                          <p:attrName>style.visibility</p:attrName>
                                        </p:attrNameLst>
                                      </p:cBhvr>
                                      <p:to>
                                        <p:strVal val="visible"/>
                                      </p:to>
                                    </p:set>
                                    <p:animEffect transition="in" filter="fade">
                                      <p:cBhvr>
                                        <p:cTn id="41" dur="500"/>
                                        <p:tgtEl>
                                          <p:spTgt spid="26"/>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27"/>
                                        </p:tgtEl>
                                        <p:attrNameLst>
                                          <p:attrName>style.visibility</p:attrName>
                                        </p:attrNameLst>
                                      </p:cBhvr>
                                      <p:to>
                                        <p:strVal val="visible"/>
                                      </p:to>
                                    </p:set>
                                    <p:animEffect transition="in" filter="fade">
                                      <p:cBhvr>
                                        <p:cTn id="44" dur="500"/>
                                        <p:tgtEl>
                                          <p:spTgt spid="27"/>
                                        </p:tgtEl>
                                      </p:cBhvr>
                                    </p:animEffect>
                                  </p:childTnLst>
                                </p:cTn>
                              </p:par>
                            </p:childTnLst>
                          </p:cTn>
                        </p:par>
                        <p:par>
                          <p:cTn id="52" fill="hold">
                            <p:stCondLst>
                              <p:cond delay="2100"/>
                            </p:stCondLst>
                            <p:childTnLst>
                              <p:par>
                                <p:cTn id="46" presetID="10" presetClass="entr" presetSubtype="0" fill="hold" grpId="0" nodeType="withEffect">
                                  <p:stCondLst>
                                    <p:cond delay="0"/>
                                  </p:stCondLst>
                                  <p:childTnLst>
                                    <p:set>
                                      <p:cBhvr>
                                        <p:cTn id="47" dur="1" fill="hold">
                                          <p:stCondLst>
                                            <p:cond delay="0"/>
                                          </p:stCondLst>
                                        </p:cTn>
                                        <p:tgtEl>
                                          <p:spTgt spid="28"/>
                                        </p:tgtEl>
                                        <p:attrNameLst>
                                          <p:attrName>style.visibility</p:attrName>
                                        </p:attrNameLst>
                                      </p:cBhvr>
                                      <p:to>
                                        <p:strVal val="visible"/>
                                      </p:to>
                                    </p:set>
                                    <p:animEffect transition="in" filter="fade">
                                      <p:cBhvr>
                                        <p:cTn id="48" dur="500"/>
                                        <p:tgtEl>
                                          <p:spTgt spid="28"/>
                                        </p:tgtEl>
                                      </p:cBhvr>
                                    </p:animEffect>
                                  </p:childTnLst>
                                </p:cTn>
                              </p:par>
                              <p:par>
                                <p:cTn id="49" presetID="10" presetClass="entr" presetSubtype="0" fill="hold" grpId="0" nodeType="withEffect">
                                  <p:stCondLst>
                                    <p:cond delay="0"/>
                                  </p:stCondLst>
                                  <p:childTnLst>
                                    <p:set>
                                      <p:cBhvr>
                                        <p:cTn id="50" dur="1" fill="hold">
                                          <p:stCondLst>
                                            <p:cond delay="0"/>
                                          </p:stCondLst>
                                        </p:cTn>
                                        <p:tgtEl>
                                          <p:spTgt spid="29"/>
                                        </p:tgtEl>
                                        <p:attrNameLst>
                                          <p:attrName>style.visibility</p:attrName>
                                        </p:attrNameLst>
                                      </p:cBhvr>
                                      <p:to>
                                        <p:strVal val="visible"/>
                                      </p:to>
                                    </p:set>
                                    <p:animEffect transition="in" filter="fade">
                                      <p:cBhvr>
                                        <p:cTn id="51" dur="500"/>
                                        <p:tgtEl>
                                          <p:spTgt spid="29"/>
                                        </p:tgtEl>
                                      </p:cBhvr>
                                    </p:animEffect>
                                  </p:childTnLst>
                                </p:cTn>
                              </p:par>
                            </p:childTnLst>
                          </p:cTn>
                        </p:par>
                        <p:par>
                          <p:cTn id="59" fill="hold">
                            <p:stCondLst>
                              <p:cond delay="2400"/>
                            </p:stCondLst>
                            <p:childTnLst>
                              <p:par>
                                <p:cTn id="53" presetID="10" presetClass="entr" presetSubtype="0" fill="hold" grpId="0" nodeType="withEffect">
                                  <p:stCondLst>
                                    <p:cond delay="0"/>
                                  </p:stCondLst>
                                  <p:childTnLst>
                                    <p:set>
                                      <p:cBhvr>
                                        <p:cTn id="54" dur="1" fill="hold">
                                          <p:stCondLst>
                                            <p:cond delay="0"/>
                                          </p:stCondLst>
                                        </p:cTn>
                                        <p:tgtEl>
                                          <p:spTgt spid="30"/>
                                        </p:tgtEl>
                                        <p:attrNameLst>
                                          <p:attrName>style.visibility</p:attrName>
                                        </p:attrNameLst>
                                      </p:cBhvr>
                                      <p:to>
                                        <p:strVal val="visible"/>
                                      </p:to>
                                    </p:set>
                                    <p:animEffect transition="in" filter="fade">
                                      <p:cBhvr>
                                        <p:cTn id="55" dur="500"/>
                                        <p:tgtEl>
                                          <p:spTgt spid="30"/>
                                        </p:tgtEl>
                                      </p:cBhvr>
                                    </p:animEffect>
                                  </p:childTnLst>
                                </p:cTn>
                              </p:par>
                              <p:par>
                                <p:cTn id="56" presetID="10" presetClass="entr" presetSubtype="0" fill="hold" grpId="0" nodeType="withEffect">
                                  <p:stCondLst>
                                    <p:cond delay="0"/>
                                  </p:stCondLst>
                                  <p:childTnLst>
                                    <p:set>
                                      <p:cBhvr>
                                        <p:cTn id="57" dur="1" fill="hold">
                                          <p:stCondLst>
                                            <p:cond delay="0"/>
                                          </p:stCondLst>
                                        </p:cTn>
                                        <p:tgtEl>
                                          <p:spTgt spid="31"/>
                                        </p:tgtEl>
                                        <p:attrNameLst>
                                          <p:attrName>style.visibility</p:attrName>
                                        </p:attrNameLst>
                                      </p:cBhvr>
                                      <p:to>
                                        <p:strVal val="visible"/>
                                      </p:to>
                                    </p:set>
                                    <p:animEffect transition="in" filter="fade">
                                      <p:cBhvr>
                                        <p:cTn id="58" dur="500"/>
                                        <p:tgtEl>
                                          <p:spTgt spid="31"/>
                                        </p:tgtEl>
                                      </p:cBhvr>
                                    </p:animEffect>
                                  </p:childTnLst>
                                </p:cTn>
                              </p:par>
                            </p:childTnLst>
                          </p:cTn>
                        </p:par>
                        <p:par>
                          <p:cTn id="66" fill="hold">
                            <p:stCondLst>
                              <p:cond delay="2700"/>
                            </p:stCondLst>
                            <p:childTnLst>
                              <p:par>
                                <p:cTn id="60" presetID="10" presetClass="entr" presetSubtype="0" fill="hold" grpId="0" nodeType="withEffect">
                                  <p:stCondLst>
                                    <p:cond delay="0"/>
                                  </p:stCondLst>
                                  <p:childTnLst>
                                    <p:set>
                                      <p:cBhvr>
                                        <p:cTn id="61" dur="1" fill="hold">
                                          <p:stCondLst>
                                            <p:cond delay="0"/>
                                          </p:stCondLst>
                                        </p:cTn>
                                        <p:tgtEl>
                                          <p:spTgt spid="32"/>
                                        </p:tgtEl>
                                        <p:attrNameLst>
                                          <p:attrName>style.visibility</p:attrName>
                                        </p:attrNameLst>
                                      </p:cBhvr>
                                      <p:to>
                                        <p:strVal val="visible"/>
                                      </p:to>
                                    </p:set>
                                    <p:animEffect transition="in" filter="fade">
                                      <p:cBhvr>
                                        <p:cTn id="62" dur="500"/>
                                        <p:tgtEl>
                                          <p:spTgt spid="32"/>
                                        </p:tgtEl>
                                      </p:cBhvr>
                                    </p:animEffect>
                                  </p:childTnLst>
                                </p:cTn>
                              </p:par>
                              <p:par>
                                <p:cTn id="63" presetID="10" presetClass="entr" presetSubtype="0" fill="hold" grpId="0" nodeType="withEffect">
                                  <p:stCondLst>
                                    <p:cond delay="0"/>
                                  </p:stCondLst>
                                  <p:childTnLst>
                                    <p:set>
                                      <p:cBhvr>
                                        <p:cTn id="64" dur="1" fill="hold">
                                          <p:stCondLst>
                                            <p:cond delay="0"/>
                                          </p:stCondLst>
                                        </p:cTn>
                                        <p:tgtEl>
                                          <p:spTgt spid="33"/>
                                        </p:tgtEl>
                                        <p:attrNameLst>
                                          <p:attrName>style.visibility</p:attrName>
                                        </p:attrNameLst>
                                      </p:cBhvr>
                                      <p:to>
                                        <p:strVal val="visible"/>
                                      </p:to>
                                    </p:set>
                                    <p:animEffect transition="in" filter="fade">
                                      <p:cBhvr>
                                        <p:cTn id="65" dur="500"/>
                                        <p:tgtEl>
                                          <p:spTgt spid="33"/>
                                        </p:tgtEl>
                                      </p:cBhvr>
                                    </p:animEffect>
                                  </p:childTnLst>
                                </p:cTn>
                              </p:par>
                            </p:childTnLst>
                          </p:cTn>
                        </p:par>
                        <p:par>
                          <p:cTn id="76" fill="hold">
                            <p:stCondLst>
                              <p:cond delay="3000"/>
                            </p:stCondLst>
                            <p:childTnLst>
                              <p:par>
                                <p:cTn id="67" presetID="10" presetClass="entr" presetSubtype="0" fill="hold" grpId="0" nodeType="withEffect">
                                  <p:stCondLst>
                                    <p:cond delay="0"/>
                                  </p:stCondLst>
                                  <p:childTnLst>
                                    <p:set>
                                      <p:cBhvr>
                                        <p:cTn id="68" dur="1" fill="hold">
                                          <p:stCondLst>
                                            <p:cond delay="0"/>
                                          </p:stCondLst>
                                        </p:cTn>
                                        <p:tgtEl>
                                          <p:spTgt spid="34"/>
                                        </p:tgtEl>
                                        <p:attrNameLst>
                                          <p:attrName>style.visibility</p:attrName>
                                        </p:attrNameLst>
                                      </p:cBhvr>
                                      <p:to>
                                        <p:strVal val="visible"/>
                                      </p:to>
                                    </p:set>
                                    <p:animEffect transition="in" filter="fade">
                                      <p:cBhvr>
                                        <p:cTn id="69" dur="500"/>
                                        <p:tgtEl>
                                          <p:spTgt spid="34"/>
                                        </p:tgtEl>
                                      </p:cBhvr>
                                    </p:animEffect>
                                  </p:childTnLst>
                                </p:cTn>
                              </p:par>
                              <p:par>
                                <p:cTn id="70" presetID="10" presetClass="entr" presetSubtype="0" fill="hold" grpId="0" nodeType="withEffect">
                                  <p:stCondLst>
                                    <p:cond delay="0"/>
                                  </p:stCondLst>
                                  <p:childTnLst>
                                    <p:set>
                                      <p:cBhvr>
                                        <p:cTn id="71" dur="1" fill="hold">
                                          <p:stCondLst>
                                            <p:cond delay="0"/>
                                          </p:stCondLst>
                                        </p:cTn>
                                        <p:tgtEl>
                                          <p:spTgt spid="36"/>
                                        </p:tgtEl>
                                        <p:attrNameLst>
                                          <p:attrName>style.visibility</p:attrName>
                                        </p:attrNameLst>
                                      </p:cBhvr>
                                      <p:to>
                                        <p:strVal val="visible"/>
                                      </p:to>
                                    </p:set>
                                    <p:animEffect transition="in" filter="fade">
                                      <p:cBhvr>
                                        <p:cTn id="72" dur="500"/>
                                        <p:tgtEl>
                                          <p:spTgt spid="36"/>
                                        </p:tgtEl>
                                      </p:cBhvr>
                                    </p:animEffect>
                                  </p:childTnLst>
                                </p:cTn>
                              </p:par>
                              <p:par>
                                <p:cTn id="73" presetID="10" presetClass="entr" presetSubtype="0" fill="hold" grpId="0" nodeType="withEffect">
                                  <p:stCondLst>
                                    <p:cond delay="0"/>
                                  </p:stCondLst>
                                  <p:childTnLst>
                                    <p:set>
                                      <p:cBhvr>
                                        <p:cTn id="74" dur="1" fill="hold">
                                          <p:stCondLst>
                                            <p:cond delay="0"/>
                                          </p:stCondLst>
                                        </p:cTn>
                                        <p:tgtEl>
                                          <p:spTgt spid="35"/>
                                        </p:tgtEl>
                                        <p:attrNameLst>
                                          <p:attrName>style.visibility</p:attrName>
                                        </p:attrNameLst>
                                      </p:cBhvr>
                                      <p:to>
                                        <p:strVal val="visible"/>
                                      </p:to>
                                    </p:set>
                                    <p:animEffect transition="in" filter="fade">
                                      <p:cBhvr>
                                        <p:cTn id="75" dur="5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64592"/>
          </a:xfrm>
          <a:prstGeom prst="rect">
            <a:avLst/>
          </a:prstGeom>
          <a:solidFill>
            <a:srgbClr val="143D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548640" y="347472"/>
            <a:ext cx="3813048" cy="329184"/>
          </a:xfrm>
          <a:prstGeom prst="roundRect">
            <a:avLst>
              <a:gd name="adj" fmla="val 50000"/>
            </a:avLst>
          </a:prstGeom>
          <a:solidFill>
            <a:srgbClr val="2A9D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347472"/>
            <a:ext cx="3813048" cy="329184"/>
          </a:xfrm>
          <a:prstGeom prst="rect">
            <a:avLst/>
          </a:prstGeom>
          <a:noFill/>
        </p:spPr>
        <p:txBody>
          <a:bodyPr wrap="square" lIns="0" rIns="0" tIns="0" bIns="0" anchor="ctr">
            <a:spAutoFit/>
          </a:bodyPr>
          <a:lstStyle/>
          <a:p>
            <a:pPr algn="ctr">
              <a:lnSpc>
                <a:spcPct val="100000"/>
              </a:lnSpc>
            </a:pPr>
            <a:r>
              <a:rPr sz="1100" b="1">
                <a:solidFill>
                  <a:srgbClr val="FFFFFF"/>
                </a:solidFill>
                <a:latin typeface="Calibri"/>
              </a:rPr>
              <a:t>QUESTION 4 OF 8  ·  REFERENCE ARCHITECTURE</a:t>
            </a:r>
          </a:p>
        </p:txBody>
      </p:sp>
      <p:sp>
        <p:nvSpPr>
          <p:cNvPr id="5" name="TextBox 4"/>
          <p:cNvSpPr txBox="1"/>
          <p:nvPr/>
        </p:nvSpPr>
        <p:spPr>
          <a:xfrm>
            <a:off x="548640" y="777240"/>
            <a:ext cx="11064240" cy="594360"/>
          </a:xfrm>
          <a:prstGeom prst="rect">
            <a:avLst/>
          </a:prstGeom>
          <a:noFill/>
        </p:spPr>
        <p:txBody>
          <a:bodyPr wrap="square" lIns="0" rIns="0" tIns="0" bIns="0">
            <a:spAutoFit/>
          </a:bodyPr>
          <a:lstStyle/>
          <a:p>
            <a:pPr>
              <a:lnSpc>
                <a:spcPct val="100000"/>
              </a:lnSpc>
            </a:pPr>
            <a:r>
              <a:rPr sz="3000" b="1">
                <a:solidFill>
                  <a:srgbClr val="143D59"/>
                </a:solidFill>
                <a:latin typeface="Calibri"/>
              </a:rPr>
              <a:t>The reference architecture: the Catena-X operating model</a:t>
            </a:r>
          </a:p>
        </p:txBody>
      </p:sp>
      <p:sp>
        <p:nvSpPr>
          <p:cNvPr id="6" name="TextBox 5"/>
          <p:cNvSpPr txBox="1"/>
          <p:nvPr/>
        </p:nvSpPr>
        <p:spPr>
          <a:xfrm>
            <a:off x="548640" y="1389888"/>
            <a:ext cx="11064240" cy="411480"/>
          </a:xfrm>
          <a:prstGeom prst="rect">
            <a:avLst/>
          </a:prstGeom>
          <a:noFill/>
        </p:spPr>
        <p:txBody>
          <a:bodyPr wrap="square" lIns="0" rIns="0" tIns="0" bIns="0">
            <a:spAutoFit/>
          </a:bodyPr>
          <a:lstStyle/>
          <a:p>
            <a:pPr>
              <a:lnSpc>
                <a:spcPct val="100000"/>
              </a:lnSpc>
            </a:pPr>
            <a:r>
              <a:rPr sz="1600" b="0">
                <a:solidFill>
                  <a:srgbClr val="4F5560"/>
                </a:solidFill>
                <a:latin typeface="Calibri"/>
              </a:rPr>
              <a:t>A service map with clear roles. The EHDS defines the roles, but not who runs them.</a:t>
            </a:r>
          </a:p>
        </p:txBody>
      </p:sp>
      <p:sp>
        <p:nvSpPr>
          <p:cNvPr id="7" name="TextBox 6"/>
          <p:cNvSpPr txBox="1"/>
          <p:nvPr/>
        </p:nvSpPr>
        <p:spPr>
          <a:xfrm>
            <a:off x="548640" y="6446520"/>
            <a:ext cx="5120640" cy="274320"/>
          </a:xfrm>
          <a:prstGeom prst="rect">
            <a:avLst/>
          </a:prstGeom>
          <a:noFill/>
        </p:spPr>
        <p:txBody>
          <a:bodyPr wrap="square" lIns="0" rIns="0" tIns="0" bIns="0">
            <a:spAutoFit/>
          </a:bodyPr>
          <a:lstStyle/>
          <a:p>
            <a:pPr>
              <a:lnSpc>
                <a:spcPct val="100000"/>
              </a:lnSpc>
            </a:pPr>
            <a:r>
              <a:rPr sz="1000" b="0">
                <a:solidFill>
                  <a:srgbClr val="4F5560"/>
                </a:solidFill>
                <a:latin typeface="Calibri"/>
              </a:rPr>
              <a:t>Reunión de preparación  ·  Espacio de Datos EJIE  ·  País Vasco</a:t>
            </a:r>
          </a:p>
        </p:txBody>
      </p:sp>
      <p:sp>
        <p:nvSpPr>
          <p:cNvPr id="8" name="Rectangle 7"/>
          <p:cNvSpPr/>
          <p:nvPr/>
        </p:nvSpPr>
        <p:spPr>
          <a:xfrm>
            <a:off x="10012680" y="429768"/>
            <a:ext cx="155448" cy="155448"/>
          </a:xfrm>
          <a:prstGeom prst="rect">
            <a:avLst/>
          </a:prstGeom>
          <a:solidFill>
            <a:srgbClr val="F4EF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10222992" y="429768"/>
            <a:ext cx="155448" cy="155448"/>
          </a:xfrm>
          <a:prstGeom prst="rect">
            <a:avLst/>
          </a:prstGeom>
          <a:solidFill>
            <a:srgbClr val="F4EF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10433304" y="429768"/>
            <a:ext cx="155448" cy="155448"/>
          </a:xfrm>
          <a:prstGeom prst="rect">
            <a:avLst/>
          </a:prstGeom>
          <a:solidFill>
            <a:srgbClr val="F4EF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10643615" y="429768"/>
            <a:ext cx="155448" cy="155448"/>
          </a:xfrm>
          <a:prstGeom prst="rect">
            <a:avLst/>
          </a:prstGeom>
          <a:solidFill>
            <a:srgbClr val="2A9D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10853928" y="429768"/>
            <a:ext cx="155448" cy="155448"/>
          </a:xfrm>
          <a:prstGeom prst="rect">
            <a:avLst/>
          </a:prstGeom>
          <a:solidFill>
            <a:srgbClr val="F4EF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11064240" y="429768"/>
            <a:ext cx="155448" cy="155448"/>
          </a:xfrm>
          <a:prstGeom prst="rect">
            <a:avLst/>
          </a:prstGeom>
          <a:solidFill>
            <a:srgbClr val="F4EF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11274552" y="429768"/>
            <a:ext cx="155448" cy="155448"/>
          </a:xfrm>
          <a:prstGeom prst="rect">
            <a:avLst/>
          </a:prstGeom>
          <a:solidFill>
            <a:srgbClr val="F4EF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11484863" y="429768"/>
            <a:ext cx="155448" cy="155448"/>
          </a:xfrm>
          <a:prstGeom prst="rect">
            <a:avLst/>
          </a:prstGeom>
          <a:solidFill>
            <a:srgbClr val="F4EF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6" name="Picture 15" descr="ehds-layers-simple.png"/>
          <p:cNvPicPr>
            <a:picLocks noChangeAspect="1"/>
          </p:cNvPicPr>
          <p:nvPr/>
        </p:nvPicPr>
        <p:blipFill>
          <a:blip r:embed="rId2"/>
          <a:stretch>
            <a:fillRect/>
          </a:stretch>
        </p:blipFill>
        <p:spPr>
          <a:xfrm>
            <a:off x="548640" y="1874519"/>
            <a:ext cx="11091672" cy="3694176"/>
          </a:xfrm>
          <a:prstGeom prst="rect">
            <a:avLst/>
          </a:prstGeom>
        </p:spPr>
      </p:pic>
      <p:sp>
        <p:nvSpPr>
          <p:cNvPr id="17" name="Rounded Rectangle 16"/>
          <p:cNvSpPr/>
          <p:nvPr/>
        </p:nvSpPr>
        <p:spPr>
          <a:xfrm>
            <a:off x="548640" y="5623560"/>
            <a:ext cx="5440680" cy="731520"/>
          </a:xfrm>
          <a:prstGeom prst="roundRect">
            <a:avLst>
              <a:gd name="adj" fmla="val 5000"/>
            </a:avLst>
          </a:prstGeom>
          <a:solidFill>
            <a:srgbClr val="F4EF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548640" y="5623560"/>
            <a:ext cx="137160" cy="731520"/>
          </a:xfrm>
          <a:prstGeom prst="rect">
            <a:avLst/>
          </a:prstGeom>
          <a:solidFill>
            <a:srgbClr val="528B5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77240" y="5669280"/>
            <a:ext cx="5029200" cy="640080"/>
          </a:xfrm>
          <a:prstGeom prst="rect">
            <a:avLst/>
          </a:prstGeom>
          <a:noFill/>
        </p:spPr>
        <p:txBody>
          <a:bodyPr wrap="square" lIns="0" rIns="0" tIns="0" bIns="0" anchor="ctr">
            <a:spAutoFit/>
          </a:bodyPr>
          <a:lstStyle/>
          <a:p>
            <a:pPr>
              <a:lnSpc>
                <a:spcPct val="105000"/>
              </a:lnSpc>
            </a:pPr>
            <a:r>
              <a:rPr sz="1300" b="1">
                <a:solidFill>
                  <a:srgbClr val="143D59"/>
                </a:solidFill>
                <a:latin typeface="Calibri"/>
              </a:rPr>
              <a:t>Implemented:  </a:t>
            </a:r>
            <a:r>
              <a:rPr sz="1300" b="0">
                <a:solidFill>
                  <a:srgbClr val="4F5560"/>
                </a:solidFill>
                <a:latin typeface="Calibri"/>
              </a:rPr>
              <a:t>the Catena-X operating model, with a service map and clear responsibilities.</a:t>
            </a:r>
          </a:p>
        </p:txBody>
      </p:sp>
      <p:sp>
        <p:nvSpPr>
          <p:cNvPr id="20" name="Rounded Rectangle 19"/>
          <p:cNvSpPr/>
          <p:nvPr/>
        </p:nvSpPr>
        <p:spPr>
          <a:xfrm>
            <a:off x="6199632" y="5623560"/>
            <a:ext cx="5440680" cy="731520"/>
          </a:xfrm>
          <a:prstGeom prst="roundRect">
            <a:avLst>
              <a:gd name="adj" fmla="val 5000"/>
            </a:avLst>
          </a:prstGeom>
          <a:solidFill>
            <a:srgbClr val="F4EF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199632" y="5623560"/>
            <a:ext cx="137160" cy="731520"/>
          </a:xfrm>
          <a:prstGeom prst="rect">
            <a:avLst/>
          </a:prstGeom>
          <a:solidFill>
            <a:srgbClr val="E6A8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428232" y="5669280"/>
            <a:ext cx="5029200" cy="640080"/>
          </a:xfrm>
          <a:prstGeom prst="rect">
            <a:avLst/>
          </a:prstGeom>
          <a:noFill/>
        </p:spPr>
        <p:txBody>
          <a:bodyPr wrap="square" lIns="0" rIns="0" tIns="0" bIns="0" anchor="ctr">
            <a:spAutoFit/>
          </a:bodyPr>
          <a:lstStyle/>
          <a:p>
            <a:pPr>
              <a:lnSpc>
                <a:spcPct val="105000"/>
              </a:lnSpc>
            </a:pPr>
            <a:r>
              <a:rPr sz="1300" b="1">
                <a:solidFill>
                  <a:srgbClr val="143D59"/>
                </a:solidFill>
                <a:latin typeface="Calibri"/>
              </a:rPr>
              <a:t>Considered:  </a:t>
            </a:r>
            <a:r>
              <a:rPr sz="1300" b="0">
                <a:solidFill>
                  <a:srgbClr val="4F5560"/>
                </a:solidFill>
                <a:latin typeface="Calibri"/>
              </a:rPr>
              <a:t>the EHDS role model alone. It has no answer for operations and onboarding.</a:t>
            </a:r>
          </a:p>
        </p:txBody>
      </p:sp>
      <p:sp>
        <p:nvSpPr>
          <p:cNvPr id="23" name="TextBox 22"/>
          <p:cNvSpPr txBox="1"/>
          <p:nvPr/>
        </p:nvSpPr>
        <p:spPr>
          <a:xfrm>
            <a:off x="5852160" y="6446520"/>
            <a:ext cx="5760720" cy="274320"/>
          </a:xfrm>
          <a:prstGeom prst="rect">
            <a:avLst/>
          </a:prstGeom>
          <a:noFill/>
        </p:spPr>
        <p:txBody>
          <a:bodyPr wrap="square" lIns="0" rIns="0" tIns="0" bIns="0">
            <a:spAutoFit/>
          </a:bodyPr>
          <a:lstStyle/>
          <a:p>
            <a:pPr algn="r">
              <a:lnSpc>
                <a:spcPct val="100000"/>
              </a:lnSpc>
            </a:pPr>
            <a:r>
              <a:rPr sz="900" b="0">
                <a:solidFill>
                  <a:srgbClr val="8A8F98"/>
                </a:solidFill>
                <a:latin typeface="Calibri"/>
              </a:rPr>
              <a:t>catenax-ev.github.io/docs/operating-model  ·  Regulation (EU) 2025/327, Chapter IV</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27" fill="hold">
                      <p:stCondLst>
                        <p:cond delay="indefinite"/>
                        <p:cond evt="onBegin" delay="0">
                          <p:tn val="2"/>
                        </p:cond>
                      </p:stCondLst>
                      <p:childTnLst>
                        <p:par>
                          <p:cTn id="6" fill="hold">
                            <p:stCondLst>
                              <p:cond delay="0"/>
                            </p:stCondLst>
                            <p:childTnLst>
                              <p:par>
                                <p:cTn id="3" presetID="10" presetClass="entr" presetSubtype="0" fill="hold" grpId="0" nodeType="afterEffect">
                                  <p:stCondLst>
                                    <p:cond delay="0"/>
                                  </p:stCondLst>
                                  <p:childTnLst>
                                    <p:set>
                                      <p:cBhvr>
                                        <p:cTn id="4" dur="1" fill="hold">
                                          <p:stCondLst>
                                            <p:cond delay="0"/>
                                          </p:stCondLst>
                                        </p:cTn>
                                        <p:tgtEl>
                                          <p:spTgt spid="16"/>
                                        </p:tgtEl>
                                        <p:attrNameLst>
                                          <p:attrName>style.visibility</p:attrName>
                                        </p:attrNameLst>
                                      </p:cBhvr>
                                      <p:to>
                                        <p:strVal val="visible"/>
                                      </p:to>
                                    </p:set>
                                    <p:animEffect transition="in" filter="fade">
                                      <p:cBhvr>
                                        <p:cTn id="5" dur="500"/>
                                        <p:tgtEl>
                                          <p:spTgt spid="16"/>
                                        </p:tgtEl>
                                      </p:cBhvr>
                                    </p:animEffect>
                                  </p:childTnLst>
                                </p:cTn>
                              </p:par>
                            </p:childTnLst>
                          </p:cTn>
                        </p:par>
                        <p:par>
                          <p:cTn id="16" fill="hold">
                            <p:stCondLst>
                              <p:cond delay="300"/>
                            </p:stCondLst>
                            <p:childTnLst>
                              <p:par>
                                <p:cTn id="7" presetID="10" presetClass="entr" presetSubtype="0" fill="hold" grpId="0" nodeType="withEffect">
                                  <p:stCondLst>
                                    <p:cond delay="0"/>
                                  </p:stCondLst>
                                  <p:childTnLst>
                                    <p:set>
                                      <p:cBhvr>
                                        <p:cTn id="8" dur="1" fill="hold">
                                          <p:stCondLst>
                                            <p:cond delay="0"/>
                                          </p:stCondLst>
                                        </p:cTn>
                                        <p:tgtEl>
                                          <p:spTgt spid="17"/>
                                        </p:tgtEl>
                                        <p:attrNameLst>
                                          <p:attrName>style.visibility</p:attrName>
                                        </p:attrNameLst>
                                      </p:cBhvr>
                                      <p:to>
                                        <p:strVal val="visible"/>
                                      </p:to>
                                    </p:set>
                                    <p:animEffect transition="in" filter="fade">
                                      <p:cBhvr>
                                        <p:cTn id="9" dur="500"/>
                                        <p:tgtEl>
                                          <p:spTgt spid="17"/>
                                        </p:tgtEl>
                                      </p:cBhvr>
                                    </p:animEffect>
                                  </p:childTnLst>
                                </p:cTn>
                              </p:par>
                              <p:par>
                                <p:cTn id="10" presetID="10" presetClass="entr" presetSubtype="0" fill="hold" grpId="0" nodeType="withEffect">
                                  <p:stCondLst>
                                    <p:cond delay="0"/>
                                  </p:stCondLst>
                                  <p:childTnLst>
                                    <p:set>
                                      <p:cBhvr>
                                        <p:cTn id="11" dur="1" fill="hold">
                                          <p:stCondLst>
                                            <p:cond delay="0"/>
                                          </p:stCondLst>
                                        </p:cTn>
                                        <p:tgtEl>
                                          <p:spTgt spid="19"/>
                                        </p:tgtEl>
                                        <p:attrNameLst>
                                          <p:attrName>style.visibility</p:attrName>
                                        </p:attrNameLst>
                                      </p:cBhvr>
                                      <p:to>
                                        <p:strVal val="visible"/>
                                      </p:to>
                                    </p:set>
                                    <p:animEffect transition="in" filter="fade">
                                      <p:cBhvr>
                                        <p:cTn id="12" dur="500"/>
                                        <p:tgtEl>
                                          <p:spTgt spid="19"/>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18"/>
                                        </p:tgtEl>
                                        <p:attrNameLst>
                                          <p:attrName>style.visibility</p:attrName>
                                        </p:attrNameLst>
                                      </p:cBhvr>
                                      <p:to>
                                        <p:strVal val="visible"/>
                                      </p:to>
                                    </p:set>
                                    <p:animEffect transition="in" filter="fade">
                                      <p:cBhvr>
                                        <p:cTn id="15" dur="500"/>
                                        <p:tgtEl>
                                          <p:spTgt spid="18"/>
                                        </p:tgtEl>
                                      </p:cBhvr>
                                    </p:animEffect>
                                  </p:childTnLst>
                                </p:cTn>
                              </p:par>
                            </p:childTnLst>
                          </p:cTn>
                        </p:par>
                        <p:par>
                          <p:cTn id="26" fill="hold">
                            <p:stCondLst>
                              <p:cond delay="600"/>
                            </p:stCondLst>
                            <p:childTnLst>
                              <p:par>
                                <p:cTn id="17" presetID="10" presetClass="entr" presetSubtype="0" fill="hold" grpId="0" nodeType="withEffect">
                                  <p:stCondLst>
                                    <p:cond delay="0"/>
                                  </p:stCondLst>
                                  <p:childTnLst>
                                    <p:set>
                                      <p:cBhvr>
                                        <p:cTn id="18" dur="1" fill="hold">
                                          <p:stCondLst>
                                            <p:cond delay="0"/>
                                          </p:stCondLst>
                                        </p:cTn>
                                        <p:tgtEl>
                                          <p:spTgt spid="20"/>
                                        </p:tgtEl>
                                        <p:attrNameLst>
                                          <p:attrName>style.visibility</p:attrName>
                                        </p:attrNameLst>
                                      </p:cBhvr>
                                      <p:to>
                                        <p:strVal val="visible"/>
                                      </p:to>
                                    </p:set>
                                    <p:animEffect transition="in" filter="fade">
                                      <p:cBhvr>
                                        <p:cTn id="19" dur="500"/>
                                        <p:tgtEl>
                                          <p:spTgt spid="20"/>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22"/>
                                        </p:tgtEl>
                                        <p:attrNameLst>
                                          <p:attrName>style.visibility</p:attrName>
                                        </p:attrNameLst>
                                      </p:cBhvr>
                                      <p:to>
                                        <p:strVal val="visible"/>
                                      </p:to>
                                    </p:set>
                                    <p:animEffect transition="in" filter="fade">
                                      <p:cBhvr>
                                        <p:cTn id="22" dur="500"/>
                                        <p:tgtEl>
                                          <p:spTgt spid="22"/>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21"/>
                                        </p:tgtEl>
                                        <p:attrNameLst>
                                          <p:attrName>style.visibility</p:attrName>
                                        </p:attrNameLst>
                                      </p:cBhvr>
                                      <p:to>
                                        <p:strVal val="visible"/>
                                      </p:to>
                                    </p:set>
                                    <p:animEffect transition="in" filter="fade">
                                      <p:cBhvr>
                                        <p:cTn id="25" dur="5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64592"/>
          </a:xfrm>
          <a:prstGeom prst="rect">
            <a:avLst/>
          </a:prstGeom>
          <a:solidFill>
            <a:srgbClr val="143D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548640" y="347472"/>
            <a:ext cx="3890772" cy="329184"/>
          </a:xfrm>
          <a:prstGeom prst="roundRect">
            <a:avLst>
              <a:gd name="adj" fmla="val 50000"/>
            </a:avLst>
          </a:prstGeom>
          <a:solidFill>
            <a:srgbClr val="2A9D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347472"/>
            <a:ext cx="3890772" cy="329184"/>
          </a:xfrm>
          <a:prstGeom prst="rect">
            <a:avLst/>
          </a:prstGeom>
          <a:noFill/>
        </p:spPr>
        <p:txBody>
          <a:bodyPr wrap="square" lIns="0" rIns="0" tIns="0" bIns="0" anchor="ctr">
            <a:spAutoFit/>
          </a:bodyPr>
          <a:lstStyle/>
          <a:p>
            <a:pPr algn="ctr">
              <a:lnSpc>
                <a:spcPct val="100000"/>
              </a:lnSpc>
            </a:pPr>
            <a:r>
              <a:rPr sz="1100" b="1">
                <a:solidFill>
                  <a:srgbClr val="FFFFFF"/>
                </a:solidFill>
                <a:latin typeface="Calibri"/>
              </a:rPr>
              <a:t>QUESTION 5 OF 8  ·  COMPONENTS AND MATURITY</a:t>
            </a:r>
          </a:p>
        </p:txBody>
      </p:sp>
      <p:sp>
        <p:nvSpPr>
          <p:cNvPr id="5" name="TextBox 4"/>
          <p:cNvSpPr txBox="1"/>
          <p:nvPr/>
        </p:nvSpPr>
        <p:spPr>
          <a:xfrm>
            <a:off x="548640" y="777240"/>
            <a:ext cx="11064240" cy="594360"/>
          </a:xfrm>
          <a:prstGeom prst="rect">
            <a:avLst/>
          </a:prstGeom>
          <a:noFill/>
        </p:spPr>
        <p:txBody>
          <a:bodyPr wrap="square" lIns="0" rIns="0" tIns="0" bIns="0">
            <a:spAutoFit/>
          </a:bodyPr>
          <a:lstStyle/>
          <a:p>
            <a:pPr>
              <a:lnSpc>
                <a:spcPct val="100000"/>
              </a:lnSpc>
            </a:pPr>
            <a:r>
              <a:rPr sz="3000" b="1">
                <a:solidFill>
                  <a:srgbClr val="143D59"/>
                </a:solidFill>
                <a:latin typeface="Calibri"/>
              </a:rPr>
              <a:t>The components, and how mature they are</a:t>
            </a:r>
          </a:p>
        </p:txBody>
      </p:sp>
      <p:sp>
        <p:nvSpPr>
          <p:cNvPr id="6" name="TextBox 5"/>
          <p:cNvSpPr txBox="1"/>
          <p:nvPr/>
        </p:nvSpPr>
        <p:spPr>
          <a:xfrm>
            <a:off x="548640" y="1389888"/>
            <a:ext cx="11064240" cy="411480"/>
          </a:xfrm>
          <a:prstGeom prst="rect">
            <a:avLst/>
          </a:prstGeom>
          <a:noFill/>
        </p:spPr>
        <p:txBody>
          <a:bodyPr wrap="square" lIns="0" rIns="0" tIns="0" bIns="0">
            <a:spAutoFit/>
          </a:bodyPr>
          <a:lstStyle/>
          <a:p>
            <a:pPr>
              <a:lnSpc>
                <a:spcPct val="100000"/>
              </a:lnSpc>
            </a:pPr>
            <a:r>
              <a:rPr sz="1600" b="0">
                <a:solidFill>
                  <a:srgbClr val="4F5560"/>
                </a:solidFill>
                <a:latin typeface="Calibri"/>
              </a:rPr>
              <a:t>The components follow the service map. Health standards are mature; secure environments are not yet.</a:t>
            </a:r>
          </a:p>
        </p:txBody>
      </p:sp>
      <p:sp>
        <p:nvSpPr>
          <p:cNvPr id="7" name="TextBox 6"/>
          <p:cNvSpPr txBox="1"/>
          <p:nvPr/>
        </p:nvSpPr>
        <p:spPr>
          <a:xfrm>
            <a:off x="548640" y="6446520"/>
            <a:ext cx="5120640" cy="274320"/>
          </a:xfrm>
          <a:prstGeom prst="rect">
            <a:avLst/>
          </a:prstGeom>
          <a:noFill/>
        </p:spPr>
        <p:txBody>
          <a:bodyPr wrap="square" lIns="0" rIns="0" tIns="0" bIns="0">
            <a:spAutoFit/>
          </a:bodyPr>
          <a:lstStyle/>
          <a:p>
            <a:pPr>
              <a:lnSpc>
                <a:spcPct val="100000"/>
              </a:lnSpc>
            </a:pPr>
            <a:r>
              <a:rPr sz="1000" b="0">
                <a:solidFill>
                  <a:srgbClr val="4F5560"/>
                </a:solidFill>
                <a:latin typeface="Calibri"/>
              </a:rPr>
              <a:t>Reunión de preparación  ·  Espacio de Datos EJIE  ·  País Vasco</a:t>
            </a:r>
          </a:p>
        </p:txBody>
      </p:sp>
      <p:sp>
        <p:nvSpPr>
          <p:cNvPr id="8" name="Rectangle 7"/>
          <p:cNvSpPr/>
          <p:nvPr/>
        </p:nvSpPr>
        <p:spPr>
          <a:xfrm>
            <a:off x="10012680" y="429768"/>
            <a:ext cx="155448" cy="155448"/>
          </a:xfrm>
          <a:prstGeom prst="rect">
            <a:avLst/>
          </a:prstGeom>
          <a:solidFill>
            <a:srgbClr val="F4EF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10222992" y="429768"/>
            <a:ext cx="155448" cy="155448"/>
          </a:xfrm>
          <a:prstGeom prst="rect">
            <a:avLst/>
          </a:prstGeom>
          <a:solidFill>
            <a:srgbClr val="F4EF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10433304" y="429768"/>
            <a:ext cx="155448" cy="155448"/>
          </a:xfrm>
          <a:prstGeom prst="rect">
            <a:avLst/>
          </a:prstGeom>
          <a:solidFill>
            <a:srgbClr val="F4EF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10643615" y="429768"/>
            <a:ext cx="155448" cy="155448"/>
          </a:xfrm>
          <a:prstGeom prst="rect">
            <a:avLst/>
          </a:prstGeom>
          <a:solidFill>
            <a:srgbClr val="F4EF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10853928" y="429768"/>
            <a:ext cx="155448" cy="155448"/>
          </a:xfrm>
          <a:prstGeom prst="rect">
            <a:avLst/>
          </a:prstGeom>
          <a:solidFill>
            <a:srgbClr val="2A9D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11064240" y="429768"/>
            <a:ext cx="155448" cy="155448"/>
          </a:xfrm>
          <a:prstGeom prst="rect">
            <a:avLst/>
          </a:prstGeom>
          <a:solidFill>
            <a:srgbClr val="F4EF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11274552" y="429768"/>
            <a:ext cx="155448" cy="155448"/>
          </a:xfrm>
          <a:prstGeom prst="rect">
            <a:avLst/>
          </a:prstGeom>
          <a:solidFill>
            <a:srgbClr val="F4EF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11484863" y="429768"/>
            <a:ext cx="155448" cy="155448"/>
          </a:xfrm>
          <a:prstGeom prst="rect">
            <a:avLst/>
          </a:prstGeom>
          <a:solidFill>
            <a:srgbClr val="F4EF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548640" y="2011680"/>
            <a:ext cx="3566160" cy="4206240"/>
          </a:xfrm>
          <a:prstGeom prst="roundRect">
            <a:avLst>
              <a:gd name="adj" fmla="val 5000"/>
            </a:avLst>
          </a:prstGeom>
          <a:solidFill>
            <a:srgbClr val="F4EF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548640" y="2011680"/>
            <a:ext cx="3566160" cy="411480"/>
          </a:xfrm>
          <a:prstGeom prst="rect">
            <a:avLst/>
          </a:prstGeom>
          <a:solidFill>
            <a:srgbClr val="143D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49808" y="2084832"/>
            <a:ext cx="3163824" cy="310896"/>
          </a:xfrm>
          <a:prstGeom prst="rect">
            <a:avLst/>
          </a:prstGeom>
          <a:noFill/>
        </p:spPr>
        <p:txBody>
          <a:bodyPr wrap="square" lIns="0" rIns="0" tIns="0" bIns="0">
            <a:spAutoFit/>
          </a:bodyPr>
          <a:lstStyle/>
          <a:p>
            <a:pPr>
              <a:lnSpc>
                <a:spcPct val="100000"/>
              </a:lnSpc>
            </a:pPr>
            <a:r>
              <a:rPr sz="1700" b="1">
                <a:solidFill>
                  <a:srgbClr val="FFFFFF"/>
                </a:solidFill>
                <a:latin typeface="Calibri"/>
              </a:rPr>
              <a:t>The service map</a:t>
            </a:r>
          </a:p>
        </p:txBody>
      </p:sp>
      <p:sp>
        <p:nvSpPr>
          <p:cNvPr id="19" name="TextBox 18"/>
          <p:cNvSpPr txBox="1"/>
          <p:nvPr/>
        </p:nvSpPr>
        <p:spPr>
          <a:xfrm>
            <a:off x="749808" y="2606040"/>
            <a:ext cx="3163824" cy="3474720"/>
          </a:xfrm>
          <a:prstGeom prst="rect">
            <a:avLst/>
          </a:prstGeom>
          <a:noFill/>
        </p:spPr>
        <p:txBody>
          <a:bodyPr wrap="square" lIns="0" rIns="0" tIns="0" bIns="0">
            <a:spAutoFit/>
          </a:bodyPr>
          <a:lstStyle/>
          <a:p/>
        </p:txBody>
      </p:sp>
      <p:sp>
        <p:nvSpPr>
          <p:cNvPr id="20" name="Rounded Rectangle 19"/>
          <p:cNvSpPr/>
          <p:nvPr/>
        </p:nvSpPr>
        <p:spPr>
          <a:xfrm>
            <a:off x="777240" y="2651760"/>
            <a:ext cx="3108960" cy="502920"/>
          </a:xfrm>
          <a:prstGeom prst="roundRect">
            <a:avLst>
              <a:gd name="adj" fmla="val 5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77240" y="2651760"/>
            <a:ext cx="3108960" cy="502920"/>
          </a:xfrm>
          <a:prstGeom prst="rect">
            <a:avLst/>
          </a:prstGeom>
          <a:noFill/>
        </p:spPr>
        <p:txBody>
          <a:bodyPr wrap="square" lIns="0" rIns="0" tIns="0" bIns="0" anchor="ctr">
            <a:spAutoFit/>
          </a:bodyPr>
          <a:lstStyle/>
          <a:p>
            <a:pPr algn="ctr">
              <a:lnSpc>
                <a:spcPct val="100000"/>
              </a:lnSpc>
            </a:pPr>
            <a:r>
              <a:rPr sz="1400" b="1">
                <a:solidFill>
                  <a:srgbClr val="143D59"/>
                </a:solidFill>
                <a:latin typeface="Calibri"/>
              </a:rPr>
              <a:t>Connectors</a:t>
            </a:r>
          </a:p>
        </p:txBody>
      </p:sp>
      <p:sp>
        <p:nvSpPr>
          <p:cNvPr id="22" name="Rounded Rectangle 21"/>
          <p:cNvSpPr/>
          <p:nvPr/>
        </p:nvSpPr>
        <p:spPr>
          <a:xfrm>
            <a:off x="777240" y="3337560"/>
            <a:ext cx="3108960" cy="502920"/>
          </a:xfrm>
          <a:prstGeom prst="roundRect">
            <a:avLst>
              <a:gd name="adj" fmla="val 5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77240" y="3337560"/>
            <a:ext cx="3108960" cy="502920"/>
          </a:xfrm>
          <a:prstGeom prst="rect">
            <a:avLst/>
          </a:prstGeom>
          <a:noFill/>
        </p:spPr>
        <p:txBody>
          <a:bodyPr wrap="square" lIns="0" rIns="0" tIns="0" bIns="0" anchor="ctr">
            <a:spAutoFit/>
          </a:bodyPr>
          <a:lstStyle/>
          <a:p>
            <a:pPr algn="ctr">
              <a:lnSpc>
                <a:spcPct val="100000"/>
              </a:lnSpc>
            </a:pPr>
            <a:r>
              <a:rPr sz="1400" b="1">
                <a:solidFill>
                  <a:srgbClr val="143D59"/>
                </a:solidFill>
                <a:latin typeface="Calibri"/>
              </a:rPr>
              <a:t>Identity and credentials</a:t>
            </a:r>
          </a:p>
        </p:txBody>
      </p:sp>
      <p:sp>
        <p:nvSpPr>
          <p:cNvPr id="24" name="Rounded Rectangle 23"/>
          <p:cNvSpPr/>
          <p:nvPr/>
        </p:nvSpPr>
        <p:spPr>
          <a:xfrm>
            <a:off x="777240" y="4023360"/>
            <a:ext cx="3108960" cy="502920"/>
          </a:xfrm>
          <a:prstGeom prst="roundRect">
            <a:avLst>
              <a:gd name="adj" fmla="val 5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77240" y="4023360"/>
            <a:ext cx="3108960" cy="502920"/>
          </a:xfrm>
          <a:prstGeom prst="rect">
            <a:avLst/>
          </a:prstGeom>
          <a:noFill/>
        </p:spPr>
        <p:txBody>
          <a:bodyPr wrap="square" lIns="0" rIns="0" tIns="0" bIns="0" anchor="ctr">
            <a:spAutoFit/>
          </a:bodyPr>
          <a:lstStyle/>
          <a:p>
            <a:pPr algn="ctr">
              <a:lnSpc>
                <a:spcPct val="100000"/>
              </a:lnSpc>
            </a:pPr>
            <a:r>
              <a:rPr sz="1400" b="1">
                <a:solidFill>
                  <a:srgbClr val="143D59"/>
                </a:solidFill>
                <a:latin typeface="Calibri"/>
              </a:rPr>
              <a:t>Catalogue</a:t>
            </a:r>
          </a:p>
        </p:txBody>
      </p:sp>
      <p:sp>
        <p:nvSpPr>
          <p:cNvPr id="26" name="Rounded Rectangle 25"/>
          <p:cNvSpPr/>
          <p:nvPr/>
        </p:nvSpPr>
        <p:spPr>
          <a:xfrm>
            <a:off x="777240" y="4709160"/>
            <a:ext cx="3108960" cy="502920"/>
          </a:xfrm>
          <a:prstGeom prst="roundRect">
            <a:avLst>
              <a:gd name="adj" fmla="val 5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77240" y="4709160"/>
            <a:ext cx="3108960" cy="502920"/>
          </a:xfrm>
          <a:prstGeom prst="rect">
            <a:avLst/>
          </a:prstGeom>
          <a:noFill/>
        </p:spPr>
        <p:txBody>
          <a:bodyPr wrap="square" lIns="0" rIns="0" tIns="0" bIns="0" anchor="ctr">
            <a:spAutoFit/>
          </a:bodyPr>
          <a:lstStyle/>
          <a:p>
            <a:pPr algn="ctr">
              <a:lnSpc>
                <a:spcPct val="100000"/>
              </a:lnSpc>
            </a:pPr>
            <a:r>
              <a:rPr sz="1400" b="1">
                <a:solidFill>
                  <a:srgbClr val="143D59"/>
                </a:solidFill>
                <a:latin typeface="Calibri"/>
              </a:rPr>
              <a:t>Onboarding</a:t>
            </a:r>
          </a:p>
        </p:txBody>
      </p:sp>
      <p:sp>
        <p:nvSpPr>
          <p:cNvPr id="28" name="Rounded Rectangle 27"/>
          <p:cNvSpPr/>
          <p:nvPr/>
        </p:nvSpPr>
        <p:spPr>
          <a:xfrm>
            <a:off x="777240" y="5394960"/>
            <a:ext cx="3108960" cy="502920"/>
          </a:xfrm>
          <a:prstGeom prst="roundRect">
            <a:avLst>
              <a:gd name="adj" fmla="val 5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777240" y="5394960"/>
            <a:ext cx="3108960" cy="502920"/>
          </a:xfrm>
          <a:prstGeom prst="rect">
            <a:avLst/>
          </a:prstGeom>
          <a:noFill/>
        </p:spPr>
        <p:txBody>
          <a:bodyPr wrap="square" lIns="0" rIns="0" tIns="0" bIns="0" anchor="ctr">
            <a:spAutoFit/>
          </a:bodyPr>
          <a:lstStyle/>
          <a:p>
            <a:pPr algn="ctr">
              <a:lnSpc>
                <a:spcPct val="100000"/>
              </a:lnSpc>
            </a:pPr>
            <a:r>
              <a:rPr sz="1400" b="1">
                <a:solidFill>
                  <a:srgbClr val="143D59"/>
                </a:solidFill>
                <a:latin typeface="Calibri"/>
              </a:rPr>
              <a:t>Conformity testing</a:t>
            </a:r>
          </a:p>
        </p:txBody>
      </p:sp>
      <p:sp>
        <p:nvSpPr>
          <p:cNvPr id="30" name="Rounded Rectangle 29"/>
          <p:cNvSpPr/>
          <p:nvPr/>
        </p:nvSpPr>
        <p:spPr>
          <a:xfrm>
            <a:off x="4343400" y="2011680"/>
            <a:ext cx="7296912" cy="960120"/>
          </a:xfrm>
          <a:prstGeom prst="roundRect">
            <a:avLst>
              <a:gd name="adj" fmla="val 5000"/>
            </a:avLst>
          </a:prstGeom>
          <a:solidFill>
            <a:srgbClr val="F4EF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ounded Rectangle 30"/>
          <p:cNvSpPr/>
          <p:nvPr/>
        </p:nvSpPr>
        <p:spPr>
          <a:xfrm>
            <a:off x="4526280" y="2258568"/>
            <a:ext cx="1325880" cy="457200"/>
          </a:xfrm>
          <a:prstGeom prst="roundRect">
            <a:avLst>
              <a:gd name="adj" fmla="val 50000"/>
            </a:avLst>
          </a:prstGeom>
          <a:solidFill>
            <a:srgbClr val="528B5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526280" y="2258568"/>
            <a:ext cx="1325880" cy="457200"/>
          </a:xfrm>
          <a:prstGeom prst="rect">
            <a:avLst/>
          </a:prstGeom>
          <a:noFill/>
        </p:spPr>
        <p:txBody>
          <a:bodyPr wrap="square" lIns="0" rIns="0" tIns="0" bIns="0" anchor="ctr">
            <a:spAutoFit/>
          </a:bodyPr>
          <a:lstStyle/>
          <a:p>
            <a:pPr algn="ctr">
              <a:lnSpc>
                <a:spcPct val="100000"/>
              </a:lnSpc>
            </a:pPr>
            <a:r>
              <a:rPr sz="1300" b="1">
                <a:solidFill>
                  <a:srgbClr val="FFFFFF"/>
                </a:solidFill>
                <a:latin typeface="Calibri"/>
              </a:rPr>
              <a:t>Stable</a:t>
            </a:r>
          </a:p>
        </p:txBody>
      </p:sp>
      <p:sp>
        <p:nvSpPr>
          <p:cNvPr id="33" name="TextBox 32"/>
          <p:cNvSpPr txBox="1"/>
          <p:nvPr/>
        </p:nvSpPr>
        <p:spPr>
          <a:xfrm>
            <a:off x="6035040" y="2121408"/>
            <a:ext cx="5486400" cy="365760"/>
          </a:xfrm>
          <a:prstGeom prst="rect">
            <a:avLst/>
          </a:prstGeom>
          <a:noFill/>
        </p:spPr>
        <p:txBody>
          <a:bodyPr wrap="square" lIns="0" rIns="0" tIns="0" bIns="0">
            <a:spAutoFit/>
          </a:bodyPr>
          <a:lstStyle/>
          <a:p>
            <a:pPr>
              <a:lnSpc>
                <a:spcPct val="100000"/>
              </a:lnSpc>
            </a:pPr>
            <a:r>
              <a:rPr sz="1600" b="1">
                <a:solidFill>
                  <a:srgbClr val="143D59"/>
                </a:solidFill>
                <a:latin typeface="Calibri"/>
              </a:rPr>
              <a:t>Dataspace Protocol</a:t>
            </a:r>
          </a:p>
        </p:txBody>
      </p:sp>
      <p:sp>
        <p:nvSpPr>
          <p:cNvPr id="34" name="TextBox 33"/>
          <p:cNvSpPr txBox="1"/>
          <p:nvPr/>
        </p:nvSpPr>
        <p:spPr>
          <a:xfrm>
            <a:off x="6035040" y="2468880"/>
            <a:ext cx="5486400" cy="457200"/>
          </a:xfrm>
          <a:prstGeom prst="rect">
            <a:avLst/>
          </a:prstGeom>
          <a:noFill/>
        </p:spPr>
        <p:txBody>
          <a:bodyPr wrap="square" lIns="0" rIns="0" tIns="0" bIns="0">
            <a:spAutoFit/>
          </a:bodyPr>
          <a:lstStyle/>
          <a:p>
            <a:pPr>
              <a:lnSpc>
                <a:spcPct val="100000"/>
              </a:lnSpc>
            </a:pPr>
            <a:r>
              <a:rPr sz="1300" b="0">
                <a:solidFill>
                  <a:srgbClr val="4F5560"/>
                </a:solidFill>
                <a:latin typeface="Calibri"/>
              </a:rPr>
              <a:t>Stable. On its way to an ISO standard, ISO/IEC 26450.</a:t>
            </a:r>
          </a:p>
        </p:txBody>
      </p:sp>
      <p:sp>
        <p:nvSpPr>
          <p:cNvPr id="35" name="Rounded Rectangle 34"/>
          <p:cNvSpPr/>
          <p:nvPr/>
        </p:nvSpPr>
        <p:spPr>
          <a:xfrm>
            <a:off x="4343400" y="3090672"/>
            <a:ext cx="7296912" cy="960120"/>
          </a:xfrm>
          <a:prstGeom prst="roundRect">
            <a:avLst>
              <a:gd name="adj" fmla="val 5000"/>
            </a:avLst>
          </a:prstGeom>
          <a:solidFill>
            <a:srgbClr val="F4EF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ounded Rectangle 35"/>
          <p:cNvSpPr/>
          <p:nvPr/>
        </p:nvSpPr>
        <p:spPr>
          <a:xfrm>
            <a:off x="4526280" y="3337560"/>
            <a:ext cx="1325880" cy="457200"/>
          </a:xfrm>
          <a:prstGeom prst="roundRect">
            <a:avLst>
              <a:gd name="adj" fmla="val 50000"/>
            </a:avLst>
          </a:prstGeom>
          <a:solidFill>
            <a:srgbClr val="528B5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4526280" y="3337560"/>
            <a:ext cx="1325880" cy="457200"/>
          </a:xfrm>
          <a:prstGeom prst="rect">
            <a:avLst/>
          </a:prstGeom>
          <a:noFill/>
        </p:spPr>
        <p:txBody>
          <a:bodyPr wrap="square" lIns="0" rIns="0" tIns="0" bIns="0" anchor="ctr">
            <a:spAutoFit/>
          </a:bodyPr>
          <a:lstStyle/>
          <a:p>
            <a:pPr algn="ctr">
              <a:lnSpc>
                <a:spcPct val="100000"/>
              </a:lnSpc>
            </a:pPr>
            <a:r>
              <a:rPr sz="1300" b="1">
                <a:solidFill>
                  <a:srgbClr val="FFFFFF"/>
                </a:solidFill>
                <a:latin typeface="Calibri"/>
              </a:rPr>
              <a:t>Mature</a:t>
            </a:r>
          </a:p>
        </p:txBody>
      </p:sp>
      <p:sp>
        <p:nvSpPr>
          <p:cNvPr id="38" name="TextBox 37"/>
          <p:cNvSpPr txBox="1"/>
          <p:nvPr/>
        </p:nvSpPr>
        <p:spPr>
          <a:xfrm>
            <a:off x="6035040" y="3200400"/>
            <a:ext cx="5486400" cy="365760"/>
          </a:xfrm>
          <a:prstGeom prst="rect">
            <a:avLst/>
          </a:prstGeom>
          <a:noFill/>
        </p:spPr>
        <p:txBody>
          <a:bodyPr wrap="square" lIns="0" rIns="0" tIns="0" bIns="0">
            <a:spAutoFit/>
          </a:bodyPr>
          <a:lstStyle/>
          <a:p>
            <a:pPr>
              <a:lnSpc>
                <a:spcPct val="100000"/>
              </a:lnSpc>
            </a:pPr>
            <a:r>
              <a:rPr sz="1600" b="1">
                <a:solidFill>
                  <a:srgbClr val="143D59"/>
                </a:solidFill>
                <a:latin typeface="Calibri"/>
              </a:rPr>
              <a:t>FHIR and OMOP</a:t>
            </a:r>
          </a:p>
        </p:txBody>
      </p:sp>
      <p:sp>
        <p:nvSpPr>
          <p:cNvPr id="39" name="TextBox 38"/>
          <p:cNvSpPr txBox="1"/>
          <p:nvPr/>
        </p:nvSpPr>
        <p:spPr>
          <a:xfrm>
            <a:off x="6035040" y="3547872"/>
            <a:ext cx="5486400" cy="457200"/>
          </a:xfrm>
          <a:prstGeom prst="rect">
            <a:avLst/>
          </a:prstGeom>
          <a:noFill/>
        </p:spPr>
        <p:txBody>
          <a:bodyPr wrap="square" lIns="0" rIns="0" tIns="0" bIns="0">
            <a:spAutoFit/>
          </a:bodyPr>
          <a:lstStyle/>
          <a:p>
            <a:pPr>
              <a:lnSpc>
                <a:spcPct val="100000"/>
              </a:lnSpc>
            </a:pPr>
            <a:r>
              <a:rPr sz="1300" b="0">
                <a:solidFill>
                  <a:srgbClr val="4F5560"/>
                </a:solidFill>
                <a:latin typeface="Calibri"/>
              </a:rPr>
              <a:t>Mature health standards, used around the world.</a:t>
            </a:r>
          </a:p>
        </p:txBody>
      </p:sp>
      <p:sp>
        <p:nvSpPr>
          <p:cNvPr id="40" name="Rounded Rectangle 39"/>
          <p:cNvSpPr/>
          <p:nvPr/>
        </p:nvSpPr>
        <p:spPr>
          <a:xfrm>
            <a:off x="4343400" y="4169664"/>
            <a:ext cx="7296912" cy="960120"/>
          </a:xfrm>
          <a:prstGeom prst="roundRect">
            <a:avLst>
              <a:gd name="adj" fmla="val 5000"/>
            </a:avLst>
          </a:prstGeom>
          <a:solidFill>
            <a:srgbClr val="F4EF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ounded Rectangle 40"/>
          <p:cNvSpPr/>
          <p:nvPr/>
        </p:nvSpPr>
        <p:spPr>
          <a:xfrm>
            <a:off x="4526280" y="4416552"/>
            <a:ext cx="1325880" cy="457200"/>
          </a:xfrm>
          <a:prstGeom prst="roundRect">
            <a:avLst>
              <a:gd name="adj" fmla="val 50000"/>
            </a:avLst>
          </a:prstGeom>
          <a:solidFill>
            <a:srgbClr val="E6A8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4526280" y="4416552"/>
            <a:ext cx="1325880" cy="457200"/>
          </a:xfrm>
          <a:prstGeom prst="rect">
            <a:avLst/>
          </a:prstGeom>
          <a:noFill/>
        </p:spPr>
        <p:txBody>
          <a:bodyPr wrap="square" lIns="0" rIns="0" tIns="0" bIns="0" anchor="ctr">
            <a:spAutoFit/>
          </a:bodyPr>
          <a:lstStyle/>
          <a:p>
            <a:pPr algn="ctr">
              <a:lnSpc>
                <a:spcPct val="100000"/>
              </a:lnSpc>
            </a:pPr>
            <a:r>
              <a:rPr sz="1300" b="1">
                <a:solidFill>
                  <a:srgbClr val="FFFFFF"/>
                </a:solidFill>
                <a:latin typeface="Calibri"/>
              </a:rPr>
              <a:t>Changing</a:t>
            </a:r>
          </a:p>
        </p:txBody>
      </p:sp>
      <p:sp>
        <p:nvSpPr>
          <p:cNvPr id="43" name="TextBox 42"/>
          <p:cNvSpPr txBox="1"/>
          <p:nvPr/>
        </p:nvSpPr>
        <p:spPr>
          <a:xfrm>
            <a:off x="6035040" y="4279392"/>
            <a:ext cx="5486400" cy="365760"/>
          </a:xfrm>
          <a:prstGeom prst="rect">
            <a:avLst/>
          </a:prstGeom>
          <a:noFill/>
        </p:spPr>
        <p:txBody>
          <a:bodyPr wrap="square" lIns="0" rIns="0" tIns="0" bIns="0">
            <a:spAutoFit/>
          </a:bodyPr>
          <a:lstStyle/>
          <a:p>
            <a:pPr>
              <a:lnSpc>
                <a:spcPct val="100000"/>
              </a:lnSpc>
            </a:pPr>
            <a:r>
              <a:rPr sz="1600" b="1">
                <a:solidFill>
                  <a:srgbClr val="143D59"/>
                </a:solidFill>
                <a:latin typeface="Calibri"/>
              </a:rPr>
              <a:t>Tractus-X connector</a:t>
            </a:r>
          </a:p>
        </p:txBody>
      </p:sp>
      <p:sp>
        <p:nvSpPr>
          <p:cNvPr id="44" name="TextBox 43"/>
          <p:cNvSpPr txBox="1"/>
          <p:nvPr/>
        </p:nvSpPr>
        <p:spPr>
          <a:xfrm>
            <a:off x="6035040" y="4626864"/>
            <a:ext cx="5486400" cy="457200"/>
          </a:xfrm>
          <a:prstGeom prst="rect">
            <a:avLst/>
          </a:prstGeom>
          <a:noFill/>
        </p:spPr>
        <p:txBody>
          <a:bodyPr wrap="square" lIns="0" rIns="0" tIns="0" bIns="0">
            <a:spAutoFit/>
          </a:bodyPr>
          <a:lstStyle/>
          <a:p>
            <a:pPr>
              <a:lnSpc>
                <a:spcPct val="100000"/>
              </a:lnSpc>
            </a:pPr>
            <a:r>
              <a:rPr sz="1300" b="0">
                <a:solidFill>
                  <a:srgbClr val="4F5560"/>
                </a:solidFill>
                <a:latin typeface="Calibri"/>
              </a:rPr>
              <a:t>In production since 2023, but still version 0.x. Breaking changes every quarter.</a:t>
            </a:r>
          </a:p>
        </p:txBody>
      </p:sp>
      <p:sp>
        <p:nvSpPr>
          <p:cNvPr id="45" name="Rounded Rectangle 44"/>
          <p:cNvSpPr/>
          <p:nvPr/>
        </p:nvSpPr>
        <p:spPr>
          <a:xfrm>
            <a:off x="4343400" y="5248656"/>
            <a:ext cx="7296912" cy="960120"/>
          </a:xfrm>
          <a:prstGeom prst="roundRect">
            <a:avLst>
              <a:gd name="adj" fmla="val 5000"/>
            </a:avLst>
          </a:prstGeom>
          <a:solidFill>
            <a:srgbClr val="F4EF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Rounded Rectangle 45"/>
          <p:cNvSpPr/>
          <p:nvPr/>
        </p:nvSpPr>
        <p:spPr>
          <a:xfrm>
            <a:off x="4526280" y="5495544"/>
            <a:ext cx="1325880" cy="457200"/>
          </a:xfrm>
          <a:prstGeom prst="roundRect">
            <a:avLst>
              <a:gd name="adj" fmla="val 50000"/>
            </a:avLst>
          </a:prstGeom>
          <a:solidFill>
            <a:srgbClr val="C31E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4526280" y="5495544"/>
            <a:ext cx="1325880" cy="457200"/>
          </a:xfrm>
          <a:prstGeom prst="rect">
            <a:avLst/>
          </a:prstGeom>
          <a:noFill/>
        </p:spPr>
        <p:txBody>
          <a:bodyPr wrap="square" lIns="0" rIns="0" tIns="0" bIns="0" anchor="ctr">
            <a:spAutoFit/>
          </a:bodyPr>
          <a:lstStyle/>
          <a:p>
            <a:pPr algn="ctr">
              <a:lnSpc>
                <a:spcPct val="100000"/>
              </a:lnSpc>
            </a:pPr>
            <a:r>
              <a:rPr sz="1300" b="1">
                <a:solidFill>
                  <a:srgbClr val="FFFFFF"/>
                </a:solidFill>
                <a:latin typeface="Calibri"/>
              </a:rPr>
              <a:t>Young</a:t>
            </a:r>
          </a:p>
        </p:txBody>
      </p:sp>
      <p:sp>
        <p:nvSpPr>
          <p:cNvPr id="48" name="TextBox 47"/>
          <p:cNvSpPr txBox="1"/>
          <p:nvPr/>
        </p:nvSpPr>
        <p:spPr>
          <a:xfrm>
            <a:off x="6035040" y="5358384"/>
            <a:ext cx="5486400" cy="365760"/>
          </a:xfrm>
          <a:prstGeom prst="rect">
            <a:avLst/>
          </a:prstGeom>
          <a:noFill/>
        </p:spPr>
        <p:txBody>
          <a:bodyPr wrap="square" lIns="0" rIns="0" tIns="0" bIns="0">
            <a:spAutoFit/>
          </a:bodyPr>
          <a:lstStyle/>
          <a:p>
            <a:pPr>
              <a:lnSpc>
                <a:spcPct val="100000"/>
              </a:lnSpc>
            </a:pPr>
            <a:r>
              <a:rPr sz="1600" b="1">
                <a:solidFill>
                  <a:srgbClr val="143D59"/>
                </a:solidFill>
                <a:latin typeface="Calibri"/>
              </a:rPr>
              <a:t>Secure processing and data permits</a:t>
            </a:r>
          </a:p>
        </p:txBody>
      </p:sp>
      <p:sp>
        <p:nvSpPr>
          <p:cNvPr id="49" name="TextBox 48"/>
          <p:cNvSpPr txBox="1"/>
          <p:nvPr/>
        </p:nvSpPr>
        <p:spPr>
          <a:xfrm>
            <a:off x="6035040" y="5705856"/>
            <a:ext cx="5486400" cy="457200"/>
          </a:xfrm>
          <a:prstGeom prst="rect">
            <a:avLst/>
          </a:prstGeom>
          <a:noFill/>
        </p:spPr>
        <p:txBody>
          <a:bodyPr wrap="square" lIns="0" rIns="0" tIns="0" bIns="0">
            <a:spAutoFit/>
          </a:bodyPr>
          <a:lstStyle/>
          <a:p>
            <a:pPr>
              <a:lnSpc>
                <a:spcPct val="100000"/>
              </a:lnSpc>
            </a:pPr>
            <a:r>
              <a:rPr sz="1300" b="0">
                <a:solidFill>
                  <a:srgbClr val="4F5560"/>
                </a:solidFill>
                <a:latin typeface="Calibri"/>
              </a:rPr>
              <a:t>The least mature parts. Plan time and budget here.</a:t>
            </a:r>
          </a:p>
        </p:txBody>
      </p:sp>
      <p:sp>
        <p:nvSpPr>
          <p:cNvPr id="50" name="TextBox 49"/>
          <p:cNvSpPr txBox="1"/>
          <p:nvPr/>
        </p:nvSpPr>
        <p:spPr>
          <a:xfrm>
            <a:off x="5852160" y="6446520"/>
            <a:ext cx="5760720" cy="274320"/>
          </a:xfrm>
          <a:prstGeom prst="rect">
            <a:avLst/>
          </a:prstGeom>
          <a:noFill/>
        </p:spPr>
        <p:txBody>
          <a:bodyPr wrap="square" lIns="0" rIns="0" tIns="0" bIns="0">
            <a:spAutoFit/>
          </a:bodyPr>
          <a:lstStyle/>
          <a:p>
            <a:pPr algn="r">
              <a:lnSpc>
                <a:spcPct val="100000"/>
              </a:lnSpc>
            </a:pPr>
            <a:r>
              <a:rPr sz="900" b="0">
                <a:solidFill>
                  <a:srgbClr val="8A8F98"/>
                </a:solidFill>
                <a:latin typeface="Calibri"/>
              </a:rPr>
              <a:t>eclipse-dataspace-protocol-base.github.io  ·  eclipse-tractusx.github.io  ·  hl7.org/fhir  ·  ohdsi.org</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110" fill="hold">
                      <p:stCondLst>
                        <p:cond delay="indefinite"/>
                        <p:cond evt="onBegin" delay="0">
                          <p:tn val="2"/>
                        </p:cond>
                      </p:stCondLst>
                      <p:childTnLst>
                        <p:par>
                          <p:cTn id="45" fill="hold">
                            <p:stCondLst>
                              <p:cond delay="0"/>
                            </p:stCondLst>
                            <p:childTnLst>
                              <p:par>
                                <p:cTn id="3" presetID="10" presetClass="entr" presetSubtype="0" fill="hold" grpId="0" nodeType="afterEffect">
                                  <p:stCondLst>
                                    <p:cond delay="0"/>
                                  </p:stCondLst>
                                  <p:childTnLst>
                                    <p:set>
                                      <p:cBhvr>
                                        <p:cTn id="4" dur="1" fill="hold">
                                          <p:stCondLst>
                                            <p:cond delay="0"/>
                                          </p:stCondLst>
                                        </p:cTn>
                                        <p:tgtEl>
                                          <p:spTgt spid="16"/>
                                        </p:tgtEl>
                                        <p:attrNameLst>
                                          <p:attrName>style.visibility</p:attrName>
                                        </p:attrNameLst>
                                      </p:cBhvr>
                                      <p:to>
                                        <p:strVal val="visible"/>
                                      </p:to>
                                    </p:set>
                                    <p:animEffect transition="in" filter="fade">
                                      <p:cBhvr>
                                        <p:cTn id="5" dur="500"/>
                                        <p:tgtEl>
                                          <p:spTgt spid="16"/>
                                        </p:tgtEl>
                                      </p:cBhvr>
                                    </p:animEffect>
                                  </p:childTnLst>
                                </p:cTn>
                              </p:par>
                              <p:par>
                                <p:cTn id="6" presetID="10" presetClass="entr" presetSubtype="0" fill="hold" grpId="0" nodeType="withEffect">
                                  <p:stCondLst>
                                    <p:cond delay="0"/>
                                  </p:stCondLst>
                                  <p:childTnLst>
                                    <p:set>
                                      <p:cBhvr>
                                        <p:cTn id="7" dur="1" fill="hold">
                                          <p:stCondLst>
                                            <p:cond delay="0"/>
                                          </p:stCondLst>
                                        </p:cTn>
                                        <p:tgtEl>
                                          <p:spTgt spid="19"/>
                                        </p:tgtEl>
                                        <p:attrNameLst>
                                          <p:attrName>style.visibility</p:attrName>
                                        </p:attrNameLst>
                                      </p:cBhvr>
                                      <p:to>
                                        <p:strVal val="visible"/>
                                      </p:to>
                                    </p:set>
                                    <p:animEffect transition="in" filter="fade">
                                      <p:cBhvr>
                                        <p:cTn id="8" dur="500"/>
                                        <p:tgtEl>
                                          <p:spTgt spid="19"/>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20"/>
                                        </p:tgtEl>
                                        <p:attrNameLst>
                                          <p:attrName>style.visibility</p:attrName>
                                        </p:attrNameLst>
                                      </p:cBhvr>
                                      <p:to>
                                        <p:strVal val="visible"/>
                                      </p:to>
                                    </p:set>
                                    <p:animEffect transition="in" filter="fade">
                                      <p:cBhvr>
                                        <p:cTn id="11" dur="500"/>
                                        <p:tgtEl>
                                          <p:spTgt spid="20"/>
                                        </p:tgtEl>
                                      </p:cBhvr>
                                    </p:animEffect>
                                  </p:childTnLst>
                                </p:cTn>
                              </p:par>
                              <p:par>
                                <p:cTn id="12" presetID="10" presetClass="entr" presetSubtype="0" fill="hold" grpId="0" nodeType="withEffect">
                                  <p:stCondLst>
                                    <p:cond delay="0"/>
                                  </p:stCondLst>
                                  <p:childTnLst>
                                    <p:set>
                                      <p:cBhvr>
                                        <p:cTn id="13" dur="1" fill="hold">
                                          <p:stCondLst>
                                            <p:cond delay="0"/>
                                          </p:stCondLst>
                                        </p:cTn>
                                        <p:tgtEl>
                                          <p:spTgt spid="21"/>
                                        </p:tgtEl>
                                        <p:attrNameLst>
                                          <p:attrName>style.visibility</p:attrName>
                                        </p:attrNameLst>
                                      </p:cBhvr>
                                      <p:to>
                                        <p:strVal val="visible"/>
                                      </p:to>
                                    </p:set>
                                    <p:animEffect transition="in" filter="fade">
                                      <p:cBhvr>
                                        <p:cTn id="14" dur="500"/>
                                        <p:tgtEl>
                                          <p:spTgt spid="21"/>
                                        </p:tgtEl>
                                      </p:cBhvr>
                                    </p:animEffect>
                                  </p:childTnLst>
                                </p:cTn>
                              </p:par>
                              <p:par>
                                <p:cTn id="15" presetID="10" presetClass="entr" presetSubtype="0" fill="hold" grpId="0" nodeType="withEffect">
                                  <p:stCondLst>
                                    <p:cond delay="0"/>
                                  </p:stCondLst>
                                  <p:childTnLst>
                                    <p:set>
                                      <p:cBhvr>
                                        <p:cTn id="16" dur="1" fill="hold">
                                          <p:stCondLst>
                                            <p:cond delay="0"/>
                                          </p:stCondLst>
                                        </p:cTn>
                                        <p:tgtEl>
                                          <p:spTgt spid="22"/>
                                        </p:tgtEl>
                                        <p:attrNameLst>
                                          <p:attrName>style.visibility</p:attrName>
                                        </p:attrNameLst>
                                      </p:cBhvr>
                                      <p:to>
                                        <p:strVal val="visible"/>
                                      </p:to>
                                    </p:set>
                                    <p:animEffect transition="in" filter="fade">
                                      <p:cBhvr>
                                        <p:cTn id="17" dur="500"/>
                                        <p:tgtEl>
                                          <p:spTgt spid="22"/>
                                        </p:tgtEl>
                                      </p:cBhvr>
                                    </p:animEffect>
                                  </p:childTnLst>
                                </p:cTn>
                              </p:par>
                              <p:par>
                                <p:cTn id="18" presetID="10" presetClass="entr" presetSubtype="0" fill="hold" grpId="0" nodeType="withEffect">
                                  <p:stCondLst>
                                    <p:cond delay="0"/>
                                  </p:stCondLst>
                                  <p:childTnLst>
                                    <p:set>
                                      <p:cBhvr>
                                        <p:cTn id="19" dur="1" fill="hold">
                                          <p:stCondLst>
                                            <p:cond delay="0"/>
                                          </p:stCondLst>
                                        </p:cTn>
                                        <p:tgtEl>
                                          <p:spTgt spid="23"/>
                                        </p:tgtEl>
                                        <p:attrNameLst>
                                          <p:attrName>style.visibility</p:attrName>
                                        </p:attrNameLst>
                                      </p:cBhvr>
                                      <p:to>
                                        <p:strVal val="visible"/>
                                      </p:to>
                                    </p:set>
                                    <p:animEffect transition="in" filter="fade">
                                      <p:cBhvr>
                                        <p:cTn id="20" dur="500"/>
                                        <p:tgtEl>
                                          <p:spTgt spid="23"/>
                                        </p:tgtEl>
                                      </p:cBhvr>
                                    </p:animEffect>
                                  </p:childTnLst>
                                </p:cTn>
                              </p:par>
                              <p:par>
                                <p:cTn id="21" presetID="10" presetClass="entr" presetSubtype="0" fill="hold" grpId="0" nodeType="withEffect">
                                  <p:stCondLst>
                                    <p:cond delay="0"/>
                                  </p:stCondLst>
                                  <p:childTnLst>
                                    <p:set>
                                      <p:cBhvr>
                                        <p:cTn id="22" dur="1" fill="hold">
                                          <p:stCondLst>
                                            <p:cond delay="0"/>
                                          </p:stCondLst>
                                        </p:cTn>
                                        <p:tgtEl>
                                          <p:spTgt spid="24"/>
                                        </p:tgtEl>
                                        <p:attrNameLst>
                                          <p:attrName>style.visibility</p:attrName>
                                        </p:attrNameLst>
                                      </p:cBhvr>
                                      <p:to>
                                        <p:strVal val="visible"/>
                                      </p:to>
                                    </p:set>
                                    <p:animEffect transition="in" filter="fade">
                                      <p:cBhvr>
                                        <p:cTn id="23" dur="500"/>
                                        <p:tgtEl>
                                          <p:spTgt spid="24"/>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25"/>
                                        </p:tgtEl>
                                        <p:attrNameLst>
                                          <p:attrName>style.visibility</p:attrName>
                                        </p:attrNameLst>
                                      </p:cBhvr>
                                      <p:to>
                                        <p:strVal val="visible"/>
                                      </p:to>
                                    </p:set>
                                    <p:animEffect transition="in" filter="fade">
                                      <p:cBhvr>
                                        <p:cTn id="26" dur="500"/>
                                        <p:tgtEl>
                                          <p:spTgt spid="25"/>
                                        </p:tgtEl>
                                      </p:cBhvr>
                                    </p:animEffect>
                                  </p:childTnLst>
                                </p:cTn>
                              </p:par>
                              <p:par>
                                <p:cTn id="27" presetID="10" presetClass="entr" presetSubtype="0" fill="hold" grpId="0" nodeType="withEffect">
                                  <p:stCondLst>
                                    <p:cond delay="0"/>
                                  </p:stCondLst>
                                  <p:childTnLst>
                                    <p:set>
                                      <p:cBhvr>
                                        <p:cTn id="28" dur="1" fill="hold">
                                          <p:stCondLst>
                                            <p:cond delay="0"/>
                                          </p:stCondLst>
                                        </p:cTn>
                                        <p:tgtEl>
                                          <p:spTgt spid="26"/>
                                        </p:tgtEl>
                                        <p:attrNameLst>
                                          <p:attrName>style.visibility</p:attrName>
                                        </p:attrNameLst>
                                      </p:cBhvr>
                                      <p:to>
                                        <p:strVal val="visible"/>
                                      </p:to>
                                    </p:set>
                                    <p:animEffect transition="in" filter="fade">
                                      <p:cBhvr>
                                        <p:cTn id="29" dur="500"/>
                                        <p:tgtEl>
                                          <p:spTgt spid="26"/>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27"/>
                                        </p:tgtEl>
                                        <p:attrNameLst>
                                          <p:attrName>style.visibility</p:attrName>
                                        </p:attrNameLst>
                                      </p:cBhvr>
                                      <p:to>
                                        <p:strVal val="visible"/>
                                      </p:to>
                                    </p:set>
                                    <p:animEffect transition="in" filter="fade">
                                      <p:cBhvr>
                                        <p:cTn id="32" dur="500"/>
                                        <p:tgtEl>
                                          <p:spTgt spid="27"/>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28"/>
                                        </p:tgtEl>
                                        <p:attrNameLst>
                                          <p:attrName>style.visibility</p:attrName>
                                        </p:attrNameLst>
                                      </p:cBhvr>
                                      <p:to>
                                        <p:strVal val="visible"/>
                                      </p:to>
                                    </p:set>
                                    <p:animEffect transition="in" filter="fade">
                                      <p:cBhvr>
                                        <p:cTn id="35" dur="500"/>
                                        <p:tgtEl>
                                          <p:spTgt spid="28"/>
                                        </p:tgtEl>
                                      </p:cBhvr>
                                    </p:animEffect>
                                  </p:childTnLst>
                                </p:cTn>
                              </p:par>
                              <p:par>
                                <p:cTn id="36" presetID="10" presetClass="entr" presetSubtype="0" fill="hold" grpId="0" nodeType="withEffect">
                                  <p:stCondLst>
                                    <p:cond delay="0"/>
                                  </p:stCondLst>
                                  <p:childTnLst>
                                    <p:set>
                                      <p:cBhvr>
                                        <p:cTn id="37" dur="1" fill="hold">
                                          <p:stCondLst>
                                            <p:cond delay="0"/>
                                          </p:stCondLst>
                                        </p:cTn>
                                        <p:tgtEl>
                                          <p:spTgt spid="29"/>
                                        </p:tgtEl>
                                        <p:attrNameLst>
                                          <p:attrName>style.visibility</p:attrName>
                                        </p:attrNameLst>
                                      </p:cBhvr>
                                      <p:to>
                                        <p:strVal val="visible"/>
                                      </p:to>
                                    </p:set>
                                    <p:animEffect transition="in" filter="fade">
                                      <p:cBhvr>
                                        <p:cTn id="38" dur="500"/>
                                        <p:tgtEl>
                                          <p:spTgt spid="29"/>
                                        </p:tgtEl>
                                      </p:cBhvr>
                                    </p:animEffect>
                                  </p:childTnLst>
                                </p:cTn>
                              </p:par>
                              <p:par>
                                <p:cTn id="39" presetID="10" presetClass="entr" presetSubtype="0" fill="hold" grpId="0" nodeType="withEffect">
                                  <p:stCondLst>
                                    <p:cond delay="0"/>
                                  </p:stCondLst>
                                  <p:childTnLst>
                                    <p:set>
                                      <p:cBhvr>
                                        <p:cTn id="40" dur="1" fill="hold">
                                          <p:stCondLst>
                                            <p:cond delay="0"/>
                                          </p:stCondLst>
                                        </p:cTn>
                                        <p:tgtEl>
                                          <p:spTgt spid="17"/>
                                        </p:tgtEl>
                                        <p:attrNameLst>
                                          <p:attrName>style.visibility</p:attrName>
                                        </p:attrNameLst>
                                      </p:cBhvr>
                                      <p:to>
                                        <p:strVal val="visible"/>
                                      </p:to>
                                    </p:set>
                                    <p:animEffect transition="in" filter="fade">
                                      <p:cBhvr>
                                        <p:cTn id="41" dur="500"/>
                                        <p:tgtEl>
                                          <p:spTgt spid="17"/>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18"/>
                                        </p:tgtEl>
                                        <p:attrNameLst>
                                          <p:attrName>style.visibility</p:attrName>
                                        </p:attrNameLst>
                                      </p:cBhvr>
                                      <p:to>
                                        <p:strVal val="visible"/>
                                      </p:to>
                                    </p:set>
                                    <p:animEffect transition="in" filter="fade">
                                      <p:cBhvr>
                                        <p:cTn id="44" dur="500"/>
                                        <p:tgtEl>
                                          <p:spTgt spid="18"/>
                                        </p:tgtEl>
                                      </p:cBhvr>
                                    </p:animEffect>
                                  </p:childTnLst>
                                </p:cTn>
                              </p:par>
                            </p:childTnLst>
                          </p:cTn>
                        </p:par>
                        <p:par>
                          <p:cTn id="61" fill="hold">
                            <p:stCondLst>
                              <p:cond delay="300"/>
                            </p:stCondLst>
                            <p:childTnLst>
                              <p:par>
                                <p:cTn id="46" presetID="10" presetClass="entr" presetSubtype="0" fill="hold" grpId="0" nodeType="withEffect">
                                  <p:stCondLst>
                                    <p:cond delay="0"/>
                                  </p:stCondLst>
                                  <p:childTnLst>
                                    <p:set>
                                      <p:cBhvr>
                                        <p:cTn id="47" dur="1" fill="hold">
                                          <p:stCondLst>
                                            <p:cond delay="0"/>
                                          </p:stCondLst>
                                        </p:cTn>
                                        <p:tgtEl>
                                          <p:spTgt spid="30"/>
                                        </p:tgtEl>
                                        <p:attrNameLst>
                                          <p:attrName>style.visibility</p:attrName>
                                        </p:attrNameLst>
                                      </p:cBhvr>
                                      <p:to>
                                        <p:strVal val="visible"/>
                                      </p:to>
                                    </p:set>
                                    <p:animEffect transition="in" filter="fade">
                                      <p:cBhvr>
                                        <p:cTn id="48" dur="500"/>
                                        <p:tgtEl>
                                          <p:spTgt spid="30"/>
                                        </p:tgtEl>
                                      </p:cBhvr>
                                    </p:animEffect>
                                  </p:childTnLst>
                                </p:cTn>
                              </p:par>
                              <p:par>
                                <p:cTn id="49" presetID="10" presetClass="entr" presetSubtype="0" fill="hold" grpId="0" nodeType="withEffect">
                                  <p:stCondLst>
                                    <p:cond delay="0"/>
                                  </p:stCondLst>
                                  <p:childTnLst>
                                    <p:set>
                                      <p:cBhvr>
                                        <p:cTn id="50" dur="1" fill="hold">
                                          <p:stCondLst>
                                            <p:cond delay="0"/>
                                          </p:stCondLst>
                                        </p:cTn>
                                        <p:tgtEl>
                                          <p:spTgt spid="34"/>
                                        </p:tgtEl>
                                        <p:attrNameLst>
                                          <p:attrName>style.visibility</p:attrName>
                                        </p:attrNameLst>
                                      </p:cBhvr>
                                      <p:to>
                                        <p:strVal val="visible"/>
                                      </p:to>
                                    </p:set>
                                    <p:animEffect transition="in" filter="fade">
                                      <p:cBhvr>
                                        <p:cTn id="51" dur="500"/>
                                        <p:tgtEl>
                                          <p:spTgt spid="34"/>
                                        </p:tgtEl>
                                      </p:cBhvr>
                                    </p:animEffect>
                                  </p:childTnLst>
                                </p:cTn>
                              </p:par>
                              <p:par>
                                <p:cTn id="52" presetID="10" presetClass="entr" presetSubtype="0" fill="hold" grpId="0" nodeType="withEffect">
                                  <p:stCondLst>
                                    <p:cond delay="0"/>
                                  </p:stCondLst>
                                  <p:childTnLst>
                                    <p:set>
                                      <p:cBhvr>
                                        <p:cTn id="53" dur="1" fill="hold">
                                          <p:stCondLst>
                                            <p:cond delay="0"/>
                                          </p:stCondLst>
                                        </p:cTn>
                                        <p:tgtEl>
                                          <p:spTgt spid="33"/>
                                        </p:tgtEl>
                                        <p:attrNameLst>
                                          <p:attrName>style.visibility</p:attrName>
                                        </p:attrNameLst>
                                      </p:cBhvr>
                                      <p:to>
                                        <p:strVal val="visible"/>
                                      </p:to>
                                    </p:set>
                                    <p:animEffect transition="in" filter="fade">
                                      <p:cBhvr>
                                        <p:cTn id="54" dur="500"/>
                                        <p:tgtEl>
                                          <p:spTgt spid="33"/>
                                        </p:tgtEl>
                                      </p:cBhvr>
                                    </p:animEffect>
                                  </p:childTnLst>
                                </p:cTn>
                              </p:par>
                              <p:par>
                                <p:cTn id="55" presetID="10" presetClass="entr" presetSubtype="0" fill="hold" grpId="0" nodeType="withEffect">
                                  <p:stCondLst>
                                    <p:cond delay="0"/>
                                  </p:stCondLst>
                                  <p:childTnLst>
                                    <p:set>
                                      <p:cBhvr>
                                        <p:cTn id="56" dur="1" fill="hold">
                                          <p:stCondLst>
                                            <p:cond delay="0"/>
                                          </p:stCondLst>
                                        </p:cTn>
                                        <p:tgtEl>
                                          <p:spTgt spid="31"/>
                                        </p:tgtEl>
                                        <p:attrNameLst>
                                          <p:attrName>style.visibility</p:attrName>
                                        </p:attrNameLst>
                                      </p:cBhvr>
                                      <p:to>
                                        <p:strVal val="visible"/>
                                      </p:to>
                                    </p:set>
                                    <p:animEffect transition="in" filter="fade">
                                      <p:cBhvr>
                                        <p:cTn id="57" dur="500"/>
                                        <p:tgtEl>
                                          <p:spTgt spid="31"/>
                                        </p:tgtEl>
                                      </p:cBhvr>
                                    </p:animEffect>
                                  </p:childTnLst>
                                </p:cTn>
                              </p:par>
                              <p:par>
                                <p:cTn id="58" presetID="10" presetClass="entr" presetSubtype="0" fill="hold" grpId="0" nodeType="withEffect">
                                  <p:stCondLst>
                                    <p:cond delay="0"/>
                                  </p:stCondLst>
                                  <p:childTnLst>
                                    <p:set>
                                      <p:cBhvr>
                                        <p:cTn id="59" dur="1" fill="hold">
                                          <p:stCondLst>
                                            <p:cond delay="0"/>
                                          </p:stCondLst>
                                        </p:cTn>
                                        <p:tgtEl>
                                          <p:spTgt spid="32"/>
                                        </p:tgtEl>
                                        <p:attrNameLst>
                                          <p:attrName>style.visibility</p:attrName>
                                        </p:attrNameLst>
                                      </p:cBhvr>
                                      <p:to>
                                        <p:strVal val="visible"/>
                                      </p:to>
                                    </p:set>
                                    <p:animEffect transition="in" filter="fade">
                                      <p:cBhvr>
                                        <p:cTn id="60" dur="500"/>
                                        <p:tgtEl>
                                          <p:spTgt spid="32"/>
                                        </p:tgtEl>
                                      </p:cBhvr>
                                    </p:animEffect>
                                  </p:childTnLst>
                                </p:cTn>
                              </p:par>
                            </p:childTnLst>
                          </p:cTn>
                        </p:par>
                        <p:par>
                          <p:cTn id="77" fill="hold">
                            <p:stCondLst>
                              <p:cond delay="600"/>
                            </p:stCondLst>
                            <p:childTnLst>
                              <p:par>
                                <p:cTn id="62" presetID="10" presetClass="entr" presetSubtype="0" fill="hold" grpId="0" nodeType="withEffect">
                                  <p:stCondLst>
                                    <p:cond delay="0"/>
                                  </p:stCondLst>
                                  <p:childTnLst>
                                    <p:set>
                                      <p:cBhvr>
                                        <p:cTn id="63" dur="1" fill="hold">
                                          <p:stCondLst>
                                            <p:cond delay="0"/>
                                          </p:stCondLst>
                                        </p:cTn>
                                        <p:tgtEl>
                                          <p:spTgt spid="35"/>
                                        </p:tgtEl>
                                        <p:attrNameLst>
                                          <p:attrName>style.visibility</p:attrName>
                                        </p:attrNameLst>
                                      </p:cBhvr>
                                      <p:to>
                                        <p:strVal val="visible"/>
                                      </p:to>
                                    </p:set>
                                    <p:animEffect transition="in" filter="fade">
                                      <p:cBhvr>
                                        <p:cTn id="64" dur="500"/>
                                        <p:tgtEl>
                                          <p:spTgt spid="35"/>
                                        </p:tgtEl>
                                      </p:cBhvr>
                                    </p:animEffect>
                                  </p:childTnLst>
                                </p:cTn>
                              </p:par>
                              <p:par>
                                <p:cTn id="65" presetID="10" presetClass="entr" presetSubtype="0" fill="hold" grpId="0" nodeType="withEffect">
                                  <p:stCondLst>
                                    <p:cond delay="0"/>
                                  </p:stCondLst>
                                  <p:childTnLst>
                                    <p:set>
                                      <p:cBhvr>
                                        <p:cTn id="66" dur="1" fill="hold">
                                          <p:stCondLst>
                                            <p:cond delay="0"/>
                                          </p:stCondLst>
                                        </p:cTn>
                                        <p:tgtEl>
                                          <p:spTgt spid="39"/>
                                        </p:tgtEl>
                                        <p:attrNameLst>
                                          <p:attrName>style.visibility</p:attrName>
                                        </p:attrNameLst>
                                      </p:cBhvr>
                                      <p:to>
                                        <p:strVal val="visible"/>
                                      </p:to>
                                    </p:set>
                                    <p:animEffect transition="in" filter="fade">
                                      <p:cBhvr>
                                        <p:cTn id="67" dur="500"/>
                                        <p:tgtEl>
                                          <p:spTgt spid="39"/>
                                        </p:tgtEl>
                                      </p:cBhvr>
                                    </p:animEffect>
                                  </p:childTnLst>
                                </p:cTn>
                              </p:par>
                              <p:par>
                                <p:cTn id="68" presetID="10" presetClass="entr" presetSubtype="0" fill="hold" grpId="0" nodeType="withEffect">
                                  <p:stCondLst>
                                    <p:cond delay="0"/>
                                  </p:stCondLst>
                                  <p:childTnLst>
                                    <p:set>
                                      <p:cBhvr>
                                        <p:cTn id="69" dur="1" fill="hold">
                                          <p:stCondLst>
                                            <p:cond delay="0"/>
                                          </p:stCondLst>
                                        </p:cTn>
                                        <p:tgtEl>
                                          <p:spTgt spid="38"/>
                                        </p:tgtEl>
                                        <p:attrNameLst>
                                          <p:attrName>style.visibility</p:attrName>
                                        </p:attrNameLst>
                                      </p:cBhvr>
                                      <p:to>
                                        <p:strVal val="visible"/>
                                      </p:to>
                                    </p:set>
                                    <p:animEffect transition="in" filter="fade">
                                      <p:cBhvr>
                                        <p:cTn id="70" dur="500"/>
                                        <p:tgtEl>
                                          <p:spTgt spid="38"/>
                                        </p:tgtEl>
                                      </p:cBhvr>
                                    </p:animEffect>
                                  </p:childTnLst>
                                </p:cTn>
                              </p:par>
                              <p:par>
                                <p:cTn id="71" presetID="10" presetClass="entr" presetSubtype="0" fill="hold" grpId="0" nodeType="withEffect">
                                  <p:stCondLst>
                                    <p:cond delay="0"/>
                                  </p:stCondLst>
                                  <p:childTnLst>
                                    <p:set>
                                      <p:cBhvr>
                                        <p:cTn id="72" dur="1" fill="hold">
                                          <p:stCondLst>
                                            <p:cond delay="0"/>
                                          </p:stCondLst>
                                        </p:cTn>
                                        <p:tgtEl>
                                          <p:spTgt spid="36"/>
                                        </p:tgtEl>
                                        <p:attrNameLst>
                                          <p:attrName>style.visibility</p:attrName>
                                        </p:attrNameLst>
                                      </p:cBhvr>
                                      <p:to>
                                        <p:strVal val="visible"/>
                                      </p:to>
                                    </p:set>
                                    <p:animEffect transition="in" filter="fade">
                                      <p:cBhvr>
                                        <p:cTn id="73" dur="500"/>
                                        <p:tgtEl>
                                          <p:spTgt spid="36"/>
                                        </p:tgtEl>
                                      </p:cBhvr>
                                    </p:animEffect>
                                  </p:childTnLst>
                                </p:cTn>
                              </p:par>
                              <p:par>
                                <p:cTn id="74" presetID="10" presetClass="entr" presetSubtype="0" fill="hold" grpId="0" nodeType="withEffect">
                                  <p:stCondLst>
                                    <p:cond delay="0"/>
                                  </p:stCondLst>
                                  <p:childTnLst>
                                    <p:set>
                                      <p:cBhvr>
                                        <p:cTn id="75" dur="1" fill="hold">
                                          <p:stCondLst>
                                            <p:cond delay="0"/>
                                          </p:stCondLst>
                                        </p:cTn>
                                        <p:tgtEl>
                                          <p:spTgt spid="37"/>
                                        </p:tgtEl>
                                        <p:attrNameLst>
                                          <p:attrName>style.visibility</p:attrName>
                                        </p:attrNameLst>
                                      </p:cBhvr>
                                      <p:to>
                                        <p:strVal val="visible"/>
                                      </p:to>
                                    </p:set>
                                    <p:animEffect transition="in" filter="fade">
                                      <p:cBhvr>
                                        <p:cTn id="76" dur="500"/>
                                        <p:tgtEl>
                                          <p:spTgt spid="37"/>
                                        </p:tgtEl>
                                      </p:cBhvr>
                                    </p:animEffect>
                                  </p:childTnLst>
                                </p:cTn>
                              </p:par>
                            </p:childTnLst>
                          </p:cTn>
                        </p:par>
                        <p:par>
                          <p:cTn id="93" fill="hold">
                            <p:stCondLst>
                              <p:cond delay="900"/>
                            </p:stCondLst>
                            <p:childTnLst>
                              <p:par>
                                <p:cTn id="78" presetID="10" presetClass="entr" presetSubtype="0" fill="hold" grpId="0" nodeType="withEffect">
                                  <p:stCondLst>
                                    <p:cond delay="0"/>
                                  </p:stCondLst>
                                  <p:childTnLst>
                                    <p:set>
                                      <p:cBhvr>
                                        <p:cTn id="79" dur="1" fill="hold">
                                          <p:stCondLst>
                                            <p:cond delay="0"/>
                                          </p:stCondLst>
                                        </p:cTn>
                                        <p:tgtEl>
                                          <p:spTgt spid="40"/>
                                        </p:tgtEl>
                                        <p:attrNameLst>
                                          <p:attrName>style.visibility</p:attrName>
                                        </p:attrNameLst>
                                      </p:cBhvr>
                                      <p:to>
                                        <p:strVal val="visible"/>
                                      </p:to>
                                    </p:set>
                                    <p:animEffect transition="in" filter="fade">
                                      <p:cBhvr>
                                        <p:cTn id="80" dur="500"/>
                                        <p:tgtEl>
                                          <p:spTgt spid="40"/>
                                        </p:tgtEl>
                                      </p:cBhvr>
                                    </p:animEffect>
                                  </p:childTnLst>
                                </p:cTn>
                              </p:par>
                              <p:par>
                                <p:cTn id="81" presetID="10" presetClass="entr" presetSubtype="0" fill="hold" grpId="0" nodeType="withEffect">
                                  <p:stCondLst>
                                    <p:cond delay="0"/>
                                  </p:stCondLst>
                                  <p:childTnLst>
                                    <p:set>
                                      <p:cBhvr>
                                        <p:cTn id="82" dur="1" fill="hold">
                                          <p:stCondLst>
                                            <p:cond delay="0"/>
                                          </p:stCondLst>
                                        </p:cTn>
                                        <p:tgtEl>
                                          <p:spTgt spid="44"/>
                                        </p:tgtEl>
                                        <p:attrNameLst>
                                          <p:attrName>style.visibility</p:attrName>
                                        </p:attrNameLst>
                                      </p:cBhvr>
                                      <p:to>
                                        <p:strVal val="visible"/>
                                      </p:to>
                                    </p:set>
                                    <p:animEffect transition="in" filter="fade">
                                      <p:cBhvr>
                                        <p:cTn id="83" dur="500"/>
                                        <p:tgtEl>
                                          <p:spTgt spid="44"/>
                                        </p:tgtEl>
                                      </p:cBhvr>
                                    </p:animEffect>
                                  </p:childTnLst>
                                </p:cTn>
                              </p:par>
                              <p:par>
                                <p:cTn id="84" presetID="10" presetClass="entr" presetSubtype="0" fill="hold" grpId="0" nodeType="withEffect">
                                  <p:stCondLst>
                                    <p:cond delay="0"/>
                                  </p:stCondLst>
                                  <p:childTnLst>
                                    <p:set>
                                      <p:cBhvr>
                                        <p:cTn id="85" dur="1" fill="hold">
                                          <p:stCondLst>
                                            <p:cond delay="0"/>
                                          </p:stCondLst>
                                        </p:cTn>
                                        <p:tgtEl>
                                          <p:spTgt spid="43"/>
                                        </p:tgtEl>
                                        <p:attrNameLst>
                                          <p:attrName>style.visibility</p:attrName>
                                        </p:attrNameLst>
                                      </p:cBhvr>
                                      <p:to>
                                        <p:strVal val="visible"/>
                                      </p:to>
                                    </p:set>
                                    <p:animEffect transition="in" filter="fade">
                                      <p:cBhvr>
                                        <p:cTn id="86" dur="500"/>
                                        <p:tgtEl>
                                          <p:spTgt spid="43"/>
                                        </p:tgtEl>
                                      </p:cBhvr>
                                    </p:animEffect>
                                  </p:childTnLst>
                                </p:cTn>
                              </p:par>
                              <p:par>
                                <p:cTn id="87" presetID="10" presetClass="entr" presetSubtype="0" fill="hold" grpId="0" nodeType="withEffect">
                                  <p:stCondLst>
                                    <p:cond delay="0"/>
                                  </p:stCondLst>
                                  <p:childTnLst>
                                    <p:set>
                                      <p:cBhvr>
                                        <p:cTn id="88" dur="1" fill="hold">
                                          <p:stCondLst>
                                            <p:cond delay="0"/>
                                          </p:stCondLst>
                                        </p:cTn>
                                        <p:tgtEl>
                                          <p:spTgt spid="41"/>
                                        </p:tgtEl>
                                        <p:attrNameLst>
                                          <p:attrName>style.visibility</p:attrName>
                                        </p:attrNameLst>
                                      </p:cBhvr>
                                      <p:to>
                                        <p:strVal val="visible"/>
                                      </p:to>
                                    </p:set>
                                    <p:animEffect transition="in" filter="fade">
                                      <p:cBhvr>
                                        <p:cTn id="89" dur="500"/>
                                        <p:tgtEl>
                                          <p:spTgt spid="41"/>
                                        </p:tgtEl>
                                      </p:cBhvr>
                                    </p:animEffect>
                                  </p:childTnLst>
                                </p:cTn>
                              </p:par>
                              <p:par>
                                <p:cTn id="90" presetID="10" presetClass="entr" presetSubtype="0" fill="hold" grpId="0" nodeType="withEffect">
                                  <p:stCondLst>
                                    <p:cond delay="0"/>
                                  </p:stCondLst>
                                  <p:childTnLst>
                                    <p:set>
                                      <p:cBhvr>
                                        <p:cTn id="91" dur="1" fill="hold">
                                          <p:stCondLst>
                                            <p:cond delay="0"/>
                                          </p:stCondLst>
                                        </p:cTn>
                                        <p:tgtEl>
                                          <p:spTgt spid="42"/>
                                        </p:tgtEl>
                                        <p:attrNameLst>
                                          <p:attrName>style.visibility</p:attrName>
                                        </p:attrNameLst>
                                      </p:cBhvr>
                                      <p:to>
                                        <p:strVal val="visible"/>
                                      </p:to>
                                    </p:set>
                                    <p:animEffect transition="in" filter="fade">
                                      <p:cBhvr>
                                        <p:cTn id="92" dur="500"/>
                                        <p:tgtEl>
                                          <p:spTgt spid="42"/>
                                        </p:tgtEl>
                                      </p:cBhvr>
                                    </p:animEffect>
                                  </p:childTnLst>
                                </p:cTn>
                              </p:par>
                            </p:childTnLst>
                          </p:cTn>
                        </p:par>
                        <p:par>
                          <p:cTn id="109" fill="hold">
                            <p:stCondLst>
                              <p:cond delay="1200"/>
                            </p:stCondLst>
                            <p:childTnLst>
                              <p:par>
                                <p:cTn id="94" presetID="10" presetClass="entr" presetSubtype="0" fill="hold" grpId="0" nodeType="withEffect">
                                  <p:stCondLst>
                                    <p:cond delay="0"/>
                                  </p:stCondLst>
                                  <p:childTnLst>
                                    <p:set>
                                      <p:cBhvr>
                                        <p:cTn id="95" dur="1" fill="hold">
                                          <p:stCondLst>
                                            <p:cond delay="0"/>
                                          </p:stCondLst>
                                        </p:cTn>
                                        <p:tgtEl>
                                          <p:spTgt spid="45"/>
                                        </p:tgtEl>
                                        <p:attrNameLst>
                                          <p:attrName>style.visibility</p:attrName>
                                        </p:attrNameLst>
                                      </p:cBhvr>
                                      <p:to>
                                        <p:strVal val="visible"/>
                                      </p:to>
                                    </p:set>
                                    <p:animEffect transition="in" filter="fade">
                                      <p:cBhvr>
                                        <p:cTn id="96" dur="500"/>
                                        <p:tgtEl>
                                          <p:spTgt spid="45"/>
                                        </p:tgtEl>
                                      </p:cBhvr>
                                    </p:animEffect>
                                  </p:childTnLst>
                                </p:cTn>
                              </p:par>
                              <p:par>
                                <p:cTn id="97" presetID="10" presetClass="entr" presetSubtype="0" fill="hold" grpId="0" nodeType="withEffect">
                                  <p:stCondLst>
                                    <p:cond delay="0"/>
                                  </p:stCondLst>
                                  <p:childTnLst>
                                    <p:set>
                                      <p:cBhvr>
                                        <p:cTn id="98" dur="1" fill="hold">
                                          <p:stCondLst>
                                            <p:cond delay="0"/>
                                          </p:stCondLst>
                                        </p:cTn>
                                        <p:tgtEl>
                                          <p:spTgt spid="49"/>
                                        </p:tgtEl>
                                        <p:attrNameLst>
                                          <p:attrName>style.visibility</p:attrName>
                                        </p:attrNameLst>
                                      </p:cBhvr>
                                      <p:to>
                                        <p:strVal val="visible"/>
                                      </p:to>
                                    </p:set>
                                    <p:animEffect transition="in" filter="fade">
                                      <p:cBhvr>
                                        <p:cTn id="99" dur="500"/>
                                        <p:tgtEl>
                                          <p:spTgt spid="49"/>
                                        </p:tgtEl>
                                      </p:cBhvr>
                                    </p:animEffect>
                                  </p:childTnLst>
                                </p:cTn>
                              </p:par>
                              <p:par>
                                <p:cTn id="100" presetID="10" presetClass="entr" presetSubtype="0" fill="hold" grpId="0" nodeType="withEffect">
                                  <p:stCondLst>
                                    <p:cond delay="0"/>
                                  </p:stCondLst>
                                  <p:childTnLst>
                                    <p:set>
                                      <p:cBhvr>
                                        <p:cTn id="101" dur="1" fill="hold">
                                          <p:stCondLst>
                                            <p:cond delay="0"/>
                                          </p:stCondLst>
                                        </p:cTn>
                                        <p:tgtEl>
                                          <p:spTgt spid="48"/>
                                        </p:tgtEl>
                                        <p:attrNameLst>
                                          <p:attrName>style.visibility</p:attrName>
                                        </p:attrNameLst>
                                      </p:cBhvr>
                                      <p:to>
                                        <p:strVal val="visible"/>
                                      </p:to>
                                    </p:set>
                                    <p:animEffect transition="in" filter="fade">
                                      <p:cBhvr>
                                        <p:cTn id="102" dur="500"/>
                                        <p:tgtEl>
                                          <p:spTgt spid="48"/>
                                        </p:tgtEl>
                                      </p:cBhvr>
                                    </p:animEffect>
                                  </p:childTnLst>
                                </p:cTn>
                              </p:par>
                              <p:par>
                                <p:cTn id="103" presetID="10" presetClass="entr" presetSubtype="0" fill="hold" grpId="0" nodeType="withEffect">
                                  <p:stCondLst>
                                    <p:cond delay="0"/>
                                  </p:stCondLst>
                                  <p:childTnLst>
                                    <p:set>
                                      <p:cBhvr>
                                        <p:cTn id="104" dur="1" fill="hold">
                                          <p:stCondLst>
                                            <p:cond delay="0"/>
                                          </p:stCondLst>
                                        </p:cTn>
                                        <p:tgtEl>
                                          <p:spTgt spid="46"/>
                                        </p:tgtEl>
                                        <p:attrNameLst>
                                          <p:attrName>style.visibility</p:attrName>
                                        </p:attrNameLst>
                                      </p:cBhvr>
                                      <p:to>
                                        <p:strVal val="visible"/>
                                      </p:to>
                                    </p:set>
                                    <p:animEffect transition="in" filter="fade">
                                      <p:cBhvr>
                                        <p:cTn id="105" dur="500"/>
                                        <p:tgtEl>
                                          <p:spTgt spid="46"/>
                                        </p:tgtEl>
                                      </p:cBhvr>
                                    </p:animEffect>
                                  </p:childTnLst>
                                </p:cTn>
                              </p:par>
                              <p:par>
                                <p:cTn id="106" presetID="10" presetClass="entr" presetSubtype="0" fill="hold" grpId="0" nodeType="withEffect">
                                  <p:stCondLst>
                                    <p:cond delay="0"/>
                                  </p:stCondLst>
                                  <p:childTnLst>
                                    <p:set>
                                      <p:cBhvr>
                                        <p:cTn id="107" dur="1" fill="hold">
                                          <p:stCondLst>
                                            <p:cond delay="0"/>
                                          </p:stCondLst>
                                        </p:cTn>
                                        <p:tgtEl>
                                          <p:spTgt spid="47"/>
                                        </p:tgtEl>
                                        <p:attrNameLst>
                                          <p:attrName>style.visibility</p:attrName>
                                        </p:attrNameLst>
                                      </p:cBhvr>
                                      <p:to>
                                        <p:strVal val="visible"/>
                                      </p:to>
                                    </p:set>
                                    <p:animEffect transition="in" filter="fade">
                                      <p:cBhvr>
                                        <p:cTn id="108" dur="500"/>
                                        <p:tgtEl>
                                          <p:spTgt spid="4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64592"/>
          </a:xfrm>
          <a:prstGeom prst="rect">
            <a:avLst/>
          </a:prstGeom>
          <a:solidFill>
            <a:srgbClr val="143D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548640" y="347472"/>
            <a:ext cx="4434840" cy="329184"/>
          </a:xfrm>
          <a:prstGeom prst="roundRect">
            <a:avLst>
              <a:gd name="adj" fmla="val 50000"/>
            </a:avLst>
          </a:prstGeom>
          <a:solidFill>
            <a:srgbClr val="2A9D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347472"/>
            <a:ext cx="4434840" cy="329184"/>
          </a:xfrm>
          <a:prstGeom prst="rect">
            <a:avLst/>
          </a:prstGeom>
          <a:noFill/>
        </p:spPr>
        <p:txBody>
          <a:bodyPr wrap="square" lIns="0" rIns="0" tIns="0" bIns="0" anchor="ctr">
            <a:spAutoFit/>
          </a:bodyPr>
          <a:lstStyle/>
          <a:p>
            <a:pPr algn="ctr">
              <a:lnSpc>
                <a:spcPct val="100000"/>
              </a:lnSpc>
            </a:pPr>
            <a:r>
              <a:rPr sz="1100" b="1">
                <a:solidFill>
                  <a:srgbClr val="FFFFFF"/>
                </a:solidFill>
                <a:latin typeface="Calibri"/>
              </a:rPr>
              <a:t>QUESTION 6 OF 8  ·  GOVERNANCE AND OPERATING MODEL</a:t>
            </a:r>
          </a:p>
        </p:txBody>
      </p:sp>
      <p:sp>
        <p:nvSpPr>
          <p:cNvPr id="5" name="TextBox 4"/>
          <p:cNvSpPr txBox="1"/>
          <p:nvPr/>
        </p:nvSpPr>
        <p:spPr>
          <a:xfrm>
            <a:off x="548640" y="777240"/>
            <a:ext cx="11064240" cy="594360"/>
          </a:xfrm>
          <a:prstGeom prst="rect">
            <a:avLst/>
          </a:prstGeom>
          <a:noFill/>
        </p:spPr>
        <p:txBody>
          <a:bodyPr wrap="square" lIns="0" rIns="0" tIns="0" bIns="0">
            <a:spAutoFit/>
          </a:bodyPr>
          <a:lstStyle/>
          <a:p>
            <a:pPr>
              <a:lnSpc>
                <a:spcPct val="100000"/>
              </a:lnSpc>
            </a:pPr>
            <a:r>
              <a:rPr sz="3000" b="1">
                <a:solidFill>
                  <a:srgbClr val="143D59"/>
                </a:solidFill>
                <a:latin typeface="Calibri"/>
              </a:rPr>
              <a:t>Governance: three roles, kept apart</a:t>
            </a:r>
          </a:p>
        </p:txBody>
      </p:sp>
      <p:sp>
        <p:nvSpPr>
          <p:cNvPr id="6" name="TextBox 5"/>
          <p:cNvSpPr txBox="1"/>
          <p:nvPr/>
        </p:nvSpPr>
        <p:spPr>
          <a:xfrm>
            <a:off x="548640" y="1389888"/>
            <a:ext cx="11064240" cy="411480"/>
          </a:xfrm>
          <a:prstGeom prst="rect">
            <a:avLst/>
          </a:prstGeom>
          <a:noFill/>
        </p:spPr>
        <p:txBody>
          <a:bodyPr wrap="square" lIns="0" rIns="0" tIns="0" bIns="0">
            <a:spAutoFit/>
          </a:bodyPr>
          <a:lstStyle/>
          <a:p>
            <a:pPr>
              <a:lnSpc>
                <a:spcPct val="100000"/>
              </a:lnSpc>
            </a:pPr>
            <a:r>
              <a:rPr sz="1600" b="0">
                <a:solidFill>
                  <a:srgbClr val="4F5560"/>
                </a:solidFill>
                <a:latin typeface="Calibri"/>
              </a:rPr>
              <a:t>Catena-X separates the rules, the code and the operation. We suggest the same for the Basque Country.</a:t>
            </a:r>
          </a:p>
        </p:txBody>
      </p:sp>
      <p:sp>
        <p:nvSpPr>
          <p:cNvPr id="7" name="TextBox 6"/>
          <p:cNvSpPr txBox="1"/>
          <p:nvPr/>
        </p:nvSpPr>
        <p:spPr>
          <a:xfrm>
            <a:off x="548640" y="6446520"/>
            <a:ext cx="5120640" cy="274320"/>
          </a:xfrm>
          <a:prstGeom prst="rect">
            <a:avLst/>
          </a:prstGeom>
          <a:noFill/>
        </p:spPr>
        <p:txBody>
          <a:bodyPr wrap="square" lIns="0" rIns="0" tIns="0" bIns="0">
            <a:spAutoFit/>
          </a:bodyPr>
          <a:lstStyle/>
          <a:p>
            <a:pPr>
              <a:lnSpc>
                <a:spcPct val="100000"/>
              </a:lnSpc>
            </a:pPr>
            <a:r>
              <a:rPr sz="1000" b="0">
                <a:solidFill>
                  <a:srgbClr val="4F5560"/>
                </a:solidFill>
                <a:latin typeface="Calibri"/>
              </a:rPr>
              <a:t>Reunión de preparación  ·  Espacio de Datos EJIE  ·  País Vasco</a:t>
            </a:r>
          </a:p>
        </p:txBody>
      </p:sp>
      <p:sp>
        <p:nvSpPr>
          <p:cNvPr id="8" name="Rectangle 7"/>
          <p:cNvSpPr/>
          <p:nvPr/>
        </p:nvSpPr>
        <p:spPr>
          <a:xfrm>
            <a:off x="10012680" y="429768"/>
            <a:ext cx="155448" cy="155448"/>
          </a:xfrm>
          <a:prstGeom prst="rect">
            <a:avLst/>
          </a:prstGeom>
          <a:solidFill>
            <a:srgbClr val="F4EF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10222992" y="429768"/>
            <a:ext cx="155448" cy="155448"/>
          </a:xfrm>
          <a:prstGeom prst="rect">
            <a:avLst/>
          </a:prstGeom>
          <a:solidFill>
            <a:srgbClr val="F4EF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10433304" y="429768"/>
            <a:ext cx="155448" cy="155448"/>
          </a:xfrm>
          <a:prstGeom prst="rect">
            <a:avLst/>
          </a:prstGeom>
          <a:solidFill>
            <a:srgbClr val="F4EF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10643615" y="429768"/>
            <a:ext cx="155448" cy="155448"/>
          </a:xfrm>
          <a:prstGeom prst="rect">
            <a:avLst/>
          </a:prstGeom>
          <a:solidFill>
            <a:srgbClr val="F4EF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10853928" y="429768"/>
            <a:ext cx="155448" cy="155448"/>
          </a:xfrm>
          <a:prstGeom prst="rect">
            <a:avLst/>
          </a:prstGeom>
          <a:solidFill>
            <a:srgbClr val="F4EF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11064240" y="429768"/>
            <a:ext cx="155448" cy="155448"/>
          </a:xfrm>
          <a:prstGeom prst="rect">
            <a:avLst/>
          </a:prstGeom>
          <a:solidFill>
            <a:srgbClr val="2A9D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11274552" y="429768"/>
            <a:ext cx="155448" cy="155448"/>
          </a:xfrm>
          <a:prstGeom prst="rect">
            <a:avLst/>
          </a:prstGeom>
          <a:solidFill>
            <a:srgbClr val="F4EF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11484863" y="429768"/>
            <a:ext cx="155448" cy="155448"/>
          </a:xfrm>
          <a:prstGeom prst="rect">
            <a:avLst/>
          </a:prstGeom>
          <a:solidFill>
            <a:srgbClr val="F4EF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48640" y="1965960"/>
            <a:ext cx="1828800" cy="365760"/>
          </a:xfrm>
          <a:prstGeom prst="rect">
            <a:avLst/>
          </a:prstGeom>
          <a:noFill/>
        </p:spPr>
        <p:txBody>
          <a:bodyPr wrap="square" lIns="0" rIns="0" tIns="0" bIns="0">
            <a:spAutoFit/>
          </a:bodyPr>
          <a:lstStyle/>
          <a:p>
            <a:pPr>
              <a:lnSpc>
                <a:spcPct val="100000"/>
              </a:lnSpc>
            </a:pPr>
            <a:r>
              <a:rPr sz="1400" b="1">
                <a:solidFill>
                  <a:srgbClr val="8A8F98"/>
                </a:solidFill>
                <a:latin typeface="Calibri"/>
              </a:rPr>
              <a:t>Catena-X</a:t>
            </a:r>
          </a:p>
        </p:txBody>
      </p:sp>
      <p:sp>
        <p:nvSpPr>
          <p:cNvPr id="17" name="TextBox 16"/>
          <p:cNvSpPr txBox="1"/>
          <p:nvPr/>
        </p:nvSpPr>
        <p:spPr>
          <a:xfrm>
            <a:off x="548640" y="4069080"/>
            <a:ext cx="2743200" cy="365760"/>
          </a:xfrm>
          <a:prstGeom prst="rect">
            <a:avLst/>
          </a:prstGeom>
          <a:noFill/>
        </p:spPr>
        <p:txBody>
          <a:bodyPr wrap="square" lIns="0" rIns="0" tIns="0" bIns="0">
            <a:spAutoFit/>
          </a:bodyPr>
          <a:lstStyle/>
          <a:p>
            <a:pPr>
              <a:lnSpc>
                <a:spcPct val="100000"/>
              </a:lnSpc>
            </a:pPr>
            <a:r>
              <a:rPr sz="1400" b="1">
                <a:solidFill>
                  <a:srgbClr val="8A8F98"/>
                </a:solidFill>
                <a:latin typeface="Calibri"/>
              </a:rPr>
              <a:t>Basque Country</a:t>
            </a:r>
          </a:p>
        </p:txBody>
      </p:sp>
      <p:sp>
        <p:nvSpPr>
          <p:cNvPr id="18" name="Rounded Rectangle 17"/>
          <p:cNvSpPr/>
          <p:nvPr/>
        </p:nvSpPr>
        <p:spPr>
          <a:xfrm>
            <a:off x="548640" y="2286000"/>
            <a:ext cx="3566160" cy="1554480"/>
          </a:xfrm>
          <a:prstGeom prst="roundRect">
            <a:avLst>
              <a:gd name="adj" fmla="val 5000"/>
            </a:avLst>
          </a:prstGeom>
          <a:solidFill>
            <a:srgbClr val="F4EF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548640" y="2286000"/>
            <a:ext cx="3566160" cy="411480"/>
          </a:xfrm>
          <a:prstGeom prst="rect">
            <a:avLst/>
          </a:prstGeom>
          <a:solidFill>
            <a:srgbClr val="143D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49808" y="2359152"/>
            <a:ext cx="3163824" cy="310896"/>
          </a:xfrm>
          <a:prstGeom prst="rect">
            <a:avLst/>
          </a:prstGeom>
          <a:noFill/>
        </p:spPr>
        <p:txBody>
          <a:bodyPr wrap="square" lIns="0" rIns="0" tIns="0" bIns="0">
            <a:spAutoFit/>
          </a:bodyPr>
          <a:lstStyle/>
          <a:p>
            <a:pPr>
              <a:lnSpc>
                <a:spcPct val="100000"/>
              </a:lnSpc>
            </a:pPr>
            <a:r>
              <a:rPr sz="1500" b="1">
                <a:solidFill>
                  <a:srgbClr val="FFFFFF"/>
                </a:solidFill>
                <a:latin typeface="Calibri"/>
              </a:rPr>
              <a:t>Rules:  Catena-X Association</a:t>
            </a:r>
          </a:p>
        </p:txBody>
      </p:sp>
      <p:sp>
        <p:nvSpPr>
          <p:cNvPr id="21" name="TextBox 20"/>
          <p:cNvSpPr txBox="1"/>
          <p:nvPr/>
        </p:nvSpPr>
        <p:spPr>
          <a:xfrm>
            <a:off x="749808" y="2880360"/>
            <a:ext cx="3163824" cy="822959"/>
          </a:xfrm>
          <a:prstGeom prst="rect">
            <a:avLst/>
          </a:prstGeom>
          <a:noFill/>
        </p:spPr>
        <p:txBody>
          <a:bodyPr wrap="square" lIns="0" rIns="0" tIns="0" bIns="0">
            <a:spAutoFit/>
          </a:bodyPr>
          <a:lstStyle/>
          <a:p>
            <a:pPr>
              <a:lnSpc>
                <a:spcPct val="110000"/>
              </a:lnSpc>
            </a:pPr>
            <a:r>
              <a:rPr sz="1400" b="0">
                <a:solidFill>
                  <a:srgbClr val="4F5560"/>
                </a:solidFill>
                <a:latin typeface="Calibri"/>
              </a:rPr>
              <a:t>Sets the standards and runs certification.</a:t>
            </a:r>
          </a:p>
        </p:txBody>
      </p:sp>
      <p:sp>
        <p:nvSpPr>
          <p:cNvPr id="22" name="Down Arrow 21"/>
          <p:cNvSpPr/>
          <p:nvPr/>
        </p:nvSpPr>
        <p:spPr>
          <a:xfrm>
            <a:off x="2103120" y="3886200"/>
            <a:ext cx="457200" cy="411480"/>
          </a:xfrm>
          <a:prstGeom prst="downArrow">
            <a:avLst>
              <a:gd name="adj1" fmla="val 50000"/>
              <a:gd name="adj2" fmla="val 50000"/>
            </a:avLst>
          </a:prstGeom>
          <a:solidFill>
            <a:srgbClr val="143D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548640" y="4389120"/>
            <a:ext cx="3566160" cy="960120"/>
          </a:xfrm>
          <a:prstGeom prst="roundRect">
            <a:avLst>
              <a:gd name="adj" fmla="val 5000"/>
            </a:avLst>
          </a:prstGeom>
          <a:solidFill>
            <a:srgbClr val="F4EFE6"/>
          </a:solidFill>
          <a:ln w="28575">
            <a:solidFill>
              <a:srgbClr val="143D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49808" y="4480560"/>
            <a:ext cx="3200400" cy="777240"/>
          </a:xfrm>
          <a:prstGeom prst="rect">
            <a:avLst/>
          </a:prstGeom>
          <a:noFill/>
        </p:spPr>
        <p:txBody>
          <a:bodyPr wrap="square" lIns="0" rIns="0" tIns="0" bIns="0" anchor="ctr">
            <a:spAutoFit/>
          </a:bodyPr>
          <a:lstStyle/>
          <a:p>
            <a:pPr>
              <a:lnSpc>
                <a:spcPct val="105000"/>
              </a:lnSpc>
            </a:pPr>
            <a:r>
              <a:rPr sz="1500" b="1">
                <a:solidFill>
                  <a:srgbClr val="143D59"/>
                </a:solidFill>
                <a:latin typeface="Calibri"/>
              </a:rPr>
              <a:t>Health Data Office</a:t>
            </a:r>
          </a:p>
          <a:p>
            <a:pPr>
              <a:lnSpc>
                <a:spcPct val="105000"/>
              </a:lnSpc>
            </a:pPr>
            <a:r>
              <a:rPr sz="1500" b="0">
                <a:solidFill>
                  <a:srgbClr val="4F5560"/>
                </a:solidFill>
                <a:latin typeface="Calibri"/>
              </a:rPr>
              <a:t>acts as the health data access body.</a:t>
            </a:r>
          </a:p>
        </p:txBody>
      </p:sp>
      <p:sp>
        <p:nvSpPr>
          <p:cNvPr id="25" name="Rounded Rectangle 24"/>
          <p:cNvSpPr/>
          <p:nvPr/>
        </p:nvSpPr>
        <p:spPr>
          <a:xfrm>
            <a:off x="4315968" y="2286000"/>
            <a:ext cx="3566160" cy="1554480"/>
          </a:xfrm>
          <a:prstGeom prst="roundRect">
            <a:avLst>
              <a:gd name="adj" fmla="val 5000"/>
            </a:avLst>
          </a:prstGeom>
          <a:solidFill>
            <a:srgbClr val="F4EF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4315968" y="2286000"/>
            <a:ext cx="3566160" cy="411480"/>
          </a:xfrm>
          <a:prstGeom prst="rect">
            <a:avLst/>
          </a:prstGeom>
          <a:solidFill>
            <a:srgbClr val="2A9D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4517136" y="2359152"/>
            <a:ext cx="3163824" cy="310896"/>
          </a:xfrm>
          <a:prstGeom prst="rect">
            <a:avLst/>
          </a:prstGeom>
          <a:noFill/>
        </p:spPr>
        <p:txBody>
          <a:bodyPr wrap="square" lIns="0" rIns="0" tIns="0" bIns="0">
            <a:spAutoFit/>
          </a:bodyPr>
          <a:lstStyle/>
          <a:p>
            <a:pPr>
              <a:lnSpc>
                <a:spcPct val="100000"/>
              </a:lnSpc>
            </a:pPr>
            <a:r>
              <a:rPr sz="1500" b="1">
                <a:solidFill>
                  <a:srgbClr val="FFFFFF"/>
                </a:solidFill>
                <a:latin typeface="Calibri"/>
              </a:rPr>
              <a:t>Code:  Eclipse Foundation</a:t>
            </a:r>
          </a:p>
        </p:txBody>
      </p:sp>
      <p:sp>
        <p:nvSpPr>
          <p:cNvPr id="28" name="TextBox 27"/>
          <p:cNvSpPr txBox="1"/>
          <p:nvPr/>
        </p:nvSpPr>
        <p:spPr>
          <a:xfrm>
            <a:off x="4517136" y="2880360"/>
            <a:ext cx="3163824" cy="822959"/>
          </a:xfrm>
          <a:prstGeom prst="rect">
            <a:avLst/>
          </a:prstGeom>
          <a:noFill/>
        </p:spPr>
        <p:txBody>
          <a:bodyPr wrap="square" lIns="0" rIns="0" tIns="0" bIns="0">
            <a:spAutoFit/>
          </a:bodyPr>
          <a:lstStyle/>
          <a:p>
            <a:pPr>
              <a:lnSpc>
                <a:spcPct val="110000"/>
              </a:lnSpc>
            </a:pPr>
            <a:r>
              <a:rPr sz="1400" b="0">
                <a:solidFill>
                  <a:srgbClr val="4F5560"/>
                </a:solidFill>
                <a:latin typeface="Calibri"/>
              </a:rPr>
              <a:t>Hosts the open-source code.</a:t>
            </a:r>
          </a:p>
        </p:txBody>
      </p:sp>
      <p:sp>
        <p:nvSpPr>
          <p:cNvPr id="29" name="Down Arrow 28"/>
          <p:cNvSpPr/>
          <p:nvPr/>
        </p:nvSpPr>
        <p:spPr>
          <a:xfrm>
            <a:off x="5870448" y="3886200"/>
            <a:ext cx="457200" cy="411480"/>
          </a:xfrm>
          <a:prstGeom prst="downArrow">
            <a:avLst>
              <a:gd name="adj1" fmla="val 50000"/>
              <a:gd name="adj2" fmla="val 50000"/>
            </a:avLst>
          </a:prstGeom>
          <a:solidFill>
            <a:srgbClr val="2A9D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ounded Rectangle 29"/>
          <p:cNvSpPr/>
          <p:nvPr/>
        </p:nvSpPr>
        <p:spPr>
          <a:xfrm>
            <a:off x="4315968" y="4389120"/>
            <a:ext cx="3566160" cy="960120"/>
          </a:xfrm>
          <a:prstGeom prst="roundRect">
            <a:avLst>
              <a:gd name="adj" fmla="val 5000"/>
            </a:avLst>
          </a:prstGeom>
          <a:solidFill>
            <a:srgbClr val="F4EFE6"/>
          </a:solidFill>
          <a:ln w="28575">
            <a:solidFill>
              <a:srgbClr val="2A9D8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4517136" y="4480560"/>
            <a:ext cx="3200400" cy="777240"/>
          </a:xfrm>
          <a:prstGeom prst="rect">
            <a:avLst/>
          </a:prstGeom>
          <a:noFill/>
        </p:spPr>
        <p:txBody>
          <a:bodyPr wrap="square" lIns="0" rIns="0" tIns="0" bIns="0" anchor="ctr">
            <a:spAutoFit/>
          </a:bodyPr>
          <a:lstStyle/>
          <a:p>
            <a:pPr>
              <a:lnSpc>
                <a:spcPct val="105000"/>
              </a:lnSpc>
            </a:pPr>
            <a:r>
              <a:rPr sz="1500" b="1">
                <a:solidFill>
                  <a:srgbClr val="143D59"/>
                </a:solidFill>
                <a:latin typeface="Calibri"/>
              </a:rPr>
              <a:t>Open-source projects</a:t>
            </a:r>
          </a:p>
          <a:p>
            <a:pPr>
              <a:lnSpc>
                <a:spcPct val="105000"/>
              </a:lnSpc>
            </a:pPr>
            <a:r>
              <a:rPr sz="1500" b="0">
                <a:solidFill>
                  <a:srgbClr val="4F5560"/>
                </a:solidFill>
                <a:latin typeface="Calibri"/>
              </a:rPr>
              <a:t>use them, and contribute back.</a:t>
            </a:r>
          </a:p>
        </p:txBody>
      </p:sp>
      <p:sp>
        <p:nvSpPr>
          <p:cNvPr id="32" name="Rounded Rectangle 31"/>
          <p:cNvSpPr/>
          <p:nvPr/>
        </p:nvSpPr>
        <p:spPr>
          <a:xfrm>
            <a:off x="8083296" y="2286000"/>
            <a:ext cx="3566160" cy="1554480"/>
          </a:xfrm>
          <a:prstGeom prst="roundRect">
            <a:avLst>
              <a:gd name="adj" fmla="val 5000"/>
            </a:avLst>
          </a:prstGeom>
          <a:solidFill>
            <a:srgbClr val="F4EF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8083296" y="2286000"/>
            <a:ext cx="3566160" cy="411480"/>
          </a:xfrm>
          <a:prstGeom prst="rect">
            <a:avLst/>
          </a:prstGeom>
          <a:solidFill>
            <a:srgbClr val="E6A8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8284464" y="2359152"/>
            <a:ext cx="3163824" cy="310896"/>
          </a:xfrm>
          <a:prstGeom prst="rect">
            <a:avLst/>
          </a:prstGeom>
          <a:noFill/>
        </p:spPr>
        <p:txBody>
          <a:bodyPr wrap="square" lIns="0" rIns="0" tIns="0" bIns="0">
            <a:spAutoFit/>
          </a:bodyPr>
          <a:lstStyle/>
          <a:p>
            <a:pPr>
              <a:lnSpc>
                <a:spcPct val="100000"/>
              </a:lnSpc>
            </a:pPr>
            <a:r>
              <a:rPr sz="1500" b="1">
                <a:solidFill>
                  <a:srgbClr val="FFFFFF"/>
                </a:solidFill>
                <a:latin typeface="Calibri"/>
              </a:rPr>
              <a:t>Operation:  Cofinity-X</a:t>
            </a:r>
          </a:p>
        </p:txBody>
      </p:sp>
      <p:sp>
        <p:nvSpPr>
          <p:cNvPr id="35" name="TextBox 34"/>
          <p:cNvSpPr txBox="1"/>
          <p:nvPr/>
        </p:nvSpPr>
        <p:spPr>
          <a:xfrm>
            <a:off x="8284464" y="2880360"/>
            <a:ext cx="3163824" cy="822959"/>
          </a:xfrm>
          <a:prstGeom prst="rect">
            <a:avLst/>
          </a:prstGeom>
          <a:noFill/>
        </p:spPr>
        <p:txBody>
          <a:bodyPr wrap="square" lIns="0" rIns="0" tIns="0" bIns="0">
            <a:spAutoFit/>
          </a:bodyPr>
          <a:lstStyle/>
          <a:p>
            <a:pPr>
              <a:lnSpc>
                <a:spcPct val="110000"/>
              </a:lnSpc>
            </a:pPr>
            <a:r>
              <a:rPr sz="1400" b="0">
                <a:solidFill>
                  <a:srgbClr val="4F5560"/>
                </a:solidFill>
                <a:latin typeface="Calibri"/>
              </a:rPr>
              <a:t>Runs the operation and the core services.</a:t>
            </a:r>
          </a:p>
        </p:txBody>
      </p:sp>
      <p:sp>
        <p:nvSpPr>
          <p:cNvPr id="36" name="Down Arrow 35"/>
          <p:cNvSpPr/>
          <p:nvPr/>
        </p:nvSpPr>
        <p:spPr>
          <a:xfrm>
            <a:off x="9637776" y="3886200"/>
            <a:ext cx="457200" cy="411480"/>
          </a:xfrm>
          <a:prstGeom prst="downArrow">
            <a:avLst>
              <a:gd name="adj1" fmla="val 50000"/>
              <a:gd name="adj2" fmla="val 50000"/>
            </a:avLst>
          </a:prstGeom>
          <a:solidFill>
            <a:srgbClr val="E6A8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ounded Rectangle 36"/>
          <p:cNvSpPr/>
          <p:nvPr/>
        </p:nvSpPr>
        <p:spPr>
          <a:xfrm>
            <a:off x="8083296" y="4389120"/>
            <a:ext cx="3566160" cy="960120"/>
          </a:xfrm>
          <a:prstGeom prst="roundRect">
            <a:avLst>
              <a:gd name="adj" fmla="val 5000"/>
            </a:avLst>
          </a:prstGeom>
          <a:solidFill>
            <a:srgbClr val="F4EFE6"/>
          </a:solidFill>
          <a:ln w="28575">
            <a:solidFill>
              <a:srgbClr val="E6A81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284464" y="4480560"/>
            <a:ext cx="3200400" cy="777240"/>
          </a:xfrm>
          <a:prstGeom prst="rect">
            <a:avLst/>
          </a:prstGeom>
          <a:noFill/>
        </p:spPr>
        <p:txBody>
          <a:bodyPr wrap="square" lIns="0" rIns="0" tIns="0" bIns="0" anchor="ctr">
            <a:spAutoFit/>
          </a:bodyPr>
          <a:lstStyle/>
          <a:p>
            <a:pPr>
              <a:lnSpc>
                <a:spcPct val="105000"/>
              </a:lnSpc>
            </a:pPr>
            <a:r>
              <a:rPr sz="1500" b="1">
                <a:solidFill>
                  <a:srgbClr val="143D59"/>
                </a:solidFill>
                <a:latin typeface="Calibri"/>
              </a:rPr>
              <a:t>EJIE</a:t>
            </a:r>
          </a:p>
          <a:p>
            <a:pPr>
              <a:lnSpc>
                <a:spcPct val="105000"/>
              </a:lnSpc>
            </a:pPr>
            <a:r>
              <a:rPr sz="1500" b="0">
                <a:solidFill>
                  <a:srgbClr val="4F5560"/>
                </a:solidFill>
                <a:latin typeface="Calibri"/>
              </a:rPr>
              <a:t>operates the core services.</a:t>
            </a:r>
          </a:p>
        </p:txBody>
      </p:sp>
      <p:sp>
        <p:nvSpPr>
          <p:cNvPr id="39" name="Rounded Rectangle 38"/>
          <p:cNvSpPr/>
          <p:nvPr/>
        </p:nvSpPr>
        <p:spPr>
          <a:xfrm>
            <a:off x="548640" y="5532120"/>
            <a:ext cx="11091672" cy="777240"/>
          </a:xfrm>
          <a:prstGeom prst="roundRect">
            <a:avLst>
              <a:gd name="adj" fmla="val 5000"/>
            </a:avLst>
          </a:prstGeom>
          <a:solidFill>
            <a:srgbClr val="F4EF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ectangle 39"/>
          <p:cNvSpPr/>
          <p:nvPr/>
        </p:nvSpPr>
        <p:spPr>
          <a:xfrm>
            <a:off x="548640" y="5532120"/>
            <a:ext cx="164592" cy="777240"/>
          </a:xfrm>
          <a:prstGeom prst="rect">
            <a:avLst/>
          </a:prstGeom>
          <a:solidFill>
            <a:srgbClr val="2A9D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960120" y="5532120"/>
            <a:ext cx="10424160" cy="777240"/>
          </a:xfrm>
          <a:prstGeom prst="rect">
            <a:avLst/>
          </a:prstGeom>
          <a:noFill/>
        </p:spPr>
        <p:txBody>
          <a:bodyPr wrap="square" lIns="0" rIns="0" tIns="0" bIns="0" anchor="ctr">
            <a:spAutoFit/>
          </a:bodyPr>
          <a:lstStyle/>
          <a:p>
            <a:pPr>
              <a:lnSpc>
                <a:spcPct val="110000"/>
              </a:lnSpc>
            </a:pPr>
            <a:r>
              <a:rPr sz="1500" b="1">
                <a:solidFill>
                  <a:srgbClr val="143D59"/>
                </a:solidFill>
                <a:latin typeface="Calibri"/>
              </a:rPr>
              <a:t>Keep rule-setting and operation separate. Design the governance for several domains from the start, not only for health.</a:t>
            </a:r>
          </a:p>
        </p:txBody>
      </p:sp>
      <p:sp>
        <p:nvSpPr>
          <p:cNvPr id="42" name="TextBox 41"/>
          <p:cNvSpPr txBox="1"/>
          <p:nvPr/>
        </p:nvSpPr>
        <p:spPr>
          <a:xfrm>
            <a:off x="5852160" y="6446520"/>
            <a:ext cx="5760720" cy="274320"/>
          </a:xfrm>
          <a:prstGeom prst="rect">
            <a:avLst/>
          </a:prstGeom>
          <a:noFill/>
        </p:spPr>
        <p:txBody>
          <a:bodyPr wrap="square" lIns="0" rIns="0" tIns="0" bIns="0">
            <a:spAutoFit/>
          </a:bodyPr>
          <a:lstStyle/>
          <a:p>
            <a:pPr algn="r">
              <a:lnSpc>
                <a:spcPct val="100000"/>
              </a:lnSpc>
            </a:pPr>
            <a:r>
              <a:rPr sz="900" b="0">
                <a:solidFill>
                  <a:srgbClr val="8A8F98"/>
                </a:solidFill>
                <a:latin typeface="Calibri"/>
              </a:rPr>
              <a:t>catena-x.net  ·  eclipse.org  ·  cofinity-x.com</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92" fill="hold">
                      <p:stCondLst>
                        <p:cond delay="indefinite"/>
                        <p:cond evt="onBegin" delay="0">
                          <p:tn val="2"/>
                        </p:cond>
                      </p:stCondLst>
                      <p:childTnLst>
                        <p:par>
                          <p:cTn id="6" fill="hold">
                            <p:stCondLst>
                              <p:cond delay="0"/>
                            </p:stCondLst>
                            <p:childTnLst>
                              <p:par>
                                <p:cTn id="3" presetID="10" presetClass="entr" presetSubtype="0" fill="hold" grpId="0" nodeType="afterEffect">
                                  <p:stCondLst>
                                    <p:cond delay="0"/>
                                  </p:stCondLst>
                                  <p:childTnLst>
                                    <p:set>
                                      <p:cBhvr>
                                        <p:cTn id="4" dur="1" fill="hold">
                                          <p:stCondLst>
                                            <p:cond delay="0"/>
                                          </p:stCondLst>
                                        </p:cTn>
                                        <p:tgtEl>
                                          <p:spTgt spid="16"/>
                                        </p:tgtEl>
                                        <p:attrNameLst>
                                          <p:attrName>style.visibility</p:attrName>
                                        </p:attrNameLst>
                                      </p:cBhvr>
                                      <p:to>
                                        <p:strVal val="visible"/>
                                      </p:to>
                                    </p:set>
                                    <p:animEffect transition="in" filter="fade">
                                      <p:cBhvr>
                                        <p:cTn id="5" dur="500"/>
                                        <p:tgtEl>
                                          <p:spTgt spid="16"/>
                                        </p:tgtEl>
                                      </p:cBhvr>
                                    </p:animEffect>
                                  </p:childTnLst>
                                </p:cTn>
                              </p:par>
                            </p:childTnLst>
                          </p:cTn>
                        </p:par>
                        <p:par>
                          <p:cTn id="19" fill="hold">
                            <p:stCondLst>
                              <p:cond delay="300"/>
                            </p:stCondLst>
                            <p:childTnLst>
                              <p:par>
                                <p:cTn id="7" presetID="10" presetClass="entr" presetSubtype="0" fill="hold" grpId="0" nodeType="withEffect">
                                  <p:stCondLst>
                                    <p:cond delay="0"/>
                                  </p:stCondLst>
                                  <p:childTnLst>
                                    <p:set>
                                      <p:cBhvr>
                                        <p:cTn id="8" dur="1" fill="hold">
                                          <p:stCondLst>
                                            <p:cond delay="0"/>
                                          </p:stCondLst>
                                        </p:cTn>
                                        <p:tgtEl>
                                          <p:spTgt spid="18"/>
                                        </p:tgtEl>
                                        <p:attrNameLst>
                                          <p:attrName>style.visibility</p:attrName>
                                        </p:attrNameLst>
                                      </p:cBhvr>
                                      <p:to>
                                        <p:strVal val="visible"/>
                                      </p:to>
                                    </p:set>
                                    <p:animEffect transition="in" filter="fade">
                                      <p:cBhvr>
                                        <p:cTn id="9" dur="500"/>
                                        <p:tgtEl>
                                          <p:spTgt spid="18"/>
                                        </p:tgtEl>
                                      </p:cBhvr>
                                    </p:animEffect>
                                  </p:childTnLst>
                                </p:cTn>
                              </p:par>
                              <p:par>
                                <p:cTn id="10" presetID="10" presetClass="entr" presetSubtype="0" fill="hold" grpId="0" nodeType="withEffect">
                                  <p:stCondLst>
                                    <p:cond delay="0"/>
                                  </p:stCondLst>
                                  <p:childTnLst>
                                    <p:set>
                                      <p:cBhvr>
                                        <p:cTn id="11" dur="1" fill="hold">
                                          <p:stCondLst>
                                            <p:cond delay="0"/>
                                          </p:stCondLst>
                                        </p:cTn>
                                        <p:tgtEl>
                                          <p:spTgt spid="21"/>
                                        </p:tgtEl>
                                        <p:attrNameLst>
                                          <p:attrName>style.visibility</p:attrName>
                                        </p:attrNameLst>
                                      </p:cBhvr>
                                      <p:to>
                                        <p:strVal val="visible"/>
                                      </p:to>
                                    </p:set>
                                    <p:animEffect transition="in" filter="fade">
                                      <p:cBhvr>
                                        <p:cTn id="12" dur="500"/>
                                        <p:tgtEl>
                                          <p:spTgt spid="21"/>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19"/>
                                        </p:tgtEl>
                                        <p:attrNameLst>
                                          <p:attrName>style.visibility</p:attrName>
                                        </p:attrNameLst>
                                      </p:cBhvr>
                                      <p:to>
                                        <p:strVal val="visible"/>
                                      </p:to>
                                    </p:set>
                                    <p:animEffect transition="in" filter="fade">
                                      <p:cBhvr>
                                        <p:cTn id="15" dur="500"/>
                                        <p:tgtEl>
                                          <p:spTgt spid="19"/>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20"/>
                                        </p:tgtEl>
                                        <p:attrNameLst>
                                          <p:attrName>style.visibility</p:attrName>
                                        </p:attrNameLst>
                                      </p:cBhvr>
                                      <p:to>
                                        <p:strVal val="visible"/>
                                      </p:to>
                                    </p:set>
                                    <p:animEffect transition="in" filter="fade">
                                      <p:cBhvr>
                                        <p:cTn id="18" dur="500"/>
                                        <p:tgtEl>
                                          <p:spTgt spid="20"/>
                                        </p:tgtEl>
                                      </p:cBhvr>
                                    </p:animEffect>
                                  </p:childTnLst>
                                </p:cTn>
                              </p:par>
                            </p:childTnLst>
                          </p:cTn>
                        </p:par>
                        <p:par>
                          <p:cTn id="32" fill="hold">
                            <p:stCondLst>
                              <p:cond delay="600"/>
                            </p:stCondLst>
                            <p:childTnLst>
                              <p:par>
                                <p:cTn id="20" presetID="10" presetClass="entr" presetSubtype="0" fill="hold" grpId="0" nodeType="withEffect">
                                  <p:stCondLst>
                                    <p:cond delay="0"/>
                                  </p:stCondLst>
                                  <p:childTnLst>
                                    <p:set>
                                      <p:cBhvr>
                                        <p:cTn id="21" dur="1" fill="hold">
                                          <p:stCondLst>
                                            <p:cond delay="0"/>
                                          </p:stCondLst>
                                        </p:cTn>
                                        <p:tgtEl>
                                          <p:spTgt spid="25"/>
                                        </p:tgtEl>
                                        <p:attrNameLst>
                                          <p:attrName>style.visibility</p:attrName>
                                        </p:attrNameLst>
                                      </p:cBhvr>
                                      <p:to>
                                        <p:strVal val="visible"/>
                                      </p:to>
                                    </p:set>
                                    <p:animEffect transition="in" filter="fade">
                                      <p:cBhvr>
                                        <p:cTn id="22" dur="500"/>
                                        <p:tgtEl>
                                          <p:spTgt spid="25"/>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28"/>
                                        </p:tgtEl>
                                        <p:attrNameLst>
                                          <p:attrName>style.visibility</p:attrName>
                                        </p:attrNameLst>
                                      </p:cBhvr>
                                      <p:to>
                                        <p:strVal val="visible"/>
                                      </p:to>
                                    </p:set>
                                    <p:animEffect transition="in" filter="fade">
                                      <p:cBhvr>
                                        <p:cTn id="25" dur="500"/>
                                        <p:tgtEl>
                                          <p:spTgt spid="28"/>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26"/>
                                        </p:tgtEl>
                                        <p:attrNameLst>
                                          <p:attrName>style.visibility</p:attrName>
                                        </p:attrNameLst>
                                      </p:cBhvr>
                                      <p:to>
                                        <p:strVal val="visible"/>
                                      </p:to>
                                    </p:set>
                                    <p:animEffect transition="in" filter="fade">
                                      <p:cBhvr>
                                        <p:cTn id="28" dur="500"/>
                                        <p:tgtEl>
                                          <p:spTgt spid="26"/>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27"/>
                                        </p:tgtEl>
                                        <p:attrNameLst>
                                          <p:attrName>style.visibility</p:attrName>
                                        </p:attrNameLst>
                                      </p:cBhvr>
                                      <p:to>
                                        <p:strVal val="visible"/>
                                      </p:to>
                                    </p:set>
                                    <p:animEffect transition="in" filter="fade">
                                      <p:cBhvr>
                                        <p:cTn id="31" dur="500"/>
                                        <p:tgtEl>
                                          <p:spTgt spid="27"/>
                                        </p:tgtEl>
                                      </p:cBhvr>
                                    </p:animEffect>
                                  </p:childTnLst>
                                </p:cTn>
                              </p:par>
                            </p:childTnLst>
                          </p:cTn>
                        </p:par>
                        <p:par>
                          <p:cTn id="45" fill="hold">
                            <p:stCondLst>
                              <p:cond delay="900"/>
                            </p:stCondLst>
                            <p:childTnLst>
                              <p:par>
                                <p:cTn id="33" presetID="10" presetClass="entr" presetSubtype="0" fill="hold" grpId="0" nodeType="withEffect">
                                  <p:stCondLst>
                                    <p:cond delay="0"/>
                                  </p:stCondLst>
                                  <p:childTnLst>
                                    <p:set>
                                      <p:cBhvr>
                                        <p:cTn id="34" dur="1" fill="hold">
                                          <p:stCondLst>
                                            <p:cond delay="0"/>
                                          </p:stCondLst>
                                        </p:cTn>
                                        <p:tgtEl>
                                          <p:spTgt spid="32"/>
                                        </p:tgtEl>
                                        <p:attrNameLst>
                                          <p:attrName>style.visibility</p:attrName>
                                        </p:attrNameLst>
                                      </p:cBhvr>
                                      <p:to>
                                        <p:strVal val="visible"/>
                                      </p:to>
                                    </p:set>
                                    <p:animEffect transition="in" filter="fade">
                                      <p:cBhvr>
                                        <p:cTn id="35" dur="500"/>
                                        <p:tgtEl>
                                          <p:spTgt spid="32"/>
                                        </p:tgtEl>
                                      </p:cBhvr>
                                    </p:animEffect>
                                  </p:childTnLst>
                                </p:cTn>
                              </p:par>
                              <p:par>
                                <p:cTn id="36" presetID="10" presetClass="entr" presetSubtype="0" fill="hold" grpId="0" nodeType="withEffect">
                                  <p:stCondLst>
                                    <p:cond delay="0"/>
                                  </p:stCondLst>
                                  <p:childTnLst>
                                    <p:set>
                                      <p:cBhvr>
                                        <p:cTn id="37" dur="1" fill="hold">
                                          <p:stCondLst>
                                            <p:cond delay="0"/>
                                          </p:stCondLst>
                                        </p:cTn>
                                        <p:tgtEl>
                                          <p:spTgt spid="35"/>
                                        </p:tgtEl>
                                        <p:attrNameLst>
                                          <p:attrName>style.visibility</p:attrName>
                                        </p:attrNameLst>
                                      </p:cBhvr>
                                      <p:to>
                                        <p:strVal val="visible"/>
                                      </p:to>
                                    </p:set>
                                    <p:animEffect transition="in" filter="fade">
                                      <p:cBhvr>
                                        <p:cTn id="38" dur="500"/>
                                        <p:tgtEl>
                                          <p:spTgt spid="35"/>
                                        </p:tgtEl>
                                      </p:cBhvr>
                                    </p:animEffect>
                                  </p:childTnLst>
                                </p:cTn>
                              </p:par>
                              <p:par>
                                <p:cTn id="39" presetID="10" presetClass="entr" presetSubtype="0" fill="hold" grpId="0" nodeType="withEffect">
                                  <p:stCondLst>
                                    <p:cond delay="0"/>
                                  </p:stCondLst>
                                  <p:childTnLst>
                                    <p:set>
                                      <p:cBhvr>
                                        <p:cTn id="40" dur="1" fill="hold">
                                          <p:stCondLst>
                                            <p:cond delay="0"/>
                                          </p:stCondLst>
                                        </p:cTn>
                                        <p:tgtEl>
                                          <p:spTgt spid="33"/>
                                        </p:tgtEl>
                                        <p:attrNameLst>
                                          <p:attrName>style.visibility</p:attrName>
                                        </p:attrNameLst>
                                      </p:cBhvr>
                                      <p:to>
                                        <p:strVal val="visible"/>
                                      </p:to>
                                    </p:set>
                                    <p:animEffect transition="in" filter="fade">
                                      <p:cBhvr>
                                        <p:cTn id="41" dur="500"/>
                                        <p:tgtEl>
                                          <p:spTgt spid="33"/>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34"/>
                                        </p:tgtEl>
                                        <p:attrNameLst>
                                          <p:attrName>style.visibility</p:attrName>
                                        </p:attrNameLst>
                                      </p:cBhvr>
                                      <p:to>
                                        <p:strVal val="visible"/>
                                      </p:to>
                                    </p:set>
                                    <p:animEffect transition="in" filter="fade">
                                      <p:cBhvr>
                                        <p:cTn id="44" dur="500"/>
                                        <p:tgtEl>
                                          <p:spTgt spid="34"/>
                                        </p:tgtEl>
                                      </p:cBhvr>
                                    </p:animEffect>
                                  </p:childTnLst>
                                </p:cTn>
                              </p:par>
                            </p:childTnLst>
                          </p:cTn>
                        </p:par>
                        <p:par>
                          <p:cTn id="52" fill="hold">
                            <p:stCondLst>
                              <p:cond delay="1200"/>
                            </p:stCondLst>
                            <p:childTnLst>
                              <p:par>
                                <p:cTn id="46" presetID="10" presetClass="entr" presetSubtype="0" fill="hold" grpId="0" nodeType="withEffect">
                                  <p:stCondLst>
                                    <p:cond delay="0"/>
                                  </p:stCondLst>
                                  <p:childTnLst>
                                    <p:set>
                                      <p:cBhvr>
                                        <p:cTn id="47" dur="1" fill="hold">
                                          <p:stCondLst>
                                            <p:cond delay="0"/>
                                          </p:stCondLst>
                                        </p:cTn>
                                        <p:tgtEl>
                                          <p:spTgt spid="17"/>
                                        </p:tgtEl>
                                        <p:attrNameLst>
                                          <p:attrName>style.visibility</p:attrName>
                                        </p:attrNameLst>
                                      </p:cBhvr>
                                      <p:to>
                                        <p:strVal val="visible"/>
                                      </p:to>
                                    </p:set>
                                    <p:animEffect transition="in" filter="fade">
                                      <p:cBhvr>
                                        <p:cTn id="48" dur="500"/>
                                        <p:tgtEl>
                                          <p:spTgt spid="17"/>
                                        </p:tgtEl>
                                      </p:cBhvr>
                                    </p:animEffect>
                                  </p:childTnLst>
                                </p:cTn>
                              </p:par>
                              <p:par>
                                <p:cTn id="49" presetID="10" presetClass="entr" presetSubtype="0" fill="hold" grpId="0" nodeType="withEffect">
                                  <p:stCondLst>
                                    <p:cond delay="0"/>
                                  </p:stCondLst>
                                  <p:childTnLst>
                                    <p:set>
                                      <p:cBhvr>
                                        <p:cTn id="50" dur="1" fill="hold">
                                          <p:stCondLst>
                                            <p:cond delay="0"/>
                                          </p:stCondLst>
                                        </p:cTn>
                                        <p:tgtEl>
                                          <p:spTgt spid="22"/>
                                        </p:tgtEl>
                                        <p:attrNameLst>
                                          <p:attrName>style.visibility</p:attrName>
                                        </p:attrNameLst>
                                      </p:cBhvr>
                                      <p:to>
                                        <p:strVal val="visible"/>
                                      </p:to>
                                    </p:set>
                                    <p:animEffect transition="in" filter="fade">
                                      <p:cBhvr>
                                        <p:cTn id="51" dur="500"/>
                                        <p:tgtEl>
                                          <p:spTgt spid="22"/>
                                        </p:tgtEl>
                                      </p:cBhvr>
                                    </p:animEffect>
                                  </p:childTnLst>
                                </p:cTn>
                              </p:par>
                            </p:childTnLst>
                          </p:cTn>
                        </p:par>
                        <p:par>
                          <p:cTn id="56" fill="hold">
                            <p:stCondLst>
                              <p:cond delay="1500"/>
                            </p:stCondLst>
                            <p:childTnLst>
                              <p:par>
                                <p:cTn id="53" presetID="10" presetClass="entr" presetSubtype="0" fill="hold" grpId="0" nodeType="withEffect">
                                  <p:stCondLst>
                                    <p:cond delay="0"/>
                                  </p:stCondLst>
                                  <p:childTnLst>
                                    <p:set>
                                      <p:cBhvr>
                                        <p:cTn id="54" dur="1" fill="hold">
                                          <p:stCondLst>
                                            <p:cond delay="0"/>
                                          </p:stCondLst>
                                        </p:cTn>
                                        <p:tgtEl>
                                          <p:spTgt spid="29"/>
                                        </p:tgtEl>
                                        <p:attrNameLst>
                                          <p:attrName>style.visibility</p:attrName>
                                        </p:attrNameLst>
                                      </p:cBhvr>
                                      <p:to>
                                        <p:strVal val="visible"/>
                                      </p:to>
                                    </p:set>
                                    <p:animEffect transition="in" filter="fade">
                                      <p:cBhvr>
                                        <p:cTn id="55" dur="500"/>
                                        <p:tgtEl>
                                          <p:spTgt spid="29"/>
                                        </p:tgtEl>
                                      </p:cBhvr>
                                    </p:animEffect>
                                  </p:childTnLst>
                                </p:cTn>
                              </p:par>
                            </p:childTnLst>
                          </p:cTn>
                        </p:par>
                        <p:par>
                          <p:cTn id="60" fill="hold">
                            <p:stCondLst>
                              <p:cond delay="1800"/>
                            </p:stCondLst>
                            <p:childTnLst>
                              <p:par>
                                <p:cTn id="57" presetID="10" presetClass="entr" presetSubtype="0" fill="hold" grpId="0" nodeType="withEffect">
                                  <p:stCondLst>
                                    <p:cond delay="0"/>
                                  </p:stCondLst>
                                  <p:childTnLst>
                                    <p:set>
                                      <p:cBhvr>
                                        <p:cTn id="58" dur="1" fill="hold">
                                          <p:stCondLst>
                                            <p:cond delay="0"/>
                                          </p:stCondLst>
                                        </p:cTn>
                                        <p:tgtEl>
                                          <p:spTgt spid="36"/>
                                        </p:tgtEl>
                                        <p:attrNameLst>
                                          <p:attrName>style.visibility</p:attrName>
                                        </p:attrNameLst>
                                      </p:cBhvr>
                                      <p:to>
                                        <p:strVal val="visible"/>
                                      </p:to>
                                    </p:set>
                                    <p:animEffect transition="in" filter="fade">
                                      <p:cBhvr>
                                        <p:cTn id="59" dur="500"/>
                                        <p:tgtEl>
                                          <p:spTgt spid="36"/>
                                        </p:tgtEl>
                                      </p:cBhvr>
                                    </p:animEffect>
                                  </p:childTnLst>
                                </p:cTn>
                              </p:par>
                            </p:childTnLst>
                          </p:cTn>
                        </p:par>
                        <p:par>
                          <p:cTn id="67" fill="hold">
                            <p:stCondLst>
                              <p:cond delay="2100"/>
                            </p:stCondLst>
                            <p:childTnLst>
                              <p:par>
                                <p:cTn id="61" presetID="10" presetClass="entr" presetSubtype="0" fill="hold" grpId="0" nodeType="withEffect">
                                  <p:stCondLst>
                                    <p:cond delay="0"/>
                                  </p:stCondLst>
                                  <p:childTnLst>
                                    <p:set>
                                      <p:cBhvr>
                                        <p:cTn id="62" dur="1" fill="hold">
                                          <p:stCondLst>
                                            <p:cond delay="0"/>
                                          </p:stCondLst>
                                        </p:cTn>
                                        <p:tgtEl>
                                          <p:spTgt spid="23"/>
                                        </p:tgtEl>
                                        <p:attrNameLst>
                                          <p:attrName>style.visibility</p:attrName>
                                        </p:attrNameLst>
                                      </p:cBhvr>
                                      <p:to>
                                        <p:strVal val="visible"/>
                                      </p:to>
                                    </p:set>
                                    <p:animEffect transition="in" filter="fade">
                                      <p:cBhvr>
                                        <p:cTn id="63" dur="500"/>
                                        <p:tgtEl>
                                          <p:spTgt spid="23"/>
                                        </p:tgtEl>
                                      </p:cBhvr>
                                    </p:animEffect>
                                  </p:childTnLst>
                                </p:cTn>
                              </p:par>
                              <p:par>
                                <p:cTn id="64" presetID="10" presetClass="entr" presetSubtype="0" fill="hold" grpId="0" nodeType="withEffect">
                                  <p:stCondLst>
                                    <p:cond delay="0"/>
                                  </p:stCondLst>
                                  <p:childTnLst>
                                    <p:set>
                                      <p:cBhvr>
                                        <p:cTn id="65" dur="1" fill="hold">
                                          <p:stCondLst>
                                            <p:cond delay="0"/>
                                          </p:stCondLst>
                                        </p:cTn>
                                        <p:tgtEl>
                                          <p:spTgt spid="24"/>
                                        </p:tgtEl>
                                        <p:attrNameLst>
                                          <p:attrName>style.visibility</p:attrName>
                                        </p:attrNameLst>
                                      </p:cBhvr>
                                      <p:to>
                                        <p:strVal val="visible"/>
                                      </p:to>
                                    </p:set>
                                    <p:animEffect transition="in" filter="fade">
                                      <p:cBhvr>
                                        <p:cTn id="66" dur="500"/>
                                        <p:tgtEl>
                                          <p:spTgt spid="24"/>
                                        </p:tgtEl>
                                      </p:cBhvr>
                                    </p:animEffect>
                                  </p:childTnLst>
                                </p:cTn>
                              </p:par>
                            </p:childTnLst>
                          </p:cTn>
                        </p:par>
                        <p:par>
                          <p:cTn id="74" fill="hold">
                            <p:stCondLst>
                              <p:cond delay="2400"/>
                            </p:stCondLst>
                            <p:childTnLst>
                              <p:par>
                                <p:cTn id="68" presetID="10" presetClass="entr" presetSubtype="0" fill="hold" grpId="0" nodeType="withEffect">
                                  <p:stCondLst>
                                    <p:cond delay="0"/>
                                  </p:stCondLst>
                                  <p:childTnLst>
                                    <p:set>
                                      <p:cBhvr>
                                        <p:cTn id="69" dur="1" fill="hold">
                                          <p:stCondLst>
                                            <p:cond delay="0"/>
                                          </p:stCondLst>
                                        </p:cTn>
                                        <p:tgtEl>
                                          <p:spTgt spid="30"/>
                                        </p:tgtEl>
                                        <p:attrNameLst>
                                          <p:attrName>style.visibility</p:attrName>
                                        </p:attrNameLst>
                                      </p:cBhvr>
                                      <p:to>
                                        <p:strVal val="visible"/>
                                      </p:to>
                                    </p:set>
                                    <p:animEffect transition="in" filter="fade">
                                      <p:cBhvr>
                                        <p:cTn id="70" dur="500"/>
                                        <p:tgtEl>
                                          <p:spTgt spid="30"/>
                                        </p:tgtEl>
                                      </p:cBhvr>
                                    </p:animEffect>
                                  </p:childTnLst>
                                </p:cTn>
                              </p:par>
                              <p:par>
                                <p:cTn id="71" presetID="10" presetClass="entr" presetSubtype="0" fill="hold" grpId="0" nodeType="withEffect">
                                  <p:stCondLst>
                                    <p:cond delay="0"/>
                                  </p:stCondLst>
                                  <p:childTnLst>
                                    <p:set>
                                      <p:cBhvr>
                                        <p:cTn id="72" dur="1" fill="hold">
                                          <p:stCondLst>
                                            <p:cond delay="0"/>
                                          </p:stCondLst>
                                        </p:cTn>
                                        <p:tgtEl>
                                          <p:spTgt spid="31"/>
                                        </p:tgtEl>
                                        <p:attrNameLst>
                                          <p:attrName>style.visibility</p:attrName>
                                        </p:attrNameLst>
                                      </p:cBhvr>
                                      <p:to>
                                        <p:strVal val="visible"/>
                                      </p:to>
                                    </p:set>
                                    <p:animEffect transition="in" filter="fade">
                                      <p:cBhvr>
                                        <p:cTn id="73" dur="500"/>
                                        <p:tgtEl>
                                          <p:spTgt spid="31"/>
                                        </p:tgtEl>
                                      </p:cBhvr>
                                    </p:animEffect>
                                  </p:childTnLst>
                                </p:cTn>
                              </p:par>
                            </p:childTnLst>
                          </p:cTn>
                        </p:par>
                        <p:par>
                          <p:cTn id="81" fill="hold">
                            <p:stCondLst>
                              <p:cond delay="2700"/>
                            </p:stCondLst>
                            <p:childTnLst>
                              <p:par>
                                <p:cTn id="75" presetID="10" presetClass="entr" presetSubtype="0" fill="hold" grpId="0" nodeType="withEffect">
                                  <p:stCondLst>
                                    <p:cond delay="0"/>
                                  </p:stCondLst>
                                  <p:childTnLst>
                                    <p:set>
                                      <p:cBhvr>
                                        <p:cTn id="76" dur="1" fill="hold">
                                          <p:stCondLst>
                                            <p:cond delay="0"/>
                                          </p:stCondLst>
                                        </p:cTn>
                                        <p:tgtEl>
                                          <p:spTgt spid="37"/>
                                        </p:tgtEl>
                                        <p:attrNameLst>
                                          <p:attrName>style.visibility</p:attrName>
                                        </p:attrNameLst>
                                      </p:cBhvr>
                                      <p:to>
                                        <p:strVal val="visible"/>
                                      </p:to>
                                    </p:set>
                                    <p:animEffect transition="in" filter="fade">
                                      <p:cBhvr>
                                        <p:cTn id="77" dur="500"/>
                                        <p:tgtEl>
                                          <p:spTgt spid="37"/>
                                        </p:tgtEl>
                                      </p:cBhvr>
                                    </p:animEffect>
                                  </p:childTnLst>
                                </p:cTn>
                              </p:par>
                              <p:par>
                                <p:cTn id="78" presetID="10" presetClass="entr" presetSubtype="0" fill="hold" grpId="0" nodeType="withEffect">
                                  <p:stCondLst>
                                    <p:cond delay="0"/>
                                  </p:stCondLst>
                                  <p:childTnLst>
                                    <p:set>
                                      <p:cBhvr>
                                        <p:cTn id="79" dur="1" fill="hold">
                                          <p:stCondLst>
                                            <p:cond delay="0"/>
                                          </p:stCondLst>
                                        </p:cTn>
                                        <p:tgtEl>
                                          <p:spTgt spid="38"/>
                                        </p:tgtEl>
                                        <p:attrNameLst>
                                          <p:attrName>style.visibility</p:attrName>
                                        </p:attrNameLst>
                                      </p:cBhvr>
                                      <p:to>
                                        <p:strVal val="visible"/>
                                      </p:to>
                                    </p:set>
                                    <p:animEffect transition="in" filter="fade">
                                      <p:cBhvr>
                                        <p:cTn id="80" dur="500"/>
                                        <p:tgtEl>
                                          <p:spTgt spid="38"/>
                                        </p:tgtEl>
                                      </p:cBhvr>
                                    </p:animEffect>
                                  </p:childTnLst>
                                </p:cTn>
                              </p:par>
                            </p:childTnLst>
                          </p:cTn>
                        </p:par>
                        <p:par>
                          <p:cTn id="91" fill="hold">
                            <p:stCondLst>
                              <p:cond delay="3000"/>
                            </p:stCondLst>
                            <p:childTnLst>
                              <p:par>
                                <p:cTn id="82" presetID="10" presetClass="entr" presetSubtype="0" fill="hold" grpId="0" nodeType="withEffect">
                                  <p:stCondLst>
                                    <p:cond delay="0"/>
                                  </p:stCondLst>
                                  <p:childTnLst>
                                    <p:set>
                                      <p:cBhvr>
                                        <p:cTn id="83" dur="1" fill="hold">
                                          <p:stCondLst>
                                            <p:cond delay="0"/>
                                          </p:stCondLst>
                                        </p:cTn>
                                        <p:tgtEl>
                                          <p:spTgt spid="39"/>
                                        </p:tgtEl>
                                        <p:attrNameLst>
                                          <p:attrName>style.visibility</p:attrName>
                                        </p:attrNameLst>
                                      </p:cBhvr>
                                      <p:to>
                                        <p:strVal val="visible"/>
                                      </p:to>
                                    </p:set>
                                    <p:animEffect transition="in" filter="fade">
                                      <p:cBhvr>
                                        <p:cTn id="84" dur="500"/>
                                        <p:tgtEl>
                                          <p:spTgt spid="39"/>
                                        </p:tgtEl>
                                      </p:cBhvr>
                                    </p:animEffect>
                                  </p:childTnLst>
                                </p:cTn>
                              </p:par>
                              <p:par>
                                <p:cTn id="85" presetID="10" presetClass="entr" presetSubtype="0" fill="hold" grpId="0" nodeType="withEffect">
                                  <p:stCondLst>
                                    <p:cond delay="0"/>
                                  </p:stCondLst>
                                  <p:childTnLst>
                                    <p:set>
                                      <p:cBhvr>
                                        <p:cTn id="86" dur="1" fill="hold">
                                          <p:stCondLst>
                                            <p:cond delay="0"/>
                                          </p:stCondLst>
                                        </p:cTn>
                                        <p:tgtEl>
                                          <p:spTgt spid="41"/>
                                        </p:tgtEl>
                                        <p:attrNameLst>
                                          <p:attrName>style.visibility</p:attrName>
                                        </p:attrNameLst>
                                      </p:cBhvr>
                                      <p:to>
                                        <p:strVal val="visible"/>
                                      </p:to>
                                    </p:set>
                                    <p:animEffect transition="in" filter="fade">
                                      <p:cBhvr>
                                        <p:cTn id="87" dur="500"/>
                                        <p:tgtEl>
                                          <p:spTgt spid="41"/>
                                        </p:tgtEl>
                                      </p:cBhvr>
                                    </p:animEffect>
                                  </p:childTnLst>
                                </p:cTn>
                              </p:par>
                              <p:par>
                                <p:cTn id="88" presetID="10" presetClass="entr" presetSubtype="0" fill="hold" grpId="0" nodeType="withEffect">
                                  <p:stCondLst>
                                    <p:cond delay="0"/>
                                  </p:stCondLst>
                                  <p:childTnLst>
                                    <p:set>
                                      <p:cBhvr>
                                        <p:cTn id="89" dur="1" fill="hold">
                                          <p:stCondLst>
                                            <p:cond delay="0"/>
                                          </p:stCondLst>
                                        </p:cTn>
                                        <p:tgtEl>
                                          <p:spTgt spid="40"/>
                                        </p:tgtEl>
                                        <p:attrNameLst>
                                          <p:attrName>style.visibility</p:attrName>
                                        </p:attrNameLst>
                                      </p:cBhvr>
                                      <p:to>
                                        <p:strVal val="visible"/>
                                      </p:to>
                                    </p:set>
                                    <p:animEffect transition="in" filter="fade">
                                      <p:cBhvr>
                                        <p:cTn id="90" dur="500"/>
                                        <p:tgtEl>
                                          <p:spTgt spid="4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64592"/>
          </a:xfrm>
          <a:prstGeom prst="rect">
            <a:avLst/>
          </a:prstGeom>
          <a:solidFill>
            <a:srgbClr val="143D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548640" y="347472"/>
            <a:ext cx="2491740" cy="329184"/>
          </a:xfrm>
          <a:prstGeom prst="roundRect">
            <a:avLst>
              <a:gd name="adj" fmla="val 50000"/>
            </a:avLst>
          </a:prstGeom>
          <a:solidFill>
            <a:srgbClr val="2A9D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347472"/>
            <a:ext cx="2491740" cy="329184"/>
          </a:xfrm>
          <a:prstGeom prst="rect">
            <a:avLst/>
          </a:prstGeom>
          <a:noFill/>
        </p:spPr>
        <p:txBody>
          <a:bodyPr wrap="square" lIns="0" rIns="0" tIns="0" bIns="0" anchor="ctr">
            <a:spAutoFit/>
          </a:bodyPr>
          <a:lstStyle/>
          <a:p>
            <a:pPr algn="ctr">
              <a:lnSpc>
                <a:spcPct val="100000"/>
              </a:lnSpc>
            </a:pPr>
            <a:r>
              <a:rPr sz="1100" b="1">
                <a:solidFill>
                  <a:srgbClr val="FFFFFF"/>
                </a:solidFill>
                <a:latin typeface="Calibri"/>
              </a:rPr>
              <a:t>QUESTION 7 OF 8  ·  COSTS</a:t>
            </a:r>
          </a:p>
        </p:txBody>
      </p:sp>
      <p:sp>
        <p:nvSpPr>
          <p:cNvPr id="5" name="TextBox 4"/>
          <p:cNvSpPr txBox="1"/>
          <p:nvPr/>
        </p:nvSpPr>
        <p:spPr>
          <a:xfrm>
            <a:off x="548640" y="777240"/>
            <a:ext cx="11064240" cy="594360"/>
          </a:xfrm>
          <a:prstGeom prst="rect">
            <a:avLst/>
          </a:prstGeom>
          <a:noFill/>
        </p:spPr>
        <p:txBody>
          <a:bodyPr wrap="square" lIns="0" rIns="0" tIns="0" bIns="0">
            <a:spAutoFit/>
          </a:bodyPr>
          <a:lstStyle/>
          <a:p>
            <a:pPr>
              <a:lnSpc>
                <a:spcPct val="100000"/>
              </a:lnSpc>
            </a:pPr>
            <a:r>
              <a:rPr sz="3000" b="1">
                <a:solidFill>
                  <a:srgbClr val="143D59"/>
                </a:solidFill>
                <a:latin typeface="Calibri"/>
              </a:rPr>
              <a:t>Costs: no licences, but people and hosting</a:t>
            </a:r>
          </a:p>
        </p:txBody>
      </p:sp>
      <p:sp>
        <p:nvSpPr>
          <p:cNvPr id="6" name="TextBox 5"/>
          <p:cNvSpPr txBox="1"/>
          <p:nvPr/>
        </p:nvSpPr>
        <p:spPr>
          <a:xfrm>
            <a:off x="548640" y="1389888"/>
            <a:ext cx="11064240" cy="411480"/>
          </a:xfrm>
          <a:prstGeom prst="rect">
            <a:avLst/>
          </a:prstGeom>
          <a:noFill/>
        </p:spPr>
        <p:txBody>
          <a:bodyPr wrap="square" lIns="0" rIns="0" tIns="0" bIns="0">
            <a:spAutoFit/>
          </a:bodyPr>
          <a:lstStyle/>
          <a:p>
            <a:pPr>
              <a:lnSpc>
                <a:spcPct val="100000"/>
              </a:lnSpc>
            </a:pPr>
            <a:r>
              <a:rPr sz="1600" b="0">
                <a:solidFill>
                  <a:srgbClr val="4F5560"/>
                </a:solidFill>
                <a:latin typeface="Calibri"/>
              </a:rPr>
              <a:t>The core stack is open source. The money goes into engineering, hosting and operations.</a:t>
            </a:r>
          </a:p>
        </p:txBody>
      </p:sp>
      <p:sp>
        <p:nvSpPr>
          <p:cNvPr id="7" name="TextBox 6"/>
          <p:cNvSpPr txBox="1"/>
          <p:nvPr/>
        </p:nvSpPr>
        <p:spPr>
          <a:xfrm>
            <a:off x="548640" y="6446520"/>
            <a:ext cx="5120640" cy="274320"/>
          </a:xfrm>
          <a:prstGeom prst="rect">
            <a:avLst/>
          </a:prstGeom>
          <a:noFill/>
        </p:spPr>
        <p:txBody>
          <a:bodyPr wrap="square" lIns="0" rIns="0" tIns="0" bIns="0">
            <a:spAutoFit/>
          </a:bodyPr>
          <a:lstStyle/>
          <a:p>
            <a:pPr>
              <a:lnSpc>
                <a:spcPct val="100000"/>
              </a:lnSpc>
            </a:pPr>
            <a:r>
              <a:rPr sz="1000" b="0">
                <a:solidFill>
                  <a:srgbClr val="4F5560"/>
                </a:solidFill>
                <a:latin typeface="Calibri"/>
              </a:rPr>
              <a:t>Reunión de preparación  ·  Espacio de Datos EJIE  ·  País Vasco</a:t>
            </a:r>
          </a:p>
        </p:txBody>
      </p:sp>
      <p:sp>
        <p:nvSpPr>
          <p:cNvPr id="8" name="Rectangle 7"/>
          <p:cNvSpPr/>
          <p:nvPr/>
        </p:nvSpPr>
        <p:spPr>
          <a:xfrm>
            <a:off x="10012680" y="429768"/>
            <a:ext cx="155448" cy="155448"/>
          </a:xfrm>
          <a:prstGeom prst="rect">
            <a:avLst/>
          </a:prstGeom>
          <a:solidFill>
            <a:srgbClr val="F4EF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10222992" y="429768"/>
            <a:ext cx="155448" cy="155448"/>
          </a:xfrm>
          <a:prstGeom prst="rect">
            <a:avLst/>
          </a:prstGeom>
          <a:solidFill>
            <a:srgbClr val="F4EF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10433304" y="429768"/>
            <a:ext cx="155448" cy="155448"/>
          </a:xfrm>
          <a:prstGeom prst="rect">
            <a:avLst/>
          </a:prstGeom>
          <a:solidFill>
            <a:srgbClr val="F4EF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10643615" y="429768"/>
            <a:ext cx="155448" cy="155448"/>
          </a:xfrm>
          <a:prstGeom prst="rect">
            <a:avLst/>
          </a:prstGeom>
          <a:solidFill>
            <a:srgbClr val="F4EF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10853928" y="429768"/>
            <a:ext cx="155448" cy="155448"/>
          </a:xfrm>
          <a:prstGeom prst="rect">
            <a:avLst/>
          </a:prstGeom>
          <a:solidFill>
            <a:srgbClr val="F4EF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11064240" y="429768"/>
            <a:ext cx="155448" cy="155448"/>
          </a:xfrm>
          <a:prstGeom prst="rect">
            <a:avLst/>
          </a:prstGeom>
          <a:solidFill>
            <a:srgbClr val="F4EF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11274552" y="429768"/>
            <a:ext cx="155448" cy="155448"/>
          </a:xfrm>
          <a:prstGeom prst="rect">
            <a:avLst/>
          </a:prstGeom>
          <a:solidFill>
            <a:srgbClr val="2A9D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11484863" y="429768"/>
            <a:ext cx="155448" cy="155448"/>
          </a:xfrm>
          <a:prstGeom prst="rect">
            <a:avLst/>
          </a:prstGeom>
          <a:solidFill>
            <a:srgbClr val="F4EF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48640" y="1920240"/>
            <a:ext cx="5486400" cy="365760"/>
          </a:xfrm>
          <a:prstGeom prst="rect">
            <a:avLst/>
          </a:prstGeom>
          <a:noFill/>
        </p:spPr>
        <p:txBody>
          <a:bodyPr wrap="square" lIns="0" rIns="0" tIns="0" bIns="0">
            <a:spAutoFit/>
          </a:bodyPr>
          <a:lstStyle/>
          <a:p>
            <a:pPr>
              <a:lnSpc>
                <a:spcPct val="100000"/>
              </a:lnSpc>
            </a:pPr>
            <a:r>
              <a:rPr sz="1400" b="1">
                <a:solidFill>
                  <a:srgbClr val="8A8F98"/>
                </a:solidFill>
                <a:latin typeface="Calibri"/>
              </a:rPr>
              <a:t>Catena-X, for reference</a:t>
            </a:r>
          </a:p>
        </p:txBody>
      </p:sp>
      <p:sp>
        <p:nvSpPr>
          <p:cNvPr id="17" name="Rounded Rectangle 16"/>
          <p:cNvSpPr/>
          <p:nvPr/>
        </p:nvSpPr>
        <p:spPr>
          <a:xfrm>
            <a:off x="548640" y="2286000"/>
            <a:ext cx="3566160" cy="1691640"/>
          </a:xfrm>
          <a:prstGeom prst="roundRect">
            <a:avLst>
              <a:gd name="adj" fmla="val 5000"/>
            </a:avLst>
          </a:prstGeom>
          <a:solidFill>
            <a:srgbClr val="F4EF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548640" y="2286000"/>
            <a:ext cx="109728" cy="1691640"/>
          </a:xfrm>
          <a:prstGeom prst="rect">
            <a:avLst/>
          </a:prstGeom>
          <a:solidFill>
            <a:srgbClr val="528B5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68680" y="2395728"/>
            <a:ext cx="3108960" cy="640080"/>
          </a:xfrm>
          <a:prstGeom prst="rect">
            <a:avLst/>
          </a:prstGeom>
          <a:noFill/>
        </p:spPr>
        <p:txBody>
          <a:bodyPr wrap="square" lIns="0" rIns="0" tIns="0" bIns="0">
            <a:spAutoFit/>
          </a:bodyPr>
          <a:lstStyle/>
          <a:p>
            <a:pPr>
              <a:lnSpc>
                <a:spcPct val="100000"/>
              </a:lnSpc>
            </a:pPr>
            <a:r>
              <a:rPr sz="3000" b="1">
                <a:solidFill>
                  <a:srgbClr val="528B55"/>
                </a:solidFill>
                <a:latin typeface="Calibri"/>
              </a:rPr>
              <a:t>≈ €0</a:t>
            </a:r>
          </a:p>
        </p:txBody>
      </p:sp>
      <p:sp>
        <p:nvSpPr>
          <p:cNvPr id="20" name="TextBox 19"/>
          <p:cNvSpPr txBox="1"/>
          <p:nvPr/>
        </p:nvSpPr>
        <p:spPr>
          <a:xfrm>
            <a:off x="868680" y="3063240"/>
            <a:ext cx="3108960" cy="365760"/>
          </a:xfrm>
          <a:prstGeom prst="rect">
            <a:avLst/>
          </a:prstGeom>
          <a:noFill/>
        </p:spPr>
        <p:txBody>
          <a:bodyPr wrap="square" lIns="0" rIns="0" tIns="0" bIns="0">
            <a:spAutoFit/>
          </a:bodyPr>
          <a:lstStyle/>
          <a:p>
            <a:pPr>
              <a:lnSpc>
                <a:spcPct val="100000"/>
              </a:lnSpc>
            </a:pPr>
            <a:r>
              <a:rPr sz="1500" b="1">
                <a:solidFill>
                  <a:srgbClr val="143D59"/>
                </a:solidFill>
                <a:latin typeface="Calibri"/>
              </a:rPr>
              <a:t>Licence costs</a:t>
            </a:r>
          </a:p>
        </p:txBody>
      </p:sp>
      <p:sp>
        <p:nvSpPr>
          <p:cNvPr id="21" name="TextBox 20"/>
          <p:cNvSpPr txBox="1"/>
          <p:nvPr/>
        </p:nvSpPr>
        <p:spPr>
          <a:xfrm>
            <a:off x="868680" y="3429000"/>
            <a:ext cx="3108960" cy="457200"/>
          </a:xfrm>
          <a:prstGeom prst="rect">
            <a:avLst/>
          </a:prstGeom>
          <a:noFill/>
        </p:spPr>
        <p:txBody>
          <a:bodyPr wrap="square" lIns="0" rIns="0" tIns="0" bIns="0">
            <a:spAutoFit/>
          </a:bodyPr>
          <a:lstStyle/>
          <a:p>
            <a:pPr>
              <a:lnSpc>
                <a:spcPct val="100000"/>
              </a:lnSpc>
            </a:pPr>
            <a:r>
              <a:rPr sz="1300" b="0">
                <a:solidFill>
                  <a:srgbClr val="4F5560"/>
                </a:solidFill>
                <a:latin typeface="Calibri"/>
              </a:rPr>
              <a:t>The core stack is open source.</a:t>
            </a:r>
          </a:p>
        </p:txBody>
      </p:sp>
      <p:sp>
        <p:nvSpPr>
          <p:cNvPr id="22" name="Rounded Rectangle 21"/>
          <p:cNvSpPr/>
          <p:nvPr/>
        </p:nvSpPr>
        <p:spPr>
          <a:xfrm>
            <a:off x="4315968" y="2286000"/>
            <a:ext cx="3566160" cy="1691640"/>
          </a:xfrm>
          <a:prstGeom prst="roundRect">
            <a:avLst>
              <a:gd name="adj" fmla="val 5000"/>
            </a:avLst>
          </a:prstGeom>
          <a:solidFill>
            <a:srgbClr val="F4EF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4315968" y="2286000"/>
            <a:ext cx="109728" cy="1691640"/>
          </a:xfrm>
          <a:prstGeom prst="rect">
            <a:avLst/>
          </a:prstGeom>
          <a:solidFill>
            <a:srgbClr val="143D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636007" y="2395728"/>
            <a:ext cx="3108960" cy="640080"/>
          </a:xfrm>
          <a:prstGeom prst="rect">
            <a:avLst/>
          </a:prstGeom>
          <a:noFill/>
        </p:spPr>
        <p:txBody>
          <a:bodyPr wrap="square" lIns="0" rIns="0" tIns="0" bIns="0">
            <a:spAutoFit/>
          </a:bodyPr>
          <a:lstStyle/>
          <a:p>
            <a:pPr>
              <a:lnSpc>
                <a:spcPct val="100000"/>
              </a:lnSpc>
            </a:pPr>
            <a:r>
              <a:rPr sz="3000" b="1">
                <a:solidFill>
                  <a:srgbClr val="143D59"/>
                </a:solidFill>
                <a:latin typeface="Calibri"/>
              </a:rPr>
              <a:t>&gt; €100M</a:t>
            </a:r>
          </a:p>
        </p:txBody>
      </p:sp>
      <p:sp>
        <p:nvSpPr>
          <p:cNvPr id="25" name="TextBox 24"/>
          <p:cNvSpPr txBox="1"/>
          <p:nvPr/>
        </p:nvSpPr>
        <p:spPr>
          <a:xfrm>
            <a:off x="4636007" y="3063240"/>
            <a:ext cx="3108960" cy="365760"/>
          </a:xfrm>
          <a:prstGeom prst="rect">
            <a:avLst/>
          </a:prstGeom>
          <a:noFill/>
        </p:spPr>
        <p:txBody>
          <a:bodyPr wrap="square" lIns="0" rIns="0" tIns="0" bIns="0">
            <a:spAutoFit/>
          </a:bodyPr>
          <a:lstStyle/>
          <a:p>
            <a:pPr>
              <a:lnSpc>
                <a:spcPct val="100000"/>
              </a:lnSpc>
            </a:pPr>
            <a:r>
              <a:rPr sz="1500" b="1">
                <a:solidFill>
                  <a:srgbClr val="143D59"/>
                </a:solidFill>
                <a:latin typeface="Calibri"/>
              </a:rPr>
              <a:t>Public funding</a:t>
            </a:r>
          </a:p>
        </p:txBody>
      </p:sp>
      <p:sp>
        <p:nvSpPr>
          <p:cNvPr id="26" name="TextBox 25"/>
          <p:cNvSpPr txBox="1"/>
          <p:nvPr/>
        </p:nvSpPr>
        <p:spPr>
          <a:xfrm>
            <a:off x="4636007" y="3429000"/>
            <a:ext cx="3108960" cy="457200"/>
          </a:xfrm>
          <a:prstGeom prst="rect">
            <a:avLst/>
          </a:prstGeom>
          <a:noFill/>
        </p:spPr>
        <p:txBody>
          <a:bodyPr wrap="square" lIns="0" rIns="0" tIns="0" bIns="0">
            <a:spAutoFit/>
          </a:bodyPr>
          <a:lstStyle/>
          <a:p>
            <a:pPr>
              <a:lnSpc>
                <a:spcPct val="100000"/>
              </a:lnSpc>
            </a:pPr>
            <a:r>
              <a:rPr sz="1300" b="0">
                <a:solidFill>
                  <a:srgbClr val="4F5560"/>
                </a:solidFill>
                <a:latin typeface="Calibri"/>
              </a:rPr>
              <a:t>For a whole industry, not one region.</a:t>
            </a:r>
          </a:p>
        </p:txBody>
      </p:sp>
      <p:sp>
        <p:nvSpPr>
          <p:cNvPr id="27" name="Rounded Rectangle 26"/>
          <p:cNvSpPr/>
          <p:nvPr/>
        </p:nvSpPr>
        <p:spPr>
          <a:xfrm>
            <a:off x="8083296" y="2286000"/>
            <a:ext cx="3566160" cy="1691640"/>
          </a:xfrm>
          <a:prstGeom prst="roundRect">
            <a:avLst>
              <a:gd name="adj" fmla="val 5000"/>
            </a:avLst>
          </a:prstGeom>
          <a:solidFill>
            <a:srgbClr val="F4EF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8083296" y="2286000"/>
            <a:ext cx="109728" cy="1691640"/>
          </a:xfrm>
          <a:prstGeom prst="rect">
            <a:avLst/>
          </a:prstGeom>
          <a:solidFill>
            <a:srgbClr val="E6A8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8403336" y="2395728"/>
            <a:ext cx="3108960" cy="640080"/>
          </a:xfrm>
          <a:prstGeom prst="rect">
            <a:avLst/>
          </a:prstGeom>
          <a:noFill/>
        </p:spPr>
        <p:txBody>
          <a:bodyPr wrap="square" lIns="0" rIns="0" tIns="0" bIns="0">
            <a:spAutoFit/>
          </a:bodyPr>
          <a:lstStyle/>
          <a:p>
            <a:pPr>
              <a:lnSpc>
                <a:spcPct val="100000"/>
              </a:lnSpc>
            </a:pPr>
            <a:r>
              <a:rPr sz="3000" b="1">
                <a:solidFill>
                  <a:srgbClr val="E6A817"/>
                </a:solidFill>
                <a:latin typeface="Calibri"/>
              </a:rPr>
              <a:t>€1,500 – 71,000</a:t>
            </a:r>
          </a:p>
        </p:txBody>
      </p:sp>
      <p:sp>
        <p:nvSpPr>
          <p:cNvPr id="30" name="TextBox 29"/>
          <p:cNvSpPr txBox="1"/>
          <p:nvPr/>
        </p:nvSpPr>
        <p:spPr>
          <a:xfrm>
            <a:off x="8403336" y="3063240"/>
            <a:ext cx="3108960" cy="365760"/>
          </a:xfrm>
          <a:prstGeom prst="rect">
            <a:avLst/>
          </a:prstGeom>
          <a:noFill/>
        </p:spPr>
        <p:txBody>
          <a:bodyPr wrap="square" lIns="0" rIns="0" tIns="0" bIns="0">
            <a:spAutoFit/>
          </a:bodyPr>
          <a:lstStyle/>
          <a:p>
            <a:pPr>
              <a:lnSpc>
                <a:spcPct val="100000"/>
              </a:lnSpc>
            </a:pPr>
            <a:r>
              <a:rPr sz="1500" b="1">
                <a:solidFill>
                  <a:srgbClr val="143D59"/>
                </a:solidFill>
                <a:latin typeface="Calibri"/>
              </a:rPr>
              <a:t>Per participant, per year</a:t>
            </a:r>
          </a:p>
        </p:txBody>
      </p:sp>
      <p:sp>
        <p:nvSpPr>
          <p:cNvPr id="31" name="TextBox 30"/>
          <p:cNvSpPr txBox="1"/>
          <p:nvPr/>
        </p:nvSpPr>
        <p:spPr>
          <a:xfrm>
            <a:off x="8403336" y="3429000"/>
            <a:ext cx="3108960" cy="457200"/>
          </a:xfrm>
          <a:prstGeom prst="rect">
            <a:avLst/>
          </a:prstGeom>
          <a:noFill/>
        </p:spPr>
        <p:txBody>
          <a:bodyPr wrap="square" lIns="0" rIns="0" tIns="0" bIns="0">
            <a:spAutoFit/>
          </a:bodyPr>
          <a:lstStyle/>
          <a:p>
            <a:pPr>
              <a:lnSpc>
                <a:spcPct val="100000"/>
              </a:lnSpc>
            </a:pPr>
            <a:r>
              <a:rPr sz="1300" b="0">
                <a:solidFill>
                  <a:srgbClr val="4F5560"/>
                </a:solidFill>
                <a:latin typeface="Calibri"/>
              </a:rPr>
              <a:t>Paid to the operator.</a:t>
            </a:r>
          </a:p>
        </p:txBody>
      </p:sp>
      <p:sp>
        <p:nvSpPr>
          <p:cNvPr id="32" name="TextBox 31"/>
          <p:cNvSpPr txBox="1"/>
          <p:nvPr/>
        </p:nvSpPr>
        <p:spPr>
          <a:xfrm>
            <a:off x="548640" y="4206240"/>
            <a:ext cx="5486400" cy="365760"/>
          </a:xfrm>
          <a:prstGeom prst="rect">
            <a:avLst/>
          </a:prstGeom>
          <a:noFill/>
        </p:spPr>
        <p:txBody>
          <a:bodyPr wrap="square" lIns="0" rIns="0" tIns="0" bIns="0">
            <a:spAutoFit/>
          </a:bodyPr>
          <a:lstStyle/>
          <a:p>
            <a:pPr>
              <a:lnSpc>
                <a:spcPct val="100000"/>
              </a:lnSpc>
            </a:pPr>
            <a:r>
              <a:rPr sz="1400" b="1">
                <a:solidFill>
                  <a:srgbClr val="8A8F98"/>
                </a:solidFill>
                <a:latin typeface="Calibri"/>
              </a:rPr>
              <a:t>Basque regional pilot, our estimate</a:t>
            </a:r>
          </a:p>
        </p:txBody>
      </p:sp>
      <p:sp>
        <p:nvSpPr>
          <p:cNvPr id="33" name="Rounded Rectangle 32"/>
          <p:cNvSpPr/>
          <p:nvPr/>
        </p:nvSpPr>
        <p:spPr>
          <a:xfrm>
            <a:off x="548640" y="4572000"/>
            <a:ext cx="5440680" cy="1691640"/>
          </a:xfrm>
          <a:prstGeom prst="roundRect">
            <a:avLst>
              <a:gd name="adj" fmla="val 5000"/>
            </a:avLst>
          </a:prstGeom>
          <a:solidFill>
            <a:srgbClr val="143D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548640" y="4572000"/>
            <a:ext cx="109728" cy="1691640"/>
          </a:xfrm>
          <a:prstGeom prst="rect">
            <a:avLst/>
          </a:prstGeom>
          <a:solidFill>
            <a:srgbClr val="2A9D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914400" y="4709160"/>
            <a:ext cx="4846320" cy="685800"/>
          </a:xfrm>
          <a:prstGeom prst="rect">
            <a:avLst/>
          </a:prstGeom>
          <a:noFill/>
        </p:spPr>
        <p:txBody>
          <a:bodyPr wrap="square" lIns="0" rIns="0" tIns="0" bIns="0">
            <a:spAutoFit/>
          </a:bodyPr>
          <a:lstStyle/>
          <a:p>
            <a:pPr>
              <a:lnSpc>
                <a:spcPct val="100000"/>
              </a:lnSpc>
            </a:pPr>
            <a:r>
              <a:rPr sz="3400" b="1">
                <a:solidFill>
                  <a:srgbClr val="FFFFFF"/>
                </a:solidFill>
                <a:latin typeface="Calibri"/>
              </a:rPr>
              <a:t>€0.8 – 1.5M</a:t>
            </a:r>
          </a:p>
        </p:txBody>
      </p:sp>
      <p:sp>
        <p:nvSpPr>
          <p:cNvPr id="36" name="TextBox 35"/>
          <p:cNvSpPr txBox="1"/>
          <p:nvPr/>
        </p:nvSpPr>
        <p:spPr>
          <a:xfrm>
            <a:off x="914400" y="5440680"/>
            <a:ext cx="4846320" cy="365760"/>
          </a:xfrm>
          <a:prstGeom prst="rect">
            <a:avLst/>
          </a:prstGeom>
          <a:noFill/>
        </p:spPr>
        <p:txBody>
          <a:bodyPr wrap="square" lIns="0" rIns="0" tIns="0" bIns="0">
            <a:spAutoFit/>
          </a:bodyPr>
          <a:lstStyle/>
          <a:p>
            <a:pPr>
              <a:lnSpc>
                <a:spcPct val="100000"/>
              </a:lnSpc>
            </a:pPr>
            <a:r>
              <a:rPr sz="1600" b="1">
                <a:solidFill>
                  <a:srgbClr val="E6A817"/>
                </a:solidFill>
                <a:latin typeface="Calibri"/>
              </a:rPr>
              <a:t>To build the pilot</a:t>
            </a:r>
          </a:p>
        </p:txBody>
      </p:sp>
      <p:sp>
        <p:nvSpPr>
          <p:cNvPr id="37" name="TextBox 36"/>
          <p:cNvSpPr txBox="1"/>
          <p:nvPr/>
        </p:nvSpPr>
        <p:spPr>
          <a:xfrm>
            <a:off x="914400" y="5806440"/>
            <a:ext cx="4846320" cy="365760"/>
          </a:xfrm>
          <a:prstGeom prst="rect">
            <a:avLst/>
          </a:prstGeom>
          <a:noFill/>
        </p:spPr>
        <p:txBody>
          <a:bodyPr wrap="square" lIns="0" rIns="0" tIns="0" bIns="0">
            <a:spAutoFit/>
          </a:bodyPr>
          <a:lstStyle/>
          <a:p>
            <a:pPr>
              <a:lnSpc>
                <a:spcPct val="100000"/>
              </a:lnSpc>
            </a:pPr>
            <a:r>
              <a:rPr sz="1300" b="0">
                <a:solidFill>
                  <a:srgbClr val="FFFFFF"/>
                </a:solidFill>
                <a:latin typeface="Calibri"/>
              </a:rPr>
              <a:t>Engineering, hosting, onboarding.</a:t>
            </a:r>
          </a:p>
        </p:txBody>
      </p:sp>
      <p:sp>
        <p:nvSpPr>
          <p:cNvPr id="38" name="Rounded Rectangle 37"/>
          <p:cNvSpPr/>
          <p:nvPr/>
        </p:nvSpPr>
        <p:spPr>
          <a:xfrm>
            <a:off x="6199631" y="4572000"/>
            <a:ext cx="5440680" cy="1691640"/>
          </a:xfrm>
          <a:prstGeom prst="roundRect">
            <a:avLst>
              <a:gd name="adj" fmla="val 5000"/>
            </a:avLst>
          </a:prstGeom>
          <a:solidFill>
            <a:srgbClr val="143D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6199631" y="4572000"/>
            <a:ext cx="109728" cy="1691640"/>
          </a:xfrm>
          <a:prstGeom prst="rect">
            <a:avLst/>
          </a:prstGeom>
          <a:solidFill>
            <a:srgbClr val="C31E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6565392" y="4709160"/>
            <a:ext cx="4846320" cy="685800"/>
          </a:xfrm>
          <a:prstGeom prst="rect">
            <a:avLst/>
          </a:prstGeom>
          <a:noFill/>
        </p:spPr>
        <p:txBody>
          <a:bodyPr wrap="square" lIns="0" rIns="0" tIns="0" bIns="0">
            <a:spAutoFit/>
          </a:bodyPr>
          <a:lstStyle/>
          <a:p>
            <a:pPr>
              <a:lnSpc>
                <a:spcPct val="100000"/>
              </a:lnSpc>
            </a:pPr>
            <a:r>
              <a:rPr sz="3400" b="1">
                <a:solidFill>
                  <a:srgbClr val="FFFFFF"/>
                </a:solidFill>
                <a:latin typeface="Calibri"/>
              </a:rPr>
              <a:t>15 – 25% per year</a:t>
            </a:r>
          </a:p>
        </p:txBody>
      </p:sp>
      <p:sp>
        <p:nvSpPr>
          <p:cNvPr id="41" name="TextBox 40"/>
          <p:cNvSpPr txBox="1"/>
          <p:nvPr/>
        </p:nvSpPr>
        <p:spPr>
          <a:xfrm>
            <a:off x="6565392" y="5440680"/>
            <a:ext cx="4846320" cy="365760"/>
          </a:xfrm>
          <a:prstGeom prst="rect">
            <a:avLst/>
          </a:prstGeom>
          <a:noFill/>
        </p:spPr>
        <p:txBody>
          <a:bodyPr wrap="square" lIns="0" rIns="0" tIns="0" bIns="0">
            <a:spAutoFit/>
          </a:bodyPr>
          <a:lstStyle/>
          <a:p>
            <a:pPr>
              <a:lnSpc>
                <a:spcPct val="100000"/>
              </a:lnSpc>
            </a:pPr>
            <a:r>
              <a:rPr sz="1600" b="1">
                <a:solidFill>
                  <a:srgbClr val="E6A817"/>
                </a:solidFill>
                <a:latin typeface="Calibri"/>
              </a:rPr>
              <a:t>To operate it</a:t>
            </a:r>
          </a:p>
        </p:txBody>
      </p:sp>
      <p:sp>
        <p:nvSpPr>
          <p:cNvPr id="42" name="TextBox 41"/>
          <p:cNvSpPr txBox="1"/>
          <p:nvPr/>
        </p:nvSpPr>
        <p:spPr>
          <a:xfrm>
            <a:off x="6565392" y="5806440"/>
            <a:ext cx="4846320" cy="365760"/>
          </a:xfrm>
          <a:prstGeom prst="rect">
            <a:avLst/>
          </a:prstGeom>
          <a:noFill/>
        </p:spPr>
        <p:txBody>
          <a:bodyPr wrap="square" lIns="0" rIns="0" tIns="0" bIns="0">
            <a:spAutoFit/>
          </a:bodyPr>
          <a:lstStyle/>
          <a:p>
            <a:pPr>
              <a:lnSpc>
                <a:spcPct val="100000"/>
              </a:lnSpc>
            </a:pPr>
            <a:r>
              <a:rPr sz="1300" b="0">
                <a:solidFill>
                  <a:srgbClr val="FFFFFF"/>
                </a:solidFill>
                <a:latin typeface="Calibri"/>
              </a:rPr>
              <a:t>About €120,000 – 375,000 a year.</a:t>
            </a:r>
          </a:p>
        </p:txBody>
      </p:sp>
      <p:sp>
        <p:nvSpPr>
          <p:cNvPr id="43" name="TextBox 42"/>
          <p:cNvSpPr txBox="1"/>
          <p:nvPr/>
        </p:nvSpPr>
        <p:spPr>
          <a:xfrm>
            <a:off x="5852160" y="6446520"/>
            <a:ext cx="5760720" cy="274320"/>
          </a:xfrm>
          <a:prstGeom prst="rect">
            <a:avLst/>
          </a:prstGeom>
          <a:noFill/>
        </p:spPr>
        <p:txBody>
          <a:bodyPr wrap="square" lIns="0" rIns="0" tIns="0" bIns="0">
            <a:spAutoFit/>
          </a:bodyPr>
          <a:lstStyle/>
          <a:p>
            <a:pPr algn="r">
              <a:lnSpc>
                <a:spcPct val="100000"/>
              </a:lnSpc>
            </a:pPr>
            <a:r>
              <a:rPr sz="900" b="0">
                <a:solidFill>
                  <a:srgbClr val="8A8F98"/>
                </a:solidFill>
                <a:latin typeface="Calibri"/>
              </a:rPr>
              <a:t>catena-x.net  ·  cofinity-x.com  ·  operations: share of the build cost per year</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91" fill="hold">
                      <p:stCondLst>
                        <p:cond delay="indefinite"/>
                        <p:cond evt="onBegin" delay="0">
                          <p:tn val="2"/>
                        </p:cond>
                      </p:stCondLst>
                      <p:childTnLst>
                        <p:par>
                          <p:cTn id="6" fill="hold">
                            <p:stCondLst>
                              <p:cond delay="0"/>
                            </p:stCondLst>
                            <p:childTnLst>
                              <p:par>
                                <p:cTn id="3" presetID="10" presetClass="entr" presetSubtype="0" fill="hold" grpId="0" nodeType="afterEffect">
                                  <p:stCondLst>
                                    <p:cond delay="0"/>
                                  </p:stCondLst>
                                  <p:childTnLst>
                                    <p:set>
                                      <p:cBhvr>
                                        <p:cTn id="4" dur="1" fill="hold">
                                          <p:stCondLst>
                                            <p:cond delay="0"/>
                                          </p:stCondLst>
                                        </p:cTn>
                                        <p:tgtEl>
                                          <p:spTgt spid="16"/>
                                        </p:tgtEl>
                                        <p:attrNameLst>
                                          <p:attrName>style.visibility</p:attrName>
                                        </p:attrNameLst>
                                      </p:cBhvr>
                                      <p:to>
                                        <p:strVal val="visible"/>
                                      </p:to>
                                    </p:set>
                                    <p:animEffect transition="in" filter="fade">
                                      <p:cBhvr>
                                        <p:cTn id="5" dur="500"/>
                                        <p:tgtEl>
                                          <p:spTgt spid="16"/>
                                        </p:tgtEl>
                                      </p:cBhvr>
                                    </p:animEffect>
                                  </p:childTnLst>
                                </p:cTn>
                              </p:par>
                            </p:childTnLst>
                          </p:cTn>
                        </p:par>
                        <p:par>
                          <p:cTn id="22" fill="hold">
                            <p:stCondLst>
                              <p:cond delay="300"/>
                            </p:stCondLst>
                            <p:childTnLst>
                              <p:par>
                                <p:cTn id="7" presetID="10" presetClass="entr" presetSubtype="0" fill="hold" grpId="0" nodeType="withEffect">
                                  <p:stCondLst>
                                    <p:cond delay="0"/>
                                  </p:stCondLst>
                                  <p:childTnLst>
                                    <p:set>
                                      <p:cBhvr>
                                        <p:cTn id="8" dur="1" fill="hold">
                                          <p:stCondLst>
                                            <p:cond delay="0"/>
                                          </p:stCondLst>
                                        </p:cTn>
                                        <p:tgtEl>
                                          <p:spTgt spid="17"/>
                                        </p:tgtEl>
                                        <p:attrNameLst>
                                          <p:attrName>style.visibility</p:attrName>
                                        </p:attrNameLst>
                                      </p:cBhvr>
                                      <p:to>
                                        <p:strVal val="visible"/>
                                      </p:to>
                                    </p:set>
                                    <p:animEffect transition="in" filter="fade">
                                      <p:cBhvr>
                                        <p:cTn id="9" dur="500"/>
                                        <p:tgtEl>
                                          <p:spTgt spid="17"/>
                                        </p:tgtEl>
                                      </p:cBhvr>
                                    </p:animEffect>
                                  </p:childTnLst>
                                </p:cTn>
                              </p:par>
                              <p:par>
                                <p:cTn id="10" presetID="10" presetClass="entr" presetSubtype="0" fill="hold" grpId="0" nodeType="withEffect">
                                  <p:stCondLst>
                                    <p:cond delay="0"/>
                                  </p:stCondLst>
                                  <p:childTnLst>
                                    <p:set>
                                      <p:cBhvr>
                                        <p:cTn id="11" dur="1" fill="hold">
                                          <p:stCondLst>
                                            <p:cond delay="0"/>
                                          </p:stCondLst>
                                        </p:cTn>
                                        <p:tgtEl>
                                          <p:spTgt spid="19"/>
                                        </p:tgtEl>
                                        <p:attrNameLst>
                                          <p:attrName>style.visibility</p:attrName>
                                        </p:attrNameLst>
                                      </p:cBhvr>
                                      <p:to>
                                        <p:strVal val="visible"/>
                                      </p:to>
                                    </p:set>
                                    <p:animEffect transition="in" filter="fade">
                                      <p:cBhvr>
                                        <p:cTn id="12" dur="500"/>
                                        <p:tgtEl>
                                          <p:spTgt spid="19"/>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21"/>
                                        </p:tgtEl>
                                        <p:attrNameLst>
                                          <p:attrName>style.visibility</p:attrName>
                                        </p:attrNameLst>
                                      </p:cBhvr>
                                      <p:to>
                                        <p:strVal val="visible"/>
                                      </p:to>
                                    </p:set>
                                    <p:animEffect transition="in" filter="fade">
                                      <p:cBhvr>
                                        <p:cTn id="15" dur="500"/>
                                        <p:tgtEl>
                                          <p:spTgt spid="21"/>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20"/>
                                        </p:tgtEl>
                                        <p:attrNameLst>
                                          <p:attrName>style.visibility</p:attrName>
                                        </p:attrNameLst>
                                      </p:cBhvr>
                                      <p:to>
                                        <p:strVal val="visible"/>
                                      </p:to>
                                    </p:set>
                                    <p:animEffect transition="in" filter="fade">
                                      <p:cBhvr>
                                        <p:cTn id="18" dur="500"/>
                                        <p:tgtEl>
                                          <p:spTgt spid="20"/>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18"/>
                                        </p:tgtEl>
                                        <p:attrNameLst>
                                          <p:attrName>style.visibility</p:attrName>
                                        </p:attrNameLst>
                                      </p:cBhvr>
                                      <p:to>
                                        <p:strVal val="visible"/>
                                      </p:to>
                                    </p:set>
                                    <p:animEffect transition="in" filter="fade">
                                      <p:cBhvr>
                                        <p:cTn id="21" dur="500"/>
                                        <p:tgtEl>
                                          <p:spTgt spid="18"/>
                                        </p:tgtEl>
                                      </p:cBhvr>
                                    </p:animEffect>
                                  </p:childTnLst>
                                </p:cTn>
                              </p:par>
                            </p:childTnLst>
                          </p:cTn>
                        </p:par>
                        <p:par>
                          <p:cTn id="38" fill="hold">
                            <p:stCondLst>
                              <p:cond delay="600"/>
                            </p:stCondLst>
                            <p:childTnLst>
                              <p:par>
                                <p:cTn id="23" presetID="10" presetClass="entr" presetSubtype="0" fill="hold" grpId="0" nodeType="withEffect">
                                  <p:stCondLst>
                                    <p:cond delay="0"/>
                                  </p:stCondLst>
                                  <p:childTnLst>
                                    <p:set>
                                      <p:cBhvr>
                                        <p:cTn id="24" dur="1" fill="hold">
                                          <p:stCondLst>
                                            <p:cond delay="0"/>
                                          </p:stCondLst>
                                        </p:cTn>
                                        <p:tgtEl>
                                          <p:spTgt spid="22"/>
                                        </p:tgtEl>
                                        <p:attrNameLst>
                                          <p:attrName>style.visibility</p:attrName>
                                        </p:attrNameLst>
                                      </p:cBhvr>
                                      <p:to>
                                        <p:strVal val="visible"/>
                                      </p:to>
                                    </p:set>
                                    <p:animEffect transition="in" filter="fade">
                                      <p:cBhvr>
                                        <p:cTn id="25" dur="500"/>
                                        <p:tgtEl>
                                          <p:spTgt spid="22"/>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24"/>
                                        </p:tgtEl>
                                        <p:attrNameLst>
                                          <p:attrName>style.visibility</p:attrName>
                                        </p:attrNameLst>
                                      </p:cBhvr>
                                      <p:to>
                                        <p:strVal val="visible"/>
                                      </p:to>
                                    </p:set>
                                    <p:animEffect transition="in" filter="fade">
                                      <p:cBhvr>
                                        <p:cTn id="28" dur="500"/>
                                        <p:tgtEl>
                                          <p:spTgt spid="24"/>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26"/>
                                        </p:tgtEl>
                                        <p:attrNameLst>
                                          <p:attrName>style.visibility</p:attrName>
                                        </p:attrNameLst>
                                      </p:cBhvr>
                                      <p:to>
                                        <p:strVal val="visible"/>
                                      </p:to>
                                    </p:set>
                                    <p:animEffect transition="in" filter="fade">
                                      <p:cBhvr>
                                        <p:cTn id="31" dur="500"/>
                                        <p:tgtEl>
                                          <p:spTgt spid="26"/>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25"/>
                                        </p:tgtEl>
                                        <p:attrNameLst>
                                          <p:attrName>style.visibility</p:attrName>
                                        </p:attrNameLst>
                                      </p:cBhvr>
                                      <p:to>
                                        <p:strVal val="visible"/>
                                      </p:to>
                                    </p:set>
                                    <p:animEffect transition="in" filter="fade">
                                      <p:cBhvr>
                                        <p:cTn id="34" dur="500"/>
                                        <p:tgtEl>
                                          <p:spTgt spid="25"/>
                                        </p:tgtEl>
                                      </p:cBhvr>
                                    </p:animEffect>
                                  </p:childTnLst>
                                </p:cTn>
                              </p:par>
                              <p:par>
                                <p:cTn id="35" presetID="10" presetClass="entr" presetSubtype="0" fill="hold" grpId="0" nodeType="withEffect">
                                  <p:stCondLst>
                                    <p:cond delay="0"/>
                                  </p:stCondLst>
                                  <p:childTnLst>
                                    <p:set>
                                      <p:cBhvr>
                                        <p:cTn id="36" dur="1" fill="hold">
                                          <p:stCondLst>
                                            <p:cond delay="0"/>
                                          </p:stCondLst>
                                        </p:cTn>
                                        <p:tgtEl>
                                          <p:spTgt spid="23"/>
                                        </p:tgtEl>
                                        <p:attrNameLst>
                                          <p:attrName>style.visibility</p:attrName>
                                        </p:attrNameLst>
                                      </p:cBhvr>
                                      <p:to>
                                        <p:strVal val="visible"/>
                                      </p:to>
                                    </p:set>
                                    <p:animEffect transition="in" filter="fade">
                                      <p:cBhvr>
                                        <p:cTn id="37" dur="500"/>
                                        <p:tgtEl>
                                          <p:spTgt spid="23"/>
                                        </p:tgtEl>
                                      </p:cBhvr>
                                    </p:animEffect>
                                  </p:childTnLst>
                                </p:cTn>
                              </p:par>
                            </p:childTnLst>
                          </p:cTn>
                        </p:par>
                        <p:par>
                          <p:cTn id="54" fill="hold">
                            <p:stCondLst>
                              <p:cond delay="900"/>
                            </p:stCondLst>
                            <p:childTnLst>
                              <p:par>
                                <p:cTn id="39" presetID="10" presetClass="entr" presetSubtype="0" fill="hold" grpId="0" nodeType="withEffect">
                                  <p:stCondLst>
                                    <p:cond delay="0"/>
                                  </p:stCondLst>
                                  <p:childTnLst>
                                    <p:set>
                                      <p:cBhvr>
                                        <p:cTn id="40" dur="1" fill="hold">
                                          <p:stCondLst>
                                            <p:cond delay="0"/>
                                          </p:stCondLst>
                                        </p:cTn>
                                        <p:tgtEl>
                                          <p:spTgt spid="27"/>
                                        </p:tgtEl>
                                        <p:attrNameLst>
                                          <p:attrName>style.visibility</p:attrName>
                                        </p:attrNameLst>
                                      </p:cBhvr>
                                      <p:to>
                                        <p:strVal val="visible"/>
                                      </p:to>
                                    </p:set>
                                    <p:animEffect transition="in" filter="fade">
                                      <p:cBhvr>
                                        <p:cTn id="41" dur="500"/>
                                        <p:tgtEl>
                                          <p:spTgt spid="27"/>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29"/>
                                        </p:tgtEl>
                                        <p:attrNameLst>
                                          <p:attrName>style.visibility</p:attrName>
                                        </p:attrNameLst>
                                      </p:cBhvr>
                                      <p:to>
                                        <p:strVal val="visible"/>
                                      </p:to>
                                    </p:set>
                                    <p:animEffect transition="in" filter="fade">
                                      <p:cBhvr>
                                        <p:cTn id="44" dur="500"/>
                                        <p:tgtEl>
                                          <p:spTgt spid="29"/>
                                        </p:tgtEl>
                                      </p:cBhvr>
                                    </p:animEffect>
                                  </p:childTnLst>
                                </p:cTn>
                              </p:par>
                              <p:par>
                                <p:cTn id="45" presetID="10" presetClass="entr" presetSubtype="0" fill="hold" grpId="0" nodeType="withEffect">
                                  <p:stCondLst>
                                    <p:cond delay="0"/>
                                  </p:stCondLst>
                                  <p:childTnLst>
                                    <p:set>
                                      <p:cBhvr>
                                        <p:cTn id="46" dur="1" fill="hold">
                                          <p:stCondLst>
                                            <p:cond delay="0"/>
                                          </p:stCondLst>
                                        </p:cTn>
                                        <p:tgtEl>
                                          <p:spTgt spid="31"/>
                                        </p:tgtEl>
                                        <p:attrNameLst>
                                          <p:attrName>style.visibility</p:attrName>
                                        </p:attrNameLst>
                                      </p:cBhvr>
                                      <p:to>
                                        <p:strVal val="visible"/>
                                      </p:to>
                                    </p:set>
                                    <p:animEffect transition="in" filter="fade">
                                      <p:cBhvr>
                                        <p:cTn id="47" dur="500"/>
                                        <p:tgtEl>
                                          <p:spTgt spid="31"/>
                                        </p:tgtEl>
                                      </p:cBhvr>
                                    </p:animEffect>
                                  </p:childTnLst>
                                </p:cTn>
                              </p:par>
                              <p:par>
                                <p:cTn id="48" presetID="10" presetClass="entr" presetSubtype="0" fill="hold" grpId="0" nodeType="withEffect">
                                  <p:stCondLst>
                                    <p:cond delay="0"/>
                                  </p:stCondLst>
                                  <p:childTnLst>
                                    <p:set>
                                      <p:cBhvr>
                                        <p:cTn id="49" dur="1" fill="hold">
                                          <p:stCondLst>
                                            <p:cond delay="0"/>
                                          </p:stCondLst>
                                        </p:cTn>
                                        <p:tgtEl>
                                          <p:spTgt spid="30"/>
                                        </p:tgtEl>
                                        <p:attrNameLst>
                                          <p:attrName>style.visibility</p:attrName>
                                        </p:attrNameLst>
                                      </p:cBhvr>
                                      <p:to>
                                        <p:strVal val="visible"/>
                                      </p:to>
                                    </p:set>
                                    <p:animEffect transition="in" filter="fade">
                                      <p:cBhvr>
                                        <p:cTn id="50" dur="500"/>
                                        <p:tgtEl>
                                          <p:spTgt spid="30"/>
                                        </p:tgtEl>
                                      </p:cBhvr>
                                    </p:animEffect>
                                  </p:childTnLst>
                                </p:cTn>
                              </p:par>
                              <p:par>
                                <p:cTn id="51" presetID="10" presetClass="entr" presetSubtype="0" fill="hold" grpId="0" nodeType="withEffect">
                                  <p:stCondLst>
                                    <p:cond delay="0"/>
                                  </p:stCondLst>
                                  <p:childTnLst>
                                    <p:set>
                                      <p:cBhvr>
                                        <p:cTn id="52" dur="1" fill="hold">
                                          <p:stCondLst>
                                            <p:cond delay="0"/>
                                          </p:stCondLst>
                                        </p:cTn>
                                        <p:tgtEl>
                                          <p:spTgt spid="28"/>
                                        </p:tgtEl>
                                        <p:attrNameLst>
                                          <p:attrName>style.visibility</p:attrName>
                                        </p:attrNameLst>
                                      </p:cBhvr>
                                      <p:to>
                                        <p:strVal val="visible"/>
                                      </p:to>
                                    </p:set>
                                    <p:animEffect transition="in" filter="fade">
                                      <p:cBhvr>
                                        <p:cTn id="53" dur="500"/>
                                        <p:tgtEl>
                                          <p:spTgt spid="28"/>
                                        </p:tgtEl>
                                      </p:cBhvr>
                                    </p:animEffect>
                                  </p:childTnLst>
                                </p:cTn>
                              </p:par>
                            </p:childTnLst>
                          </p:cTn>
                        </p:par>
                        <p:par>
                          <p:cTn id="70" fill="hold">
                            <p:stCondLst>
                              <p:cond delay="1200"/>
                            </p:stCondLst>
                            <p:childTnLst>
                              <p:par>
                                <p:cTn id="55" presetID="10" presetClass="entr" presetSubtype="0" fill="hold" grpId="0" nodeType="withEffect">
                                  <p:stCondLst>
                                    <p:cond delay="0"/>
                                  </p:stCondLst>
                                  <p:childTnLst>
                                    <p:set>
                                      <p:cBhvr>
                                        <p:cTn id="56" dur="1" fill="hold">
                                          <p:stCondLst>
                                            <p:cond delay="0"/>
                                          </p:stCondLst>
                                        </p:cTn>
                                        <p:tgtEl>
                                          <p:spTgt spid="33"/>
                                        </p:tgtEl>
                                        <p:attrNameLst>
                                          <p:attrName>style.visibility</p:attrName>
                                        </p:attrNameLst>
                                      </p:cBhvr>
                                      <p:to>
                                        <p:strVal val="visible"/>
                                      </p:to>
                                    </p:set>
                                    <p:animEffect transition="in" filter="fade">
                                      <p:cBhvr>
                                        <p:cTn id="57" dur="500"/>
                                        <p:tgtEl>
                                          <p:spTgt spid="33"/>
                                        </p:tgtEl>
                                      </p:cBhvr>
                                    </p:animEffect>
                                  </p:childTnLst>
                                </p:cTn>
                              </p:par>
                              <p:par>
                                <p:cTn id="58" presetID="10" presetClass="entr" presetSubtype="0" fill="hold" grpId="0" nodeType="withEffect">
                                  <p:stCondLst>
                                    <p:cond delay="0"/>
                                  </p:stCondLst>
                                  <p:childTnLst>
                                    <p:set>
                                      <p:cBhvr>
                                        <p:cTn id="59" dur="1" fill="hold">
                                          <p:stCondLst>
                                            <p:cond delay="0"/>
                                          </p:stCondLst>
                                        </p:cTn>
                                        <p:tgtEl>
                                          <p:spTgt spid="35"/>
                                        </p:tgtEl>
                                        <p:attrNameLst>
                                          <p:attrName>style.visibility</p:attrName>
                                        </p:attrNameLst>
                                      </p:cBhvr>
                                      <p:to>
                                        <p:strVal val="visible"/>
                                      </p:to>
                                    </p:set>
                                    <p:animEffect transition="in" filter="fade">
                                      <p:cBhvr>
                                        <p:cTn id="60" dur="500"/>
                                        <p:tgtEl>
                                          <p:spTgt spid="35"/>
                                        </p:tgtEl>
                                      </p:cBhvr>
                                    </p:animEffect>
                                  </p:childTnLst>
                                </p:cTn>
                              </p:par>
                              <p:par>
                                <p:cTn id="61" presetID="10" presetClass="entr" presetSubtype="0" fill="hold" grpId="0" nodeType="withEffect">
                                  <p:stCondLst>
                                    <p:cond delay="0"/>
                                  </p:stCondLst>
                                  <p:childTnLst>
                                    <p:set>
                                      <p:cBhvr>
                                        <p:cTn id="62" dur="1" fill="hold">
                                          <p:stCondLst>
                                            <p:cond delay="0"/>
                                          </p:stCondLst>
                                        </p:cTn>
                                        <p:tgtEl>
                                          <p:spTgt spid="36"/>
                                        </p:tgtEl>
                                        <p:attrNameLst>
                                          <p:attrName>style.visibility</p:attrName>
                                        </p:attrNameLst>
                                      </p:cBhvr>
                                      <p:to>
                                        <p:strVal val="visible"/>
                                      </p:to>
                                    </p:set>
                                    <p:animEffect transition="in" filter="fade">
                                      <p:cBhvr>
                                        <p:cTn id="63" dur="500"/>
                                        <p:tgtEl>
                                          <p:spTgt spid="36"/>
                                        </p:tgtEl>
                                      </p:cBhvr>
                                    </p:animEffect>
                                  </p:childTnLst>
                                </p:cTn>
                              </p:par>
                              <p:par>
                                <p:cTn id="64" presetID="10" presetClass="entr" presetSubtype="0" fill="hold" grpId="0" nodeType="withEffect">
                                  <p:stCondLst>
                                    <p:cond delay="0"/>
                                  </p:stCondLst>
                                  <p:childTnLst>
                                    <p:set>
                                      <p:cBhvr>
                                        <p:cTn id="65" dur="1" fill="hold">
                                          <p:stCondLst>
                                            <p:cond delay="0"/>
                                          </p:stCondLst>
                                        </p:cTn>
                                        <p:tgtEl>
                                          <p:spTgt spid="37"/>
                                        </p:tgtEl>
                                        <p:attrNameLst>
                                          <p:attrName>style.visibility</p:attrName>
                                        </p:attrNameLst>
                                      </p:cBhvr>
                                      <p:to>
                                        <p:strVal val="visible"/>
                                      </p:to>
                                    </p:set>
                                    <p:animEffect transition="in" filter="fade">
                                      <p:cBhvr>
                                        <p:cTn id="66" dur="500"/>
                                        <p:tgtEl>
                                          <p:spTgt spid="37"/>
                                        </p:tgtEl>
                                      </p:cBhvr>
                                    </p:animEffect>
                                  </p:childTnLst>
                                </p:cTn>
                              </p:par>
                              <p:par>
                                <p:cTn id="67" presetID="10" presetClass="entr" presetSubtype="0" fill="hold" grpId="0" nodeType="withEffect">
                                  <p:stCondLst>
                                    <p:cond delay="0"/>
                                  </p:stCondLst>
                                  <p:childTnLst>
                                    <p:set>
                                      <p:cBhvr>
                                        <p:cTn id="68" dur="1" fill="hold">
                                          <p:stCondLst>
                                            <p:cond delay="0"/>
                                          </p:stCondLst>
                                        </p:cTn>
                                        <p:tgtEl>
                                          <p:spTgt spid="34"/>
                                        </p:tgtEl>
                                        <p:attrNameLst>
                                          <p:attrName>style.visibility</p:attrName>
                                        </p:attrNameLst>
                                      </p:cBhvr>
                                      <p:to>
                                        <p:strVal val="visible"/>
                                      </p:to>
                                    </p:set>
                                    <p:animEffect transition="in" filter="fade">
                                      <p:cBhvr>
                                        <p:cTn id="69" dur="500"/>
                                        <p:tgtEl>
                                          <p:spTgt spid="34"/>
                                        </p:tgtEl>
                                      </p:cBhvr>
                                    </p:animEffect>
                                  </p:childTnLst>
                                </p:cTn>
                              </p:par>
                            </p:childTnLst>
                          </p:cTn>
                        </p:par>
                        <p:par>
                          <p:cTn id="74" fill="hold">
                            <p:stCondLst>
                              <p:cond delay="1500"/>
                            </p:stCondLst>
                            <p:childTnLst>
                              <p:par>
                                <p:cTn id="71" presetID="10" presetClass="entr" presetSubtype="0" fill="hold" grpId="0" nodeType="withEffect">
                                  <p:stCondLst>
                                    <p:cond delay="0"/>
                                  </p:stCondLst>
                                  <p:childTnLst>
                                    <p:set>
                                      <p:cBhvr>
                                        <p:cTn id="72" dur="1" fill="hold">
                                          <p:stCondLst>
                                            <p:cond delay="0"/>
                                          </p:stCondLst>
                                        </p:cTn>
                                        <p:tgtEl>
                                          <p:spTgt spid="32"/>
                                        </p:tgtEl>
                                        <p:attrNameLst>
                                          <p:attrName>style.visibility</p:attrName>
                                        </p:attrNameLst>
                                      </p:cBhvr>
                                      <p:to>
                                        <p:strVal val="visible"/>
                                      </p:to>
                                    </p:set>
                                    <p:animEffect transition="in" filter="fade">
                                      <p:cBhvr>
                                        <p:cTn id="73" dur="500"/>
                                        <p:tgtEl>
                                          <p:spTgt spid="32"/>
                                        </p:tgtEl>
                                      </p:cBhvr>
                                    </p:animEffect>
                                  </p:childTnLst>
                                </p:cTn>
                              </p:par>
                            </p:childTnLst>
                          </p:cTn>
                        </p:par>
                        <p:par>
                          <p:cTn id="90" fill="hold">
                            <p:stCondLst>
                              <p:cond delay="1800"/>
                            </p:stCondLst>
                            <p:childTnLst>
                              <p:par>
                                <p:cTn id="75" presetID="10" presetClass="entr" presetSubtype="0" fill="hold" grpId="0" nodeType="withEffect">
                                  <p:stCondLst>
                                    <p:cond delay="0"/>
                                  </p:stCondLst>
                                  <p:childTnLst>
                                    <p:set>
                                      <p:cBhvr>
                                        <p:cTn id="76" dur="1" fill="hold">
                                          <p:stCondLst>
                                            <p:cond delay="0"/>
                                          </p:stCondLst>
                                        </p:cTn>
                                        <p:tgtEl>
                                          <p:spTgt spid="38"/>
                                        </p:tgtEl>
                                        <p:attrNameLst>
                                          <p:attrName>style.visibility</p:attrName>
                                        </p:attrNameLst>
                                      </p:cBhvr>
                                      <p:to>
                                        <p:strVal val="visible"/>
                                      </p:to>
                                    </p:set>
                                    <p:animEffect transition="in" filter="fade">
                                      <p:cBhvr>
                                        <p:cTn id="77" dur="500"/>
                                        <p:tgtEl>
                                          <p:spTgt spid="38"/>
                                        </p:tgtEl>
                                      </p:cBhvr>
                                    </p:animEffect>
                                  </p:childTnLst>
                                </p:cTn>
                              </p:par>
                              <p:par>
                                <p:cTn id="78" presetID="10" presetClass="entr" presetSubtype="0" fill="hold" grpId="0" nodeType="withEffect">
                                  <p:stCondLst>
                                    <p:cond delay="0"/>
                                  </p:stCondLst>
                                  <p:childTnLst>
                                    <p:set>
                                      <p:cBhvr>
                                        <p:cTn id="79" dur="1" fill="hold">
                                          <p:stCondLst>
                                            <p:cond delay="0"/>
                                          </p:stCondLst>
                                        </p:cTn>
                                        <p:tgtEl>
                                          <p:spTgt spid="40"/>
                                        </p:tgtEl>
                                        <p:attrNameLst>
                                          <p:attrName>style.visibility</p:attrName>
                                        </p:attrNameLst>
                                      </p:cBhvr>
                                      <p:to>
                                        <p:strVal val="visible"/>
                                      </p:to>
                                    </p:set>
                                    <p:animEffect transition="in" filter="fade">
                                      <p:cBhvr>
                                        <p:cTn id="80" dur="500"/>
                                        <p:tgtEl>
                                          <p:spTgt spid="40"/>
                                        </p:tgtEl>
                                      </p:cBhvr>
                                    </p:animEffect>
                                  </p:childTnLst>
                                </p:cTn>
                              </p:par>
                              <p:par>
                                <p:cTn id="81" presetID="10" presetClass="entr" presetSubtype="0" fill="hold" grpId="0" nodeType="withEffect">
                                  <p:stCondLst>
                                    <p:cond delay="0"/>
                                  </p:stCondLst>
                                  <p:childTnLst>
                                    <p:set>
                                      <p:cBhvr>
                                        <p:cTn id="82" dur="1" fill="hold">
                                          <p:stCondLst>
                                            <p:cond delay="0"/>
                                          </p:stCondLst>
                                        </p:cTn>
                                        <p:tgtEl>
                                          <p:spTgt spid="41"/>
                                        </p:tgtEl>
                                        <p:attrNameLst>
                                          <p:attrName>style.visibility</p:attrName>
                                        </p:attrNameLst>
                                      </p:cBhvr>
                                      <p:to>
                                        <p:strVal val="visible"/>
                                      </p:to>
                                    </p:set>
                                    <p:animEffect transition="in" filter="fade">
                                      <p:cBhvr>
                                        <p:cTn id="83" dur="500"/>
                                        <p:tgtEl>
                                          <p:spTgt spid="41"/>
                                        </p:tgtEl>
                                      </p:cBhvr>
                                    </p:animEffect>
                                  </p:childTnLst>
                                </p:cTn>
                              </p:par>
                              <p:par>
                                <p:cTn id="84" presetID="10" presetClass="entr" presetSubtype="0" fill="hold" grpId="0" nodeType="withEffect">
                                  <p:stCondLst>
                                    <p:cond delay="0"/>
                                  </p:stCondLst>
                                  <p:childTnLst>
                                    <p:set>
                                      <p:cBhvr>
                                        <p:cTn id="85" dur="1" fill="hold">
                                          <p:stCondLst>
                                            <p:cond delay="0"/>
                                          </p:stCondLst>
                                        </p:cTn>
                                        <p:tgtEl>
                                          <p:spTgt spid="42"/>
                                        </p:tgtEl>
                                        <p:attrNameLst>
                                          <p:attrName>style.visibility</p:attrName>
                                        </p:attrNameLst>
                                      </p:cBhvr>
                                      <p:to>
                                        <p:strVal val="visible"/>
                                      </p:to>
                                    </p:set>
                                    <p:animEffect transition="in" filter="fade">
                                      <p:cBhvr>
                                        <p:cTn id="86" dur="500"/>
                                        <p:tgtEl>
                                          <p:spTgt spid="42"/>
                                        </p:tgtEl>
                                      </p:cBhvr>
                                    </p:animEffect>
                                  </p:childTnLst>
                                </p:cTn>
                              </p:par>
                              <p:par>
                                <p:cTn id="87" presetID="10" presetClass="entr" presetSubtype="0" fill="hold" grpId="0" nodeType="withEffect">
                                  <p:stCondLst>
                                    <p:cond delay="0"/>
                                  </p:stCondLst>
                                  <p:childTnLst>
                                    <p:set>
                                      <p:cBhvr>
                                        <p:cTn id="88" dur="1" fill="hold">
                                          <p:stCondLst>
                                            <p:cond delay="0"/>
                                          </p:stCondLst>
                                        </p:cTn>
                                        <p:tgtEl>
                                          <p:spTgt spid="39"/>
                                        </p:tgtEl>
                                        <p:attrNameLst>
                                          <p:attrName>style.visibility</p:attrName>
                                        </p:attrNameLst>
                                      </p:cBhvr>
                                      <p:to>
                                        <p:strVal val="visible"/>
                                      </p:to>
                                    </p:set>
                                    <p:animEffect transition="in" filter="fade">
                                      <p:cBhvr>
                                        <p:cTn id="89" dur="500"/>
                                        <p:tgtEl>
                                          <p:spTgt spid="3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64592"/>
          </a:xfrm>
          <a:prstGeom prst="rect">
            <a:avLst/>
          </a:prstGeom>
          <a:solidFill>
            <a:srgbClr val="143D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548640" y="347472"/>
            <a:ext cx="3268980" cy="329184"/>
          </a:xfrm>
          <a:prstGeom prst="roundRect">
            <a:avLst>
              <a:gd name="adj" fmla="val 50000"/>
            </a:avLst>
          </a:prstGeom>
          <a:solidFill>
            <a:srgbClr val="2A9D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347472"/>
            <a:ext cx="3268980" cy="329184"/>
          </a:xfrm>
          <a:prstGeom prst="rect">
            <a:avLst/>
          </a:prstGeom>
          <a:noFill/>
        </p:spPr>
        <p:txBody>
          <a:bodyPr wrap="square" lIns="0" rIns="0" tIns="0" bIns="0" anchor="ctr">
            <a:spAutoFit/>
          </a:bodyPr>
          <a:lstStyle/>
          <a:p>
            <a:pPr algn="ctr">
              <a:lnSpc>
                <a:spcPct val="100000"/>
              </a:lnSpc>
            </a:pPr>
            <a:r>
              <a:rPr sz="1100" b="1">
                <a:solidFill>
                  <a:srgbClr val="FFFFFF"/>
                </a:solidFill>
                <a:latin typeface="Calibri"/>
              </a:rPr>
              <a:t>QUESTION 8 OF 8  ·  EFFORT AND TEAM</a:t>
            </a:r>
          </a:p>
        </p:txBody>
      </p:sp>
      <p:sp>
        <p:nvSpPr>
          <p:cNvPr id="5" name="TextBox 4"/>
          <p:cNvSpPr txBox="1"/>
          <p:nvPr/>
        </p:nvSpPr>
        <p:spPr>
          <a:xfrm>
            <a:off x="548640" y="777240"/>
            <a:ext cx="11064240" cy="594360"/>
          </a:xfrm>
          <a:prstGeom prst="rect">
            <a:avLst/>
          </a:prstGeom>
          <a:noFill/>
        </p:spPr>
        <p:txBody>
          <a:bodyPr wrap="square" lIns="0" rIns="0" tIns="0" bIns="0">
            <a:spAutoFit/>
          </a:bodyPr>
          <a:lstStyle/>
          <a:p>
            <a:pPr>
              <a:lnSpc>
                <a:spcPct val="100000"/>
              </a:lnSpc>
            </a:pPr>
            <a:r>
              <a:rPr sz="3000" b="1">
                <a:solidFill>
                  <a:srgbClr val="143D59"/>
                </a:solidFill>
                <a:latin typeface="Calibri"/>
              </a:rPr>
              <a:t>The team: 8 to 12 people for a pilot</a:t>
            </a:r>
          </a:p>
        </p:txBody>
      </p:sp>
      <p:sp>
        <p:nvSpPr>
          <p:cNvPr id="6" name="TextBox 5"/>
          <p:cNvSpPr txBox="1"/>
          <p:nvPr/>
        </p:nvSpPr>
        <p:spPr>
          <a:xfrm>
            <a:off x="548640" y="1389888"/>
            <a:ext cx="11064240" cy="411480"/>
          </a:xfrm>
          <a:prstGeom prst="rect">
            <a:avLst/>
          </a:prstGeom>
          <a:noFill/>
        </p:spPr>
        <p:txBody>
          <a:bodyPr wrap="square" lIns="0" rIns="0" tIns="0" bIns="0">
            <a:spAutoFit/>
          </a:bodyPr>
          <a:lstStyle/>
          <a:p>
            <a:pPr>
              <a:lnSpc>
                <a:spcPct val="100000"/>
              </a:lnSpc>
            </a:pPr>
            <a:r>
              <a:rPr sz="1600" b="0">
                <a:solidFill>
                  <a:srgbClr val="4F5560"/>
                </a:solidFill>
                <a:latin typeface="Calibri"/>
              </a:rPr>
              <a:t>Full-time people, with the right mix of skills.</a:t>
            </a:r>
          </a:p>
        </p:txBody>
      </p:sp>
      <p:sp>
        <p:nvSpPr>
          <p:cNvPr id="7" name="TextBox 6"/>
          <p:cNvSpPr txBox="1"/>
          <p:nvPr/>
        </p:nvSpPr>
        <p:spPr>
          <a:xfrm>
            <a:off x="548640" y="6446520"/>
            <a:ext cx="5120640" cy="274320"/>
          </a:xfrm>
          <a:prstGeom prst="rect">
            <a:avLst/>
          </a:prstGeom>
          <a:noFill/>
        </p:spPr>
        <p:txBody>
          <a:bodyPr wrap="square" lIns="0" rIns="0" tIns="0" bIns="0">
            <a:spAutoFit/>
          </a:bodyPr>
          <a:lstStyle/>
          <a:p>
            <a:pPr>
              <a:lnSpc>
                <a:spcPct val="100000"/>
              </a:lnSpc>
            </a:pPr>
            <a:r>
              <a:rPr sz="1000" b="0">
                <a:solidFill>
                  <a:srgbClr val="4F5560"/>
                </a:solidFill>
                <a:latin typeface="Calibri"/>
              </a:rPr>
              <a:t>Reunión de preparación  ·  Espacio de Datos EJIE  ·  País Vasco</a:t>
            </a:r>
          </a:p>
        </p:txBody>
      </p:sp>
      <p:sp>
        <p:nvSpPr>
          <p:cNvPr id="8" name="Rectangle 7"/>
          <p:cNvSpPr/>
          <p:nvPr/>
        </p:nvSpPr>
        <p:spPr>
          <a:xfrm>
            <a:off x="10012680" y="429768"/>
            <a:ext cx="155448" cy="155448"/>
          </a:xfrm>
          <a:prstGeom prst="rect">
            <a:avLst/>
          </a:prstGeom>
          <a:solidFill>
            <a:srgbClr val="F4EF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10222992" y="429768"/>
            <a:ext cx="155448" cy="155448"/>
          </a:xfrm>
          <a:prstGeom prst="rect">
            <a:avLst/>
          </a:prstGeom>
          <a:solidFill>
            <a:srgbClr val="F4EF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10433304" y="429768"/>
            <a:ext cx="155448" cy="155448"/>
          </a:xfrm>
          <a:prstGeom prst="rect">
            <a:avLst/>
          </a:prstGeom>
          <a:solidFill>
            <a:srgbClr val="F4EF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10643615" y="429768"/>
            <a:ext cx="155448" cy="155448"/>
          </a:xfrm>
          <a:prstGeom prst="rect">
            <a:avLst/>
          </a:prstGeom>
          <a:solidFill>
            <a:srgbClr val="F4EF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10853928" y="429768"/>
            <a:ext cx="155448" cy="155448"/>
          </a:xfrm>
          <a:prstGeom prst="rect">
            <a:avLst/>
          </a:prstGeom>
          <a:solidFill>
            <a:srgbClr val="F4EF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11064240" y="429768"/>
            <a:ext cx="155448" cy="155448"/>
          </a:xfrm>
          <a:prstGeom prst="rect">
            <a:avLst/>
          </a:prstGeom>
          <a:solidFill>
            <a:srgbClr val="F4EF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11274552" y="429768"/>
            <a:ext cx="155448" cy="155448"/>
          </a:xfrm>
          <a:prstGeom prst="rect">
            <a:avLst/>
          </a:prstGeom>
          <a:solidFill>
            <a:srgbClr val="F4EF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11484863" y="429768"/>
            <a:ext cx="155448" cy="155448"/>
          </a:xfrm>
          <a:prstGeom prst="rect">
            <a:avLst/>
          </a:prstGeom>
          <a:solidFill>
            <a:srgbClr val="2A9D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548640" y="2011680"/>
            <a:ext cx="3566160" cy="4206240"/>
          </a:xfrm>
          <a:prstGeom prst="roundRect">
            <a:avLst>
              <a:gd name="adj" fmla="val 5000"/>
            </a:avLst>
          </a:prstGeom>
          <a:solidFill>
            <a:srgbClr val="143D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48640" y="2514600"/>
            <a:ext cx="3566160" cy="1188720"/>
          </a:xfrm>
          <a:prstGeom prst="rect">
            <a:avLst/>
          </a:prstGeom>
          <a:noFill/>
        </p:spPr>
        <p:txBody>
          <a:bodyPr wrap="square" lIns="0" rIns="0" tIns="0" bIns="0">
            <a:spAutoFit/>
          </a:bodyPr>
          <a:lstStyle/>
          <a:p>
            <a:pPr algn="ctr">
              <a:lnSpc>
                <a:spcPct val="100000"/>
              </a:lnSpc>
            </a:pPr>
            <a:r>
              <a:rPr sz="7200" b="1">
                <a:solidFill>
                  <a:srgbClr val="FFFFFF"/>
                </a:solidFill>
                <a:latin typeface="Calibri"/>
              </a:rPr>
              <a:t>8 – 12</a:t>
            </a:r>
          </a:p>
        </p:txBody>
      </p:sp>
      <p:sp>
        <p:nvSpPr>
          <p:cNvPr id="18" name="TextBox 17"/>
          <p:cNvSpPr txBox="1"/>
          <p:nvPr/>
        </p:nvSpPr>
        <p:spPr>
          <a:xfrm>
            <a:off x="548640" y="3794760"/>
            <a:ext cx="3566160" cy="457200"/>
          </a:xfrm>
          <a:prstGeom prst="rect">
            <a:avLst/>
          </a:prstGeom>
          <a:noFill/>
        </p:spPr>
        <p:txBody>
          <a:bodyPr wrap="square" lIns="0" rIns="0" tIns="0" bIns="0">
            <a:spAutoFit/>
          </a:bodyPr>
          <a:lstStyle/>
          <a:p>
            <a:pPr algn="ctr">
              <a:lnSpc>
                <a:spcPct val="100000"/>
              </a:lnSpc>
            </a:pPr>
            <a:r>
              <a:rPr sz="2200" b="1">
                <a:solidFill>
                  <a:srgbClr val="E6A817"/>
                </a:solidFill>
                <a:latin typeface="Calibri"/>
              </a:rPr>
              <a:t>full-time people</a:t>
            </a:r>
          </a:p>
        </p:txBody>
      </p:sp>
      <p:sp>
        <p:nvSpPr>
          <p:cNvPr id="19" name="TextBox 18"/>
          <p:cNvSpPr txBox="1"/>
          <p:nvPr/>
        </p:nvSpPr>
        <p:spPr>
          <a:xfrm>
            <a:off x="822960" y="4572000"/>
            <a:ext cx="3017520" cy="1371600"/>
          </a:xfrm>
          <a:prstGeom prst="rect">
            <a:avLst/>
          </a:prstGeom>
          <a:noFill/>
        </p:spPr>
        <p:txBody>
          <a:bodyPr wrap="square" lIns="0" rIns="0" tIns="0" bIns="0">
            <a:spAutoFit/>
          </a:bodyPr>
          <a:lstStyle/>
          <a:p>
            <a:pPr algn="ctr">
              <a:lnSpc>
                <a:spcPct val="110000"/>
              </a:lnSpc>
            </a:pPr>
            <a:r>
              <a:rPr sz="1400" b="0">
                <a:solidFill>
                  <a:srgbClr val="FFFFFF"/>
                </a:solidFill>
                <a:latin typeface="Calibri"/>
              </a:rPr>
              <a:t>Experts need time and a mandate from top management. See question 1.</a:t>
            </a:r>
          </a:p>
        </p:txBody>
      </p:sp>
      <p:sp>
        <p:nvSpPr>
          <p:cNvPr id="20" name="Rounded Rectangle 19"/>
          <p:cNvSpPr/>
          <p:nvPr/>
        </p:nvSpPr>
        <p:spPr>
          <a:xfrm>
            <a:off x="4343400" y="2011680"/>
            <a:ext cx="7296912" cy="749808"/>
          </a:xfrm>
          <a:prstGeom prst="roundRect">
            <a:avLst>
              <a:gd name="adj" fmla="val 5000"/>
            </a:avLst>
          </a:prstGeom>
          <a:solidFill>
            <a:srgbClr val="F4EF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4498848" y="2139696"/>
            <a:ext cx="493776" cy="493776"/>
          </a:xfrm>
          <a:prstGeom prst="ellipse">
            <a:avLst/>
          </a:prstGeom>
          <a:solidFill>
            <a:srgbClr val="143D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498848" y="2139696"/>
            <a:ext cx="493776" cy="493776"/>
          </a:xfrm>
          <a:prstGeom prst="rect">
            <a:avLst/>
          </a:prstGeom>
          <a:noFill/>
        </p:spPr>
        <p:txBody>
          <a:bodyPr wrap="square" lIns="0" rIns="0" tIns="0" bIns="0" anchor="ctr">
            <a:spAutoFit/>
          </a:bodyPr>
          <a:lstStyle/>
          <a:p>
            <a:pPr algn="ctr">
              <a:lnSpc>
                <a:spcPct val="100000"/>
              </a:lnSpc>
            </a:pPr>
            <a:r>
              <a:rPr sz="1500" b="1">
                <a:solidFill>
                  <a:srgbClr val="FFFFFF"/>
                </a:solidFill>
                <a:latin typeface="Calibri"/>
              </a:rPr>
              <a:t>1</a:t>
            </a:r>
          </a:p>
        </p:txBody>
      </p:sp>
      <p:sp>
        <p:nvSpPr>
          <p:cNvPr id="23" name="TextBox 22"/>
          <p:cNvSpPr txBox="1"/>
          <p:nvPr/>
        </p:nvSpPr>
        <p:spPr>
          <a:xfrm>
            <a:off x="5212080" y="2066544"/>
            <a:ext cx="6309360" cy="347472"/>
          </a:xfrm>
          <a:prstGeom prst="rect">
            <a:avLst/>
          </a:prstGeom>
          <a:noFill/>
        </p:spPr>
        <p:txBody>
          <a:bodyPr wrap="square" lIns="0" rIns="0" tIns="0" bIns="0">
            <a:spAutoFit/>
          </a:bodyPr>
          <a:lstStyle/>
          <a:p>
            <a:pPr>
              <a:lnSpc>
                <a:spcPct val="100000"/>
              </a:lnSpc>
            </a:pPr>
            <a:r>
              <a:rPr sz="1600" b="1">
                <a:solidFill>
                  <a:srgbClr val="143D59"/>
                </a:solidFill>
                <a:latin typeface="Calibri"/>
              </a:rPr>
              <a:t>Architect</a:t>
            </a:r>
          </a:p>
        </p:txBody>
      </p:sp>
      <p:sp>
        <p:nvSpPr>
          <p:cNvPr id="24" name="TextBox 23"/>
          <p:cNvSpPr txBox="1"/>
          <p:nvPr/>
        </p:nvSpPr>
        <p:spPr>
          <a:xfrm>
            <a:off x="5212080" y="2404872"/>
            <a:ext cx="6309360" cy="320040"/>
          </a:xfrm>
          <a:prstGeom prst="rect">
            <a:avLst/>
          </a:prstGeom>
          <a:noFill/>
        </p:spPr>
        <p:txBody>
          <a:bodyPr wrap="square" lIns="0" rIns="0" tIns="0" bIns="0">
            <a:spAutoFit/>
          </a:bodyPr>
          <a:lstStyle/>
          <a:p>
            <a:pPr>
              <a:lnSpc>
                <a:spcPct val="100000"/>
              </a:lnSpc>
            </a:pPr>
            <a:r>
              <a:rPr sz="1300" b="0">
                <a:solidFill>
                  <a:srgbClr val="4F5560"/>
                </a:solidFill>
                <a:latin typeface="Calibri"/>
              </a:rPr>
              <a:t>One person who holds the whole picture.</a:t>
            </a:r>
          </a:p>
        </p:txBody>
      </p:sp>
      <p:sp>
        <p:nvSpPr>
          <p:cNvPr id="25" name="Rounded Rectangle 24"/>
          <p:cNvSpPr/>
          <p:nvPr/>
        </p:nvSpPr>
        <p:spPr>
          <a:xfrm>
            <a:off x="4343400" y="2871216"/>
            <a:ext cx="7296912" cy="749808"/>
          </a:xfrm>
          <a:prstGeom prst="roundRect">
            <a:avLst>
              <a:gd name="adj" fmla="val 5000"/>
            </a:avLst>
          </a:prstGeom>
          <a:solidFill>
            <a:srgbClr val="F4EF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4498848" y="2999232"/>
            <a:ext cx="493776" cy="493776"/>
          </a:xfrm>
          <a:prstGeom prst="ellipse">
            <a:avLst/>
          </a:prstGeom>
          <a:solidFill>
            <a:srgbClr val="2A9D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4498848" y="2999232"/>
            <a:ext cx="493776" cy="493776"/>
          </a:xfrm>
          <a:prstGeom prst="rect">
            <a:avLst/>
          </a:prstGeom>
          <a:noFill/>
        </p:spPr>
        <p:txBody>
          <a:bodyPr wrap="square" lIns="0" rIns="0" tIns="0" bIns="0" anchor="ctr">
            <a:spAutoFit/>
          </a:bodyPr>
          <a:lstStyle/>
          <a:p>
            <a:pPr algn="ctr">
              <a:lnSpc>
                <a:spcPct val="100000"/>
              </a:lnSpc>
            </a:pPr>
            <a:r>
              <a:rPr sz="1500" b="1">
                <a:solidFill>
                  <a:srgbClr val="FFFFFF"/>
                </a:solidFill>
                <a:latin typeface="Calibri"/>
              </a:rPr>
              <a:t>2</a:t>
            </a:r>
          </a:p>
        </p:txBody>
      </p:sp>
      <p:sp>
        <p:nvSpPr>
          <p:cNvPr id="28" name="TextBox 27"/>
          <p:cNvSpPr txBox="1"/>
          <p:nvPr/>
        </p:nvSpPr>
        <p:spPr>
          <a:xfrm>
            <a:off x="5212080" y="2926080"/>
            <a:ext cx="6309360" cy="347472"/>
          </a:xfrm>
          <a:prstGeom prst="rect">
            <a:avLst/>
          </a:prstGeom>
          <a:noFill/>
        </p:spPr>
        <p:txBody>
          <a:bodyPr wrap="square" lIns="0" rIns="0" tIns="0" bIns="0">
            <a:spAutoFit/>
          </a:bodyPr>
          <a:lstStyle/>
          <a:p>
            <a:pPr>
              <a:lnSpc>
                <a:spcPct val="100000"/>
              </a:lnSpc>
            </a:pPr>
            <a:r>
              <a:rPr sz="1600" b="1">
                <a:solidFill>
                  <a:srgbClr val="143D59"/>
                </a:solidFill>
                <a:latin typeface="Calibri"/>
              </a:rPr>
              <a:t>Connector engineers</a:t>
            </a:r>
          </a:p>
        </p:txBody>
      </p:sp>
      <p:sp>
        <p:nvSpPr>
          <p:cNvPr id="29" name="TextBox 28"/>
          <p:cNvSpPr txBox="1"/>
          <p:nvPr/>
        </p:nvSpPr>
        <p:spPr>
          <a:xfrm>
            <a:off x="5212080" y="3264408"/>
            <a:ext cx="6309360" cy="320040"/>
          </a:xfrm>
          <a:prstGeom prst="rect">
            <a:avLst/>
          </a:prstGeom>
          <a:noFill/>
        </p:spPr>
        <p:txBody>
          <a:bodyPr wrap="square" lIns="0" rIns="0" tIns="0" bIns="0">
            <a:spAutoFit/>
          </a:bodyPr>
          <a:lstStyle/>
          <a:p>
            <a:pPr>
              <a:lnSpc>
                <a:spcPct val="100000"/>
              </a:lnSpc>
            </a:pPr>
            <a:r>
              <a:rPr sz="1300" b="0">
                <a:solidFill>
                  <a:srgbClr val="4F5560"/>
                </a:solidFill>
                <a:latin typeface="Calibri"/>
              </a:rPr>
              <a:t>Run and update the dataspace connectors.</a:t>
            </a:r>
          </a:p>
        </p:txBody>
      </p:sp>
      <p:sp>
        <p:nvSpPr>
          <p:cNvPr id="30" name="Rounded Rectangle 29"/>
          <p:cNvSpPr/>
          <p:nvPr/>
        </p:nvSpPr>
        <p:spPr>
          <a:xfrm>
            <a:off x="4343400" y="3730752"/>
            <a:ext cx="7296912" cy="749808"/>
          </a:xfrm>
          <a:prstGeom prst="roundRect">
            <a:avLst>
              <a:gd name="adj" fmla="val 5000"/>
            </a:avLst>
          </a:prstGeom>
          <a:solidFill>
            <a:srgbClr val="F4EF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4498848" y="3858768"/>
            <a:ext cx="493776" cy="493776"/>
          </a:xfrm>
          <a:prstGeom prst="ellipse">
            <a:avLst/>
          </a:prstGeom>
          <a:solidFill>
            <a:srgbClr val="528B5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498848" y="3858768"/>
            <a:ext cx="493776" cy="493776"/>
          </a:xfrm>
          <a:prstGeom prst="rect">
            <a:avLst/>
          </a:prstGeom>
          <a:noFill/>
        </p:spPr>
        <p:txBody>
          <a:bodyPr wrap="square" lIns="0" rIns="0" tIns="0" bIns="0" anchor="ctr">
            <a:spAutoFit/>
          </a:bodyPr>
          <a:lstStyle/>
          <a:p>
            <a:pPr algn="ctr">
              <a:lnSpc>
                <a:spcPct val="100000"/>
              </a:lnSpc>
            </a:pPr>
            <a:r>
              <a:rPr sz="1500" b="1">
                <a:solidFill>
                  <a:srgbClr val="FFFFFF"/>
                </a:solidFill>
                <a:latin typeface="Calibri"/>
              </a:rPr>
              <a:t>3</a:t>
            </a:r>
          </a:p>
        </p:txBody>
      </p:sp>
      <p:sp>
        <p:nvSpPr>
          <p:cNvPr id="33" name="TextBox 32"/>
          <p:cNvSpPr txBox="1"/>
          <p:nvPr/>
        </p:nvSpPr>
        <p:spPr>
          <a:xfrm>
            <a:off x="5212080" y="3785615"/>
            <a:ext cx="6309360" cy="347472"/>
          </a:xfrm>
          <a:prstGeom prst="rect">
            <a:avLst/>
          </a:prstGeom>
          <a:noFill/>
        </p:spPr>
        <p:txBody>
          <a:bodyPr wrap="square" lIns="0" rIns="0" tIns="0" bIns="0">
            <a:spAutoFit/>
          </a:bodyPr>
          <a:lstStyle/>
          <a:p>
            <a:pPr>
              <a:lnSpc>
                <a:spcPct val="100000"/>
              </a:lnSpc>
            </a:pPr>
            <a:r>
              <a:rPr sz="1600" b="1">
                <a:solidFill>
                  <a:srgbClr val="143D59"/>
                </a:solidFill>
                <a:latin typeface="Calibri"/>
              </a:rPr>
              <a:t>Platform and security (DevSecOps)</a:t>
            </a:r>
          </a:p>
        </p:txBody>
      </p:sp>
      <p:sp>
        <p:nvSpPr>
          <p:cNvPr id="34" name="TextBox 33"/>
          <p:cNvSpPr txBox="1"/>
          <p:nvPr/>
        </p:nvSpPr>
        <p:spPr>
          <a:xfrm>
            <a:off x="5212080" y="4123944"/>
            <a:ext cx="6309360" cy="320040"/>
          </a:xfrm>
          <a:prstGeom prst="rect">
            <a:avLst/>
          </a:prstGeom>
          <a:noFill/>
        </p:spPr>
        <p:txBody>
          <a:bodyPr wrap="square" lIns="0" rIns="0" tIns="0" bIns="0">
            <a:spAutoFit/>
          </a:bodyPr>
          <a:lstStyle/>
          <a:p>
            <a:pPr>
              <a:lnSpc>
                <a:spcPct val="100000"/>
              </a:lnSpc>
            </a:pPr>
            <a:r>
              <a:rPr sz="1300" b="0">
                <a:solidFill>
                  <a:srgbClr val="4F5560"/>
                </a:solidFill>
                <a:latin typeface="Calibri"/>
              </a:rPr>
              <a:t>Hosting, identity, monitoring, security.</a:t>
            </a:r>
          </a:p>
        </p:txBody>
      </p:sp>
      <p:sp>
        <p:nvSpPr>
          <p:cNvPr id="35" name="Rounded Rectangle 34"/>
          <p:cNvSpPr/>
          <p:nvPr/>
        </p:nvSpPr>
        <p:spPr>
          <a:xfrm>
            <a:off x="4343400" y="4590288"/>
            <a:ext cx="7296912" cy="749808"/>
          </a:xfrm>
          <a:prstGeom prst="roundRect">
            <a:avLst>
              <a:gd name="adj" fmla="val 5000"/>
            </a:avLst>
          </a:prstGeom>
          <a:solidFill>
            <a:srgbClr val="F4EF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Oval 35"/>
          <p:cNvSpPr/>
          <p:nvPr/>
        </p:nvSpPr>
        <p:spPr>
          <a:xfrm>
            <a:off x="4498848" y="4718303"/>
            <a:ext cx="493776" cy="493776"/>
          </a:xfrm>
          <a:prstGeom prst="ellipse">
            <a:avLst/>
          </a:prstGeom>
          <a:solidFill>
            <a:srgbClr val="E6A8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4498848" y="4718303"/>
            <a:ext cx="493776" cy="493776"/>
          </a:xfrm>
          <a:prstGeom prst="rect">
            <a:avLst/>
          </a:prstGeom>
          <a:noFill/>
        </p:spPr>
        <p:txBody>
          <a:bodyPr wrap="square" lIns="0" rIns="0" tIns="0" bIns="0" anchor="ctr">
            <a:spAutoFit/>
          </a:bodyPr>
          <a:lstStyle/>
          <a:p>
            <a:pPr algn="ctr">
              <a:lnSpc>
                <a:spcPct val="100000"/>
              </a:lnSpc>
            </a:pPr>
            <a:r>
              <a:rPr sz="1500" b="1">
                <a:solidFill>
                  <a:srgbClr val="FFFFFF"/>
                </a:solidFill>
                <a:latin typeface="Calibri"/>
              </a:rPr>
              <a:t>4</a:t>
            </a:r>
          </a:p>
        </p:txBody>
      </p:sp>
      <p:sp>
        <p:nvSpPr>
          <p:cNvPr id="38" name="TextBox 37"/>
          <p:cNvSpPr txBox="1"/>
          <p:nvPr/>
        </p:nvSpPr>
        <p:spPr>
          <a:xfrm>
            <a:off x="5212080" y="4645151"/>
            <a:ext cx="6309360" cy="347472"/>
          </a:xfrm>
          <a:prstGeom prst="rect">
            <a:avLst/>
          </a:prstGeom>
          <a:noFill/>
        </p:spPr>
        <p:txBody>
          <a:bodyPr wrap="square" lIns="0" rIns="0" tIns="0" bIns="0">
            <a:spAutoFit/>
          </a:bodyPr>
          <a:lstStyle/>
          <a:p>
            <a:pPr>
              <a:lnSpc>
                <a:spcPct val="100000"/>
              </a:lnSpc>
            </a:pPr>
            <a:r>
              <a:rPr sz="1600" b="1">
                <a:solidFill>
                  <a:srgbClr val="143D59"/>
                </a:solidFill>
                <a:latin typeface="Calibri"/>
              </a:rPr>
              <a:t>FHIR and OMOP specialist</a:t>
            </a:r>
          </a:p>
        </p:txBody>
      </p:sp>
      <p:sp>
        <p:nvSpPr>
          <p:cNvPr id="39" name="TextBox 38"/>
          <p:cNvSpPr txBox="1"/>
          <p:nvPr/>
        </p:nvSpPr>
        <p:spPr>
          <a:xfrm>
            <a:off x="5212080" y="4983479"/>
            <a:ext cx="6309360" cy="320040"/>
          </a:xfrm>
          <a:prstGeom prst="rect">
            <a:avLst/>
          </a:prstGeom>
          <a:noFill/>
        </p:spPr>
        <p:txBody>
          <a:bodyPr wrap="square" lIns="0" rIns="0" tIns="0" bIns="0">
            <a:spAutoFit/>
          </a:bodyPr>
          <a:lstStyle/>
          <a:p>
            <a:pPr>
              <a:lnSpc>
                <a:spcPct val="100000"/>
              </a:lnSpc>
            </a:pPr>
            <a:r>
              <a:rPr sz="1300" b="0">
                <a:solidFill>
                  <a:srgbClr val="4F5560"/>
                </a:solidFill>
                <a:latin typeface="Calibri"/>
              </a:rPr>
              <a:t>Makes the data mean the same thing everywhere.</a:t>
            </a:r>
          </a:p>
        </p:txBody>
      </p:sp>
      <p:sp>
        <p:nvSpPr>
          <p:cNvPr id="40" name="Rounded Rectangle 39"/>
          <p:cNvSpPr/>
          <p:nvPr/>
        </p:nvSpPr>
        <p:spPr>
          <a:xfrm>
            <a:off x="4343400" y="5449824"/>
            <a:ext cx="7296912" cy="749808"/>
          </a:xfrm>
          <a:prstGeom prst="roundRect">
            <a:avLst>
              <a:gd name="adj" fmla="val 5000"/>
            </a:avLst>
          </a:prstGeom>
          <a:solidFill>
            <a:srgbClr val="F4EF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Oval 40"/>
          <p:cNvSpPr/>
          <p:nvPr/>
        </p:nvSpPr>
        <p:spPr>
          <a:xfrm>
            <a:off x="4498848" y="5577840"/>
            <a:ext cx="493776" cy="493776"/>
          </a:xfrm>
          <a:prstGeom prst="ellipse">
            <a:avLst/>
          </a:prstGeom>
          <a:solidFill>
            <a:srgbClr val="C31E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4498848" y="5577840"/>
            <a:ext cx="493776" cy="493776"/>
          </a:xfrm>
          <a:prstGeom prst="rect">
            <a:avLst/>
          </a:prstGeom>
          <a:noFill/>
        </p:spPr>
        <p:txBody>
          <a:bodyPr wrap="square" lIns="0" rIns="0" tIns="0" bIns="0" anchor="ctr">
            <a:spAutoFit/>
          </a:bodyPr>
          <a:lstStyle/>
          <a:p>
            <a:pPr algn="ctr">
              <a:lnSpc>
                <a:spcPct val="100000"/>
              </a:lnSpc>
            </a:pPr>
            <a:r>
              <a:rPr sz="1500" b="1">
                <a:solidFill>
                  <a:srgbClr val="FFFFFF"/>
                </a:solidFill>
                <a:latin typeface="Calibri"/>
              </a:rPr>
              <a:t>5</a:t>
            </a:r>
          </a:p>
        </p:txBody>
      </p:sp>
      <p:sp>
        <p:nvSpPr>
          <p:cNvPr id="43" name="TextBox 42"/>
          <p:cNvSpPr txBox="1"/>
          <p:nvPr/>
        </p:nvSpPr>
        <p:spPr>
          <a:xfrm>
            <a:off x="5212080" y="5504688"/>
            <a:ext cx="6309360" cy="347472"/>
          </a:xfrm>
          <a:prstGeom prst="rect">
            <a:avLst/>
          </a:prstGeom>
          <a:noFill/>
        </p:spPr>
        <p:txBody>
          <a:bodyPr wrap="square" lIns="0" rIns="0" tIns="0" bIns="0">
            <a:spAutoFit/>
          </a:bodyPr>
          <a:lstStyle/>
          <a:p>
            <a:pPr>
              <a:lnSpc>
                <a:spcPct val="100000"/>
              </a:lnSpc>
            </a:pPr>
            <a:r>
              <a:rPr sz="1600" b="1">
                <a:solidFill>
                  <a:srgbClr val="143D59"/>
                </a:solidFill>
                <a:latin typeface="Calibri"/>
              </a:rPr>
              <a:t>Data protection and legal</a:t>
            </a:r>
          </a:p>
        </p:txBody>
      </p:sp>
      <p:sp>
        <p:nvSpPr>
          <p:cNvPr id="44" name="TextBox 43"/>
          <p:cNvSpPr txBox="1"/>
          <p:nvPr/>
        </p:nvSpPr>
        <p:spPr>
          <a:xfrm>
            <a:off x="5212080" y="5843016"/>
            <a:ext cx="6309360" cy="320040"/>
          </a:xfrm>
          <a:prstGeom prst="rect">
            <a:avLst/>
          </a:prstGeom>
          <a:noFill/>
        </p:spPr>
        <p:txBody>
          <a:bodyPr wrap="square" lIns="0" rIns="0" tIns="0" bIns="0">
            <a:spAutoFit/>
          </a:bodyPr>
          <a:lstStyle/>
          <a:p>
            <a:pPr>
              <a:lnSpc>
                <a:spcPct val="100000"/>
              </a:lnSpc>
            </a:pPr>
            <a:r>
              <a:rPr sz="1300" b="0">
                <a:solidFill>
                  <a:srgbClr val="4F5560"/>
                </a:solidFill>
                <a:latin typeface="Calibri"/>
              </a:rPr>
              <a:t>GDPR, EHDS, data permits and contracts.</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96" fill="hold">
                      <p:stCondLst>
                        <p:cond delay="indefinite"/>
                        <p:cond evt="onBegin" delay="0">
                          <p:tn val="2"/>
                        </p:cond>
                      </p:stCondLst>
                      <p:childTnLst>
                        <p:par>
                          <p:cTn id="15" fill="hold">
                            <p:stCondLst>
                              <p:cond delay="0"/>
                            </p:stCondLst>
                            <p:childTnLst>
                              <p:par>
                                <p:cTn id="3" presetID="10" presetClass="entr" presetSubtype="0" fill="hold" grpId="0" nodeType="afterEffect">
                                  <p:stCondLst>
                                    <p:cond delay="0"/>
                                  </p:stCondLst>
                                  <p:childTnLst>
                                    <p:set>
                                      <p:cBhvr>
                                        <p:cTn id="4" dur="1" fill="hold">
                                          <p:stCondLst>
                                            <p:cond delay="0"/>
                                          </p:stCondLst>
                                        </p:cTn>
                                        <p:tgtEl>
                                          <p:spTgt spid="16"/>
                                        </p:tgtEl>
                                        <p:attrNameLst>
                                          <p:attrName>style.visibility</p:attrName>
                                        </p:attrNameLst>
                                      </p:cBhvr>
                                      <p:to>
                                        <p:strVal val="visible"/>
                                      </p:to>
                                    </p:set>
                                    <p:animEffect transition="in" filter="fade">
                                      <p:cBhvr>
                                        <p:cTn id="5" dur="500"/>
                                        <p:tgtEl>
                                          <p:spTgt spid="16"/>
                                        </p:tgtEl>
                                      </p:cBhvr>
                                    </p:animEffect>
                                  </p:childTnLst>
                                </p:cTn>
                              </p:par>
                              <p:par>
                                <p:cTn id="6" presetID="10" presetClass="entr" presetSubtype="0" fill="hold" grpId="0" nodeType="withEffect">
                                  <p:stCondLst>
                                    <p:cond delay="0"/>
                                  </p:stCondLst>
                                  <p:childTnLst>
                                    <p:set>
                                      <p:cBhvr>
                                        <p:cTn id="7" dur="1" fill="hold">
                                          <p:stCondLst>
                                            <p:cond delay="0"/>
                                          </p:stCondLst>
                                        </p:cTn>
                                        <p:tgtEl>
                                          <p:spTgt spid="17"/>
                                        </p:tgtEl>
                                        <p:attrNameLst>
                                          <p:attrName>style.visibility</p:attrName>
                                        </p:attrNameLst>
                                      </p:cBhvr>
                                      <p:to>
                                        <p:strVal val="visible"/>
                                      </p:to>
                                    </p:set>
                                    <p:animEffect transition="in" filter="fade">
                                      <p:cBhvr>
                                        <p:cTn id="8" dur="500"/>
                                        <p:tgtEl>
                                          <p:spTgt spid="17"/>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19"/>
                                        </p:tgtEl>
                                        <p:attrNameLst>
                                          <p:attrName>style.visibility</p:attrName>
                                        </p:attrNameLst>
                                      </p:cBhvr>
                                      <p:to>
                                        <p:strVal val="visible"/>
                                      </p:to>
                                    </p:set>
                                    <p:animEffect transition="in" filter="fade">
                                      <p:cBhvr>
                                        <p:cTn id="11" dur="500"/>
                                        <p:tgtEl>
                                          <p:spTgt spid="19"/>
                                        </p:tgtEl>
                                      </p:cBhvr>
                                    </p:animEffect>
                                  </p:childTnLst>
                                </p:cTn>
                              </p:par>
                              <p:par>
                                <p:cTn id="12" presetID="10" presetClass="entr" presetSubtype="0" fill="hold" grpId="0" nodeType="withEffect">
                                  <p:stCondLst>
                                    <p:cond delay="0"/>
                                  </p:stCondLst>
                                  <p:childTnLst>
                                    <p:set>
                                      <p:cBhvr>
                                        <p:cTn id="13" dur="1" fill="hold">
                                          <p:stCondLst>
                                            <p:cond delay="0"/>
                                          </p:stCondLst>
                                        </p:cTn>
                                        <p:tgtEl>
                                          <p:spTgt spid="18"/>
                                        </p:tgtEl>
                                        <p:attrNameLst>
                                          <p:attrName>style.visibility</p:attrName>
                                        </p:attrNameLst>
                                      </p:cBhvr>
                                      <p:to>
                                        <p:strVal val="visible"/>
                                      </p:to>
                                    </p:set>
                                    <p:animEffect transition="in" filter="fade">
                                      <p:cBhvr>
                                        <p:cTn id="14" dur="500"/>
                                        <p:tgtEl>
                                          <p:spTgt spid="18"/>
                                        </p:tgtEl>
                                      </p:cBhvr>
                                    </p:animEffect>
                                  </p:childTnLst>
                                </p:cTn>
                              </p:par>
                            </p:childTnLst>
                          </p:cTn>
                        </p:par>
                        <p:par>
                          <p:cTn id="31" fill="hold">
                            <p:stCondLst>
                              <p:cond delay="300"/>
                            </p:stCondLst>
                            <p:childTnLst>
                              <p:par>
                                <p:cTn id="16" presetID="10" presetClass="entr" presetSubtype="0" fill="hold" grpId="0" nodeType="withEffect">
                                  <p:stCondLst>
                                    <p:cond delay="0"/>
                                  </p:stCondLst>
                                  <p:childTnLst>
                                    <p:set>
                                      <p:cBhvr>
                                        <p:cTn id="17" dur="1" fill="hold">
                                          <p:stCondLst>
                                            <p:cond delay="0"/>
                                          </p:stCondLst>
                                        </p:cTn>
                                        <p:tgtEl>
                                          <p:spTgt spid="20"/>
                                        </p:tgtEl>
                                        <p:attrNameLst>
                                          <p:attrName>style.visibility</p:attrName>
                                        </p:attrNameLst>
                                      </p:cBhvr>
                                      <p:to>
                                        <p:strVal val="visible"/>
                                      </p:to>
                                    </p:set>
                                    <p:animEffect transition="in" filter="fade">
                                      <p:cBhvr>
                                        <p:cTn id="18" dur="500"/>
                                        <p:tgtEl>
                                          <p:spTgt spid="20"/>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23"/>
                                        </p:tgtEl>
                                        <p:attrNameLst>
                                          <p:attrName>style.visibility</p:attrName>
                                        </p:attrNameLst>
                                      </p:cBhvr>
                                      <p:to>
                                        <p:strVal val="visible"/>
                                      </p:to>
                                    </p:set>
                                    <p:animEffect transition="in" filter="fade">
                                      <p:cBhvr>
                                        <p:cTn id="21" dur="500"/>
                                        <p:tgtEl>
                                          <p:spTgt spid="23"/>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24"/>
                                        </p:tgtEl>
                                        <p:attrNameLst>
                                          <p:attrName>style.visibility</p:attrName>
                                        </p:attrNameLst>
                                      </p:cBhvr>
                                      <p:to>
                                        <p:strVal val="visible"/>
                                      </p:to>
                                    </p:set>
                                    <p:animEffect transition="in" filter="fade">
                                      <p:cBhvr>
                                        <p:cTn id="24" dur="500"/>
                                        <p:tgtEl>
                                          <p:spTgt spid="24"/>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21"/>
                                        </p:tgtEl>
                                        <p:attrNameLst>
                                          <p:attrName>style.visibility</p:attrName>
                                        </p:attrNameLst>
                                      </p:cBhvr>
                                      <p:to>
                                        <p:strVal val="visible"/>
                                      </p:to>
                                    </p:set>
                                    <p:animEffect transition="in" filter="fade">
                                      <p:cBhvr>
                                        <p:cTn id="27" dur="500"/>
                                        <p:tgtEl>
                                          <p:spTgt spid="21"/>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22"/>
                                        </p:tgtEl>
                                        <p:attrNameLst>
                                          <p:attrName>style.visibility</p:attrName>
                                        </p:attrNameLst>
                                      </p:cBhvr>
                                      <p:to>
                                        <p:strVal val="visible"/>
                                      </p:to>
                                    </p:set>
                                    <p:animEffect transition="in" filter="fade">
                                      <p:cBhvr>
                                        <p:cTn id="30" dur="500"/>
                                        <p:tgtEl>
                                          <p:spTgt spid="22"/>
                                        </p:tgtEl>
                                      </p:cBhvr>
                                    </p:animEffect>
                                  </p:childTnLst>
                                </p:cTn>
                              </p:par>
                            </p:childTnLst>
                          </p:cTn>
                        </p:par>
                        <p:par>
                          <p:cTn id="47" fill="hold">
                            <p:stCondLst>
                              <p:cond delay="600"/>
                            </p:stCondLst>
                            <p:childTnLst>
                              <p:par>
                                <p:cTn id="32" presetID="10" presetClass="entr" presetSubtype="0" fill="hold" grpId="0" nodeType="withEffect">
                                  <p:stCondLst>
                                    <p:cond delay="0"/>
                                  </p:stCondLst>
                                  <p:childTnLst>
                                    <p:set>
                                      <p:cBhvr>
                                        <p:cTn id="33" dur="1" fill="hold">
                                          <p:stCondLst>
                                            <p:cond delay="0"/>
                                          </p:stCondLst>
                                        </p:cTn>
                                        <p:tgtEl>
                                          <p:spTgt spid="25"/>
                                        </p:tgtEl>
                                        <p:attrNameLst>
                                          <p:attrName>style.visibility</p:attrName>
                                        </p:attrNameLst>
                                      </p:cBhvr>
                                      <p:to>
                                        <p:strVal val="visible"/>
                                      </p:to>
                                    </p:set>
                                    <p:animEffect transition="in" filter="fade">
                                      <p:cBhvr>
                                        <p:cTn id="34" dur="500"/>
                                        <p:tgtEl>
                                          <p:spTgt spid="25"/>
                                        </p:tgtEl>
                                      </p:cBhvr>
                                    </p:animEffect>
                                  </p:childTnLst>
                                </p:cTn>
                              </p:par>
                              <p:par>
                                <p:cTn id="35" presetID="10" presetClass="entr" presetSubtype="0" fill="hold" grpId="0" nodeType="withEffect">
                                  <p:stCondLst>
                                    <p:cond delay="0"/>
                                  </p:stCondLst>
                                  <p:childTnLst>
                                    <p:set>
                                      <p:cBhvr>
                                        <p:cTn id="36" dur="1" fill="hold">
                                          <p:stCondLst>
                                            <p:cond delay="0"/>
                                          </p:stCondLst>
                                        </p:cTn>
                                        <p:tgtEl>
                                          <p:spTgt spid="28"/>
                                        </p:tgtEl>
                                        <p:attrNameLst>
                                          <p:attrName>style.visibility</p:attrName>
                                        </p:attrNameLst>
                                      </p:cBhvr>
                                      <p:to>
                                        <p:strVal val="visible"/>
                                      </p:to>
                                    </p:set>
                                    <p:animEffect transition="in" filter="fade">
                                      <p:cBhvr>
                                        <p:cTn id="37" dur="500"/>
                                        <p:tgtEl>
                                          <p:spTgt spid="28"/>
                                        </p:tgtEl>
                                      </p:cBhvr>
                                    </p:animEffect>
                                  </p:childTnLst>
                                </p:cTn>
                              </p:par>
                              <p:par>
                                <p:cTn id="38" presetID="10" presetClass="entr" presetSubtype="0" fill="hold" grpId="0" nodeType="withEffect">
                                  <p:stCondLst>
                                    <p:cond delay="0"/>
                                  </p:stCondLst>
                                  <p:childTnLst>
                                    <p:set>
                                      <p:cBhvr>
                                        <p:cTn id="39" dur="1" fill="hold">
                                          <p:stCondLst>
                                            <p:cond delay="0"/>
                                          </p:stCondLst>
                                        </p:cTn>
                                        <p:tgtEl>
                                          <p:spTgt spid="29"/>
                                        </p:tgtEl>
                                        <p:attrNameLst>
                                          <p:attrName>style.visibility</p:attrName>
                                        </p:attrNameLst>
                                      </p:cBhvr>
                                      <p:to>
                                        <p:strVal val="visible"/>
                                      </p:to>
                                    </p:set>
                                    <p:animEffect transition="in" filter="fade">
                                      <p:cBhvr>
                                        <p:cTn id="40" dur="500"/>
                                        <p:tgtEl>
                                          <p:spTgt spid="29"/>
                                        </p:tgtEl>
                                      </p:cBhvr>
                                    </p:animEffect>
                                  </p:childTnLst>
                                </p:cTn>
                              </p:par>
                              <p:par>
                                <p:cTn id="41" presetID="10" presetClass="entr" presetSubtype="0" fill="hold" grpId="0" nodeType="withEffect">
                                  <p:stCondLst>
                                    <p:cond delay="0"/>
                                  </p:stCondLst>
                                  <p:childTnLst>
                                    <p:set>
                                      <p:cBhvr>
                                        <p:cTn id="42" dur="1" fill="hold">
                                          <p:stCondLst>
                                            <p:cond delay="0"/>
                                          </p:stCondLst>
                                        </p:cTn>
                                        <p:tgtEl>
                                          <p:spTgt spid="26"/>
                                        </p:tgtEl>
                                        <p:attrNameLst>
                                          <p:attrName>style.visibility</p:attrName>
                                        </p:attrNameLst>
                                      </p:cBhvr>
                                      <p:to>
                                        <p:strVal val="visible"/>
                                      </p:to>
                                    </p:set>
                                    <p:animEffect transition="in" filter="fade">
                                      <p:cBhvr>
                                        <p:cTn id="43" dur="500"/>
                                        <p:tgtEl>
                                          <p:spTgt spid="26"/>
                                        </p:tgtEl>
                                      </p:cBhvr>
                                    </p:animEffect>
                                  </p:childTnLst>
                                </p:cTn>
                              </p:par>
                              <p:par>
                                <p:cTn id="44" presetID="10" presetClass="entr" presetSubtype="0" fill="hold" grpId="0" nodeType="withEffect">
                                  <p:stCondLst>
                                    <p:cond delay="0"/>
                                  </p:stCondLst>
                                  <p:childTnLst>
                                    <p:set>
                                      <p:cBhvr>
                                        <p:cTn id="45" dur="1" fill="hold">
                                          <p:stCondLst>
                                            <p:cond delay="0"/>
                                          </p:stCondLst>
                                        </p:cTn>
                                        <p:tgtEl>
                                          <p:spTgt spid="27"/>
                                        </p:tgtEl>
                                        <p:attrNameLst>
                                          <p:attrName>style.visibility</p:attrName>
                                        </p:attrNameLst>
                                      </p:cBhvr>
                                      <p:to>
                                        <p:strVal val="visible"/>
                                      </p:to>
                                    </p:set>
                                    <p:animEffect transition="in" filter="fade">
                                      <p:cBhvr>
                                        <p:cTn id="46" dur="500"/>
                                        <p:tgtEl>
                                          <p:spTgt spid="27"/>
                                        </p:tgtEl>
                                      </p:cBhvr>
                                    </p:animEffect>
                                  </p:childTnLst>
                                </p:cTn>
                              </p:par>
                            </p:childTnLst>
                          </p:cTn>
                        </p:par>
                        <p:par>
                          <p:cTn id="63" fill="hold">
                            <p:stCondLst>
                              <p:cond delay="900"/>
                            </p:stCondLst>
                            <p:childTnLst>
                              <p:par>
                                <p:cTn id="48" presetID="10" presetClass="entr" presetSubtype="0" fill="hold" grpId="0" nodeType="withEffect">
                                  <p:stCondLst>
                                    <p:cond delay="0"/>
                                  </p:stCondLst>
                                  <p:childTnLst>
                                    <p:set>
                                      <p:cBhvr>
                                        <p:cTn id="49" dur="1" fill="hold">
                                          <p:stCondLst>
                                            <p:cond delay="0"/>
                                          </p:stCondLst>
                                        </p:cTn>
                                        <p:tgtEl>
                                          <p:spTgt spid="30"/>
                                        </p:tgtEl>
                                        <p:attrNameLst>
                                          <p:attrName>style.visibility</p:attrName>
                                        </p:attrNameLst>
                                      </p:cBhvr>
                                      <p:to>
                                        <p:strVal val="visible"/>
                                      </p:to>
                                    </p:set>
                                    <p:animEffect transition="in" filter="fade">
                                      <p:cBhvr>
                                        <p:cTn id="50" dur="500"/>
                                        <p:tgtEl>
                                          <p:spTgt spid="30"/>
                                        </p:tgtEl>
                                      </p:cBhvr>
                                    </p:animEffect>
                                  </p:childTnLst>
                                </p:cTn>
                              </p:par>
                              <p:par>
                                <p:cTn id="51" presetID="10" presetClass="entr" presetSubtype="0" fill="hold" grpId="0" nodeType="withEffect">
                                  <p:stCondLst>
                                    <p:cond delay="0"/>
                                  </p:stCondLst>
                                  <p:childTnLst>
                                    <p:set>
                                      <p:cBhvr>
                                        <p:cTn id="52" dur="1" fill="hold">
                                          <p:stCondLst>
                                            <p:cond delay="0"/>
                                          </p:stCondLst>
                                        </p:cTn>
                                        <p:tgtEl>
                                          <p:spTgt spid="33"/>
                                        </p:tgtEl>
                                        <p:attrNameLst>
                                          <p:attrName>style.visibility</p:attrName>
                                        </p:attrNameLst>
                                      </p:cBhvr>
                                      <p:to>
                                        <p:strVal val="visible"/>
                                      </p:to>
                                    </p:set>
                                    <p:animEffect transition="in" filter="fade">
                                      <p:cBhvr>
                                        <p:cTn id="53" dur="500"/>
                                        <p:tgtEl>
                                          <p:spTgt spid="33"/>
                                        </p:tgtEl>
                                      </p:cBhvr>
                                    </p:animEffect>
                                  </p:childTnLst>
                                </p:cTn>
                              </p:par>
                              <p:par>
                                <p:cTn id="54" presetID="10" presetClass="entr" presetSubtype="0" fill="hold" grpId="0" nodeType="withEffect">
                                  <p:stCondLst>
                                    <p:cond delay="0"/>
                                  </p:stCondLst>
                                  <p:childTnLst>
                                    <p:set>
                                      <p:cBhvr>
                                        <p:cTn id="55" dur="1" fill="hold">
                                          <p:stCondLst>
                                            <p:cond delay="0"/>
                                          </p:stCondLst>
                                        </p:cTn>
                                        <p:tgtEl>
                                          <p:spTgt spid="34"/>
                                        </p:tgtEl>
                                        <p:attrNameLst>
                                          <p:attrName>style.visibility</p:attrName>
                                        </p:attrNameLst>
                                      </p:cBhvr>
                                      <p:to>
                                        <p:strVal val="visible"/>
                                      </p:to>
                                    </p:set>
                                    <p:animEffect transition="in" filter="fade">
                                      <p:cBhvr>
                                        <p:cTn id="56" dur="500"/>
                                        <p:tgtEl>
                                          <p:spTgt spid="34"/>
                                        </p:tgtEl>
                                      </p:cBhvr>
                                    </p:animEffect>
                                  </p:childTnLst>
                                </p:cTn>
                              </p:par>
                              <p:par>
                                <p:cTn id="57" presetID="10" presetClass="entr" presetSubtype="0" fill="hold" grpId="0" nodeType="withEffect">
                                  <p:stCondLst>
                                    <p:cond delay="0"/>
                                  </p:stCondLst>
                                  <p:childTnLst>
                                    <p:set>
                                      <p:cBhvr>
                                        <p:cTn id="58" dur="1" fill="hold">
                                          <p:stCondLst>
                                            <p:cond delay="0"/>
                                          </p:stCondLst>
                                        </p:cTn>
                                        <p:tgtEl>
                                          <p:spTgt spid="31"/>
                                        </p:tgtEl>
                                        <p:attrNameLst>
                                          <p:attrName>style.visibility</p:attrName>
                                        </p:attrNameLst>
                                      </p:cBhvr>
                                      <p:to>
                                        <p:strVal val="visible"/>
                                      </p:to>
                                    </p:set>
                                    <p:animEffect transition="in" filter="fade">
                                      <p:cBhvr>
                                        <p:cTn id="59" dur="500"/>
                                        <p:tgtEl>
                                          <p:spTgt spid="31"/>
                                        </p:tgtEl>
                                      </p:cBhvr>
                                    </p:animEffect>
                                  </p:childTnLst>
                                </p:cTn>
                              </p:par>
                              <p:par>
                                <p:cTn id="60" presetID="10" presetClass="entr" presetSubtype="0" fill="hold" grpId="0" nodeType="withEffect">
                                  <p:stCondLst>
                                    <p:cond delay="0"/>
                                  </p:stCondLst>
                                  <p:childTnLst>
                                    <p:set>
                                      <p:cBhvr>
                                        <p:cTn id="61" dur="1" fill="hold">
                                          <p:stCondLst>
                                            <p:cond delay="0"/>
                                          </p:stCondLst>
                                        </p:cTn>
                                        <p:tgtEl>
                                          <p:spTgt spid="32"/>
                                        </p:tgtEl>
                                        <p:attrNameLst>
                                          <p:attrName>style.visibility</p:attrName>
                                        </p:attrNameLst>
                                      </p:cBhvr>
                                      <p:to>
                                        <p:strVal val="visible"/>
                                      </p:to>
                                    </p:set>
                                    <p:animEffect transition="in" filter="fade">
                                      <p:cBhvr>
                                        <p:cTn id="62" dur="500"/>
                                        <p:tgtEl>
                                          <p:spTgt spid="32"/>
                                        </p:tgtEl>
                                      </p:cBhvr>
                                    </p:animEffect>
                                  </p:childTnLst>
                                </p:cTn>
                              </p:par>
                            </p:childTnLst>
                          </p:cTn>
                        </p:par>
                        <p:par>
                          <p:cTn id="79" fill="hold">
                            <p:stCondLst>
                              <p:cond delay="1200"/>
                            </p:stCondLst>
                            <p:childTnLst>
                              <p:par>
                                <p:cTn id="64" presetID="10" presetClass="entr" presetSubtype="0" fill="hold" grpId="0" nodeType="withEffect">
                                  <p:stCondLst>
                                    <p:cond delay="0"/>
                                  </p:stCondLst>
                                  <p:childTnLst>
                                    <p:set>
                                      <p:cBhvr>
                                        <p:cTn id="65" dur="1" fill="hold">
                                          <p:stCondLst>
                                            <p:cond delay="0"/>
                                          </p:stCondLst>
                                        </p:cTn>
                                        <p:tgtEl>
                                          <p:spTgt spid="35"/>
                                        </p:tgtEl>
                                        <p:attrNameLst>
                                          <p:attrName>style.visibility</p:attrName>
                                        </p:attrNameLst>
                                      </p:cBhvr>
                                      <p:to>
                                        <p:strVal val="visible"/>
                                      </p:to>
                                    </p:set>
                                    <p:animEffect transition="in" filter="fade">
                                      <p:cBhvr>
                                        <p:cTn id="66" dur="500"/>
                                        <p:tgtEl>
                                          <p:spTgt spid="35"/>
                                        </p:tgtEl>
                                      </p:cBhvr>
                                    </p:animEffect>
                                  </p:childTnLst>
                                </p:cTn>
                              </p:par>
                              <p:par>
                                <p:cTn id="67" presetID="10" presetClass="entr" presetSubtype="0" fill="hold" grpId="0" nodeType="withEffect">
                                  <p:stCondLst>
                                    <p:cond delay="0"/>
                                  </p:stCondLst>
                                  <p:childTnLst>
                                    <p:set>
                                      <p:cBhvr>
                                        <p:cTn id="68" dur="1" fill="hold">
                                          <p:stCondLst>
                                            <p:cond delay="0"/>
                                          </p:stCondLst>
                                        </p:cTn>
                                        <p:tgtEl>
                                          <p:spTgt spid="38"/>
                                        </p:tgtEl>
                                        <p:attrNameLst>
                                          <p:attrName>style.visibility</p:attrName>
                                        </p:attrNameLst>
                                      </p:cBhvr>
                                      <p:to>
                                        <p:strVal val="visible"/>
                                      </p:to>
                                    </p:set>
                                    <p:animEffect transition="in" filter="fade">
                                      <p:cBhvr>
                                        <p:cTn id="69" dur="500"/>
                                        <p:tgtEl>
                                          <p:spTgt spid="38"/>
                                        </p:tgtEl>
                                      </p:cBhvr>
                                    </p:animEffect>
                                  </p:childTnLst>
                                </p:cTn>
                              </p:par>
                              <p:par>
                                <p:cTn id="70" presetID="10" presetClass="entr" presetSubtype="0" fill="hold" grpId="0" nodeType="withEffect">
                                  <p:stCondLst>
                                    <p:cond delay="0"/>
                                  </p:stCondLst>
                                  <p:childTnLst>
                                    <p:set>
                                      <p:cBhvr>
                                        <p:cTn id="71" dur="1" fill="hold">
                                          <p:stCondLst>
                                            <p:cond delay="0"/>
                                          </p:stCondLst>
                                        </p:cTn>
                                        <p:tgtEl>
                                          <p:spTgt spid="39"/>
                                        </p:tgtEl>
                                        <p:attrNameLst>
                                          <p:attrName>style.visibility</p:attrName>
                                        </p:attrNameLst>
                                      </p:cBhvr>
                                      <p:to>
                                        <p:strVal val="visible"/>
                                      </p:to>
                                    </p:set>
                                    <p:animEffect transition="in" filter="fade">
                                      <p:cBhvr>
                                        <p:cTn id="72" dur="500"/>
                                        <p:tgtEl>
                                          <p:spTgt spid="39"/>
                                        </p:tgtEl>
                                      </p:cBhvr>
                                    </p:animEffect>
                                  </p:childTnLst>
                                </p:cTn>
                              </p:par>
                              <p:par>
                                <p:cTn id="73" presetID="10" presetClass="entr" presetSubtype="0" fill="hold" grpId="0" nodeType="withEffect">
                                  <p:stCondLst>
                                    <p:cond delay="0"/>
                                  </p:stCondLst>
                                  <p:childTnLst>
                                    <p:set>
                                      <p:cBhvr>
                                        <p:cTn id="74" dur="1" fill="hold">
                                          <p:stCondLst>
                                            <p:cond delay="0"/>
                                          </p:stCondLst>
                                        </p:cTn>
                                        <p:tgtEl>
                                          <p:spTgt spid="36"/>
                                        </p:tgtEl>
                                        <p:attrNameLst>
                                          <p:attrName>style.visibility</p:attrName>
                                        </p:attrNameLst>
                                      </p:cBhvr>
                                      <p:to>
                                        <p:strVal val="visible"/>
                                      </p:to>
                                    </p:set>
                                    <p:animEffect transition="in" filter="fade">
                                      <p:cBhvr>
                                        <p:cTn id="75" dur="500"/>
                                        <p:tgtEl>
                                          <p:spTgt spid="36"/>
                                        </p:tgtEl>
                                      </p:cBhvr>
                                    </p:animEffect>
                                  </p:childTnLst>
                                </p:cTn>
                              </p:par>
                              <p:par>
                                <p:cTn id="76" presetID="10" presetClass="entr" presetSubtype="0" fill="hold" grpId="0" nodeType="withEffect">
                                  <p:stCondLst>
                                    <p:cond delay="0"/>
                                  </p:stCondLst>
                                  <p:childTnLst>
                                    <p:set>
                                      <p:cBhvr>
                                        <p:cTn id="77" dur="1" fill="hold">
                                          <p:stCondLst>
                                            <p:cond delay="0"/>
                                          </p:stCondLst>
                                        </p:cTn>
                                        <p:tgtEl>
                                          <p:spTgt spid="37"/>
                                        </p:tgtEl>
                                        <p:attrNameLst>
                                          <p:attrName>style.visibility</p:attrName>
                                        </p:attrNameLst>
                                      </p:cBhvr>
                                      <p:to>
                                        <p:strVal val="visible"/>
                                      </p:to>
                                    </p:set>
                                    <p:animEffect transition="in" filter="fade">
                                      <p:cBhvr>
                                        <p:cTn id="78" dur="500"/>
                                        <p:tgtEl>
                                          <p:spTgt spid="37"/>
                                        </p:tgtEl>
                                      </p:cBhvr>
                                    </p:animEffect>
                                  </p:childTnLst>
                                </p:cTn>
                              </p:par>
                            </p:childTnLst>
                          </p:cTn>
                        </p:par>
                        <p:par>
                          <p:cTn id="95" fill="hold">
                            <p:stCondLst>
                              <p:cond delay="1500"/>
                            </p:stCondLst>
                            <p:childTnLst>
                              <p:par>
                                <p:cTn id="80" presetID="10" presetClass="entr" presetSubtype="0" fill="hold" grpId="0" nodeType="withEffect">
                                  <p:stCondLst>
                                    <p:cond delay="0"/>
                                  </p:stCondLst>
                                  <p:childTnLst>
                                    <p:set>
                                      <p:cBhvr>
                                        <p:cTn id="81" dur="1" fill="hold">
                                          <p:stCondLst>
                                            <p:cond delay="0"/>
                                          </p:stCondLst>
                                        </p:cTn>
                                        <p:tgtEl>
                                          <p:spTgt spid="40"/>
                                        </p:tgtEl>
                                        <p:attrNameLst>
                                          <p:attrName>style.visibility</p:attrName>
                                        </p:attrNameLst>
                                      </p:cBhvr>
                                      <p:to>
                                        <p:strVal val="visible"/>
                                      </p:to>
                                    </p:set>
                                    <p:animEffect transition="in" filter="fade">
                                      <p:cBhvr>
                                        <p:cTn id="82" dur="500"/>
                                        <p:tgtEl>
                                          <p:spTgt spid="40"/>
                                        </p:tgtEl>
                                      </p:cBhvr>
                                    </p:animEffect>
                                  </p:childTnLst>
                                </p:cTn>
                              </p:par>
                              <p:par>
                                <p:cTn id="83" presetID="10" presetClass="entr" presetSubtype="0" fill="hold" grpId="0" nodeType="withEffect">
                                  <p:stCondLst>
                                    <p:cond delay="0"/>
                                  </p:stCondLst>
                                  <p:childTnLst>
                                    <p:set>
                                      <p:cBhvr>
                                        <p:cTn id="84" dur="1" fill="hold">
                                          <p:stCondLst>
                                            <p:cond delay="0"/>
                                          </p:stCondLst>
                                        </p:cTn>
                                        <p:tgtEl>
                                          <p:spTgt spid="43"/>
                                        </p:tgtEl>
                                        <p:attrNameLst>
                                          <p:attrName>style.visibility</p:attrName>
                                        </p:attrNameLst>
                                      </p:cBhvr>
                                      <p:to>
                                        <p:strVal val="visible"/>
                                      </p:to>
                                    </p:set>
                                    <p:animEffect transition="in" filter="fade">
                                      <p:cBhvr>
                                        <p:cTn id="85" dur="500"/>
                                        <p:tgtEl>
                                          <p:spTgt spid="43"/>
                                        </p:tgtEl>
                                      </p:cBhvr>
                                    </p:animEffect>
                                  </p:childTnLst>
                                </p:cTn>
                              </p:par>
                              <p:par>
                                <p:cTn id="86" presetID="10" presetClass="entr" presetSubtype="0" fill="hold" grpId="0" nodeType="withEffect">
                                  <p:stCondLst>
                                    <p:cond delay="0"/>
                                  </p:stCondLst>
                                  <p:childTnLst>
                                    <p:set>
                                      <p:cBhvr>
                                        <p:cTn id="87" dur="1" fill="hold">
                                          <p:stCondLst>
                                            <p:cond delay="0"/>
                                          </p:stCondLst>
                                        </p:cTn>
                                        <p:tgtEl>
                                          <p:spTgt spid="44"/>
                                        </p:tgtEl>
                                        <p:attrNameLst>
                                          <p:attrName>style.visibility</p:attrName>
                                        </p:attrNameLst>
                                      </p:cBhvr>
                                      <p:to>
                                        <p:strVal val="visible"/>
                                      </p:to>
                                    </p:set>
                                    <p:animEffect transition="in" filter="fade">
                                      <p:cBhvr>
                                        <p:cTn id="88" dur="500"/>
                                        <p:tgtEl>
                                          <p:spTgt spid="44"/>
                                        </p:tgtEl>
                                      </p:cBhvr>
                                    </p:animEffect>
                                  </p:childTnLst>
                                </p:cTn>
                              </p:par>
                              <p:par>
                                <p:cTn id="89" presetID="10" presetClass="entr" presetSubtype="0" fill="hold" grpId="0" nodeType="withEffect">
                                  <p:stCondLst>
                                    <p:cond delay="0"/>
                                  </p:stCondLst>
                                  <p:childTnLst>
                                    <p:set>
                                      <p:cBhvr>
                                        <p:cTn id="90" dur="1" fill="hold">
                                          <p:stCondLst>
                                            <p:cond delay="0"/>
                                          </p:stCondLst>
                                        </p:cTn>
                                        <p:tgtEl>
                                          <p:spTgt spid="41"/>
                                        </p:tgtEl>
                                        <p:attrNameLst>
                                          <p:attrName>style.visibility</p:attrName>
                                        </p:attrNameLst>
                                      </p:cBhvr>
                                      <p:to>
                                        <p:strVal val="visible"/>
                                      </p:to>
                                    </p:set>
                                    <p:animEffect transition="in" filter="fade">
                                      <p:cBhvr>
                                        <p:cTn id="91" dur="500"/>
                                        <p:tgtEl>
                                          <p:spTgt spid="41"/>
                                        </p:tgtEl>
                                      </p:cBhvr>
                                    </p:animEffect>
                                  </p:childTnLst>
                                </p:cTn>
                              </p:par>
                              <p:par>
                                <p:cTn id="92" presetID="10" presetClass="entr" presetSubtype="0" fill="hold" grpId="0" nodeType="withEffect">
                                  <p:stCondLst>
                                    <p:cond delay="0"/>
                                  </p:stCondLst>
                                  <p:childTnLst>
                                    <p:set>
                                      <p:cBhvr>
                                        <p:cTn id="93" dur="1" fill="hold">
                                          <p:stCondLst>
                                            <p:cond delay="0"/>
                                          </p:stCondLst>
                                        </p:cTn>
                                        <p:tgtEl>
                                          <p:spTgt spid="42"/>
                                        </p:tgtEl>
                                        <p:attrNameLst>
                                          <p:attrName>style.visibility</p:attrName>
                                        </p:attrNameLst>
                                      </p:cBhvr>
                                      <p:to>
                                        <p:strVal val="visible"/>
                                      </p:to>
                                    </p:set>
                                    <p:animEffect transition="in" filter="fade">
                                      <p:cBhvr>
                                        <p:cTn id="94" dur="500"/>
                                        <p:tgtEl>
                                          <p:spTgt spid="4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43D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92608"/>
            <a:ext cx="10972800" cy="274320"/>
          </a:xfrm>
          <a:prstGeom prst="rect">
            <a:avLst/>
          </a:prstGeom>
          <a:noFill/>
        </p:spPr>
        <p:txBody>
          <a:bodyPr wrap="square" lIns="0" rIns="0" tIns="0" bIns="0">
            <a:spAutoFit/>
          </a:bodyPr>
          <a:lstStyle/>
          <a:p>
            <a:pPr>
              <a:lnSpc>
                <a:spcPct val="100000"/>
              </a:lnSpc>
            </a:pPr>
            <a:r>
              <a:rPr sz="1100" b="1">
                <a:solidFill>
                  <a:srgbClr val="E6A817"/>
                </a:solidFill>
                <a:latin typeface="Calibri"/>
              </a:rPr>
              <a:t>WHAT COULD COME NEXT</a:t>
            </a:r>
          </a:p>
        </p:txBody>
      </p:sp>
      <p:sp>
        <p:nvSpPr>
          <p:cNvPr id="4" name="TextBox 3"/>
          <p:cNvSpPr txBox="1"/>
          <p:nvPr/>
        </p:nvSpPr>
        <p:spPr>
          <a:xfrm>
            <a:off x="548640" y="548640"/>
            <a:ext cx="11064240" cy="548640"/>
          </a:xfrm>
          <a:prstGeom prst="rect">
            <a:avLst/>
          </a:prstGeom>
          <a:noFill/>
        </p:spPr>
        <p:txBody>
          <a:bodyPr wrap="square" lIns="0" rIns="0" tIns="0" bIns="0">
            <a:spAutoFit/>
          </a:bodyPr>
          <a:lstStyle/>
          <a:p>
            <a:pPr>
              <a:lnSpc>
                <a:spcPct val="100000"/>
              </a:lnSpc>
            </a:pPr>
            <a:r>
              <a:rPr sz="2800" b="1">
                <a:solidFill>
                  <a:srgbClr val="FFFFFF"/>
                </a:solidFill>
                <a:latin typeface="Calibri"/>
              </a:rPr>
              <a:t>Suggested next steps</a:t>
            </a:r>
          </a:p>
        </p:txBody>
      </p:sp>
      <p:sp>
        <p:nvSpPr>
          <p:cNvPr id="5" name="TextBox 4"/>
          <p:cNvSpPr txBox="1"/>
          <p:nvPr/>
        </p:nvSpPr>
        <p:spPr>
          <a:xfrm>
            <a:off x="548640" y="1097280"/>
            <a:ext cx="11064240" cy="365760"/>
          </a:xfrm>
          <a:prstGeom prst="rect">
            <a:avLst/>
          </a:prstGeom>
          <a:noFill/>
        </p:spPr>
        <p:txBody>
          <a:bodyPr wrap="square" lIns="0" rIns="0" tIns="0" bIns="0">
            <a:spAutoFit/>
          </a:bodyPr>
          <a:lstStyle/>
          <a:p>
            <a:pPr>
              <a:lnSpc>
                <a:spcPct val="100000"/>
              </a:lnSpc>
            </a:pPr>
            <a:r>
              <a:rPr sz="1500" b="0">
                <a:solidFill>
                  <a:srgbClr val="D5E0E8"/>
                </a:solidFill>
                <a:latin typeface="Calibri"/>
              </a:rPr>
              <a:t>Small steps. Each one is useful on its own.</a:t>
            </a:r>
          </a:p>
        </p:txBody>
      </p:sp>
      <p:sp>
        <p:nvSpPr>
          <p:cNvPr id="6" name="TextBox 5"/>
          <p:cNvSpPr txBox="1"/>
          <p:nvPr/>
        </p:nvSpPr>
        <p:spPr>
          <a:xfrm>
            <a:off x="548640" y="6446520"/>
            <a:ext cx="7315200" cy="274320"/>
          </a:xfrm>
          <a:prstGeom prst="rect">
            <a:avLst/>
          </a:prstGeom>
          <a:noFill/>
        </p:spPr>
        <p:txBody>
          <a:bodyPr wrap="square" lIns="0" rIns="0" tIns="0" bIns="0">
            <a:spAutoFit/>
          </a:bodyPr>
          <a:lstStyle/>
          <a:p>
            <a:pPr>
              <a:lnSpc>
                <a:spcPct val="100000"/>
              </a:lnSpc>
            </a:pPr>
            <a:r>
              <a:rPr sz="1000" b="0">
                <a:solidFill>
                  <a:srgbClr val="D5E0E8"/>
                </a:solidFill>
                <a:latin typeface="Calibri"/>
              </a:rPr>
              <a:t>Reunión de preparación  ·  Espacio de Datos EJIE  ·  País Vasco  ·  status October 2026</a:t>
            </a:r>
          </a:p>
        </p:txBody>
      </p:sp>
      <p:sp>
        <p:nvSpPr>
          <p:cNvPr id="7" name="Rounded Rectangle 6"/>
          <p:cNvSpPr/>
          <p:nvPr/>
        </p:nvSpPr>
        <p:spPr>
          <a:xfrm>
            <a:off x="548640" y="1783080"/>
            <a:ext cx="2606040" cy="2377440"/>
          </a:xfrm>
          <a:prstGeom prst="roundRect">
            <a:avLst>
              <a:gd name="adj" fmla="val 5000"/>
            </a:avLst>
          </a:prstGeom>
          <a:solidFill>
            <a:srgbClr val="1C4D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920240"/>
            <a:ext cx="2194560" cy="640080"/>
          </a:xfrm>
          <a:prstGeom prst="rect">
            <a:avLst/>
          </a:prstGeom>
          <a:noFill/>
        </p:spPr>
        <p:txBody>
          <a:bodyPr wrap="square" lIns="0" rIns="0" tIns="0" bIns="0">
            <a:spAutoFit/>
          </a:bodyPr>
          <a:lstStyle/>
          <a:p>
            <a:pPr>
              <a:lnSpc>
                <a:spcPct val="100000"/>
              </a:lnSpc>
            </a:pPr>
            <a:r>
              <a:rPr sz="3600" b="1">
                <a:solidFill>
                  <a:srgbClr val="E6A817"/>
                </a:solidFill>
                <a:latin typeface="Calibri"/>
              </a:rPr>
              <a:t>1</a:t>
            </a:r>
          </a:p>
        </p:txBody>
      </p:sp>
      <p:sp>
        <p:nvSpPr>
          <p:cNvPr id="9" name="TextBox 8"/>
          <p:cNvSpPr txBox="1"/>
          <p:nvPr/>
        </p:nvSpPr>
        <p:spPr>
          <a:xfrm>
            <a:off x="777240" y="2651760"/>
            <a:ext cx="2194560" cy="640080"/>
          </a:xfrm>
          <a:prstGeom prst="rect">
            <a:avLst/>
          </a:prstGeom>
          <a:noFill/>
        </p:spPr>
        <p:txBody>
          <a:bodyPr wrap="square" lIns="0" rIns="0" tIns="0" bIns="0">
            <a:spAutoFit/>
          </a:bodyPr>
          <a:lstStyle/>
          <a:p>
            <a:pPr>
              <a:lnSpc>
                <a:spcPct val="100000"/>
              </a:lnSpc>
            </a:pPr>
            <a:r>
              <a:rPr sz="1700" b="1">
                <a:solidFill>
                  <a:srgbClr val="FFFFFF"/>
                </a:solidFill>
                <a:latin typeface="Calibri"/>
              </a:rPr>
              <a:t>Choose use cases</a:t>
            </a:r>
          </a:p>
        </p:txBody>
      </p:sp>
      <p:sp>
        <p:nvSpPr>
          <p:cNvPr id="10" name="TextBox 9"/>
          <p:cNvSpPr txBox="1"/>
          <p:nvPr/>
        </p:nvSpPr>
        <p:spPr>
          <a:xfrm>
            <a:off x="777240" y="3246120"/>
            <a:ext cx="2194560" cy="822960"/>
          </a:xfrm>
          <a:prstGeom prst="rect">
            <a:avLst/>
          </a:prstGeom>
          <a:noFill/>
        </p:spPr>
        <p:txBody>
          <a:bodyPr wrap="square" lIns="0" rIns="0" tIns="0" bIns="0">
            <a:spAutoFit/>
          </a:bodyPr>
          <a:lstStyle/>
          <a:p>
            <a:pPr>
              <a:lnSpc>
                <a:spcPct val="108000"/>
              </a:lnSpc>
            </a:pPr>
            <a:r>
              <a:rPr sz="1300" b="0">
                <a:solidFill>
                  <a:srgbClr val="D5E0E8"/>
                </a:solidFill>
                <a:latin typeface="Calibri"/>
              </a:rPr>
              <a:t>One or two, with a result you can measure.</a:t>
            </a:r>
          </a:p>
        </p:txBody>
      </p:sp>
      <p:sp>
        <p:nvSpPr>
          <p:cNvPr id="11" name="Rounded Rectangle 10"/>
          <p:cNvSpPr/>
          <p:nvPr/>
        </p:nvSpPr>
        <p:spPr>
          <a:xfrm>
            <a:off x="3355848" y="1783080"/>
            <a:ext cx="2606040" cy="2377440"/>
          </a:xfrm>
          <a:prstGeom prst="roundRect">
            <a:avLst>
              <a:gd name="adj" fmla="val 5000"/>
            </a:avLst>
          </a:prstGeom>
          <a:solidFill>
            <a:srgbClr val="1C4D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584448" y="1920240"/>
            <a:ext cx="2194560" cy="640080"/>
          </a:xfrm>
          <a:prstGeom prst="rect">
            <a:avLst/>
          </a:prstGeom>
          <a:noFill/>
        </p:spPr>
        <p:txBody>
          <a:bodyPr wrap="square" lIns="0" rIns="0" tIns="0" bIns="0">
            <a:spAutoFit/>
          </a:bodyPr>
          <a:lstStyle/>
          <a:p>
            <a:pPr>
              <a:lnSpc>
                <a:spcPct val="100000"/>
              </a:lnSpc>
            </a:pPr>
            <a:r>
              <a:rPr sz="3600" b="1">
                <a:solidFill>
                  <a:srgbClr val="E6A817"/>
                </a:solidFill>
                <a:latin typeface="Calibri"/>
              </a:rPr>
              <a:t>2</a:t>
            </a:r>
          </a:p>
        </p:txBody>
      </p:sp>
      <p:sp>
        <p:nvSpPr>
          <p:cNvPr id="13" name="TextBox 12"/>
          <p:cNvSpPr txBox="1"/>
          <p:nvPr/>
        </p:nvSpPr>
        <p:spPr>
          <a:xfrm>
            <a:off x="3584448" y="2651760"/>
            <a:ext cx="2194560" cy="640080"/>
          </a:xfrm>
          <a:prstGeom prst="rect">
            <a:avLst/>
          </a:prstGeom>
          <a:noFill/>
        </p:spPr>
        <p:txBody>
          <a:bodyPr wrap="square" lIns="0" rIns="0" tIns="0" bIns="0">
            <a:spAutoFit/>
          </a:bodyPr>
          <a:lstStyle/>
          <a:p>
            <a:pPr>
              <a:lnSpc>
                <a:spcPct val="100000"/>
              </a:lnSpc>
            </a:pPr>
            <a:r>
              <a:rPr sz="1700" b="1">
                <a:solidFill>
                  <a:srgbClr val="FFFFFF"/>
                </a:solidFill>
                <a:latin typeface="Calibri"/>
              </a:rPr>
              <a:t>Agree the roles</a:t>
            </a:r>
          </a:p>
        </p:txBody>
      </p:sp>
      <p:sp>
        <p:nvSpPr>
          <p:cNvPr id="14" name="TextBox 13"/>
          <p:cNvSpPr txBox="1"/>
          <p:nvPr/>
        </p:nvSpPr>
        <p:spPr>
          <a:xfrm>
            <a:off x="3584448" y="3246120"/>
            <a:ext cx="2194560" cy="822960"/>
          </a:xfrm>
          <a:prstGeom prst="rect">
            <a:avLst/>
          </a:prstGeom>
          <a:noFill/>
        </p:spPr>
        <p:txBody>
          <a:bodyPr wrap="square" lIns="0" rIns="0" tIns="0" bIns="0">
            <a:spAutoFit/>
          </a:bodyPr>
          <a:lstStyle/>
          <a:p>
            <a:pPr>
              <a:lnSpc>
                <a:spcPct val="108000"/>
              </a:lnSpc>
            </a:pPr>
            <a:r>
              <a:rPr sz="1300" b="0">
                <a:solidFill>
                  <a:srgbClr val="D5E0E8"/>
                </a:solidFill>
                <a:latin typeface="Calibri"/>
              </a:rPr>
              <a:t>The Health Data Office as access body, EJIE as operator.</a:t>
            </a:r>
          </a:p>
        </p:txBody>
      </p:sp>
      <p:sp>
        <p:nvSpPr>
          <p:cNvPr id="15" name="Rounded Rectangle 14"/>
          <p:cNvSpPr/>
          <p:nvPr/>
        </p:nvSpPr>
        <p:spPr>
          <a:xfrm>
            <a:off x="6163055" y="1783080"/>
            <a:ext cx="2606040" cy="2377440"/>
          </a:xfrm>
          <a:prstGeom prst="roundRect">
            <a:avLst>
              <a:gd name="adj" fmla="val 5000"/>
            </a:avLst>
          </a:prstGeom>
          <a:solidFill>
            <a:srgbClr val="1C4D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391655" y="1920240"/>
            <a:ext cx="2194560" cy="640080"/>
          </a:xfrm>
          <a:prstGeom prst="rect">
            <a:avLst/>
          </a:prstGeom>
          <a:noFill/>
        </p:spPr>
        <p:txBody>
          <a:bodyPr wrap="square" lIns="0" rIns="0" tIns="0" bIns="0">
            <a:spAutoFit/>
          </a:bodyPr>
          <a:lstStyle/>
          <a:p>
            <a:pPr>
              <a:lnSpc>
                <a:spcPct val="100000"/>
              </a:lnSpc>
            </a:pPr>
            <a:r>
              <a:rPr sz="3600" b="1">
                <a:solidFill>
                  <a:srgbClr val="E6A817"/>
                </a:solidFill>
                <a:latin typeface="Calibri"/>
              </a:rPr>
              <a:t>3</a:t>
            </a:r>
          </a:p>
        </p:txBody>
      </p:sp>
      <p:sp>
        <p:nvSpPr>
          <p:cNvPr id="17" name="TextBox 16"/>
          <p:cNvSpPr txBox="1"/>
          <p:nvPr/>
        </p:nvSpPr>
        <p:spPr>
          <a:xfrm>
            <a:off x="6391655" y="2651760"/>
            <a:ext cx="2194560" cy="640080"/>
          </a:xfrm>
          <a:prstGeom prst="rect">
            <a:avLst/>
          </a:prstGeom>
          <a:noFill/>
        </p:spPr>
        <p:txBody>
          <a:bodyPr wrap="square" lIns="0" rIns="0" tIns="0" bIns="0">
            <a:spAutoFit/>
          </a:bodyPr>
          <a:lstStyle/>
          <a:p>
            <a:pPr>
              <a:lnSpc>
                <a:spcPct val="100000"/>
              </a:lnSpc>
            </a:pPr>
            <a:r>
              <a:rPr sz="1700" b="1">
                <a:solidFill>
                  <a:srgbClr val="FFFFFF"/>
                </a:solidFill>
                <a:latin typeface="Calibri"/>
              </a:rPr>
              <a:t>Open working groups</a:t>
            </a:r>
          </a:p>
        </p:txBody>
      </p:sp>
      <p:sp>
        <p:nvSpPr>
          <p:cNvPr id="18" name="TextBox 17"/>
          <p:cNvSpPr txBox="1"/>
          <p:nvPr/>
        </p:nvSpPr>
        <p:spPr>
          <a:xfrm>
            <a:off x="6391655" y="3246120"/>
            <a:ext cx="2194560" cy="822960"/>
          </a:xfrm>
          <a:prstGeom prst="rect">
            <a:avLst/>
          </a:prstGeom>
          <a:noFill/>
        </p:spPr>
        <p:txBody>
          <a:bodyPr wrap="square" lIns="0" rIns="0" tIns="0" bIns="0">
            <a:spAutoFit/>
          </a:bodyPr>
          <a:lstStyle/>
          <a:p>
            <a:pPr>
              <a:lnSpc>
                <a:spcPct val="108000"/>
              </a:lnSpc>
            </a:pPr>
            <a:r>
              <a:rPr sz="1300" b="0">
                <a:solidFill>
                  <a:srgbClr val="D5E0E8"/>
                </a:solidFill>
                <a:latin typeface="Calibri"/>
              </a:rPr>
              <a:t>With the hospitals, on existing standards.</a:t>
            </a:r>
          </a:p>
        </p:txBody>
      </p:sp>
      <p:sp>
        <p:nvSpPr>
          <p:cNvPr id="19" name="Rounded Rectangle 18"/>
          <p:cNvSpPr/>
          <p:nvPr/>
        </p:nvSpPr>
        <p:spPr>
          <a:xfrm>
            <a:off x="8970263" y="1783080"/>
            <a:ext cx="2606040" cy="2377440"/>
          </a:xfrm>
          <a:prstGeom prst="roundRect">
            <a:avLst>
              <a:gd name="adj" fmla="val 5000"/>
            </a:avLst>
          </a:prstGeom>
          <a:solidFill>
            <a:srgbClr val="1C4D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198863" y="1920240"/>
            <a:ext cx="2194560" cy="640080"/>
          </a:xfrm>
          <a:prstGeom prst="rect">
            <a:avLst/>
          </a:prstGeom>
          <a:noFill/>
        </p:spPr>
        <p:txBody>
          <a:bodyPr wrap="square" lIns="0" rIns="0" tIns="0" bIns="0">
            <a:spAutoFit/>
          </a:bodyPr>
          <a:lstStyle/>
          <a:p>
            <a:pPr>
              <a:lnSpc>
                <a:spcPct val="100000"/>
              </a:lnSpc>
            </a:pPr>
            <a:r>
              <a:rPr sz="3600" b="1">
                <a:solidFill>
                  <a:srgbClr val="E6A817"/>
                </a:solidFill>
                <a:latin typeface="Calibri"/>
              </a:rPr>
              <a:t>4</a:t>
            </a:r>
          </a:p>
        </p:txBody>
      </p:sp>
      <p:sp>
        <p:nvSpPr>
          <p:cNvPr id="21" name="TextBox 20"/>
          <p:cNvSpPr txBox="1"/>
          <p:nvPr/>
        </p:nvSpPr>
        <p:spPr>
          <a:xfrm>
            <a:off x="9198863" y="2651760"/>
            <a:ext cx="2194560" cy="640080"/>
          </a:xfrm>
          <a:prstGeom prst="rect">
            <a:avLst/>
          </a:prstGeom>
          <a:noFill/>
        </p:spPr>
        <p:txBody>
          <a:bodyPr wrap="square" lIns="0" rIns="0" tIns="0" bIns="0">
            <a:spAutoFit/>
          </a:bodyPr>
          <a:lstStyle/>
          <a:p>
            <a:pPr>
              <a:lnSpc>
                <a:spcPct val="100000"/>
              </a:lnSpc>
            </a:pPr>
            <a:r>
              <a:rPr sz="1700" b="1">
                <a:solidFill>
                  <a:srgbClr val="FFFFFF"/>
                </a:solidFill>
                <a:latin typeface="Calibri"/>
              </a:rPr>
              <a:t>Build a pilot</a:t>
            </a:r>
          </a:p>
        </p:txBody>
      </p:sp>
      <p:sp>
        <p:nvSpPr>
          <p:cNvPr id="22" name="TextBox 21"/>
          <p:cNvSpPr txBox="1"/>
          <p:nvPr/>
        </p:nvSpPr>
        <p:spPr>
          <a:xfrm>
            <a:off x="9198863" y="3246120"/>
            <a:ext cx="2194560" cy="822960"/>
          </a:xfrm>
          <a:prstGeom prst="rect">
            <a:avLst/>
          </a:prstGeom>
          <a:noFill/>
        </p:spPr>
        <p:txBody>
          <a:bodyPr wrap="square" lIns="0" rIns="0" tIns="0" bIns="0">
            <a:spAutoFit/>
          </a:bodyPr>
          <a:lstStyle/>
          <a:p>
            <a:pPr>
              <a:lnSpc>
                <a:spcPct val="108000"/>
              </a:lnSpc>
            </a:pPr>
            <a:r>
              <a:rPr sz="1300" b="0">
                <a:solidFill>
                  <a:srgbClr val="D5E0E8"/>
                </a:solidFill>
                <a:latin typeface="Calibri"/>
              </a:rPr>
              <a:t>Tendered on standards and conformity tests.</a:t>
            </a:r>
          </a:p>
        </p:txBody>
      </p:sp>
      <p:sp>
        <p:nvSpPr>
          <p:cNvPr id="23" name="Rounded Rectangle 22"/>
          <p:cNvSpPr/>
          <p:nvPr/>
        </p:nvSpPr>
        <p:spPr>
          <a:xfrm>
            <a:off x="548640" y="4434840"/>
            <a:ext cx="5440680" cy="1188720"/>
          </a:xfrm>
          <a:prstGeom prst="roundRect">
            <a:avLst>
              <a:gd name="adj" fmla="val 5000"/>
            </a:avLst>
          </a:prstGeom>
          <a:solidFill>
            <a:srgbClr val="143D59"/>
          </a:solidFill>
          <a:ln w="19050">
            <a:solidFill>
              <a:srgbClr val="E6A81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22959" y="4553712"/>
            <a:ext cx="4937760" cy="502920"/>
          </a:xfrm>
          <a:prstGeom prst="rect">
            <a:avLst/>
          </a:prstGeom>
          <a:noFill/>
        </p:spPr>
        <p:txBody>
          <a:bodyPr wrap="square" lIns="0" rIns="0" tIns="0" bIns="0">
            <a:spAutoFit/>
          </a:bodyPr>
          <a:lstStyle/>
          <a:p>
            <a:pPr>
              <a:lnSpc>
                <a:spcPct val="100000"/>
              </a:lnSpc>
            </a:pPr>
            <a:r>
              <a:rPr sz="2600" b="1">
                <a:solidFill>
                  <a:srgbClr val="E6A817"/>
                </a:solidFill>
                <a:latin typeface="Calibri"/>
              </a:rPr>
              <a:t>March 2027</a:t>
            </a:r>
          </a:p>
        </p:txBody>
      </p:sp>
      <p:sp>
        <p:nvSpPr>
          <p:cNvPr id="25" name="TextBox 24"/>
          <p:cNvSpPr txBox="1"/>
          <p:nvPr/>
        </p:nvSpPr>
        <p:spPr>
          <a:xfrm>
            <a:off x="822959" y="5120640"/>
            <a:ext cx="4937760" cy="365760"/>
          </a:xfrm>
          <a:prstGeom prst="rect">
            <a:avLst/>
          </a:prstGeom>
          <a:noFill/>
        </p:spPr>
        <p:txBody>
          <a:bodyPr wrap="square" lIns="0" rIns="0" tIns="0" bIns="0">
            <a:spAutoFit/>
          </a:bodyPr>
          <a:lstStyle/>
          <a:p>
            <a:pPr>
              <a:lnSpc>
                <a:spcPct val="100000"/>
              </a:lnSpc>
            </a:pPr>
            <a:r>
              <a:rPr sz="1500" b="0">
                <a:solidFill>
                  <a:srgbClr val="FFFFFF"/>
                </a:solidFill>
                <a:latin typeface="Calibri"/>
              </a:rPr>
              <a:t>Access bodies must be designated.</a:t>
            </a:r>
          </a:p>
        </p:txBody>
      </p:sp>
      <p:sp>
        <p:nvSpPr>
          <p:cNvPr id="26" name="Rounded Rectangle 25"/>
          <p:cNvSpPr/>
          <p:nvPr/>
        </p:nvSpPr>
        <p:spPr>
          <a:xfrm>
            <a:off x="6199631" y="4434840"/>
            <a:ext cx="5440680" cy="1188720"/>
          </a:xfrm>
          <a:prstGeom prst="roundRect">
            <a:avLst>
              <a:gd name="adj" fmla="val 5000"/>
            </a:avLst>
          </a:prstGeom>
          <a:solidFill>
            <a:srgbClr val="143D59"/>
          </a:solidFill>
          <a:ln w="19050">
            <a:solidFill>
              <a:srgbClr val="E6A81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473951" y="4553712"/>
            <a:ext cx="4937760" cy="502920"/>
          </a:xfrm>
          <a:prstGeom prst="rect">
            <a:avLst/>
          </a:prstGeom>
          <a:noFill/>
        </p:spPr>
        <p:txBody>
          <a:bodyPr wrap="square" lIns="0" rIns="0" tIns="0" bIns="0">
            <a:spAutoFit/>
          </a:bodyPr>
          <a:lstStyle/>
          <a:p>
            <a:pPr>
              <a:lnSpc>
                <a:spcPct val="100000"/>
              </a:lnSpc>
            </a:pPr>
            <a:r>
              <a:rPr sz="2600" b="1">
                <a:solidFill>
                  <a:srgbClr val="E6A817"/>
                </a:solidFill>
                <a:latin typeface="Calibri"/>
              </a:rPr>
              <a:t>March 2029</a:t>
            </a:r>
          </a:p>
        </p:txBody>
      </p:sp>
      <p:sp>
        <p:nvSpPr>
          <p:cNvPr id="28" name="TextBox 27"/>
          <p:cNvSpPr txBox="1"/>
          <p:nvPr/>
        </p:nvSpPr>
        <p:spPr>
          <a:xfrm>
            <a:off x="6473951" y="5120640"/>
            <a:ext cx="4937760" cy="365760"/>
          </a:xfrm>
          <a:prstGeom prst="rect">
            <a:avLst/>
          </a:prstGeom>
          <a:noFill/>
        </p:spPr>
        <p:txBody>
          <a:bodyPr wrap="square" lIns="0" rIns="0" tIns="0" bIns="0">
            <a:spAutoFit/>
          </a:bodyPr>
          <a:lstStyle/>
          <a:p>
            <a:pPr>
              <a:lnSpc>
                <a:spcPct val="100000"/>
              </a:lnSpc>
            </a:pPr>
            <a:r>
              <a:rPr sz="1500" b="0">
                <a:solidFill>
                  <a:srgbClr val="FFFFFF"/>
                </a:solidFill>
                <a:latin typeface="Calibri"/>
              </a:rPr>
              <a:t>Secondary use applies in full.</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75" fill="hold">
                      <p:stCondLst>
                        <p:cond delay="indefinite"/>
                        <p:cond evt="onBegin" delay="0">
                          <p:tn val="2"/>
                        </p:cond>
                      </p:stCondLst>
                      <p:childTnLst>
                        <p:par>
                          <p:cTn id="15" fill="hold">
                            <p:stCondLst>
                              <p:cond delay="0"/>
                            </p:stCondLst>
                            <p:childTnLst>
                              <p:par>
                                <p:cTn id="3" presetID="10" presetClass="entr" presetSubtype="0" fill="hold" grpId="0" nodeType="afterEffect">
                                  <p:stCondLst>
                                    <p:cond delay="0"/>
                                  </p:stCondLst>
                                  <p:childTnLst>
                                    <p:set>
                                      <p:cBhvr>
                                        <p:cTn id="4" dur="1" fill="hold">
                                          <p:stCondLst>
                                            <p:cond delay="0"/>
                                          </p:stCondLst>
                                        </p:cTn>
                                        <p:tgtEl>
                                          <p:spTgt spid="7"/>
                                        </p:tgtEl>
                                        <p:attrNameLst>
                                          <p:attrName>style.visibility</p:attrName>
                                        </p:attrNameLst>
                                      </p:cBhvr>
                                      <p:to>
                                        <p:strVal val="visible"/>
                                      </p:to>
                                    </p:set>
                                    <p:animEffect transition="in" filter="fade">
                                      <p:cBhvr>
                                        <p:cTn id="5" dur="500"/>
                                        <p:tgtEl>
                                          <p:spTgt spid="7"/>
                                        </p:tgtEl>
                                      </p:cBhvr>
                                    </p:animEffect>
                                  </p:childTnLst>
                                </p:cTn>
                              </p:par>
                              <p:par>
                                <p:cTn id="6" presetID="10" presetClass="entr" presetSubtype="0" fill="hold" grpId="0" nodeType="withEffect">
                                  <p:stCondLst>
                                    <p:cond delay="0"/>
                                  </p:stCondLst>
                                  <p:childTnLst>
                                    <p:set>
                                      <p:cBhvr>
                                        <p:cTn id="7" dur="1" fill="hold">
                                          <p:stCondLst>
                                            <p:cond delay="0"/>
                                          </p:stCondLst>
                                        </p:cTn>
                                        <p:tgtEl>
                                          <p:spTgt spid="10"/>
                                        </p:tgtEl>
                                        <p:attrNameLst>
                                          <p:attrName>style.visibility</p:attrName>
                                        </p:attrNameLst>
                                      </p:cBhvr>
                                      <p:to>
                                        <p:strVal val="visible"/>
                                      </p:to>
                                    </p:set>
                                    <p:animEffect transition="in" filter="fade">
                                      <p:cBhvr>
                                        <p:cTn id="8" dur="500"/>
                                        <p:tgtEl>
                                          <p:spTgt spid="10"/>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8"/>
                                        </p:tgtEl>
                                        <p:attrNameLst>
                                          <p:attrName>style.visibility</p:attrName>
                                        </p:attrNameLst>
                                      </p:cBhvr>
                                      <p:to>
                                        <p:strVal val="visible"/>
                                      </p:to>
                                    </p:set>
                                    <p:animEffect transition="in" filter="fade">
                                      <p:cBhvr>
                                        <p:cTn id="11" dur="500"/>
                                        <p:tgtEl>
                                          <p:spTgt spid="8"/>
                                        </p:tgtEl>
                                      </p:cBhvr>
                                    </p:animEffect>
                                  </p:childTnLst>
                                </p:cTn>
                              </p:par>
                              <p:par>
                                <p:cTn id="12" presetID="10" presetClass="entr" presetSubtype="0" fill="hold" grpId="0" nodeType="withEffect">
                                  <p:stCondLst>
                                    <p:cond delay="0"/>
                                  </p:stCondLst>
                                  <p:childTnLst>
                                    <p:set>
                                      <p:cBhvr>
                                        <p:cTn id="13" dur="1" fill="hold">
                                          <p:stCondLst>
                                            <p:cond delay="0"/>
                                          </p:stCondLst>
                                        </p:cTn>
                                        <p:tgtEl>
                                          <p:spTgt spid="9"/>
                                        </p:tgtEl>
                                        <p:attrNameLst>
                                          <p:attrName>style.visibility</p:attrName>
                                        </p:attrNameLst>
                                      </p:cBhvr>
                                      <p:to>
                                        <p:strVal val="visible"/>
                                      </p:to>
                                    </p:set>
                                    <p:animEffect transition="in" filter="fade">
                                      <p:cBhvr>
                                        <p:cTn id="14" dur="500"/>
                                        <p:tgtEl>
                                          <p:spTgt spid="9"/>
                                        </p:tgtEl>
                                      </p:cBhvr>
                                    </p:animEffect>
                                  </p:childTnLst>
                                </p:cTn>
                              </p:par>
                            </p:childTnLst>
                          </p:cTn>
                        </p:par>
                        <p:par>
                          <p:cTn id="28" fill="hold">
                            <p:stCondLst>
                              <p:cond delay="300"/>
                            </p:stCondLst>
                            <p:childTnLst>
                              <p:par>
                                <p:cTn id="16" presetID="10" presetClass="entr" presetSubtype="0" fill="hold" grpId="0" nodeType="withEffect">
                                  <p:stCondLst>
                                    <p:cond delay="0"/>
                                  </p:stCondLst>
                                  <p:childTnLst>
                                    <p:set>
                                      <p:cBhvr>
                                        <p:cTn id="17" dur="1" fill="hold">
                                          <p:stCondLst>
                                            <p:cond delay="0"/>
                                          </p:stCondLst>
                                        </p:cTn>
                                        <p:tgtEl>
                                          <p:spTgt spid="11"/>
                                        </p:tgtEl>
                                        <p:attrNameLst>
                                          <p:attrName>style.visibility</p:attrName>
                                        </p:attrNameLst>
                                      </p:cBhvr>
                                      <p:to>
                                        <p:strVal val="visible"/>
                                      </p:to>
                                    </p:set>
                                    <p:animEffect transition="in" filter="fade">
                                      <p:cBhvr>
                                        <p:cTn id="18" dur="500"/>
                                        <p:tgtEl>
                                          <p:spTgt spid="11"/>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14"/>
                                        </p:tgtEl>
                                        <p:attrNameLst>
                                          <p:attrName>style.visibility</p:attrName>
                                        </p:attrNameLst>
                                      </p:cBhvr>
                                      <p:to>
                                        <p:strVal val="visible"/>
                                      </p:to>
                                    </p:set>
                                    <p:animEffect transition="in" filter="fade">
                                      <p:cBhvr>
                                        <p:cTn id="21" dur="500"/>
                                        <p:tgtEl>
                                          <p:spTgt spid="14"/>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12"/>
                                        </p:tgtEl>
                                        <p:attrNameLst>
                                          <p:attrName>style.visibility</p:attrName>
                                        </p:attrNameLst>
                                      </p:cBhvr>
                                      <p:to>
                                        <p:strVal val="visible"/>
                                      </p:to>
                                    </p:set>
                                    <p:animEffect transition="in" filter="fade">
                                      <p:cBhvr>
                                        <p:cTn id="24" dur="500"/>
                                        <p:tgtEl>
                                          <p:spTgt spid="12"/>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13"/>
                                        </p:tgtEl>
                                        <p:attrNameLst>
                                          <p:attrName>style.visibility</p:attrName>
                                        </p:attrNameLst>
                                      </p:cBhvr>
                                      <p:to>
                                        <p:strVal val="visible"/>
                                      </p:to>
                                    </p:set>
                                    <p:animEffect transition="in" filter="fade">
                                      <p:cBhvr>
                                        <p:cTn id="27" dur="500"/>
                                        <p:tgtEl>
                                          <p:spTgt spid="13"/>
                                        </p:tgtEl>
                                      </p:cBhvr>
                                    </p:animEffect>
                                  </p:childTnLst>
                                </p:cTn>
                              </p:par>
                            </p:childTnLst>
                          </p:cTn>
                        </p:par>
                        <p:par>
                          <p:cTn id="41" fill="hold">
                            <p:stCondLst>
                              <p:cond delay="600"/>
                            </p:stCondLst>
                            <p:childTnLst>
                              <p:par>
                                <p:cTn id="29" presetID="10" presetClass="entr" presetSubtype="0" fill="hold" grpId="0" nodeType="withEffect">
                                  <p:stCondLst>
                                    <p:cond delay="0"/>
                                  </p:stCondLst>
                                  <p:childTnLst>
                                    <p:set>
                                      <p:cBhvr>
                                        <p:cTn id="30" dur="1" fill="hold">
                                          <p:stCondLst>
                                            <p:cond delay="0"/>
                                          </p:stCondLst>
                                        </p:cTn>
                                        <p:tgtEl>
                                          <p:spTgt spid="15"/>
                                        </p:tgtEl>
                                        <p:attrNameLst>
                                          <p:attrName>style.visibility</p:attrName>
                                        </p:attrNameLst>
                                      </p:cBhvr>
                                      <p:to>
                                        <p:strVal val="visible"/>
                                      </p:to>
                                    </p:set>
                                    <p:animEffect transition="in" filter="fade">
                                      <p:cBhvr>
                                        <p:cTn id="31" dur="500"/>
                                        <p:tgtEl>
                                          <p:spTgt spid="15"/>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18"/>
                                        </p:tgtEl>
                                        <p:attrNameLst>
                                          <p:attrName>style.visibility</p:attrName>
                                        </p:attrNameLst>
                                      </p:cBhvr>
                                      <p:to>
                                        <p:strVal val="visible"/>
                                      </p:to>
                                    </p:set>
                                    <p:animEffect transition="in" filter="fade">
                                      <p:cBhvr>
                                        <p:cTn id="34" dur="500"/>
                                        <p:tgtEl>
                                          <p:spTgt spid="18"/>
                                        </p:tgtEl>
                                      </p:cBhvr>
                                    </p:animEffect>
                                  </p:childTnLst>
                                </p:cTn>
                              </p:par>
                              <p:par>
                                <p:cTn id="35" presetID="10" presetClass="entr" presetSubtype="0" fill="hold" grpId="0" nodeType="withEffect">
                                  <p:stCondLst>
                                    <p:cond delay="0"/>
                                  </p:stCondLst>
                                  <p:childTnLst>
                                    <p:set>
                                      <p:cBhvr>
                                        <p:cTn id="36" dur="1" fill="hold">
                                          <p:stCondLst>
                                            <p:cond delay="0"/>
                                          </p:stCondLst>
                                        </p:cTn>
                                        <p:tgtEl>
                                          <p:spTgt spid="16"/>
                                        </p:tgtEl>
                                        <p:attrNameLst>
                                          <p:attrName>style.visibility</p:attrName>
                                        </p:attrNameLst>
                                      </p:cBhvr>
                                      <p:to>
                                        <p:strVal val="visible"/>
                                      </p:to>
                                    </p:set>
                                    <p:animEffect transition="in" filter="fade">
                                      <p:cBhvr>
                                        <p:cTn id="37" dur="500"/>
                                        <p:tgtEl>
                                          <p:spTgt spid="16"/>
                                        </p:tgtEl>
                                      </p:cBhvr>
                                    </p:animEffect>
                                  </p:childTnLst>
                                </p:cTn>
                              </p:par>
                              <p:par>
                                <p:cTn id="38" presetID="10" presetClass="entr" presetSubtype="0" fill="hold" grpId="0" nodeType="withEffect">
                                  <p:stCondLst>
                                    <p:cond delay="0"/>
                                  </p:stCondLst>
                                  <p:childTnLst>
                                    <p:set>
                                      <p:cBhvr>
                                        <p:cTn id="39" dur="1" fill="hold">
                                          <p:stCondLst>
                                            <p:cond delay="0"/>
                                          </p:stCondLst>
                                        </p:cTn>
                                        <p:tgtEl>
                                          <p:spTgt spid="17"/>
                                        </p:tgtEl>
                                        <p:attrNameLst>
                                          <p:attrName>style.visibility</p:attrName>
                                        </p:attrNameLst>
                                      </p:cBhvr>
                                      <p:to>
                                        <p:strVal val="visible"/>
                                      </p:to>
                                    </p:set>
                                    <p:animEffect transition="in" filter="fade">
                                      <p:cBhvr>
                                        <p:cTn id="40" dur="500"/>
                                        <p:tgtEl>
                                          <p:spTgt spid="17"/>
                                        </p:tgtEl>
                                      </p:cBhvr>
                                    </p:animEffect>
                                  </p:childTnLst>
                                </p:cTn>
                              </p:par>
                            </p:childTnLst>
                          </p:cTn>
                        </p:par>
                        <p:par>
                          <p:cTn id="54" fill="hold">
                            <p:stCondLst>
                              <p:cond delay="900"/>
                            </p:stCondLst>
                            <p:childTnLst>
                              <p:par>
                                <p:cTn id="42" presetID="10" presetClass="entr" presetSubtype="0" fill="hold" grpId="0" nodeType="withEffect">
                                  <p:stCondLst>
                                    <p:cond delay="0"/>
                                  </p:stCondLst>
                                  <p:childTnLst>
                                    <p:set>
                                      <p:cBhvr>
                                        <p:cTn id="43" dur="1" fill="hold">
                                          <p:stCondLst>
                                            <p:cond delay="0"/>
                                          </p:stCondLst>
                                        </p:cTn>
                                        <p:tgtEl>
                                          <p:spTgt spid="19"/>
                                        </p:tgtEl>
                                        <p:attrNameLst>
                                          <p:attrName>style.visibility</p:attrName>
                                        </p:attrNameLst>
                                      </p:cBhvr>
                                      <p:to>
                                        <p:strVal val="visible"/>
                                      </p:to>
                                    </p:set>
                                    <p:animEffect transition="in" filter="fade">
                                      <p:cBhvr>
                                        <p:cTn id="44" dur="500"/>
                                        <p:tgtEl>
                                          <p:spTgt spid="19"/>
                                        </p:tgtEl>
                                      </p:cBhvr>
                                    </p:animEffect>
                                  </p:childTnLst>
                                </p:cTn>
                              </p:par>
                              <p:par>
                                <p:cTn id="45" presetID="10" presetClass="entr" presetSubtype="0" fill="hold" grpId="0" nodeType="withEffect">
                                  <p:stCondLst>
                                    <p:cond delay="0"/>
                                  </p:stCondLst>
                                  <p:childTnLst>
                                    <p:set>
                                      <p:cBhvr>
                                        <p:cTn id="46" dur="1" fill="hold">
                                          <p:stCondLst>
                                            <p:cond delay="0"/>
                                          </p:stCondLst>
                                        </p:cTn>
                                        <p:tgtEl>
                                          <p:spTgt spid="22"/>
                                        </p:tgtEl>
                                        <p:attrNameLst>
                                          <p:attrName>style.visibility</p:attrName>
                                        </p:attrNameLst>
                                      </p:cBhvr>
                                      <p:to>
                                        <p:strVal val="visible"/>
                                      </p:to>
                                    </p:set>
                                    <p:animEffect transition="in" filter="fade">
                                      <p:cBhvr>
                                        <p:cTn id="47" dur="500"/>
                                        <p:tgtEl>
                                          <p:spTgt spid="22"/>
                                        </p:tgtEl>
                                      </p:cBhvr>
                                    </p:animEffect>
                                  </p:childTnLst>
                                </p:cTn>
                              </p:par>
                              <p:par>
                                <p:cTn id="48" presetID="10" presetClass="entr" presetSubtype="0" fill="hold" grpId="0" nodeType="withEffect">
                                  <p:stCondLst>
                                    <p:cond delay="0"/>
                                  </p:stCondLst>
                                  <p:childTnLst>
                                    <p:set>
                                      <p:cBhvr>
                                        <p:cTn id="49" dur="1" fill="hold">
                                          <p:stCondLst>
                                            <p:cond delay="0"/>
                                          </p:stCondLst>
                                        </p:cTn>
                                        <p:tgtEl>
                                          <p:spTgt spid="20"/>
                                        </p:tgtEl>
                                        <p:attrNameLst>
                                          <p:attrName>style.visibility</p:attrName>
                                        </p:attrNameLst>
                                      </p:cBhvr>
                                      <p:to>
                                        <p:strVal val="visible"/>
                                      </p:to>
                                    </p:set>
                                    <p:animEffect transition="in" filter="fade">
                                      <p:cBhvr>
                                        <p:cTn id="50" dur="500"/>
                                        <p:tgtEl>
                                          <p:spTgt spid="20"/>
                                        </p:tgtEl>
                                      </p:cBhvr>
                                    </p:animEffect>
                                  </p:childTnLst>
                                </p:cTn>
                              </p:par>
                              <p:par>
                                <p:cTn id="51" presetID="10" presetClass="entr" presetSubtype="0" fill="hold" grpId="0" nodeType="withEffect">
                                  <p:stCondLst>
                                    <p:cond delay="0"/>
                                  </p:stCondLst>
                                  <p:childTnLst>
                                    <p:set>
                                      <p:cBhvr>
                                        <p:cTn id="52" dur="1" fill="hold">
                                          <p:stCondLst>
                                            <p:cond delay="0"/>
                                          </p:stCondLst>
                                        </p:cTn>
                                        <p:tgtEl>
                                          <p:spTgt spid="21"/>
                                        </p:tgtEl>
                                        <p:attrNameLst>
                                          <p:attrName>style.visibility</p:attrName>
                                        </p:attrNameLst>
                                      </p:cBhvr>
                                      <p:to>
                                        <p:strVal val="visible"/>
                                      </p:to>
                                    </p:set>
                                    <p:animEffect transition="in" filter="fade">
                                      <p:cBhvr>
                                        <p:cTn id="53" dur="500"/>
                                        <p:tgtEl>
                                          <p:spTgt spid="21"/>
                                        </p:tgtEl>
                                      </p:cBhvr>
                                    </p:animEffect>
                                  </p:childTnLst>
                                </p:cTn>
                              </p:par>
                            </p:childTnLst>
                          </p:cTn>
                        </p:par>
                        <p:par>
                          <p:cTn id="64" fill="hold">
                            <p:stCondLst>
                              <p:cond delay="1200"/>
                            </p:stCondLst>
                            <p:childTnLst>
                              <p:par>
                                <p:cTn id="55" presetID="10" presetClass="entr" presetSubtype="0" fill="hold" grpId="0" nodeType="withEffect">
                                  <p:stCondLst>
                                    <p:cond delay="0"/>
                                  </p:stCondLst>
                                  <p:childTnLst>
                                    <p:set>
                                      <p:cBhvr>
                                        <p:cTn id="56" dur="1" fill="hold">
                                          <p:stCondLst>
                                            <p:cond delay="0"/>
                                          </p:stCondLst>
                                        </p:cTn>
                                        <p:tgtEl>
                                          <p:spTgt spid="23"/>
                                        </p:tgtEl>
                                        <p:attrNameLst>
                                          <p:attrName>style.visibility</p:attrName>
                                        </p:attrNameLst>
                                      </p:cBhvr>
                                      <p:to>
                                        <p:strVal val="visible"/>
                                      </p:to>
                                    </p:set>
                                    <p:animEffect transition="in" filter="fade">
                                      <p:cBhvr>
                                        <p:cTn id="57" dur="500"/>
                                        <p:tgtEl>
                                          <p:spTgt spid="23"/>
                                        </p:tgtEl>
                                      </p:cBhvr>
                                    </p:animEffect>
                                  </p:childTnLst>
                                </p:cTn>
                              </p:par>
                              <p:par>
                                <p:cTn id="58" presetID="10" presetClass="entr" presetSubtype="0" fill="hold" grpId="0" nodeType="withEffect">
                                  <p:stCondLst>
                                    <p:cond delay="0"/>
                                  </p:stCondLst>
                                  <p:childTnLst>
                                    <p:set>
                                      <p:cBhvr>
                                        <p:cTn id="59" dur="1" fill="hold">
                                          <p:stCondLst>
                                            <p:cond delay="0"/>
                                          </p:stCondLst>
                                        </p:cTn>
                                        <p:tgtEl>
                                          <p:spTgt spid="24"/>
                                        </p:tgtEl>
                                        <p:attrNameLst>
                                          <p:attrName>style.visibility</p:attrName>
                                        </p:attrNameLst>
                                      </p:cBhvr>
                                      <p:to>
                                        <p:strVal val="visible"/>
                                      </p:to>
                                    </p:set>
                                    <p:animEffect transition="in" filter="fade">
                                      <p:cBhvr>
                                        <p:cTn id="60" dur="500"/>
                                        <p:tgtEl>
                                          <p:spTgt spid="24"/>
                                        </p:tgtEl>
                                      </p:cBhvr>
                                    </p:animEffect>
                                  </p:childTnLst>
                                </p:cTn>
                              </p:par>
                              <p:par>
                                <p:cTn id="61" presetID="10" presetClass="entr" presetSubtype="0" fill="hold" grpId="0" nodeType="withEffect">
                                  <p:stCondLst>
                                    <p:cond delay="0"/>
                                  </p:stCondLst>
                                  <p:childTnLst>
                                    <p:set>
                                      <p:cBhvr>
                                        <p:cTn id="62" dur="1" fill="hold">
                                          <p:stCondLst>
                                            <p:cond delay="0"/>
                                          </p:stCondLst>
                                        </p:cTn>
                                        <p:tgtEl>
                                          <p:spTgt spid="25"/>
                                        </p:tgtEl>
                                        <p:attrNameLst>
                                          <p:attrName>style.visibility</p:attrName>
                                        </p:attrNameLst>
                                      </p:cBhvr>
                                      <p:to>
                                        <p:strVal val="visible"/>
                                      </p:to>
                                    </p:set>
                                    <p:animEffect transition="in" filter="fade">
                                      <p:cBhvr>
                                        <p:cTn id="63" dur="500"/>
                                        <p:tgtEl>
                                          <p:spTgt spid="25"/>
                                        </p:tgtEl>
                                      </p:cBhvr>
                                    </p:animEffect>
                                  </p:childTnLst>
                                </p:cTn>
                              </p:par>
                            </p:childTnLst>
                          </p:cTn>
                        </p:par>
                        <p:par>
                          <p:cTn id="74" fill="hold">
                            <p:stCondLst>
                              <p:cond delay="1500"/>
                            </p:stCondLst>
                            <p:childTnLst>
                              <p:par>
                                <p:cTn id="65" presetID="10" presetClass="entr" presetSubtype="0" fill="hold" grpId="0" nodeType="withEffect">
                                  <p:stCondLst>
                                    <p:cond delay="0"/>
                                  </p:stCondLst>
                                  <p:childTnLst>
                                    <p:set>
                                      <p:cBhvr>
                                        <p:cTn id="66" dur="1" fill="hold">
                                          <p:stCondLst>
                                            <p:cond delay="0"/>
                                          </p:stCondLst>
                                        </p:cTn>
                                        <p:tgtEl>
                                          <p:spTgt spid="26"/>
                                        </p:tgtEl>
                                        <p:attrNameLst>
                                          <p:attrName>style.visibility</p:attrName>
                                        </p:attrNameLst>
                                      </p:cBhvr>
                                      <p:to>
                                        <p:strVal val="visible"/>
                                      </p:to>
                                    </p:set>
                                    <p:animEffect transition="in" filter="fade">
                                      <p:cBhvr>
                                        <p:cTn id="67" dur="500"/>
                                        <p:tgtEl>
                                          <p:spTgt spid="26"/>
                                        </p:tgtEl>
                                      </p:cBhvr>
                                    </p:animEffect>
                                  </p:childTnLst>
                                </p:cTn>
                              </p:par>
                              <p:par>
                                <p:cTn id="68" presetID="10" presetClass="entr" presetSubtype="0" fill="hold" grpId="0" nodeType="withEffect">
                                  <p:stCondLst>
                                    <p:cond delay="0"/>
                                  </p:stCondLst>
                                  <p:childTnLst>
                                    <p:set>
                                      <p:cBhvr>
                                        <p:cTn id="69" dur="1" fill="hold">
                                          <p:stCondLst>
                                            <p:cond delay="0"/>
                                          </p:stCondLst>
                                        </p:cTn>
                                        <p:tgtEl>
                                          <p:spTgt spid="27"/>
                                        </p:tgtEl>
                                        <p:attrNameLst>
                                          <p:attrName>style.visibility</p:attrName>
                                        </p:attrNameLst>
                                      </p:cBhvr>
                                      <p:to>
                                        <p:strVal val="visible"/>
                                      </p:to>
                                    </p:set>
                                    <p:animEffect transition="in" filter="fade">
                                      <p:cBhvr>
                                        <p:cTn id="70" dur="500"/>
                                        <p:tgtEl>
                                          <p:spTgt spid="27"/>
                                        </p:tgtEl>
                                      </p:cBhvr>
                                    </p:animEffect>
                                  </p:childTnLst>
                                </p:cTn>
                              </p:par>
                              <p:par>
                                <p:cTn id="71" presetID="10" presetClass="entr" presetSubtype="0" fill="hold" grpId="0" nodeType="withEffect">
                                  <p:stCondLst>
                                    <p:cond delay="0"/>
                                  </p:stCondLst>
                                  <p:childTnLst>
                                    <p:set>
                                      <p:cBhvr>
                                        <p:cTn id="72" dur="1" fill="hold">
                                          <p:stCondLst>
                                            <p:cond delay="0"/>
                                          </p:stCondLst>
                                        </p:cTn>
                                        <p:tgtEl>
                                          <p:spTgt spid="28"/>
                                        </p:tgtEl>
                                        <p:attrNameLst>
                                          <p:attrName>style.visibility</p:attrName>
                                        </p:attrNameLst>
                                      </p:cBhvr>
                                      <p:to>
                                        <p:strVal val="visible"/>
                                      </p:to>
                                    </p:set>
                                    <p:animEffect transition="in" filter="fade">
                                      <p:cBhvr>
                                        <p:cTn id="73" dur="500"/>
                                        <p:tgtEl>
                                          <p:spTgt spid="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64592"/>
          </a:xfrm>
          <a:prstGeom prst="rect">
            <a:avLst/>
          </a:prstGeom>
          <a:solidFill>
            <a:srgbClr val="143D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92608"/>
            <a:ext cx="10972800" cy="274320"/>
          </a:xfrm>
          <a:prstGeom prst="rect">
            <a:avLst/>
          </a:prstGeom>
          <a:noFill/>
        </p:spPr>
        <p:txBody>
          <a:bodyPr wrap="square" lIns="0" rIns="0" tIns="0" bIns="0">
            <a:spAutoFit/>
          </a:bodyPr>
          <a:lstStyle/>
          <a:p>
            <a:pPr>
              <a:lnSpc>
                <a:spcPct val="100000"/>
              </a:lnSpc>
            </a:pPr>
            <a:r>
              <a:rPr sz="1100" b="1">
                <a:solidFill>
                  <a:srgbClr val="2A9D8F"/>
                </a:solidFill>
                <a:latin typeface="Calibri"/>
              </a:rPr>
              <a:t>THE SUGGESTED PILOT  ·  A REGIONAL EHDS NODE</a:t>
            </a:r>
          </a:p>
        </p:txBody>
      </p:sp>
      <p:sp>
        <p:nvSpPr>
          <p:cNvPr id="4" name="TextBox 3"/>
          <p:cNvSpPr txBox="1"/>
          <p:nvPr/>
        </p:nvSpPr>
        <p:spPr>
          <a:xfrm>
            <a:off x="548640" y="548640"/>
            <a:ext cx="11064240" cy="548640"/>
          </a:xfrm>
          <a:prstGeom prst="rect">
            <a:avLst/>
          </a:prstGeom>
          <a:noFill/>
        </p:spPr>
        <p:txBody>
          <a:bodyPr wrap="square" lIns="0" rIns="0" tIns="0" bIns="0">
            <a:spAutoFit/>
          </a:bodyPr>
          <a:lstStyle/>
          <a:p>
            <a:pPr>
              <a:lnSpc>
                <a:spcPct val="100000"/>
              </a:lnSpc>
            </a:pPr>
            <a:r>
              <a:rPr sz="2800" b="1">
                <a:solidFill>
                  <a:srgbClr val="143D59"/>
                </a:solidFill>
                <a:latin typeface="Calibri"/>
              </a:rPr>
              <a:t>Euskadi pilot: start regional, connect upwards</a:t>
            </a:r>
          </a:p>
        </p:txBody>
      </p:sp>
      <p:sp>
        <p:nvSpPr>
          <p:cNvPr id="5" name="TextBox 4"/>
          <p:cNvSpPr txBox="1"/>
          <p:nvPr/>
        </p:nvSpPr>
        <p:spPr>
          <a:xfrm>
            <a:off x="548640" y="1097280"/>
            <a:ext cx="11064240" cy="365760"/>
          </a:xfrm>
          <a:prstGeom prst="rect">
            <a:avLst/>
          </a:prstGeom>
          <a:noFill/>
        </p:spPr>
        <p:txBody>
          <a:bodyPr wrap="square" lIns="0" rIns="0" tIns="0" bIns="0">
            <a:spAutoFit/>
          </a:bodyPr>
          <a:lstStyle/>
          <a:p>
            <a:pPr>
              <a:lnSpc>
                <a:spcPct val="100000"/>
              </a:lnSpc>
            </a:pPr>
            <a:r>
              <a:rPr sz="1500" b="0">
                <a:solidFill>
                  <a:srgbClr val="4F5560"/>
                </a:solidFill>
                <a:latin typeface="Calibri"/>
              </a:rPr>
              <a:t>Build one Basque node first. Then connect it to Spain, and through Spain to the EU.</a:t>
            </a:r>
          </a:p>
        </p:txBody>
      </p:sp>
      <p:sp>
        <p:nvSpPr>
          <p:cNvPr id="6" name="TextBox 5"/>
          <p:cNvSpPr txBox="1"/>
          <p:nvPr/>
        </p:nvSpPr>
        <p:spPr>
          <a:xfrm>
            <a:off x="548640" y="6446520"/>
            <a:ext cx="7315200" cy="274320"/>
          </a:xfrm>
          <a:prstGeom prst="rect">
            <a:avLst/>
          </a:prstGeom>
          <a:noFill/>
        </p:spPr>
        <p:txBody>
          <a:bodyPr wrap="square" lIns="0" rIns="0" tIns="0" bIns="0">
            <a:spAutoFit/>
          </a:bodyPr>
          <a:lstStyle/>
          <a:p>
            <a:pPr>
              <a:lnSpc>
                <a:spcPct val="100000"/>
              </a:lnSpc>
            </a:pPr>
            <a:r>
              <a:rPr sz="1000" b="0">
                <a:solidFill>
                  <a:srgbClr val="4F5560"/>
                </a:solidFill>
                <a:latin typeface="Calibri"/>
              </a:rPr>
              <a:t>Reunión de preparación  ·  Espacio de Datos EJIE  ·  País Vasco  ·  status October 2026</a:t>
            </a:r>
          </a:p>
        </p:txBody>
      </p:sp>
      <p:sp>
        <p:nvSpPr>
          <p:cNvPr id="7" name="Rounded Rectangle 6"/>
          <p:cNvSpPr/>
          <p:nvPr/>
        </p:nvSpPr>
        <p:spPr>
          <a:xfrm>
            <a:off x="813816" y="2734056"/>
            <a:ext cx="3374136" cy="2304288"/>
          </a:xfrm>
          <a:prstGeom prst="roundRect">
            <a:avLst>
              <a:gd name="adj" fmla="val 5000"/>
            </a:avLst>
          </a:prstGeom>
          <a:solidFill>
            <a:srgbClr val="EE96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96696" y="2898648"/>
            <a:ext cx="3017520" cy="274320"/>
          </a:xfrm>
          <a:prstGeom prst="rect">
            <a:avLst/>
          </a:prstGeom>
          <a:noFill/>
        </p:spPr>
        <p:txBody>
          <a:bodyPr wrap="square" lIns="0" rIns="0" tIns="0" bIns="0">
            <a:spAutoFit/>
          </a:bodyPr>
          <a:lstStyle/>
          <a:p>
            <a:pPr>
              <a:lnSpc>
                <a:spcPct val="100000"/>
              </a:lnSpc>
            </a:pPr>
            <a:r>
              <a:rPr sz="1100" b="1">
                <a:solidFill>
                  <a:srgbClr val="143D59"/>
                </a:solidFill>
                <a:latin typeface="Calibri"/>
              </a:rPr>
              <a:t>STEP 1  ·  2027  ·  BUILD</a:t>
            </a:r>
          </a:p>
        </p:txBody>
      </p:sp>
      <p:sp>
        <p:nvSpPr>
          <p:cNvPr id="9" name="TextBox 8"/>
          <p:cNvSpPr txBox="1"/>
          <p:nvPr/>
        </p:nvSpPr>
        <p:spPr>
          <a:xfrm>
            <a:off x="996696" y="3172968"/>
            <a:ext cx="3017520" cy="365760"/>
          </a:xfrm>
          <a:prstGeom prst="rect">
            <a:avLst/>
          </a:prstGeom>
          <a:noFill/>
        </p:spPr>
        <p:txBody>
          <a:bodyPr wrap="square" lIns="0" rIns="0" tIns="0" bIns="0">
            <a:spAutoFit/>
          </a:bodyPr>
          <a:lstStyle/>
          <a:p>
            <a:pPr>
              <a:lnSpc>
                <a:spcPct val="100000"/>
              </a:lnSpc>
            </a:pPr>
            <a:r>
              <a:rPr sz="1800" b="1">
                <a:solidFill>
                  <a:srgbClr val="143D59"/>
                </a:solidFill>
                <a:latin typeface="Calibri"/>
              </a:rPr>
              <a:t>Euskadi pilot</a:t>
            </a:r>
          </a:p>
        </p:txBody>
      </p:sp>
      <p:sp>
        <p:nvSpPr>
          <p:cNvPr id="10" name="TextBox 9"/>
          <p:cNvSpPr txBox="1"/>
          <p:nvPr/>
        </p:nvSpPr>
        <p:spPr>
          <a:xfrm>
            <a:off x="996696" y="3648456"/>
            <a:ext cx="3063240" cy="274320"/>
          </a:xfrm>
          <a:prstGeom prst="rect">
            <a:avLst/>
          </a:prstGeom>
          <a:noFill/>
        </p:spPr>
        <p:txBody>
          <a:bodyPr wrap="none" lIns="0" rIns="0" tIns="0" bIns="0">
            <a:spAutoFit/>
          </a:bodyPr>
          <a:lstStyle/>
          <a:p>
            <a:r>
              <a:rPr sz="1250">
                <a:solidFill>
                  <a:srgbClr val="F2C14E"/>
                </a:solidFill>
              </a:rPr>
              <a:t>●  </a:t>
            </a:r>
            <a:r>
              <a:rPr sz="1250">
                <a:solidFill>
                  <a:srgbClr val="143D59"/>
                </a:solidFill>
                <a:latin typeface="Calibri"/>
              </a:rPr>
              <a:t>Basque Health Data Office</a:t>
            </a:r>
          </a:p>
        </p:txBody>
      </p:sp>
      <p:sp>
        <p:nvSpPr>
          <p:cNvPr id="11" name="TextBox 10"/>
          <p:cNvSpPr txBox="1"/>
          <p:nvPr/>
        </p:nvSpPr>
        <p:spPr>
          <a:xfrm>
            <a:off x="996696" y="3913632"/>
            <a:ext cx="3063240" cy="274320"/>
          </a:xfrm>
          <a:prstGeom prst="rect">
            <a:avLst/>
          </a:prstGeom>
          <a:noFill/>
        </p:spPr>
        <p:txBody>
          <a:bodyPr wrap="none" lIns="0" rIns="0" tIns="0" bIns="0">
            <a:spAutoFit/>
          </a:bodyPr>
          <a:lstStyle/>
          <a:p>
            <a:r>
              <a:rPr sz="1250">
                <a:solidFill>
                  <a:srgbClr val="F2C14E"/>
                </a:solidFill>
              </a:rPr>
              <a:t>●  </a:t>
            </a:r>
            <a:r>
              <a:rPr sz="1250">
                <a:solidFill>
                  <a:srgbClr val="143D59"/>
                </a:solidFill>
                <a:latin typeface="Calibri"/>
              </a:rPr>
              <a:t>Data lake → FHIR and OMOP</a:t>
            </a:r>
          </a:p>
        </p:txBody>
      </p:sp>
      <p:sp>
        <p:nvSpPr>
          <p:cNvPr id="12" name="TextBox 11"/>
          <p:cNvSpPr txBox="1"/>
          <p:nvPr/>
        </p:nvSpPr>
        <p:spPr>
          <a:xfrm>
            <a:off x="996696" y="4178808"/>
            <a:ext cx="3063240" cy="274320"/>
          </a:xfrm>
          <a:prstGeom prst="rect">
            <a:avLst/>
          </a:prstGeom>
          <a:noFill/>
        </p:spPr>
        <p:txBody>
          <a:bodyPr wrap="none" lIns="0" rIns="0" tIns="0" bIns="0">
            <a:spAutoFit/>
          </a:bodyPr>
          <a:lstStyle/>
          <a:p>
            <a:r>
              <a:rPr sz="1250">
                <a:solidFill>
                  <a:srgbClr val="143D59"/>
                </a:solidFill>
              </a:rPr>
              <a:t>○  </a:t>
            </a:r>
            <a:r>
              <a:rPr sz="1250">
                <a:solidFill>
                  <a:srgbClr val="143D59"/>
                </a:solidFill>
                <a:latin typeface="Calibri"/>
              </a:rPr>
              <a:t>One regional node</a:t>
            </a:r>
          </a:p>
        </p:txBody>
      </p:sp>
      <p:sp>
        <p:nvSpPr>
          <p:cNvPr id="13" name="TextBox 12"/>
          <p:cNvSpPr txBox="1"/>
          <p:nvPr/>
        </p:nvSpPr>
        <p:spPr>
          <a:xfrm>
            <a:off x="996696" y="4443984"/>
            <a:ext cx="3063240" cy="274320"/>
          </a:xfrm>
          <a:prstGeom prst="rect">
            <a:avLst/>
          </a:prstGeom>
          <a:noFill/>
        </p:spPr>
        <p:txBody>
          <a:bodyPr wrap="none" lIns="0" rIns="0" tIns="0" bIns="0">
            <a:spAutoFit/>
          </a:bodyPr>
          <a:lstStyle/>
          <a:p>
            <a:r>
              <a:rPr sz="1250">
                <a:solidFill>
                  <a:srgbClr val="C0392B"/>
                </a:solidFill>
              </a:rPr>
              <a:t>●  </a:t>
            </a:r>
            <a:r>
              <a:rPr sz="1250">
                <a:solidFill>
                  <a:srgbClr val="143D59"/>
                </a:solidFill>
                <a:latin typeface="Calibri"/>
              </a:rPr>
              <a:t>Secure processing environment</a:t>
            </a:r>
          </a:p>
        </p:txBody>
      </p:sp>
      <p:sp>
        <p:nvSpPr>
          <p:cNvPr id="14" name="TextBox 13"/>
          <p:cNvSpPr txBox="1"/>
          <p:nvPr/>
        </p:nvSpPr>
        <p:spPr>
          <a:xfrm>
            <a:off x="996696" y="4709160"/>
            <a:ext cx="3063240" cy="274320"/>
          </a:xfrm>
          <a:prstGeom prst="rect">
            <a:avLst/>
          </a:prstGeom>
          <a:noFill/>
        </p:spPr>
        <p:txBody>
          <a:bodyPr wrap="none" lIns="0" rIns="0" tIns="0" bIns="0">
            <a:spAutoFit/>
          </a:bodyPr>
          <a:lstStyle/>
          <a:p>
            <a:r>
              <a:rPr sz="1250">
                <a:solidFill>
                  <a:srgbClr val="143D59"/>
                </a:solidFill>
              </a:rPr>
              <a:t>○  </a:t>
            </a:r>
            <a:r>
              <a:rPr sz="1250">
                <a:solidFill>
                  <a:srgbClr val="143D59"/>
                </a:solidFill>
                <a:latin typeface="Calibri"/>
              </a:rPr>
              <a:t>Two use cases</a:t>
            </a:r>
          </a:p>
        </p:txBody>
      </p:sp>
      <p:cxnSp>
        <p:nvCxnSpPr>
          <p:cNvPr id="15" name="Connector 14"/>
          <p:cNvCxnSpPr/>
          <p:nvPr/>
        </p:nvCxnSpPr>
        <p:spPr>
          <a:xfrm flipV="1">
            <a:off x="2505456" y="2468880"/>
            <a:ext cx="1856232" cy="219456"/>
          </a:xfrm>
          <a:prstGeom prst="curvedConnector3">
            <a:avLst/>
          </a:prstGeom>
          <a:ln w="28575">
            <a:solidFill>
              <a:srgbClr val="143D59"/>
            </a:solidFill>
            <a:tailEnd type="triangle" w="med" len="med"/>
          </a:ln>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1636776" y="2322576"/>
            <a:ext cx="1645920" cy="274320"/>
          </a:xfrm>
          <a:prstGeom prst="rect">
            <a:avLst/>
          </a:prstGeom>
          <a:noFill/>
        </p:spPr>
        <p:txBody>
          <a:bodyPr wrap="square" lIns="0" rIns="0" tIns="0" bIns="0">
            <a:spAutoFit/>
          </a:bodyPr>
          <a:lstStyle/>
          <a:p>
            <a:pPr>
              <a:lnSpc>
                <a:spcPct val="100000"/>
              </a:lnSpc>
            </a:pPr>
            <a:r>
              <a:rPr sz="1100" b="0" i="1">
                <a:solidFill>
                  <a:srgbClr val="4F5560"/>
                </a:solidFill>
                <a:latin typeface="Calibri"/>
              </a:rPr>
              <a:t>connect upwards</a:t>
            </a:r>
          </a:p>
        </p:txBody>
      </p:sp>
      <p:sp>
        <p:nvSpPr>
          <p:cNvPr id="17" name="Rounded Rectangle 16"/>
          <p:cNvSpPr/>
          <p:nvPr/>
        </p:nvSpPr>
        <p:spPr>
          <a:xfrm>
            <a:off x="4407408" y="2286000"/>
            <a:ext cx="3374136" cy="2752344"/>
          </a:xfrm>
          <a:prstGeom prst="roundRect">
            <a:avLst>
              <a:gd name="adj" fmla="val 5000"/>
            </a:avLst>
          </a:prstGeom>
          <a:solidFill>
            <a:srgbClr val="5F6B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590288" y="2450592"/>
            <a:ext cx="3017520" cy="274320"/>
          </a:xfrm>
          <a:prstGeom prst="rect">
            <a:avLst/>
          </a:prstGeom>
          <a:noFill/>
        </p:spPr>
        <p:txBody>
          <a:bodyPr wrap="square" lIns="0" rIns="0" tIns="0" bIns="0">
            <a:spAutoFit/>
          </a:bodyPr>
          <a:lstStyle/>
          <a:p>
            <a:pPr>
              <a:lnSpc>
                <a:spcPct val="100000"/>
              </a:lnSpc>
            </a:pPr>
            <a:r>
              <a:rPr sz="1100" b="1">
                <a:solidFill>
                  <a:srgbClr val="FFFFFF"/>
                </a:solidFill>
                <a:latin typeface="Calibri"/>
              </a:rPr>
              <a:t>STEP 2  ·  2028  ·  ALIGN</a:t>
            </a:r>
          </a:p>
        </p:txBody>
      </p:sp>
      <p:sp>
        <p:nvSpPr>
          <p:cNvPr id="19" name="TextBox 18"/>
          <p:cNvSpPr txBox="1"/>
          <p:nvPr/>
        </p:nvSpPr>
        <p:spPr>
          <a:xfrm>
            <a:off x="4590288" y="2724912"/>
            <a:ext cx="3017520" cy="365760"/>
          </a:xfrm>
          <a:prstGeom prst="rect">
            <a:avLst/>
          </a:prstGeom>
          <a:noFill/>
        </p:spPr>
        <p:txBody>
          <a:bodyPr wrap="square" lIns="0" rIns="0" tIns="0" bIns="0">
            <a:spAutoFit/>
          </a:bodyPr>
          <a:lstStyle/>
          <a:p>
            <a:pPr>
              <a:lnSpc>
                <a:spcPct val="100000"/>
              </a:lnSpc>
            </a:pPr>
            <a:r>
              <a:rPr sz="1800" b="1">
                <a:solidFill>
                  <a:srgbClr val="FFFFFF"/>
                </a:solidFill>
                <a:latin typeface="Calibri"/>
              </a:rPr>
              <a:t>Connect to Spain</a:t>
            </a:r>
          </a:p>
        </p:txBody>
      </p:sp>
      <p:sp>
        <p:nvSpPr>
          <p:cNvPr id="20" name="TextBox 19"/>
          <p:cNvSpPr txBox="1"/>
          <p:nvPr/>
        </p:nvSpPr>
        <p:spPr>
          <a:xfrm>
            <a:off x="4590288" y="3200400"/>
            <a:ext cx="3063240" cy="274320"/>
          </a:xfrm>
          <a:prstGeom prst="rect">
            <a:avLst/>
          </a:prstGeom>
          <a:noFill/>
        </p:spPr>
        <p:txBody>
          <a:bodyPr wrap="none" lIns="0" rIns="0" tIns="0" bIns="0">
            <a:spAutoFit/>
          </a:bodyPr>
          <a:lstStyle/>
          <a:p>
            <a:r>
              <a:rPr sz="1250">
                <a:solidFill>
                  <a:srgbClr val="F2C14E"/>
                </a:solidFill>
              </a:rPr>
              <a:t>●  </a:t>
            </a:r>
            <a:r>
              <a:rPr sz="1250">
                <a:solidFill>
                  <a:srgbClr val="FFFFFF"/>
                </a:solidFill>
                <a:latin typeface="Calibri"/>
              </a:rPr>
              <a:t>ENDS, the national data space</a:t>
            </a:r>
          </a:p>
        </p:txBody>
      </p:sp>
      <p:sp>
        <p:nvSpPr>
          <p:cNvPr id="21" name="TextBox 20"/>
          <p:cNvSpPr txBox="1"/>
          <p:nvPr/>
        </p:nvSpPr>
        <p:spPr>
          <a:xfrm>
            <a:off x="4590288" y="3465576"/>
            <a:ext cx="3063240" cy="274320"/>
          </a:xfrm>
          <a:prstGeom prst="rect">
            <a:avLst/>
          </a:prstGeom>
          <a:noFill/>
        </p:spPr>
        <p:txBody>
          <a:bodyPr wrap="none" lIns="0" rIns="0" tIns="0" bIns="0">
            <a:spAutoFit/>
          </a:bodyPr>
          <a:lstStyle/>
          <a:p>
            <a:r>
              <a:rPr sz="1250">
                <a:solidFill>
                  <a:srgbClr val="C0392B"/>
                </a:solidFill>
              </a:rPr>
              <a:t>●  </a:t>
            </a:r>
            <a:r>
              <a:rPr sz="1250">
                <a:solidFill>
                  <a:srgbClr val="FFFFFF"/>
                </a:solidFill>
                <a:latin typeface="Calibri"/>
              </a:rPr>
              <a:t>National access body</a:t>
            </a:r>
          </a:p>
        </p:txBody>
      </p:sp>
      <p:sp>
        <p:nvSpPr>
          <p:cNvPr id="22" name="TextBox 21"/>
          <p:cNvSpPr txBox="1"/>
          <p:nvPr/>
        </p:nvSpPr>
        <p:spPr>
          <a:xfrm>
            <a:off x="4590288" y="3730752"/>
            <a:ext cx="3063240" cy="274320"/>
          </a:xfrm>
          <a:prstGeom prst="rect">
            <a:avLst/>
          </a:prstGeom>
          <a:noFill/>
        </p:spPr>
        <p:txBody>
          <a:bodyPr wrap="none" lIns="0" rIns="0" tIns="0" bIns="0">
            <a:spAutoFit/>
          </a:bodyPr>
          <a:lstStyle/>
          <a:p>
            <a:r>
              <a:rPr sz="1250">
                <a:solidFill>
                  <a:srgbClr val="C0392B"/>
                </a:solidFill>
              </a:rPr>
              <a:t>●  </a:t>
            </a:r>
            <a:r>
              <a:rPr sz="1250">
                <a:solidFill>
                  <a:srgbClr val="FFFFFF"/>
                </a:solidFill>
                <a:latin typeface="Calibri"/>
              </a:rPr>
              <a:t>Ley de Salud Digital</a:t>
            </a:r>
          </a:p>
        </p:txBody>
      </p:sp>
      <p:sp>
        <p:nvSpPr>
          <p:cNvPr id="23" name="TextBox 22"/>
          <p:cNvSpPr txBox="1"/>
          <p:nvPr/>
        </p:nvSpPr>
        <p:spPr>
          <a:xfrm>
            <a:off x="4590288" y="3995928"/>
            <a:ext cx="3063240" cy="274320"/>
          </a:xfrm>
          <a:prstGeom prst="rect">
            <a:avLst/>
          </a:prstGeom>
          <a:noFill/>
        </p:spPr>
        <p:txBody>
          <a:bodyPr wrap="none" lIns="0" rIns="0" tIns="0" bIns="0">
            <a:spAutoFit/>
          </a:bodyPr>
          <a:lstStyle/>
          <a:p>
            <a:r>
              <a:rPr sz="1250">
                <a:solidFill>
                  <a:srgbClr val="2E7D3A"/>
                </a:solidFill>
              </a:rPr>
              <a:t>●  </a:t>
            </a:r>
            <a:r>
              <a:rPr sz="1250">
                <a:solidFill>
                  <a:srgbClr val="FFFFFF"/>
                </a:solidFill>
                <a:latin typeface="Calibri"/>
              </a:rPr>
              <a:t>MyHealth@EU (primary use)</a:t>
            </a:r>
          </a:p>
        </p:txBody>
      </p:sp>
      <p:cxnSp>
        <p:nvCxnSpPr>
          <p:cNvPr id="24" name="Connector 23"/>
          <p:cNvCxnSpPr/>
          <p:nvPr/>
        </p:nvCxnSpPr>
        <p:spPr>
          <a:xfrm flipV="1">
            <a:off x="6099048" y="2020824"/>
            <a:ext cx="1856231" cy="219456"/>
          </a:xfrm>
          <a:prstGeom prst="curvedConnector3">
            <a:avLst/>
          </a:prstGeom>
          <a:ln w="28575">
            <a:solidFill>
              <a:srgbClr val="143D59"/>
            </a:solidFill>
            <a:tailEnd type="triangle" w="med" len="med"/>
          </a:ln>
        </p:spPr>
        <p:style>
          <a:lnRef idx="2">
            <a:schemeClr val="accent1"/>
          </a:lnRef>
          <a:fillRef idx="0">
            <a:schemeClr val="accent1"/>
          </a:fillRef>
          <a:effectRef idx="1">
            <a:schemeClr val="accent1"/>
          </a:effectRef>
          <a:fontRef idx="minor">
            <a:schemeClr val="tx1"/>
          </a:fontRef>
        </p:style>
      </p:cxnSp>
      <p:sp>
        <p:nvSpPr>
          <p:cNvPr id="25" name="TextBox 24"/>
          <p:cNvSpPr txBox="1"/>
          <p:nvPr/>
        </p:nvSpPr>
        <p:spPr>
          <a:xfrm>
            <a:off x="5230368" y="1874519"/>
            <a:ext cx="1645920" cy="274320"/>
          </a:xfrm>
          <a:prstGeom prst="rect">
            <a:avLst/>
          </a:prstGeom>
          <a:noFill/>
        </p:spPr>
        <p:txBody>
          <a:bodyPr wrap="square" lIns="0" rIns="0" tIns="0" bIns="0">
            <a:spAutoFit/>
          </a:bodyPr>
          <a:lstStyle/>
          <a:p>
            <a:pPr>
              <a:lnSpc>
                <a:spcPct val="100000"/>
              </a:lnSpc>
            </a:pPr>
            <a:r>
              <a:rPr sz="1100" b="0" i="1">
                <a:solidFill>
                  <a:srgbClr val="4F5560"/>
                </a:solidFill>
                <a:latin typeface="Calibri"/>
              </a:rPr>
              <a:t>connect upwards</a:t>
            </a:r>
          </a:p>
        </p:txBody>
      </p:sp>
      <p:sp>
        <p:nvSpPr>
          <p:cNvPr id="26" name="Rounded Rectangle 25"/>
          <p:cNvSpPr/>
          <p:nvPr/>
        </p:nvSpPr>
        <p:spPr>
          <a:xfrm>
            <a:off x="8001000" y="1837943"/>
            <a:ext cx="3374136" cy="3200400"/>
          </a:xfrm>
          <a:prstGeom prst="roundRect">
            <a:avLst>
              <a:gd name="adj" fmla="val 5000"/>
            </a:avLst>
          </a:prstGeom>
          <a:solidFill>
            <a:srgbClr val="2226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183879" y="2002536"/>
            <a:ext cx="3017520" cy="274320"/>
          </a:xfrm>
          <a:prstGeom prst="rect">
            <a:avLst/>
          </a:prstGeom>
          <a:noFill/>
        </p:spPr>
        <p:txBody>
          <a:bodyPr wrap="square" lIns="0" rIns="0" tIns="0" bIns="0">
            <a:spAutoFit/>
          </a:bodyPr>
          <a:lstStyle/>
          <a:p>
            <a:pPr>
              <a:lnSpc>
                <a:spcPct val="100000"/>
              </a:lnSpc>
            </a:pPr>
            <a:r>
              <a:rPr sz="1100" b="1">
                <a:solidFill>
                  <a:srgbClr val="E6A817"/>
                </a:solidFill>
                <a:latin typeface="Calibri"/>
              </a:rPr>
              <a:t>STEP 3  ·  MAR 2029  ·  REUSE</a:t>
            </a:r>
          </a:p>
        </p:txBody>
      </p:sp>
      <p:sp>
        <p:nvSpPr>
          <p:cNvPr id="28" name="TextBox 27"/>
          <p:cNvSpPr txBox="1"/>
          <p:nvPr/>
        </p:nvSpPr>
        <p:spPr>
          <a:xfrm>
            <a:off x="8183879" y="2276856"/>
            <a:ext cx="3017520" cy="365760"/>
          </a:xfrm>
          <a:prstGeom prst="rect">
            <a:avLst/>
          </a:prstGeom>
          <a:noFill/>
        </p:spPr>
        <p:txBody>
          <a:bodyPr wrap="square" lIns="0" rIns="0" tIns="0" bIns="0">
            <a:spAutoFit/>
          </a:bodyPr>
          <a:lstStyle/>
          <a:p>
            <a:pPr>
              <a:lnSpc>
                <a:spcPct val="100000"/>
              </a:lnSpc>
            </a:pPr>
            <a:r>
              <a:rPr sz="1800" b="1">
                <a:solidFill>
                  <a:srgbClr val="FFFFFF"/>
                </a:solidFill>
                <a:latin typeface="Calibri"/>
              </a:rPr>
              <a:t>Connect to the EU</a:t>
            </a:r>
          </a:p>
        </p:txBody>
      </p:sp>
      <p:sp>
        <p:nvSpPr>
          <p:cNvPr id="29" name="TextBox 28"/>
          <p:cNvSpPr txBox="1"/>
          <p:nvPr/>
        </p:nvSpPr>
        <p:spPr>
          <a:xfrm>
            <a:off x="8183879" y="2752344"/>
            <a:ext cx="3063240" cy="274320"/>
          </a:xfrm>
          <a:prstGeom prst="rect">
            <a:avLst/>
          </a:prstGeom>
          <a:noFill/>
        </p:spPr>
        <p:txBody>
          <a:bodyPr wrap="none" lIns="0" rIns="0" tIns="0" bIns="0">
            <a:spAutoFit/>
          </a:bodyPr>
          <a:lstStyle/>
          <a:p>
            <a:r>
              <a:rPr sz="1250">
                <a:solidFill>
                  <a:srgbClr val="F2C14E"/>
                </a:solidFill>
              </a:rPr>
              <a:t>●  </a:t>
            </a:r>
            <a:r>
              <a:rPr sz="1250">
                <a:solidFill>
                  <a:srgbClr val="FFFFFF"/>
                </a:solidFill>
                <a:latin typeface="Calibri"/>
              </a:rPr>
              <a:t>HealthData@EU</a:t>
            </a:r>
          </a:p>
        </p:txBody>
      </p:sp>
      <p:sp>
        <p:nvSpPr>
          <p:cNvPr id="30" name="TextBox 29"/>
          <p:cNvSpPr txBox="1"/>
          <p:nvPr/>
        </p:nvSpPr>
        <p:spPr>
          <a:xfrm>
            <a:off x="8183879" y="3017520"/>
            <a:ext cx="3063240" cy="274320"/>
          </a:xfrm>
          <a:prstGeom prst="rect">
            <a:avLst/>
          </a:prstGeom>
          <a:noFill/>
        </p:spPr>
        <p:txBody>
          <a:bodyPr wrap="none" lIns="0" rIns="0" tIns="0" bIns="0">
            <a:spAutoFit/>
          </a:bodyPr>
          <a:lstStyle/>
          <a:p>
            <a:r>
              <a:rPr sz="1250">
                <a:solidFill>
                  <a:srgbClr val="F2C14E"/>
                </a:solidFill>
              </a:rPr>
              <a:t>●  </a:t>
            </a:r>
            <a:r>
              <a:rPr sz="1250">
                <a:solidFill>
                  <a:srgbClr val="FFFFFF"/>
                </a:solidFill>
                <a:latin typeface="Calibri"/>
              </a:rPr>
              <a:t>EHDS implementing acts (2027)</a:t>
            </a:r>
          </a:p>
        </p:txBody>
      </p:sp>
      <p:sp>
        <p:nvSpPr>
          <p:cNvPr id="31" name="TextBox 30"/>
          <p:cNvSpPr txBox="1"/>
          <p:nvPr/>
        </p:nvSpPr>
        <p:spPr>
          <a:xfrm>
            <a:off x="8183879" y="3282696"/>
            <a:ext cx="3063240" cy="274320"/>
          </a:xfrm>
          <a:prstGeom prst="rect">
            <a:avLst/>
          </a:prstGeom>
          <a:noFill/>
        </p:spPr>
        <p:txBody>
          <a:bodyPr wrap="none" lIns="0" rIns="0" tIns="0" bIns="0">
            <a:spAutoFit/>
          </a:bodyPr>
          <a:lstStyle/>
          <a:p>
            <a:r>
              <a:rPr sz="1250">
                <a:solidFill>
                  <a:srgbClr val="F2C14E"/>
                </a:solidFill>
              </a:rPr>
              <a:t>●  </a:t>
            </a:r>
            <a:r>
              <a:rPr sz="1250">
                <a:solidFill>
                  <a:srgbClr val="FFFFFF"/>
                </a:solidFill>
                <a:latin typeface="Calibri"/>
              </a:rPr>
              <a:t>EUDI Wallet and eIDAS 2</a:t>
            </a:r>
          </a:p>
        </p:txBody>
      </p:sp>
      <p:sp>
        <p:nvSpPr>
          <p:cNvPr id="32" name="Rounded Rectangle 31"/>
          <p:cNvSpPr/>
          <p:nvPr/>
        </p:nvSpPr>
        <p:spPr>
          <a:xfrm>
            <a:off x="548640" y="5138928"/>
            <a:ext cx="11091672" cy="658368"/>
          </a:xfrm>
          <a:prstGeom prst="roundRect">
            <a:avLst>
              <a:gd name="adj" fmla="val 5000"/>
            </a:avLst>
          </a:prstGeom>
          <a:solidFill>
            <a:srgbClr val="E9E3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731520" y="5212080"/>
            <a:ext cx="10515600" cy="256032"/>
          </a:xfrm>
          <a:prstGeom prst="rect">
            <a:avLst/>
          </a:prstGeom>
          <a:noFill/>
        </p:spPr>
        <p:txBody>
          <a:bodyPr wrap="square" lIns="0" rIns="0" tIns="0" bIns="0">
            <a:spAutoFit/>
          </a:bodyPr>
          <a:lstStyle/>
          <a:p>
            <a:pPr>
              <a:lnSpc>
                <a:spcPct val="100000"/>
              </a:lnSpc>
            </a:pPr>
            <a:r>
              <a:rPr sz="1100" b="1">
                <a:solidFill>
                  <a:srgbClr val="143D59"/>
                </a:solidFill>
                <a:latin typeface="Calibri"/>
              </a:rPr>
              <a:t>FOUNDATION  ·  AVAILABLE TODAY  ·  REUSE FROM DAY ONE</a:t>
            </a:r>
          </a:p>
        </p:txBody>
      </p:sp>
      <p:sp>
        <p:nvSpPr>
          <p:cNvPr id="34" name="TextBox 33"/>
          <p:cNvSpPr txBox="1"/>
          <p:nvPr/>
        </p:nvSpPr>
        <p:spPr>
          <a:xfrm>
            <a:off x="731520" y="5486400"/>
            <a:ext cx="2651760" cy="274320"/>
          </a:xfrm>
          <a:prstGeom prst="rect">
            <a:avLst/>
          </a:prstGeom>
          <a:noFill/>
        </p:spPr>
        <p:txBody>
          <a:bodyPr wrap="none" lIns="0" rIns="0" tIns="0" bIns="0">
            <a:spAutoFit/>
          </a:bodyPr>
          <a:lstStyle/>
          <a:p>
            <a:r>
              <a:rPr sz="1200">
                <a:solidFill>
                  <a:srgbClr val="2E7D3A"/>
                </a:solidFill>
              </a:rPr>
              <a:t>●  </a:t>
            </a:r>
            <a:r>
              <a:rPr sz="1200">
                <a:solidFill>
                  <a:srgbClr val="143D59"/>
                </a:solidFill>
                <a:latin typeface="Calibri"/>
              </a:rPr>
              <a:t>Eclipse EDC · Simpl-Open</a:t>
            </a:r>
          </a:p>
        </p:txBody>
      </p:sp>
      <p:sp>
        <p:nvSpPr>
          <p:cNvPr id="35" name="TextBox 34"/>
          <p:cNvSpPr txBox="1"/>
          <p:nvPr/>
        </p:nvSpPr>
        <p:spPr>
          <a:xfrm>
            <a:off x="3429000" y="5486400"/>
            <a:ext cx="2651760" cy="274320"/>
          </a:xfrm>
          <a:prstGeom prst="rect">
            <a:avLst/>
          </a:prstGeom>
          <a:noFill/>
        </p:spPr>
        <p:txBody>
          <a:bodyPr wrap="none" lIns="0" rIns="0" tIns="0" bIns="0">
            <a:spAutoFit/>
          </a:bodyPr>
          <a:lstStyle/>
          <a:p>
            <a:r>
              <a:rPr sz="1200">
                <a:solidFill>
                  <a:srgbClr val="2E7D3A"/>
                </a:solidFill>
              </a:rPr>
              <a:t>●  </a:t>
            </a:r>
            <a:r>
              <a:rPr sz="1200">
                <a:solidFill>
                  <a:srgbClr val="143D59"/>
                </a:solidFill>
                <a:latin typeface="Calibri"/>
              </a:rPr>
              <a:t>HealthData@EU code</a:t>
            </a:r>
          </a:p>
        </p:txBody>
      </p:sp>
      <p:sp>
        <p:nvSpPr>
          <p:cNvPr id="36" name="TextBox 35"/>
          <p:cNvSpPr txBox="1"/>
          <p:nvPr/>
        </p:nvSpPr>
        <p:spPr>
          <a:xfrm>
            <a:off x="6126480" y="5486400"/>
            <a:ext cx="2651760" cy="274320"/>
          </a:xfrm>
          <a:prstGeom prst="rect">
            <a:avLst/>
          </a:prstGeom>
          <a:noFill/>
        </p:spPr>
        <p:txBody>
          <a:bodyPr wrap="none" lIns="0" rIns="0" tIns="0" bIns="0">
            <a:spAutoFit/>
          </a:bodyPr>
          <a:lstStyle/>
          <a:p>
            <a:r>
              <a:rPr sz="1200">
                <a:solidFill>
                  <a:srgbClr val="2E7D3A"/>
                </a:solidFill>
              </a:rPr>
              <a:t>●  </a:t>
            </a:r>
            <a:r>
              <a:rPr sz="1200">
                <a:solidFill>
                  <a:srgbClr val="143D59"/>
                </a:solidFill>
                <a:latin typeface="Calibri"/>
              </a:rPr>
              <a:t>FHIR · OMOP · SNOMED CT</a:t>
            </a:r>
          </a:p>
        </p:txBody>
      </p:sp>
      <p:sp>
        <p:nvSpPr>
          <p:cNvPr id="37" name="TextBox 36"/>
          <p:cNvSpPr txBox="1"/>
          <p:nvPr/>
        </p:nvSpPr>
        <p:spPr>
          <a:xfrm>
            <a:off x="8823960" y="5486400"/>
            <a:ext cx="2651760" cy="274320"/>
          </a:xfrm>
          <a:prstGeom prst="rect">
            <a:avLst/>
          </a:prstGeom>
          <a:noFill/>
        </p:spPr>
        <p:txBody>
          <a:bodyPr wrap="none" lIns="0" rIns="0" tIns="0" bIns="0">
            <a:spAutoFit/>
          </a:bodyPr>
          <a:lstStyle/>
          <a:p>
            <a:r>
              <a:rPr sz="1200">
                <a:solidFill>
                  <a:srgbClr val="2E7D3A"/>
                </a:solidFill>
              </a:rPr>
              <a:t>●  </a:t>
            </a:r>
            <a:r>
              <a:rPr sz="1200">
                <a:solidFill>
                  <a:srgbClr val="143D59"/>
                </a:solidFill>
                <a:latin typeface="Calibri"/>
              </a:rPr>
              <a:t>Cl@ve · FNMT · ENS</a:t>
            </a:r>
          </a:p>
        </p:txBody>
      </p:sp>
      <p:sp>
        <p:nvSpPr>
          <p:cNvPr id="38" name="TextBox 37"/>
          <p:cNvSpPr txBox="1"/>
          <p:nvPr/>
        </p:nvSpPr>
        <p:spPr>
          <a:xfrm>
            <a:off x="5852160" y="5989320"/>
            <a:ext cx="5788152" cy="274320"/>
          </a:xfrm>
          <a:prstGeom prst="rect">
            <a:avLst/>
          </a:prstGeom>
          <a:noFill/>
        </p:spPr>
        <p:txBody>
          <a:bodyPr wrap="square" lIns="0" rIns="0" tIns="0" bIns="0">
            <a:spAutoFit/>
          </a:bodyPr>
          <a:lstStyle/>
          <a:p>
            <a:pPr algn="r"/>
            <a:r>
              <a:rPr sz="1000">
                <a:solidFill>
                  <a:srgbClr val="2E7D3A"/>
                </a:solidFill>
                <a:latin typeface="Calibri"/>
              </a:rPr>
              <a:t>●</a:t>
            </a:r>
            <a:r>
              <a:rPr sz="1000">
                <a:solidFill>
                  <a:srgbClr val="8A8F98"/>
                </a:solidFill>
                <a:latin typeface="Calibri"/>
              </a:rPr>
              <a:t> available    </a:t>
            </a:r>
            <a:r>
              <a:rPr sz="1000">
                <a:solidFill>
                  <a:srgbClr val="F2C14E"/>
                </a:solidFill>
                <a:latin typeface="Calibri"/>
              </a:rPr>
              <a:t>●</a:t>
            </a:r>
            <a:r>
              <a:rPr sz="1000">
                <a:solidFill>
                  <a:srgbClr val="8A8F98"/>
                </a:solidFill>
                <a:latin typeface="Calibri"/>
              </a:rPr>
              <a:t> in progress    </a:t>
            </a:r>
            <a:r>
              <a:rPr sz="1000">
                <a:solidFill>
                  <a:srgbClr val="C0392B"/>
                </a:solidFill>
                <a:latin typeface="Calibri"/>
              </a:rPr>
              <a:t>●</a:t>
            </a:r>
            <a:r>
              <a:rPr sz="1000">
                <a:solidFill>
                  <a:srgbClr val="8A8F98"/>
                </a:solidFill>
                <a:latin typeface="Calibri"/>
              </a:rPr>
              <a:t> open decision    </a:t>
            </a:r>
            <a:r>
              <a:rPr sz="1000">
                <a:solidFill>
                  <a:srgbClr val="143D59"/>
                </a:solidFill>
                <a:latin typeface="Calibri"/>
              </a:rPr>
              <a:t>○</a:t>
            </a:r>
            <a:r>
              <a:rPr sz="1000">
                <a:solidFill>
                  <a:srgbClr val="8A8F98"/>
                </a:solidFill>
                <a:latin typeface="Calibri"/>
              </a:rPr>
              <a:t> we build it</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27" fill="hold">
                      <p:stCondLst>
                        <p:cond delay="indefinite"/>
                      </p:stCondLst>
                      <p:childTnLst>
                        <p:par>
                          <p:cTn id="28" fill="hold">
                            <p:stCondLst>
                              <p:cond delay="0"/>
                            </p:stCondLst>
                            <p:childTnLst>
                              <p:par>
                                <p:cTn id="3" presetID="10" presetClass="entr" presetSubtype="0" fill="hold" grpId="0" nodeType="clickEffect">
                                  <p:stCondLst>
                                    <p:cond delay="0"/>
                                  </p:stCondLst>
                                  <p:childTnLst>
                                    <p:set>
                                      <p:cBhvr>
                                        <p:cTn id="4" dur="1" fill="hold">
                                          <p:stCondLst>
                                            <p:cond delay="0"/>
                                          </p:stCondLst>
                                        </p:cTn>
                                        <p:tgtEl>
                                          <p:spTgt spid="7"/>
                                        </p:tgtEl>
                                        <p:attrNameLst>
                                          <p:attrName>style.visibility</p:attrName>
                                        </p:attrNameLst>
                                      </p:cBhvr>
                                      <p:to>
                                        <p:strVal val="visible"/>
                                      </p:to>
                                    </p:set>
                                    <p:animEffect transition="in" filter="fade">
                                      <p:cBhvr>
                                        <p:cTn id="5" dur="500"/>
                                        <p:tgtEl>
                                          <p:spTgt spid="7"/>
                                        </p:tgtEl>
                                      </p:cBhvr>
                                    </p:animEffect>
                                  </p:childTnLst>
                                </p:cTn>
                              </p:par>
                              <p:par>
                                <p:cTn id="6" presetID="10" presetClass="entr" presetSubtype="0" fill="hold" grpId="0" nodeType="withEffect">
                                  <p:stCondLst>
                                    <p:cond delay="0"/>
                                  </p:stCondLst>
                                  <p:childTnLst>
                                    <p:set>
                                      <p:cBhvr>
                                        <p:cTn id="7" dur="1" fill="hold">
                                          <p:stCondLst>
                                            <p:cond delay="0"/>
                                          </p:stCondLst>
                                        </p:cTn>
                                        <p:tgtEl>
                                          <p:spTgt spid="8"/>
                                        </p:tgtEl>
                                        <p:attrNameLst>
                                          <p:attrName>style.visibility</p:attrName>
                                        </p:attrNameLst>
                                      </p:cBhvr>
                                      <p:to>
                                        <p:strVal val="visible"/>
                                      </p:to>
                                    </p:set>
                                    <p:animEffect transition="in" filter="fade">
                                      <p:cBhvr>
                                        <p:cTn id="8" dur="500"/>
                                        <p:tgtEl>
                                          <p:spTgt spid="8"/>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9"/>
                                        </p:tgtEl>
                                        <p:attrNameLst>
                                          <p:attrName>style.visibility</p:attrName>
                                        </p:attrNameLst>
                                      </p:cBhvr>
                                      <p:to>
                                        <p:strVal val="visible"/>
                                      </p:to>
                                    </p:set>
                                    <p:animEffect transition="in" filter="fade">
                                      <p:cBhvr>
                                        <p:cTn id="11" dur="500"/>
                                        <p:tgtEl>
                                          <p:spTgt spid="9"/>
                                        </p:tgtEl>
                                      </p:cBhvr>
                                    </p:animEffect>
                                  </p:childTnLst>
                                </p:cTn>
                              </p:par>
                              <p:par>
                                <p:cTn id="12" presetID="10" presetClass="entr" presetSubtype="0" fill="hold" grpId="0" nodeType="withEffect">
                                  <p:stCondLst>
                                    <p:cond delay="0"/>
                                  </p:stCondLst>
                                  <p:childTnLst>
                                    <p:set>
                                      <p:cBhvr>
                                        <p:cTn id="13" dur="1" fill="hold">
                                          <p:stCondLst>
                                            <p:cond delay="0"/>
                                          </p:stCondLst>
                                        </p:cTn>
                                        <p:tgtEl>
                                          <p:spTgt spid="10"/>
                                        </p:tgtEl>
                                        <p:attrNameLst>
                                          <p:attrName>style.visibility</p:attrName>
                                        </p:attrNameLst>
                                      </p:cBhvr>
                                      <p:to>
                                        <p:strVal val="visible"/>
                                      </p:to>
                                    </p:set>
                                    <p:animEffect transition="in" filter="fade">
                                      <p:cBhvr>
                                        <p:cTn id="14" dur="500"/>
                                        <p:tgtEl>
                                          <p:spTgt spid="10"/>
                                        </p:tgtEl>
                                      </p:cBhvr>
                                    </p:animEffect>
                                  </p:childTnLst>
                                </p:cTn>
                              </p:par>
                              <p:par>
                                <p:cTn id="15" presetID="10" presetClass="entr" presetSubtype="0" fill="hold" grpId="0" nodeType="withEffect">
                                  <p:stCondLst>
                                    <p:cond delay="0"/>
                                  </p:stCondLst>
                                  <p:childTnLst>
                                    <p:set>
                                      <p:cBhvr>
                                        <p:cTn id="16" dur="1" fill="hold">
                                          <p:stCondLst>
                                            <p:cond delay="0"/>
                                          </p:stCondLst>
                                        </p:cTn>
                                        <p:tgtEl>
                                          <p:spTgt spid="11"/>
                                        </p:tgtEl>
                                        <p:attrNameLst>
                                          <p:attrName>style.visibility</p:attrName>
                                        </p:attrNameLst>
                                      </p:cBhvr>
                                      <p:to>
                                        <p:strVal val="visible"/>
                                      </p:to>
                                    </p:set>
                                    <p:animEffect transition="in" filter="fade">
                                      <p:cBhvr>
                                        <p:cTn id="17" dur="500"/>
                                        <p:tgtEl>
                                          <p:spTgt spid="11"/>
                                        </p:tgtEl>
                                      </p:cBhvr>
                                    </p:animEffect>
                                  </p:childTnLst>
                                </p:cTn>
                              </p:par>
                              <p:par>
                                <p:cTn id="18" presetID="10" presetClass="entr" presetSubtype="0" fill="hold" grpId="0" nodeType="withEffect">
                                  <p:stCondLst>
                                    <p:cond delay="0"/>
                                  </p:stCondLst>
                                  <p:childTnLst>
                                    <p:set>
                                      <p:cBhvr>
                                        <p:cTn id="19" dur="1" fill="hold">
                                          <p:stCondLst>
                                            <p:cond delay="0"/>
                                          </p:stCondLst>
                                        </p:cTn>
                                        <p:tgtEl>
                                          <p:spTgt spid="12"/>
                                        </p:tgtEl>
                                        <p:attrNameLst>
                                          <p:attrName>style.visibility</p:attrName>
                                        </p:attrNameLst>
                                      </p:cBhvr>
                                      <p:to>
                                        <p:strVal val="visible"/>
                                      </p:to>
                                    </p:set>
                                    <p:animEffect transition="in" filter="fade">
                                      <p:cBhvr>
                                        <p:cTn id="20" dur="500"/>
                                        <p:tgtEl>
                                          <p:spTgt spid="12"/>
                                        </p:tgtEl>
                                      </p:cBhvr>
                                    </p:animEffect>
                                  </p:childTnLst>
                                </p:cTn>
                              </p:par>
                              <p:par>
                                <p:cTn id="21" presetID="10" presetClass="entr" presetSubtype="0" fill="hold" grpId="0" nodeType="withEffect">
                                  <p:stCondLst>
                                    <p:cond delay="0"/>
                                  </p:stCondLst>
                                  <p:childTnLst>
                                    <p:set>
                                      <p:cBhvr>
                                        <p:cTn id="22" dur="1" fill="hold">
                                          <p:stCondLst>
                                            <p:cond delay="0"/>
                                          </p:stCondLst>
                                        </p:cTn>
                                        <p:tgtEl>
                                          <p:spTgt spid="13"/>
                                        </p:tgtEl>
                                        <p:attrNameLst>
                                          <p:attrName>style.visibility</p:attrName>
                                        </p:attrNameLst>
                                      </p:cBhvr>
                                      <p:to>
                                        <p:strVal val="visible"/>
                                      </p:to>
                                    </p:set>
                                    <p:animEffect transition="in" filter="fade">
                                      <p:cBhvr>
                                        <p:cTn id="23" dur="500"/>
                                        <p:tgtEl>
                                          <p:spTgt spid="13"/>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14"/>
                                        </p:tgtEl>
                                        <p:attrNameLst>
                                          <p:attrName>style.visibility</p:attrName>
                                        </p:attrNameLst>
                                      </p:cBhvr>
                                      <p:to>
                                        <p:strVal val="visible"/>
                                      </p:to>
                                    </p:set>
                                    <p:animEffect transition="in" filter="fade">
                                      <p:cBhvr>
                                        <p:cTn id="26" dur="500"/>
                                        <p:tgtEl>
                                          <p:spTgt spid="14"/>
                                        </p:tgtEl>
                                      </p:cBhvr>
                                    </p:animEffect>
                                  </p:childTnLst>
                                </p:cTn>
                              </p:par>
                            </p:childTnLst>
                          </p:cTn>
                        </p:par>
                      </p:childTnLst>
                    </p:cTn>
                  </p:par>
                  <p:par>
                    <p:cTn id="35" fill="hold">
                      <p:stCondLst>
                        <p:cond delay="indefinite"/>
                      </p:stCondLst>
                      <p:childTnLst>
                        <p:par>
                          <p:cTn id="36" fill="hold">
                            <p:stCondLst>
                              <p:cond delay="0"/>
                            </p:stCondLst>
                            <p:childTnLst>
                              <p:par>
                                <p:cTn id="29" presetID="10" presetClass="entr" presetSubtype="0" fill="hold" grpId="0" nodeType="clickEffect">
                                  <p:stCondLst>
                                    <p:cond delay="0"/>
                                  </p:stCondLst>
                                  <p:childTnLst>
                                    <p:set>
                                      <p:cBhvr>
                                        <p:cTn id="30" dur="1" fill="hold">
                                          <p:stCondLst>
                                            <p:cond delay="0"/>
                                          </p:stCondLst>
                                        </p:cTn>
                                        <p:tgtEl>
                                          <p:spTgt spid="15"/>
                                        </p:tgtEl>
                                        <p:attrNameLst>
                                          <p:attrName>style.visibility</p:attrName>
                                        </p:attrNameLst>
                                      </p:cBhvr>
                                      <p:to>
                                        <p:strVal val="visible"/>
                                      </p:to>
                                    </p:set>
                                    <p:animEffect transition="in" filter="fade">
                                      <p:cBhvr>
                                        <p:cTn id="31" dur="500"/>
                                        <p:tgtEl>
                                          <p:spTgt spid="15"/>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16"/>
                                        </p:tgtEl>
                                        <p:attrNameLst>
                                          <p:attrName>style.visibility</p:attrName>
                                        </p:attrNameLst>
                                      </p:cBhvr>
                                      <p:to>
                                        <p:strVal val="visible"/>
                                      </p:to>
                                    </p:set>
                                    <p:animEffect transition="in" filter="fade">
                                      <p:cBhvr>
                                        <p:cTn id="34" dur="500"/>
                                        <p:tgtEl>
                                          <p:spTgt spid="16"/>
                                        </p:tgtEl>
                                      </p:cBhvr>
                                    </p:animEffect>
                                  </p:childTnLst>
                                </p:cTn>
                              </p:par>
                            </p:childTnLst>
                          </p:cTn>
                        </p:par>
                      </p:childTnLst>
                    </p:cTn>
                  </p:par>
                  <p:par>
                    <p:cTn id="58" fill="hold">
                      <p:stCondLst>
                        <p:cond delay="indefinite"/>
                      </p:stCondLst>
                      <p:childTnLst>
                        <p:par>
                          <p:cTn id="59" fill="hold">
                            <p:stCondLst>
                              <p:cond delay="0"/>
                            </p:stCondLst>
                            <p:childTnLst>
                              <p:par>
                                <p:cTn id="37" presetID="10" presetClass="entr" presetSubtype="0" fill="hold" grpId="0" nodeType="clickEffect">
                                  <p:stCondLst>
                                    <p:cond delay="0"/>
                                  </p:stCondLst>
                                  <p:childTnLst>
                                    <p:set>
                                      <p:cBhvr>
                                        <p:cTn id="38" dur="1" fill="hold">
                                          <p:stCondLst>
                                            <p:cond delay="0"/>
                                          </p:stCondLst>
                                        </p:cTn>
                                        <p:tgtEl>
                                          <p:spTgt spid="17"/>
                                        </p:tgtEl>
                                        <p:attrNameLst>
                                          <p:attrName>style.visibility</p:attrName>
                                        </p:attrNameLst>
                                      </p:cBhvr>
                                      <p:to>
                                        <p:strVal val="visible"/>
                                      </p:to>
                                    </p:set>
                                    <p:animEffect transition="in" filter="fade">
                                      <p:cBhvr>
                                        <p:cTn id="39" dur="500"/>
                                        <p:tgtEl>
                                          <p:spTgt spid="17"/>
                                        </p:tgtEl>
                                      </p:cBhvr>
                                    </p:animEffect>
                                  </p:childTnLst>
                                </p:cTn>
                              </p:par>
                              <p:par>
                                <p:cTn id="40" presetID="10" presetClass="entr" presetSubtype="0" fill="hold" grpId="0" nodeType="withEffect">
                                  <p:stCondLst>
                                    <p:cond delay="0"/>
                                  </p:stCondLst>
                                  <p:childTnLst>
                                    <p:set>
                                      <p:cBhvr>
                                        <p:cTn id="41" dur="1" fill="hold">
                                          <p:stCondLst>
                                            <p:cond delay="0"/>
                                          </p:stCondLst>
                                        </p:cTn>
                                        <p:tgtEl>
                                          <p:spTgt spid="18"/>
                                        </p:tgtEl>
                                        <p:attrNameLst>
                                          <p:attrName>style.visibility</p:attrName>
                                        </p:attrNameLst>
                                      </p:cBhvr>
                                      <p:to>
                                        <p:strVal val="visible"/>
                                      </p:to>
                                    </p:set>
                                    <p:animEffect transition="in" filter="fade">
                                      <p:cBhvr>
                                        <p:cTn id="42" dur="500"/>
                                        <p:tgtEl>
                                          <p:spTgt spid="18"/>
                                        </p:tgtEl>
                                      </p:cBhvr>
                                    </p:animEffect>
                                  </p:childTnLst>
                                </p:cTn>
                              </p:par>
                              <p:par>
                                <p:cTn id="43" presetID="10" presetClass="entr" presetSubtype="0" fill="hold" grpId="0" nodeType="withEffect">
                                  <p:stCondLst>
                                    <p:cond delay="0"/>
                                  </p:stCondLst>
                                  <p:childTnLst>
                                    <p:set>
                                      <p:cBhvr>
                                        <p:cTn id="44" dur="1" fill="hold">
                                          <p:stCondLst>
                                            <p:cond delay="0"/>
                                          </p:stCondLst>
                                        </p:cTn>
                                        <p:tgtEl>
                                          <p:spTgt spid="19"/>
                                        </p:tgtEl>
                                        <p:attrNameLst>
                                          <p:attrName>style.visibility</p:attrName>
                                        </p:attrNameLst>
                                      </p:cBhvr>
                                      <p:to>
                                        <p:strVal val="visible"/>
                                      </p:to>
                                    </p:set>
                                    <p:animEffect transition="in" filter="fade">
                                      <p:cBhvr>
                                        <p:cTn id="45" dur="500"/>
                                        <p:tgtEl>
                                          <p:spTgt spid="19"/>
                                        </p:tgtEl>
                                      </p:cBhvr>
                                    </p:animEffect>
                                  </p:childTnLst>
                                </p:cTn>
                              </p:par>
                              <p:par>
                                <p:cTn id="46" presetID="10" presetClass="entr" presetSubtype="0" fill="hold" grpId="0" nodeType="withEffect">
                                  <p:stCondLst>
                                    <p:cond delay="0"/>
                                  </p:stCondLst>
                                  <p:childTnLst>
                                    <p:set>
                                      <p:cBhvr>
                                        <p:cTn id="47" dur="1" fill="hold">
                                          <p:stCondLst>
                                            <p:cond delay="0"/>
                                          </p:stCondLst>
                                        </p:cTn>
                                        <p:tgtEl>
                                          <p:spTgt spid="20"/>
                                        </p:tgtEl>
                                        <p:attrNameLst>
                                          <p:attrName>style.visibility</p:attrName>
                                        </p:attrNameLst>
                                      </p:cBhvr>
                                      <p:to>
                                        <p:strVal val="visible"/>
                                      </p:to>
                                    </p:set>
                                    <p:animEffect transition="in" filter="fade">
                                      <p:cBhvr>
                                        <p:cTn id="48" dur="500"/>
                                        <p:tgtEl>
                                          <p:spTgt spid="20"/>
                                        </p:tgtEl>
                                      </p:cBhvr>
                                    </p:animEffect>
                                  </p:childTnLst>
                                </p:cTn>
                              </p:par>
                              <p:par>
                                <p:cTn id="49" presetID="10" presetClass="entr" presetSubtype="0" fill="hold" grpId="0" nodeType="withEffect">
                                  <p:stCondLst>
                                    <p:cond delay="0"/>
                                  </p:stCondLst>
                                  <p:childTnLst>
                                    <p:set>
                                      <p:cBhvr>
                                        <p:cTn id="50" dur="1" fill="hold">
                                          <p:stCondLst>
                                            <p:cond delay="0"/>
                                          </p:stCondLst>
                                        </p:cTn>
                                        <p:tgtEl>
                                          <p:spTgt spid="21"/>
                                        </p:tgtEl>
                                        <p:attrNameLst>
                                          <p:attrName>style.visibility</p:attrName>
                                        </p:attrNameLst>
                                      </p:cBhvr>
                                      <p:to>
                                        <p:strVal val="visible"/>
                                      </p:to>
                                    </p:set>
                                    <p:animEffect transition="in" filter="fade">
                                      <p:cBhvr>
                                        <p:cTn id="51" dur="500"/>
                                        <p:tgtEl>
                                          <p:spTgt spid="21"/>
                                        </p:tgtEl>
                                      </p:cBhvr>
                                    </p:animEffect>
                                  </p:childTnLst>
                                </p:cTn>
                              </p:par>
                              <p:par>
                                <p:cTn id="52" presetID="10" presetClass="entr" presetSubtype="0" fill="hold" grpId="0" nodeType="withEffect">
                                  <p:stCondLst>
                                    <p:cond delay="0"/>
                                  </p:stCondLst>
                                  <p:childTnLst>
                                    <p:set>
                                      <p:cBhvr>
                                        <p:cTn id="53" dur="1" fill="hold">
                                          <p:stCondLst>
                                            <p:cond delay="0"/>
                                          </p:stCondLst>
                                        </p:cTn>
                                        <p:tgtEl>
                                          <p:spTgt spid="22"/>
                                        </p:tgtEl>
                                        <p:attrNameLst>
                                          <p:attrName>style.visibility</p:attrName>
                                        </p:attrNameLst>
                                      </p:cBhvr>
                                      <p:to>
                                        <p:strVal val="visible"/>
                                      </p:to>
                                    </p:set>
                                    <p:animEffect transition="in" filter="fade">
                                      <p:cBhvr>
                                        <p:cTn id="54" dur="500"/>
                                        <p:tgtEl>
                                          <p:spTgt spid="22"/>
                                        </p:tgtEl>
                                      </p:cBhvr>
                                    </p:animEffect>
                                  </p:childTnLst>
                                </p:cTn>
                              </p:par>
                              <p:par>
                                <p:cTn id="55" presetID="10" presetClass="entr" presetSubtype="0" fill="hold" grpId="0" nodeType="withEffect">
                                  <p:stCondLst>
                                    <p:cond delay="0"/>
                                  </p:stCondLst>
                                  <p:childTnLst>
                                    <p:set>
                                      <p:cBhvr>
                                        <p:cTn id="56" dur="1" fill="hold">
                                          <p:stCondLst>
                                            <p:cond delay="0"/>
                                          </p:stCondLst>
                                        </p:cTn>
                                        <p:tgtEl>
                                          <p:spTgt spid="23"/>
                                        </p:tgtEl>
                                        <p:attrNameLst>
                                          <p:attrName>style.visibility</p:attrName>
                                        </p:attrNameLst>
                                      </p:cBhvr>
                                      <p:to>
                                        <p:strVal val="visible"/>
                                      </p:to>
                                    </p:set>
                                    <p:animEffect transition="in" filter="fade">
                                      <p:cBhvr>
                                        <p:cTn id="57" dur="500"/>
                                        <p:tgtEl>
                                          <p:spTgt spid="23"/>
                                        </p:tgtEl>
                                      </p:cBhvr>
                                    </p:animEffect>
                                  </p:childTnLst>
                                </p:cTn>
                              </p:par>
                            </p:childTnLst>
                          </p:cTn>
                        </p:par>
                      </p:childTnLst>
                    </p:cTn>
                  </p:par>
                  <p:par>
                    <p:cTn id="66" fill="hold">
                      <p:stCondLst>
                        <p:cond delay="indefinite"/>
                      </p:stCondLst>
                      <p:childTnLst>
                        <p:par>
                          <p:cTn id="67" fill="hold">
                            <p:stCondLst>
                              <p:cond delay="0"/>
                            </p:stCondLst>
                            <p:childTnLst>
                              <p:par>
                                <p:cTn id="60" presetID="10" presetClass="entr" presetSubtype="0" fill="hold" grpId="0" nodeType="clickEffect">
                                  <p:stCondLst>
                                    <p:cond delay="0"/>
                                  </p:stCondLst>
                                  <p:childTnLst>
                                    <p:set>
                                      <p:cBhvr>
                                        <p:cTn id="61" dur="1" fill="hold">
                                          <p:stCondLst>
                                            <p:cond delay="0"/>
                                          </p:stCondLst>
                                        </p:cTn>
                                        <p:tgtEl>
                                          <p:spTgt spid="24"/>
                                        </p:tgtEl>
                                        <p:attrNameLst>
                                          <p:attrName>style.visibility</p:attrName>
                                        </p:attrNameLst>
                                      </p:cBhvr>
                                      <p:to>
                                        <p:strVal val="visible"/>
                                      </p:to>
                                    </p:set>
                                    <p:animEffect transition="in" filter="fade">
                                      <p:cBhvr>
                                        <p:cTn id="62" dur="500"/>
                                        <p:tgtEl>
                                          <p:spTgt spid="24"/>
                                        </p:tgtEl>
                                      </p:cBhvr>
                                    </p:animEffect>
                                  </p:childTnLst>
                                </p:cTn>
                              </p:par>
                              <p:par>
                                <p:cTn id="63" presetID="10" presetClass="entr" presetSubtype="0" fill="hold" grpId="0" nodeType="withEffect">
                                  <p:stCondLst>
                                    <p:cond delay="0"/>
                                  </p:stCondLst>
                                  <p:childTnLst>
                                    <p:set>
                                      <p:cBhvr>
                                        <p:cTn id="64" dur="1" fill="hold">
                                          <p:stCondLst>
                                            <p:cond delay="0"/>
                                          </p:stCondLst>
                                        </p:cTn>
                                        <p:tgtEl>
                                          <p:spTgt spid="25"/>
                                        </p:tgtEl>
                                        <p:attrNameLst>
                                          <p:attrName>style.visibility</p:attrName>
                                        </p:attrNameLst>
                                      </p:cBhvr>
                                      <p:to>
                                        <p:strVal val="visible"/>
                                      </p:to>
                                    </p:set>
                                    <p:animEffect transition="in" filter="fade">
                                      <p:cBhvr>
                                        <p:cTn id="65" dur="500"/>
                                        <p:tgtEl>
                                          <p:spTgt spid="25"/>
                                        </p:tgtEl>
                                      </p:cBhvr>
                                    </p:animEffect>
                                  </p:childTnLst>
                                </p:cTn>
                              </p:par>
                            </p:childTnLst>
                          </p:cTn>
                        </p:par>
                      </p:childTnLst>
                    </p:cTn>
                  </p:par>
                  <p:par>
                    <p:cTn id="86" fill="hold">
                      <p:stCondLst>
                        <p:cond delay="indefinite"/>
                      </p:stCondLst>
                      <p:childTnLst>
                        <p:par>
                          <p:cTn id="87" fill="hold">
                            <p:stCondLst>
                              <p:cond delay="0"/>
                            </p:stCondLst>
                            <p:childTnLst>
                              <p:par>
                                <p:cTn id="68" presetID="10" presetClass="entr" presetSubtype="0" fill="hold" grpId="0" nodeType="clickEffect">
                                  <p:stCondLst>
                                    <p:cond delay="0"/>
                                  </p:stCondLst>
                                  <p:childTnLst>
                                    <p:set>
                                      <p:cBhvr>
                                        <p:cTn id="69" dur="1" fill="hold">
                                          <p:stCondLst>
                                            <p:cond delay="0"/>
                                          </p:stCondLst>
                                        </p:cTn>
                                        <p:tgtEl>
                                          <p:spTgt spid="26"/>
                                        </p:tgtEl>
                                        <p:attrNameLst>
                                          <p:attrName>style.visibility</p:attrName>
                                        </p:attrNameLst>
                                      </p:cBhvr>
                                      <p:to>
                                        <p:strVal val="visible"/>
                                      </p:to>
                                    </p:set>
                                    <p:animEffect transition="in" filter="fade">
                                      <p:cBhvr>
                                        <p:cTn id="70" dur="500"/>
                                        <p:tgtEl>
                                          <p:spTgt spid="26"/>
                                        </p:tgtEl>
                                      </p:cBhvr>
                                    </p:animEffect>
                                  </p:childTnLst>
                                </p:cTn>
                              </p:par>
                              <p:par>
                                <p:cTn id="71" presetID="10" presetClass="entr" presetSubtype="0" fill="hold" grpId="0" nodeType="withEffect">
                                  <p:stCondLst>
                                    <p:cond delay="0"/>
                                  </p:stCondLst>
                                  <p:childTnLst>
                                    <p:set>
                                      <p:cBhvr>
                                        <p:cTn id="72" dur="1" fill="hold">
                                          <p:stCondLst>
                                            <p:cond delay="0"/>
                                          </p:stCondLst>
                                        </p:cTn>
                                        <p:tgtEl>
                                          <p:spTgt spid="27"/>
                                        </p:tgtEl>
                                        <p:attrNameLst>
                                          <p:attrName>style.visibility</p:attrName>
                                        </p:attrNameLst>
                                      </p:cBhvr>
                                      <p:to>
                                        <p:strVal val="visible"/>
                                      </p:to>
                                    </p:set>
                                    <p:animEffect transition="in" filter="fade">
                                      <p:cBhvr>
                                        <p:cTn id="73" dur="500"/>
                                        <p:tgtEl>
                                          <p:spTgt spid="27"/>
                                        </p:tgtEl>
                                      </p:cBhvr>
                                    </p:animEffect>
                                  </p:childTnLst>
                                </p:cTn>
                              </p:par>
                              <p:par>
                                <p:cTn id="74" presetID="10" presetClass="entr" presetSubtype="0" fill="hold" grpId="0" nodeType="withEffect">
                                  <p:stCondLst>
                                    <p:cond delay="0"/>
                                  </p:stCondLst>
                                  <p:childTnLst>
                                    <p:set>
                                      <p:cBhvr>
                                        <p:cTn id="75" dur="1" fill="hold">
                                          <p:stCondLst>
                                            <p:cond delay="0"/>
                                          </p:stCondLst>
                                        </p:cTn>
                                        <p:tgtEl>
                                          <p:spTgt spid="28"/>
                                        </p:tgtEl>
                                        <p:attrNameLst>
                                          <p:attrName>style.visibility</p:attrName>
                                        </p:attrNameLst>
                                      </p:cBhvr>
                                      <p:to>
                                        <p:strVal val="visible"/>
                                      </p:to>
                                    </p:set>
                                    <p:animEffect transition="in" filter="fade">
                                      <p:cBhvr>
                                        <p:cTn id="76" dur="500"/>
                                        <p:tgtEl>
                                          <p:spTgt spid="28"/>
                                        </p:tgtEl>
                                      </p:cBhvr>
                                    </p:animEffect>
                                  </p:childTnLst>
                                </p:cTn>
                              </p:par>
                              <p:par>
                                <p:cTn id="77" presetID="10" presetClass="entr" presetSubtype="0" fill="hold" grpId="0" nodeType="withEffect">
                                  <p:stCondLst>
                                    <p:cond delay="0"/>
                                  </p:stCondLst>
                                  <p:childTnLst>
                                    <p:set>
                                      <p:cBhvr>
                                        <p:cTn id="78" dur="1" fill="hold">
                                          <p:stCondLst>
                                            <p:cond delay="0"/>
                                          </p:stCondLst>
                                        </p:cTn>
                                        <p:tgtEl>
                                          <p:spTgt spid="29"/>
                                        </p:tgtEl>
                                        <p:attrNameLst>
                                          <p:attrName>style.visibility</p:attrName>
                                        </p:attrNameLst>
                                      </p:cBhvr>
                                      <p:to>
                                        <p:strVal val="visible"/>
                                      </p:to>
                                    </p:set>
                                    <p:animEffect transition="in" filter="fade">
                                      <p:cBhvr>
                                        <p:cTn id="79" dur="500"/>
                                        <p:tgtEl>
                                          <p:spTgt spid="29"/>
                                        </p:tgtEl>
                                      </p:cBhvr>
                                    </p:animEffect>
                                  </p:childTnLst>
                                </p:cTn>
                              </p:par>
                              <p:par>
                                <p:cTn id="80" presetID="10" presetClass="entr" presetSubtype="0" fill="hold" grpId="0" nodeType="withEffect">
                                  <p:stCondLst>
                                    <p:cond delay="0"/>
                                  </p:stCondLst>
                                  <p:childTnLst>
                                    <p:set>
                                      <p:cBhvr>
                                        <p:cTn id="81" dur="1" fill="hold">
                                          <p:stCondLst>
                                            <p:cond delay="0"/>
                                          </p:stCondLst>
                                        </p:cTn>
                                        <p:tgtEl>
                                          <p:spTgt spid="30"/>
                                        </p:tgtEl>
                                        <p:attrNameLst>
                                          <p:attrName>style.visibility</p:attrName>
                                        </p:attrNameLst>
                                      </p:cBhvr>
                                      <p:to>
                                        <p:strVal val="visible"/>
                                      </p:to>
                                    </p:set>
                                    <p:animEffect transition="in" filter="fade">
                                      <p:cBhvr>
                                        <p:cTn id="82" dur="500"/>
                                        <p:tgtEl>
                                          <p:spTgt spid="30"/>
                                        </p:tgtEl>
                                      </p:cBhvr>
                                    </p:animEffect>
                                  </p:childTnLst>
                                </p:cTn>
                              </p:par>
                              <p:par>
                                <p:cTn id="83" presetID="10" presetClass="entr" presetSubtype="0" fill="hold" grpId="0" nodeType="withEffect">
                                  <p:stCondLst>
                                    <p:cond delay="0"/>
                                  </p:stCondLst>
                                  <p:childTnLst>
                                    <p:set>
                                      <p:cBhvr>
                                        <p:cTn id="84" dur="1" fill="hold">
                                          <p:stCondLst>
                                            <p:cond delay="0"/>
                                          </p:stCondLst>
                                        </p:cTn>
                                        <p:tgtEl>
                                          <p:spTgt spid="31"/>
                                        </p:tgtEl>
                                        <p:attrNameLst>
                                          <p:attrName>style.visibility</p:attrName>
                                        </p:attrNameLst>
                                      </p:cBhvr>
                                      <p:to>
                                        <p:strVal val="visible"/>
                                      </p:to>
                                    </p:set>
                                    <p:animEffect transition="in" filter="fade">
                                      <p:cBhvr>
                                        <p:cTn id="85" dur="500"/>
                                        <p:tgtEl>
                                          <p:spTgt spid="31"/>
                                        </p:tgtEl>
                                      </p:cBhvr>
                                    </p:animEffect>
                                  </p:childTnLst>
                                </p:cTn>
                              </p:par>
                            </p:childTnLst>
                          </p:cTn>
                        </p:par>
                      </p:childTnLst>
                    </p:cTn>
                  </p:par>
                  <p:par>
                    <p:cTn id="106" fill="hold">
                      <p:stCondLst>
                        <p:cond delay="indefinite"/>
                      </p:stCondLst>
                      <p:childTnLst>
                        <p:par>
                          <p:cTn id="107" fill="hold">
                            <p:stCondLst>
                              <p:cond delay="0"/>
                            </p:stCondLst>
                            <p:childTnLst>
                              <p:par>
                                <p:cTn id="88" presetID="10" presetClass="entr" presetSubtype="0" fill="hold" grpId="0" nodeType="clickEffect">
                                  <p:stCondLst>
                                    <p:cond delay="0"/>
                                  </p:stCondLst>
                                  <p:childTnLst>
                                    <p:set>
                                      <p:cBhvr>
                                        <p:cTn id="89" dur="1" fill="hold">
                                          <p:stCondLst>
                                            <p:cond delay="0"/>
                                          </p:stCondLst>
                                        </p:cTn>
                                        <p:tgtEl>
                                          <p:spTgt spid="32"/>
                                        </p:tgtEl>
                                        <p:attrNameLst>
                                          <p:attrName>style.visibility</p:attrName>
                                        </p:attrNameLst>
                                      </p:cBhvr>
                                      <p:to>
                                        <p:strVal val="visible"/>
                                      </p:to>
                                    </p:set>
                                    <p:animEffect transition="in" filter="fade">
                                      <p:cBhvr>
                                        <p:cTn id="90" dur="500"/>
                                        <p:tgtEl>
                                          <p:spTgt spid="32"/>
                                        </p:tgtEl>
                                      </p:cBhvr>
                                    </p:animEffect>
                                  </p:childTnLst>
                                </p:cTn>
                              </p:par>
                              <p:par>
                                <p:cTn id="91" presetID="10" presetClass="entr" presetSubtype="0" fill="hold" grpId="0" nodeType="withEffect">
                                  <p:stCondLst>
                                    <p:cond delay="0"/>
                                  </p:stCondLst>
                                  <p:childTnLst>
                                    <p:set>
                                      <p:cBhvr>
                                        <p:cTn id="92" dur="1" fill="hold">
                                          <p:stCondLst>
                                            <p:cond delay="0"/>
                                          </p:stCondLst>
                                        </p:cTn>
                                        <p:tgtEl>
                                          <p:spTgt spid="33"/>
                                        </p:tgtEl>
                                        <p:attrNameLst>
                                          <p:attrName>style.visibility</p:attrName>
                                        </p:attrNameLst>
                                      </p:cBhvr>
                                      <p:to>
                                        <p:strVal val="visible"/>
                                      </p:to>
                                    </p:set>
                                    <p:animEffect transition="in" filter="fade">
                                      <p:cBhvr>
                                        <p:cTn id="93" dur="500"/>
                                        <p:tgtEl>
                                          <p:spTgt spid="33"/>
                                        </p:tgtEl>
                                      </p:cBhvr>
                                    </p:animEffect>
                                  </p:childTnLst>
                                </p:cTn>
                              </p:par>
                              <p:par>
                                <p:cTn id="94" presetID="10" presetClass="entr" presetSubtype="0" fill="hold" grpId="0" nodeType="withEffect">
                                  <p:stCondLst>
                                    <p:cond delay="0"/>
                                  </p:stCondLst>
                                  <p:childTnLst>
                                    <p:set>
                                      <p:cBhvr>
                                        <p:cTn id="95" dur="1" fill="hold">
                                          <p:stCondLst>
                                            <p:cond delay="0"/>
                                          </p:stCondLst>
                                        </p:cTn>
                                        <p:tgtEl>
                                          <p:spTgt spid="34"/>
                                        </p:tgtEl>
                                        <p:attrNameLst>
                                          <p:attrName>style.visibility</p:attrName>
                                        </p:attrNameLst>
                                      </p:cBhvr>
                                      <p:to>
                                        <p:strVal val="visible"/>
                                      </p:to>
                                    </p:set>
                                    <p:animEffect transition="in" filter="fade">
                                      <p:cBhvr>
                                        <p:cTn id="96" dur="500"/>
                                        <p:tgtEl>
                                          <p:spTgt spid="34"/>
                                        </p:tgtEl>
                                      </p:cBhvr>
                                    </p:animEffect>
                                  </p:childTnLst>
                                </p:cTn>
                              </p:par>
                              <p:par>
                                <p:cTn id="97" presetID="10" presetClass="entr" presetSubtype="0" fill="hold" grpId="0" nodeType="withEffect">
                                  <p:stCondLst>
                                    <p:cond delay="0"/>
                                  </p:stCondLst>
                                  <p:childTnLst>
                                    <p:set>
                                      <p:cBhvr>
                                        <p:cTn id="98" dur="1" fill="hold">
                                          <p:stCondLst>
                                            <p:cond delay="0"/>
                                          </p:stCondLst>
                                        </p:cTn>
                                        <p:tgtEl>
                                          <p:spTgt spid="35"/>
                                        </p:tgtEl>
                                        <p:attrNameLst>
                                          <p:attrName>style.visibility</p:attrName>
                                        </p:attrNameLst>
                                      </p:cBhvr>
                                      <p:to>
                                        <p:strVal val="visible"/>
                                      </p:to>
                                    </p:set>
                                    <p:animEffect transition="in" filter="fade">
                                      <p:cBhvr>
                                        <p:cTn id="99" dur="500"/>
                                        <p:tgtEl>
                                          <p:spTgt spid="35"/>
                                        </p:tgtEl>
                                      </p:cBhvr>
                                    </p:animEffect>
                                  </p:childTnLst>
                                </p:cTn>
                              </p:par>
                              <p:par>
                                <p:cTn id="100" presetID="10" presetClass="entr" presetSubtype="0" fill="hold" grpId="0" nodeType="withEffect">
                                  <p:stCondLst>
                                    <p:cond delay="0"/>
                                  </p:stCondLst>
                                  <p:childTnLst>
                                    <p:set>
                                      <p:cBhvr>
                                        <p:cTn id="101" dur="1" fill="hold">
                                          <p:stCondLst>
                                            <p:cond delay="0"/>
                                          </p:stCondLst>
                                        </p:cTn>
                                        <p:tgtEl>
                                          <p:spTgt spid="36"/>
                                        </p:tgtEl>
                                        <p:attrNameLst>
                                          <p:attrName>style.visibility</p:attrName>
                                        </p:attrNameLst>
                                      </p:cBhvr>
                                      <p:to>
                                        <p:strVal val="visible"/>
                                      </p:to>
                                    </p:set>
                                    <p:animEffect transition="in" filter="fade">
                                      <p:cBhvr>
                                        <p:cTn id="102" dur="500"/>
                                        <p:tgtEl>
                                          <p:spTgt spid="36"/>
                                        </p:tgtEl>
                                      </p:cBhvr>
                                    </p:animEffect>
                                  </p:childTnLst>
                                </p:cTn>
                              </p:par>
                              <p:par>
                                <p:cTn id="103" presetID="10" presetClass="entr" presetSubtype="0" fill="hold" grpId="0" nodeType="withEffect">
                                  <p:stCondLst>
                                    <p:cond delay="0"/>
                                  </p:stCondLst>
                                  <p:childTnLst>
                                    <p:set>
                                      <p:cBhvr>
                                        <p:cTn id="104" dur="1" fill="hold">
                                          <p:stCondLst>
                                            <p:cond delay="0"/>
                                          </p:stCondLst>
                                        </p:cTn>
                                        <p:tgtEl>
                                          <p:spTgt spid="37"/>
                                        </p:tgtEl>
                                        <p:attrNameLst>
                                          <p:attrName>style.visibility</p:attrName>
                                        </p:attrNameLst>
                                      </p:cBhvr>
                                      <p:to>
                                        <p:strVal val="visible"/>
                                      </p:to>
                                    </p:set>
                                    <p:animEffect transition="in" filter="fade">
                                      <p:cBhvr>
                                        <p:cTn id="105" dur="500"/>
                                        <p:tgtEl>
                                          <p:spTgt spid="3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64592"/>
          </a:xfrm>
          <a:prstGeom prst="rect">
            <a:avLst/>
          </a:prstGeom>
          <a:solidFill>
            <a:srgbClr val="143D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92608"/>
            <a:ext cx="10972800" cy="274320"/>
          </a:xfrm>
          <a:prstGeom prst="rect">
            <a:avLst/>
          </a:prstGeom>
          <a:noFill/>
        </p:spPr>
        <p:txBody>
          <a:bodyPr wrap="square" lIns="0" rIns="0" tIns="0" bIns="0">
            <a:spAutoFit/>
          </a:bodyPr>
          <a:lstStyle/>
          <a:p>
            <a:pPr>
              <a:lnSpc>
                <a:spcPct val="100000"/>
              </a:lnSpc>
            </a:pPr>
            <a:r>
              <a:rPr sz="1100" b="1">
                <a:solidFill>
                  <a:srgbClr val="2A9D8F"/>
                </a:solidFill>
                <a:latin typeface="Calibri"/>
              </a:rPr>
              <a:t>THE PILOT  ·  STEP 1 OF 3  ·  2027</a:t>
            </a:r>
          </a:p>
        </p:txBody>
      </p:sp>
      <p:sp>
        <p:nvSpPr>
          <p:cNvPr id="4" name="TextBox 3"/>
          <p:cNvSpPr txBox="1"/>
          <p:nvPr/>
        </p:nvSpPr>
        <p:spPr>
          <a:xfrm>
            <a:off x="548640" y="548640"/>
            <a:ext cx="11064240" cy="548640"/>
          </a:xfrm>
          <a:prstGeom prst="rect">
            <a:avLst/>
          </a:prstGeom>
          <a:noFill/>
        </p:spPr>
        <p:txBody>
          <a:bodyPr wrap="square" lIns="0" rIns="0" tIns="0" bIns="0">
            <a:spAutoFit/>
          </a:bodyPr>
          <a:lstStyle/>
          <a:p>
            <a:pPr>
              <a:lnSpc>
                <a:spcPct val="100000"/>
              </a:lnSpc>
            </a:pPr>
            <a:r>
              <a:rPr sz="2800" b="1">
                <a:solidFill>
                  <a:srgbClr val="143D59"/>
                </a:solidFill>
                <a:latin typeface="Calibri"/>
              </a:rPr>
              <a:t>Step 1: build the Euskadi pilot</a:t>
            </a:r>
          </a:p>
        </p:txBody>
      </p:sp>
      <p:sp>
        <p:nvSpPr>
          <p:cNvPr id="5" name="TextBox 4"/>
          <p:cNvSpPr txBox="1"/>
          <p:nvPr/>
        </p:nvSpPr>
        <p:spPr>
          <a:xfrm>
            <a:off x="548640" y="1097280"/>
            <a:ext cx="11064240" cy="365760"/>
          </a:xfrm>
          <a:prstGeom prst="rect">
            <a:avLst/>
          </a:prstGeom>
          <a:noFill/>
        </p:spPr>
        <p:txBody>
          <a:bodyPr wrap="square" lIns="0" rIns="0" tIns="0" bIns="0">
            <a:spAutoFit/>
          </a:bodyPr>
          <a:lstStyle/>
          <a:p>
            <a:pPr>
              <a:lnSpc>
                <a:spcPct val="100000"/>
              </a:lnSpc>
            </a:pPr>
            <a:r>
              <a:rPr sz="1500" b="0">
                <a:solidFill>
                  <a:srgbClr val="4F5560"/>
                </a:solidFill>
                <a:latin typeface="Calibri"/>
              </a:rPr>
              <a:t>Build with Osakidetza and EJIE, under the Basque Health Data Office.</a:t>
            </a:r>
          </a:p>
        </p:txBody>
      </p:sp>
      <p:sp>
        <p:nvSpPr>
          <p:cNvPr id="6" name="TextBox 5"/>
          <p:cNvSpPr txBox="1"/>
          <p:nvPr/>
        </p:nvSpPr>
        <p:spPr>
          <a:xfrm>
            <a:off x="548640" y="6446520"/>
            <a:ext cx="7315200" cy="274320"/>
          </a:xfrm>
          <a:prstGeom prst="rect">
            <a:avLst/>
          </a:prstGeom>
          <a:noFill/>
        </p:spPr>
        <p:txBody>
          <a:bodyPr wrap="square" lIns="0" rIns="0" tIns="0" bIns="0">
            <a:spAutoFit/>
          </a:bodyPr>
          <a:lstStyle/>
          <a:p>
            <a:pPr>
              <a:lnSpc>
                <a:spcPct val="100000"/>
              </a:lnSpc>
            </a:pPr>
            <a:r>
              <a:rPr sz="1000" b="0">
                <a:solidFill>
                  <a:srgbClr val="4F5560"/>
                </a:solidFill>
                <a:latin typeface="Calibri"/>
              </a:rPr>
              <a:t>Reunión de preparación  ·  Espacio de Datos EJIE  ·  País Vasco  ·  status October 2026</a:t>
            </a:r>
          </a:p>
        </p:txBody>
      </p:sp>
      <p:sp>
        <p:nvSpPr>
          <p:cNvPr id="7" name="Rounded Rectangle 6"/>
          <p:cNvSpPr/>
          <p:nvPr/>
        </p:nvSpPr>
        <p:spPr>
          <a:xfrm>
            <a:off x="548640" y="1600200"/>
            <a:ext cx="11091672" cy="4709160"/>
          </a:xfrm>
          <a:prstGeom prst="roundRect">
            <a:avLst>
              <a:gd name="adj" fmla="val 5000"/>
            </a:avLst>
          </a:prstGeom>
          <a:solidFill>
            <a:srgbClr val="EE96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731520" y="1737360"/>
            <a:ext cx="10725912" cy="777240"/>
          </a:xfrm>
          <a:prstGeom prst="roundRect">
            <a:avLst>
              <a:gd name="adj" fmla="val 5000"/>
            </a:avLst>
          </a:prstGeom>
          <a:solidFill>
            <a:srgbClr val="FFF6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1828800"/>
            <a:ext cx="8622792" cy="292608"/>
          </a:xfrm>
          <a:prstGeom prst="rect">
            <a:avLst/>
          </a:prstGeom>
          <a:noFill/>
        </p:spPr>
        <p:txBody>
          <a:bodyPr wrap="square" lIns="0" rIns="0" tIns="0" bIns="0">
            <a:spAutoFit/>
          </a:bodyPr>
          <a:lstStyle/>
          <a:p>
            <a:pPr>
              <a:lnSpc>
                <a:spcPct val="100000"/>
              </a:lnSpc>
            </a:pPr>
            <a:r>
              <a:rPr sz="1450" b="1">
                <a:solidFill>
                  <a:srgbClr val="143D59"/>
                </a:solidFill>
                <a:latin typeface="Calibri"/>
              </a:rPr>
              <a:t>Basque Health Data Office: governance and requests</a:t>
            </a:r>
          </a:p>
        </p:txBody>
      </p:sp>
      <p:sp>
        <p:nvSpPr>
          <p:cNvPr id="10" name="TextBox 9"/>
          <p:cNvSpPr txBox="1"/>
          <p:nvPr/>
        </p:nvSpPr>
        <p:spPr>
          <a:xfrm>
            <a:off x="914400" y="2139696"/>
            <a:ext cx="8622792" cy="320040"/>
          </a:xfrm>
          <a:prstGeom prst="rect">
            <a:avLst/>
          </a:prstGeom>
          <a:noFill/>
        </p:spPr>
        <p:txBody>
          <a:bodyPr wrap="square" lIns="0" rIns="0" tIns="0" bIns="0">
            <a:spAutoFit/>
          </a:bodyPr>
          <a:lstStyle/>
          <a:p>
            <a:r>
              <a:rPr sz="1150" u="sng">
                <a:solidFill>
                  <a:srgbClr val="2A9D8F"/>
                </a:solidFill>
                <a:latin typeface="Calibri"/>
                <a:hlinkClick r:id="rId2"/>
              </a:rPr>
              <a:t>Announced in January 2025</a:t>
            </a:r>
            <a:r>
              <a:rPr sz="1150">
                <a:solidFill>
                  <a:srgbClr val="4F5560"/>
                </a:solidFill>
                <a:latin typeface="Calibri"/>
              </a:rPr>
              <a:t>. A model: </a:t>
            </a:r>
            <a:r>
              <a:rPr sz="1150" u="sng">
                <a:solidFill>
                  <a:srgbClr val="2A9D8F"/>
                </a:solidFill>
                <a:latin typeface="Calibri"/>
                <a:hlinkClick r:id="rId3"/>
              </a:rPr>
              <a:t>Aragón opened Spain's first regional office</a:t>
            </a:r>
            <a:r>
              <a:rPr sz="1150">
                <a:solidFill>
                  <a:srgbClr val="4F5560"/>
                </a:solidFill>
                <a:latin typeface="Calibri"/>
              </a:rPr>
              <a:t>, October 2025.</a:t>
            </a:r>
          </a:p>
        </p:txBody>
      </p:sp>
      <p:sp>
        <p:nvSpPr>
          <p:cNvPr id="11" name="Rounded Rectangle 10"/>
          <p:cNvSpPr/>
          <p:nvPr/>
        </p:nvSpPr>
        <p:spPr>
          <a:xfrm>
            <a:off x="9765792" y="1961388"/>
            <a:ext cx="1508760" cy="329184"/>
          </a:xfrm>
          <a:prstGeom prst="roundRect">
            <a:avLst>
              <a:gd name="adj" fmla="val 50000"/>
            </a:avLst>
          </a:prstGeom>
          <a:solidFill>
            <a:srgbClr val="F2C1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765792" y="1961388"/>
            <a:ext cx="1508760" cy="329184"/>
          </a:xfrm>
          <a:prstGeom prst="rect">
            <a:avLst/>
          </a:prstGeom>
          <a:noFill/>
        </p:spPr>
        <p:txBody>
          <a:bodyPr wrap="square" lIns="0" rIns="0" tIns="0" bIns="0" anchor="ctr">
            <a:spAutoFit/>
          </a:bodyPr>
          <a:lstStyle/>
          <a:p>
            <a:pPr algn="ctr">
              <a:lnSpc>
                <a:spcPct val="100000"/>
              </a:lnSpc>
            </a:pPr>
            <a:r>
              <a:rPr sz="1100" b="1">
                <a:solidFill>
                  <a:srgbClr val="143D59"/>
                </a:solidFill>
                <a:latin typeface="Calibri"/>
              </a:rPr>
              <a:t>in progress</a:t>
            </a:r>
          </a:p>
        </p:txBody>
      </p:sp>
      <p:sp>
        <p:nvSpPr>
          <p:cNvPr id="13" name="Rounded Rectangle 12"/>
          <p:cNvSpPr/>
          <p:nvPr/>
        </p:nvSpPr>
        <p:spPr>
          <a:xfrm>
            <a:off x="731520" y="2633472"/>
            <a:ext cx="10725912" cy="777240"/>
          </a:xfrm>
          <a:prstGeom prst="roundRect">
            <a:avLst>
              <a:gd name="adj" fmla="val 5000"/>
            </a:avLst>
          </a:prstGeom>
          <a:solidFill>
            <a:srgbClr val="FFF6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14400" y="2724912"/>
            <a:ext cx="8622792" cy="292608"/>
          </a:xfrm>
          <a:prstGeom prst="rect">
            <a:avLst/>
          </a:prstGeom>
          <a:noFill/>
        </p:spPr>
        <p:txBody>
          <a:bodyPr wrap="square" lIns="0" rIns="0" tIns="0" bIns="0">
            <a:spAutoFit/>
          </a:bodyPr>
          <a:lstStyle/>
          <a:p>
            <a:pPr>
              <a:lnSpc>
                <a:spcPct val="100000"/>
              </a:lnSpc>
            </a:pPr>
            <a:r>
              <a:rPr sz="1450" b="1">
                <a:solidFill>
                  <a:srgbClr val="143D59"/>
                </a:solidFill>
                <a:latin typeface="Calibri"/>
              </a:rPr>
              <a:t>Osakidetza data lake → FHIR and OMOP</a:t>
            </a:r>
          </a:p>
        </p:txBody>
      </p:sp>
      <p:sp>
        <p:nvSpPr>
          <p:cNvPr id="15" name="TextBox 14"/>
          <p:cNvSpPr txBox="1"/>
          <p:nvPr/>
        </p:nvSpPr>
        <p:spPr>
          <a:xfrm>
            <a:off x="914400" y="3035808"/>
            <a:ext cx="8622792" cy="320040"/>
          </a:xfrm>
          <a:prstGeom prst="rect">
            <a:avLst/>
          </a:prstGeom>
          <a:noFill/>
        </p:spPr>
        <p:txBody>
          <a:bodyPr wrap="square" lIns="0" rIns="0" tIns="0" bIns="0">
            <a:spAutoFit/>
          </a:bodyPr>
          <a:lstStyle/>
          <a:p>
            <a:r>
              <a:rPr sz="1150">
                <a:solidFill>
                  <a:srgbClr val="4F5560"/>
                </a:solidFill>
                <a:latin typeface="Calibri"/>
              </a:rPr>
              <a:t>The data lake is Euskadi's part of the national ENDS: </a:t>
            </a:r>
            <a:r>
              <a:rPr sz="1150" u="sng">
                <a:solidFill>
                  <a:srgbClr val="2A9D8F"/>
                </a:solidFill>
                <a:latin typeface="Calibri"/>
                <a:hlinkClick r:id="rId2"/>
              </a:rPr>
              <a:t>€1.35M of EU recovery funds</a:t>
            </a:r>
            <a:r>
              <a:rPr sz="1150">
                <a:solidFill>
                  <a:srgbClr val="4F5560"/>
                </a:solidFill>
                <a:latin typeface="Calibri"/>
              </a:rPr>
              <a:t>, February 2025.</a:t>
            </a:r>
          </a:p>
        </p:txBody>
      </p:sp>
      <p:sp>
        <p:nvSpPr>
          <p:cNvPr id="16" name="Rounded Rectangle 15"/>
          <p:cNvSpPr/>
          <p:nvPr/>
        </p:nvSpPr>
        <p:spPr>
          <a:xfrm>
            <a:off x="9765792" y="2857500"/>
            <a:ext cx="1508760" cy="329184"/>
          </a:xfrm>
          <a:prstGeom prst="roundRect">
            <a:avLst>
              <a:gd name="adj" fmla="val 50000"/>
            </a:avLst>
          </a:prstGeom>
          <a:solidFill>
            <a:srgbClr val="F2C1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765792" y="2857500"/>
            <a:ext cx="1508760" cy="329184"/>
          </a:xfrm>
          <a:prstGeom prst="rect">
            <a:avLst/>
          </a:prstGeom>
          <a:noFill/>
        </p:spPr>
        <p:txBody>
          <a:bodyPr wrap="square" lIns="0" rIns="0" tIns="0" bIns="0" anchor="ctr">
            <a:spAutoFit/>
          </a:bodyPr>
          <a:lstStyle/>
          <a:p>
            <a:pPr algn="ctr">
              <a:lnSpc>
                <a:spcPct val="100000"/>
              </a:lnSpc>
            </a:pPr>
            <a:r>
              <a:rPr sz="1100" b="1">
                <a:solidFill>
                  <a:srgbClr val="143D59"/>
                </a:solidFill>
                <a:latin typeface="Calibri"/>
              </a:rPr>
              <a:t>in progress</a:t>
            </a:r>
          </a:p>
        </p:txBody>
      </p:sp>
      <p:sp>
        <p:nvSpPr>
          <p:cNvPr id="18" name="Rounded Rectangle 17"/>
          <p:cNvSpPr/>
          <p:nvPr/>
        </p:nvSpPr>
        <p:spPr>
          <a:xfrm>
            <a:off x="731520" y="3529584"/>
            <a:ext cx="10725912" cy="777240"/>
          </a:xfrm>
          <a:prstGeom prst="roundRect">
            <a:avLst>
              <a:gd name="adj" fmla="val 5000"/>
            </a:avLst>
          </a:prstGeom>
          <a:solidFill>
            <a:srgbClr val="FFF6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14400" y="3621024"/>
            <a:ext cx="8622792" cy="292608"/>
          </a:xfrm>
          <a:prstGeom prst="rect">
            <a:avLst/>
          </a:prstGeom>
          <a:noFill/>
        </p:spPr>
        <p:txBody>
          <a:bodyPr wrap="square" lIns="0" rIns="0" tIns="0" bIns="0">
            <a:spAutoFit/>
          </a:bodyPr>
          <a:lstStyle/>
          <a:p>
            <a:pPr>
              <a:lnSpc>
                <a:spcPct val="100000"/>
              </a:lnSpc>
            </a:pPr>
            <a:r>
              <a:rPr sz="1450" b="1">
                <a:solidFill>
                  <a:srgbClr val="143D59"/>
                </a:solidFill>
                <a:latin typeface="Calibri"/>
              </a:rPr>
              <a:t>One regional node: connector and metadata</a:t>
            </a:r>
          </a:p>
        </p:txBody>
      </p:sp>
      <p:sp>
        <p:nvSpPr>
          <p:cNvPr id="20" name="TextBox 19"/>
          <p:cNvSpPr txBox="1"/>
          <p:nvPr/>
        </p:nvSpPr>
        <p:spPr>
          <a:xfrm>
            <a:off x="914400" y="3931920"/>
            <a:ext cx="8622792" cy="320040"/>
          </a:xfrm>
          <a:prstGeom prst="rect">
            <a:avLst/>
          </a:prstGeom>
          <a:noFill/>
        </p:spPr>
        <p:txBody>
          <a:bodyPr wrap="square" lIns="0" rIns="0" tIns="0" bIns="0">
            <a:spAutoFit/>
          </a:bodyPr>
          <a:lstStyle/>
          <a:p>
            <a:r>
              <a:rPr sz="1150">
                <a:solidFill>
                  <a:srgbClr val="4F5560"/>
                </a:solidFill>
                <a:latin typeface="Calibri"/>
              </a:rPr>
              <a:t>An </a:t>
            </a:r>
            <a:r>
              <a:rPr sz="1150" u="sng">
                <a:solidFill>
                  <a:srgbClr val="2A9D8F"/>
                </a:solidFill>
                <a:latin typeface="Calibri"/>
                <a:hlinkClick r:id="rId4"/>
              </a:rPr>
              <a:t>Eclipse EDC</a:t>
            </a:r>
            <a:r>
              <a:rPr sz="1150">
                <a:solidFill>
                  <a:srgbClr val="4F5560"/>
                </a:solidFill>
                <a:latin typeface="Calibri"/>
              </a:rPr>
              <a:t> connector and a HealthDCAT-AP catalogue, operated by </a:t>
            </a:r>
            <a:r>
              <a:rPr sz="1150" u="sng">
                <a:solidFill>
                  <a:srgbClr val="2A9D8F"/>
                </a:solidFill>
                <a:latin typeface="Calibri"/>
                <a:hlinkClick r:id="rId5"/>
              </a:rPr>
              <a:t>EJIE</a:t>
            </a:r>
            <a:r>
              <a:rPr sz="1150">
                <a:solidFill>
                  <a:srgbClr val="4F5560"/>
                </a:solidFill>
                <a:latin typeface="Calibri"/>
              </a:rPr>
              <a:t>.</a:t>
            </a:r>
          </a:p>
        </p:txBody>
      </p:sp>
      <p:sp>
        <p:nvSpPr>
          <p:cNvPr id="21" name="Rounded Rectangle 20"/>
          <p:cNvSpPr/>
          <p:nvPr/>
        </p:nvSpPr>
        <p:spPr>
          <a:xfrm>
            <a:off x="9765792" y="3753611"/>
            <a:ext cx="1508760" cy="329184"/>
          </a:xfrm>
          <a:prstGeom prst="roundRect">
            <a:avLst>
              <a:gd name="adj" fmla="val 50000"/>
            </a:avLst>
          </a:prstGeom>
          <a:solidFill>
            <a:srgbClr val="FFFFFF"/>
          </a:solidFill>
          <a:ln w="19050">
            <a:solidFill>
              <a:srgbClr val="143D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765792" y="3753611"/>
            <a:ext cx="1508760" cy="329184"/>
          </a:xfrm>
          <a:prstGeom prst="rect">
            <a:avLst/>
          </a:prstGeom>
          <a:noFill/>
        </p:spPr>
        <p:txBody>
          <a:bodyPr wrap="square" lIns="0" rIns="0" tIns="0" bIns="0" anchor="ctr">
            <a:spAutoFit/>
          </a:bodyPr>
          <a:lstStyle/>
          <a:p>
            <a:pPr algn="ctr">
              <a:lnSpc>
                <a:spcPct val="100000"/>
              </a:lnSpc>
            </a:pPr>
            <a:r>
              <a:rPr sz="1100" b="1">
                <a:solidFill>
                  <a:srgbClr val="143D59"/>
                </a:solidFill>
                <a:latin typeface="Calibri"/>
              </a:rPr>
              <a:t>we build it</a:t>
            </a:r>
          </a:p>
        </p:txBody>
      </p:sp>
      <p:sp>
        <p:nvSpPr>
          <p:cNvPr id="23" name="Rounded Rectangle 22"/>
          <p:cNvSpPr/>
          <p:nvPr/>
        </p:nvSpPr>
        <p:spPr>
          <a:xfrm>
            <a:off x="731520" y="4425696"/>
            <a:ext cx="10725912" cy="777240"/>
          </a:xfrm>
          <a:prstGeom prst="roundRect">
            <a:avLst>
              <a:gd name="adj" fmla="val 5000"/>
            </a:avLst>
          </a:prstGeom>
          <a:solidFill>
            <a:srgbClr val="FFF6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14400" y="4517136"/>
            <a:ext cx="8622792" cy="292608"/>
          </a:xfrm>
          <a:prstGeom prst="rect">
            <a:avLst/>
          </a:prstGeom>
          <a:noFill/>
        </p:spPr>
        <p:txBody>
          <a:bodyPr wrap="square" lIns="0" rIns="0" tIns="0" bIns="0">
            <a:spAutoFit/>
          </a:bodyPr>
          <a:lstStyle/>
          <a:p>
            <a:pPr>
              <a:lnSpc>
                <a:spcPct val="100000"/>
              </a:lnSpc>
            </a:pPr>
            <a:r>
              <a:rPr sz="1450" b="1">
                <a:solidFill>
                  <a:srgbClr val="143D59"/>
                </a:solidFill>
                <a:latin typeface="Calibri"/>
              </a:rPr>
              <a:t>Secure processing environment: our own, or national?</a:t>
            </a:r>
          </a:p>
        </p:txBody>
      </p:sp>
      <p:sp>
        <p:nvSpPr>
          <p:cNvPr id="25" name="TextBox 24"/>
          <p:cNvSpPr txBox="1"/>
          <p:nvPr/>
        </p:nvSpPr>
        <p:spPr>
          <a:xfrm>
            <a:off x="914400" y="4828032"/>
            <a:ext cx="8622792" cy="320040"/>
          </a:xfrm>
          <a:prstGeom prst="rect">
            <a:avLst/>
          </a:prstGeom>
          <a:noFill/>
        </p:spPr>
        <p:txBody>
          <a:bodyPr wrap="square" lIns="0" rIns="0" tIns="0" bIns="0">
            <a:spAutoFit/>
          </a:bodyPr>
          <a:lstStyle/>
          <a:p>
            <a:r>
              <a:rPr sz="1150">
                <a:solidFill>
                  <a:srgbClr val="4F5560"/>
                </a:solidFill>
                <a:latin typeface="Calibri"/>
              </a:rPr>
              <a:t>A Basque environment, or the processing capacity of </a:t>
            </a:r>
            <a:r>
              <a:rPr sz="1150" u="sng">
                <a:solidFill>
                  <a:srgbClr val="2A9D8F"/>
                </a:solidFill>
                <a:latin typeface="Calibri"/>
                <a:hlinkClick r:id="rId6"/>
              </a:rPr>
              <a:t>ENDS</a:t>
            </a:r>
            <a:r>
              <a:rPr sz="1150">
                <a:solidFill>
                  <a:srgbClr val="4F5560"/>
                </a:solidFill>
                <a:latin typeface="Calibri"/>
              </a:rPr>
              <a:t>. Either way it must meet the </a:t>
            </a:r>
            <a:r>
              <a:rPr sz="1150" u="sng">
                <a:solidFill>
                  <a:srgbClr val="2A9D8F"/>
                </a:solidFill>
                <a:latin typeface="Calibri"/>
                <a:hlinkClick r:id="rId7"/>
              </a:rPr>
              <a:t>ENS</a:t>
            </a:r>
            <a:r>
              <a:rPr sz="1150">
                <a:solidFill>
                  <a:srgbClr val="4F5560"/>
                </a:solidFill>
                <a:latin typeface="Calibri"/>
              </a:rPr>
              <a:t>.</a:t>
            </a:r>
          </a:p>
        </p:txBody>
      </p:sp>
      <p:sp>
        <p:nvSpPr>
          <p:cNvPr id="26" name="Rounded Rectangle 25"/>
          <p:cNvSpPr/>
          <p:nvPr/>
        </p:nvSpPr>
        <p:spPr>
          <a:xfrm>
            <a:off x="9765792" y="4649724"/>
            <a:ext cx="1508760" cy="329184"/>
          </a:xfrm>
          <a:prstGeom prst="roundRect">
            <a:avLst>
              <a:gd name="adj" fmla="val 50000"/>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9765792" y="4649724"/>
            <a:ext cx="1508760" cy="329184"/>
          </a:xfrm>
          <a:prstGeom prst="rect">
            <a:avLst/>
          </a:prstGeom>
          <a:noFill/>
        </p:spPr>
        <p:txBody>
          <a:bodyPr wrap="square" lIns="0" rIns="0" tIns="0" bIns="0" anchor="ctr">
            <a:spAutoFit/>
          </a:bodyPr>
          <a:lstStyle/>
          <a:p>
            <a:pPr algn="ctr">
              <a:lnSpc>
                <a:spcPct val="100000"/>
              </a:lnSpc>
            </a:pPr>
            <a:r>
              <a:rPr sz="1100" b="1">
                <a:solidFill>
                  <a:srgbClr val="FFFFFF"/>
                </a:solidFill>
                <a:latin typeface="Calibri"/>
              </a:rPr>
              <a:t>open decision</a:t>
            </a:r>
          </a:p>
        </p:txBody>
      </p:sp>
      <p:sp>
        <p:nvSpPr>
          <p:cNvPr id="28" name="Rounded Rectangle 27"/>
          <p:cNvSpPr/>
          <p:nvPr/>
        </p:nvSpPr>
        <p:spPr>
          <a:xfrm>
            <a:off x="731520" y="5321808"/>
            <a:ext cx="10725912" cy="777240"/>
          </a:xfrm>
          <a:prstGeom prst="roundRect">
            <a:avLst>
              <a:gd name="adj" fmla="val 5000"/>
            </a:avLst>
          </a:prstGeom>
          <a:solidFill>
            <a:srgbClr val="FFF6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914400" y="5413248"/>
            <a:ext cx="8622792" cy="292608"/>
          </a:xfrm>
          <a:prstGeom prst="rect">
            <a:avLst/>
          </a:prstGeom>
          <a:noFill/>
        </p:spPr>
        <p:txBody>
          <a:bodyPr wrap="square" lIns="0" rIns="0" tIns="0" bIns="0">
            <a:spAutoFit/>
          </a:bodyPr>
          <a:lstStyle/>
          <a:p>
            <a:pPr>
              <a:lnSpc>
                <a:spcPct val="100000"/>
              </a:lnSpc>
            </a:pPr>
            <a:r>
              <a:rPr sz="1450" b="1">
                <a:solidFill>
                  <a:srgbClr val="143D59"/>
                </a:solidFill>
                <a:latin typeface="Calibri"/>
              </a:rPr>
              <a:t>Two use cases: cohort discovery and a disease registry</a:t>
            </a:r>
          </a:p>
        </p:txBody>
      </p:sp>
      <p:sp>
        <p:nvSpPr>
          <p:cNvPr id="30" name="TextBox 29"/>
          <p:cNvSpPr txBox="1"/>
          <p:nvPr/>
        </p:nvSpPr>
        <p:spPr>
          <a:xfrm>
            <a:off x="914400" y="5724144"/>
            <a:ext cx="8622792" cy="320040"/>
          </a:xfrm>
          <a:prstGeom prst="rect">
            <a:avLst/>
          </a:prstGeom>
          <a:noFill/>
        </p:spPr>
        <p:txBody>
          <a:bodyPr wrap="square" lIns="0" rIns="0" tIns="0" bIns="0">
            <a:spAutoFit/>
          </a:bodyPr>
          <a:lstStyle/>
          <a:p>
            <a:r>
              <a:rPr sz="1150">
                <a:solidFill>
                  <a:srgbClr val="4F5560"/>
                </a:solidFill>
                <a:latin typeface="Calibri"/>
              </a:rPr>
              <a:t>For example the </a:t>
            </a:r>
            <a:r>
              <a:rPr sz="1150" u="sng">
                <a:solidFill>
                  <a:srgbClr val="2A9D8F"/>
                </a:solidFill>
                <a:latin typeface="Calibri"/>
                <a:hlinkClick r:id="rId8"/>
              </a:rPr>
              <a:t>hospital cancer registries</a:t>
            </a:r>
            <a:r>
              <a:rPr sz="1150">
                <a:solidFill>
                  <a:srgbClr val="4F5560"/>
                </a:solidFill>
                <a:latin typeface="Calibri"/>
              </a:rPr>
              <a:t> that Osakidetza already runs.</a:t>
            </a:r>
          </a:p>
        </p:txBody>
      </p:sp>
      <p:sp>
        <p:nvSpPr>
          <p:cNvPr id="31" name="Rounded Rectangle 30"/>
          <p:cNvSpPr/>
          <p:nvPr/>
        </p:nvSpPr>
        <p:spPr>
          <a:xfrm>
            <a:off x="9765792" y="5545836"/>
            <a:ext cx="1508760" cy="329184"/>
          </a:xfrm>
          <a:prstGeom prst="roundRect">
            <a:avLst>
              <a:gd name="adj" fmla="val 50000"/>
            </a:avLst>
          </a:prstGeom>
          <a:solidFill>
            <a:srgbClr val="FFFFFF"/>
          </a:solidFill>
          <a:ln w="19050">
            <a:solidFill>
              <a:srgbClr val="143D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9765792" y="5545836"/>
            <a:ext cx="1508760" cy="329184"/>
          </a:xfrm>
          <a:prstGeom prst="rect">
            <a:avLst/>
          </a:prstGeom>
          <a:noFill/>
        </p:spPr>
        <p:txBody>
          <a:bodyPr wrap="square" lIns="0" rIns="0" tIns="0" bIns="0" anchor="ctr">
            <a:spAutoFit/>
          </a:bodyPr>
          <a:lstStyle/>
          <a:p>
            <a:pPr algn="ctr">
              <a:lnSpc>
                <a:spcPct val="100000"/>
              </a:lnSpc>
            </a:pPr>
            <a:r>
              <a:rPr sz="1100" b="1">
                <a:solidFill>
                  <a:srgbClr val="143D59"/>
                </a:solidFill>
                <a:latin typeface="Calibri"/>
              </a:rPr>
              <a:t>we build it</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18" fill="hold">
                      <p:stCondLst>
                        <p:cond delay="indefinite"/>
                      </p:stCondLst>
                      <p:childTnLst>
                        <p:par>
                          <p:cTn id="19" fill="hold">
                            <p:stCondLst>
                              <p:cond delay="0"/>
                            </p:stCondLst>
                            <p:childTnLst>
                              <p:par>
                                <p:cTn id="3" presetID="10" presetClass="entr" presetSubtype="0" fill="hold" grpId="0" nodeType="clickEffect">
                                  <p:stCondLst>
                                    <p:cond delay="0"/>
                                  </p:stCondLst>
                                  <p:childTnLst>
                                    <p:set>
                                      <p:cBhvr>
                                        <p:cTn id="4" dur="1" fill="hold">
                                          <p:stCondLst>
                                            <p:cond delay="0"/>
                                          </p:stCondLst>
                                        </p:cTn>
                                        <p:tgtEl>
                                          <p:spTgt spid="8"/>
                                        </p:tgtEl>
                                        <p:attrNameLst>
                                          <p:attrName>style.visibility</p:attrName>
                                        </p:attrNameLst>
                                      </p:cBhvr>
                                      <p:to>
                                        <p:strVal val="visible"/>
                                      </p:to>
                                    </p:set>
                                    <p:animEffect transition="in" filter="fade">
                                      <p:cBhvr>
                                        <p:cTn id="5" dur="500"/>
                                        <p:tgtEl>
                                          <p:spTgt spid="8"/>
                                        </p:tgtEl>
                                      </p:cBhvr>
                                    </p:animEffect>
                                  </p:childTnLst>
                                </p:cTn>
                              </p:par>
                              <p:par>
                                <p:cTn id="6" presetID="10" presetClass="entr" presetSubtype="0" fill="hold" grpId="0" nodeType="withEffect">
                                  <p:stCondLst>
                                    <p:cond delay="0"/>
                                  </p:stCondLst>
                                  <p:childTnLst>
                                    <p:set>
                                      <p:cBhvr>
                                        <p:cTn id="7" dur="1" fill="hold">
                                          <p:stCondLst>
                                            <p:cond delay="0"/>
                                          </p:stCondLst>
                                        </p:cTn>
                                        <p:tgtEl>
                                          <p:spTgt spid="9"/>
                                        </p:tgtEl>
                                        <p:attrNameLst>
                                          <p:attrName>style.visibility</p:attrName>
                                        </p:attrNameLst>
                                      </p:cBhvr>
                                      <p:to>
                                        <p:strVal val="visible"/>
                                      </p:to>
                                    </p:set>
                                    <p:animEffect transition="in" filter="fade">
                                      <p:cBhvr>
                                        <p:cTn id="8" dur="500"/>
                                        <p:tgtEl>
                                          <p:spTgt spid="9"/>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10"/>
                                        </p:tgtEl>
                                        <p:attrNameLst>
                                          <p:attrName>style.visibility</p:attrName>
                                        </p:attrNameLst>
                                      </p:cBhvr>
                                      <p:to>
                                        <p:strVal val="visible"/>
                                      </p:to>
                                    </p:set>
                                    <p:animEffect transition="in" filter="fade">
                                      <p:cBhvr>
                                        <p:cTn id="11" dur="500"/>
                                        <p:tgtEl>
                                          <p:spTgt spid="10"/>
                                        </p:tgtEl>
                                      </p:cBhvr>
                                    </p:animEffect>
                                  </p:childTnLst>
                                </p:cTn>
                              </p:par>
                              <p:par>
                                <p:cTn id="12" presetID="10" presetClass="entr" presetSubtype="0" fill="hold" grpId="0" nodeType="withEffect">
                                  <p:stCondLst>
                                    <p:cond delay="0"/>
                                  </p:stCondLst>
                                  <p:childTnLst>
                                    <p:set>
                                      <p:cBhvr>
                                        <p:cTn id="13" dur="1" fill="hold">
                                          <p:stCondLst>
                                            <p:cond delay="0"/>
                                          </p:stCondLst>
                                        </p:cTn>
                                        <p:tgtEl>
                                          <p:spTgt spid="11"/>
                                        </p:tgtEl>
                                        <p:attrNameLst>
                                          <p:attrName>style.visibility</p:attrName>
                                        </p:attrNameLst>
                                      </p:cBhvr>
                                      <p:to>
                                        <p:strVal val="visible"/>
                                      </p:to>
                                    </p:set>
                                    <p:animEffect transition="in" filter="fade">
                                      <p:cBhvr>
                                        <p:cTn id="14" dur="500"/>
                                        <p:tgtEl>
                                          <p:spTgt spid="11"/>
                                        </p:tgtEl>
                                      </p:cBhvr>
                                    </p:animEffect>
                                  </p:childTnLst>
                                </p:cTn>
                              </p:par>
                              <p:par>
                                <p:cTn id="15" presetID="10" presetClass="entr" presetSubtype="0" fill="hold" grpId="0" nodeType="withEffect">
                                  <p:stCondLst>
                                    <p:cond delay="0"/>
                                  </p:stCondLst>
                                  <p:childTnLst>
                                    <p:set>
                                      <p:cBhvr>
                                        <p:cTn id="16" dur="1" fill="hold">
                                          <p:stCondLst>
                                            <p:cond delay="0"/>
                                          </p:stCondLst>
                                        </p:cTn>
                                        <p:tgtEl>
                                          <p:spTgt spid="12"/>
                                        </p:tgtEl>
                                        <p:attrNameLst>
                                          <p:attrName>style.visibility</p:attrName>
                                        </p:attrNameLst>
                                      </p:cBhvr>
                                      <p:to>
                                        <p:strVal val="visible"/>
                                      </p:to>
                                    </p:set>
                                    <p:animEffect transition="in" filter="fade">
                                      <p:cBhvr>
                                        <p:cTn id="17" dur="500"/>
                                        <p:tgtEl>
                                          <p:spTgt spid="12"/>
                                        </p:tgtEl>
                                      </p:cBhvr>
                                    </p:animEffect>
                                  </p:childTnLst>
                                </p:cTn>
                              </p:par>
                            </p:childTnLst>
                          </p:cTn>
                        </p:par>
                      </p:childTnLst>
                    </p:cTn>
                  </p:par>
                  <p:par>
                    <p:cTn id="35" fill="hold">
                      <p:stCondLst>
                        <p:cond delay="indefinite"/>
                      </p:stCondLst>
                      <p:childTnLst>
                        <p:par>
                          <p:cTn id="36"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13"/>
                                        </p:tgtEl>
                                        <p:attrNameLst>
                                          <p:attrName>style.visibility</p:attrName>
                                        </p:attrNameLst>
                                      </p:cBhvr>
                                      <p:to>
                                        <p:strVal val="visible"/>
                                      </p:to>
                                    </p:set>
                                    <p:animEffect transition="in" filter="fade">
                                      <p:cBhvr>
                                        <p:cTn id="22" dur="500"/>
                                        <p:tgtEl>
                                          <p:spTgt spid="13"/>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14"/>
                                        </p:tgtEl>
                                        <p:attrNameLst>
                                          <p:attrName>style.visibility</p:attrName>
                                        </p:attrNameLst>
                                      </p:cBhvr>
                                      <p:to>
                                        <p:strVal val="visible"/>
                                      </p:to>
                                    </p:set>
                                    <p:animEffect transition="in" filter="fade">
                                      <p:cBhvr>
                                        <p:cTn id="25" dur="500"/>
                                        <p:tgtEl>
                                          <p:spTgt spid="14"/>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15"/>
                                        </p:tgtEl>
                                        <p:attrNameLst>
                                          <p:attrName>style.visibility</p:attrName>
                                        </p:attrNameLst>
                                      </p:cBhvr>
                                      <p:to>
                                        <p:strVal val="visible"/>
                                      </p:to>
                                    </p:set>
                                    <p:animEffect transition="in" filter="fade">
                                      <p:cBhvr>
                                        <p:cTn id="28" dur="500"/>
                                        <p:tgtEl>
                                          <p:spTgt spid="15"/>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16"/>
                                        </p:tgtEl>
                                        <p:attrNameLst>
                                          <p:attrName>style.visibility</p:attrName>
                                        </p:attrNameLst>
                                      </p:cBhvr>
                                      <p:to>
                                        <p:strVal val="visible"/>
                                      </p:to>
                                    </p:set>
                                    <p:animEffect transition="in" filter="fade">
                                      <p:cBhvr>
                                        <p:cTn id="31" dur="500"/>
                                        <p:tgtEl>
                                          <p:spTgt spid="16"/>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17"/>
                                        </p:tgtEl>
                                        <p:attrNameLst>
                                          <p:attrName>style.visibility</p:attrName>
                                        </p:attrNameLst>
                                      </p:cBhvr>
                                      <p:to>
                                        <p:strVal val="visible"/>
                                      </p:to>
                                    </p:set>
                                    <p:animEffect transition="in" filter="fade">
                                      <p:cBhvr>
                                        <p:cTn id="34" dur="500"/>
                                        <p:tgtEl>
                                          <p:spTgt spid="17"/>
                                        </p:tgtEl>
                                      </p:cBhvr>
                                    </p:animEffect>
                                  </p:childTnLst>
                                </p:cTn>
                              </p:par>
                            </p:childTnLst>
                          </p:cTn>
                        </p:par>
                      </p:childTnLst>
                    </p:cTn>
                  </p:par>
                  <p:par>
                    <p:cTn id="52" fill="hold">
                      <p:stCondLst>
                        <p:cond delay="indefinite"/>
                      </p:stCondLst>
                      <p:childTnLst>
                        <p:par>
                          <p:cTn id="53" fill="hold">
                            <p:stCondLst>
                              <p:cond delay="0"/>
                            </p:stCondLst>
                            <p:childTnLst>
                              <p:par>
                                <p:cTn id="37" presetID="10" presetClass="entr" presetSubtype="0" fill="hold" grpId="0" nodeType="clickEffect">
                                  <p:stCondLst>
                                    <p:cond delay="0"/>
                                  </p:stCondLst>
                                  <p:childTnLst>
                                    <p:set>
                                      <p:cBhvr>
                                        <p:cTn id="38" dur="1" fill="hold">
                                          <p:stCondLst>
                                            <p:cond delay="0"/>
                                          </p:stCondLst>
                                        </p:cTn>
                                        <p:tgtEl>
                                          <p:spTgt spid="18"/>
                                        </p:tgtEl>
                                        <p:attrNameLst>
                                          <p:attrName>style.visibility</p:attrName>
                                        </p:attrNameLst>
                                      </p:cBhvr>
                                      <p:to>
                                        <p:strVal val="visible"/>
                                      </p:to>
                                    </p:set>
                                    <p:animEffect transition="in" filter="fade">
                                      <p:cBhvr>
                                        <p:cTn id="39" dur="500"/>
                                        <p:tgtEl>
                                          <p:spTgt spid="18"/>
                                        </p:tgtEl>
                                      </p:cBhvr>
                                    </p:animEffect>
                                  </p:childTnLst>
                                </p:cTn>
                              </p:par>
                              <p:par>
                                <p:cTn id="40" presetID="10" presetClass="entr" presetSubtype="0" fill="hold" grpId="0" nodeType="withEffect">
                                  <p:stCondLst>
                                    <p:cond delay="0"/>
                                  </p:stCondLst>
                                  <p:childTnLst>
                                    <p:set>
                                      <p:cBhvr>
                                        <p:cTn id="41" dur="1" fill="hold">
                                          <p:stCondLst>
                                            <p:cond delay="0"/>
                                          </p:stCondLst>
                                        </p:cTn>
                                        <p:tgtEl>
                                          <p:spTgt spid="19"/>
                                        </p:tgtEl>
                                        <p:attrNameLst>
                                          <p:attrName>style.visibility</p:attrName>
                                        </p:attrNameLst>
                                      </p:cBhvr>
                                      <p:to>
                                        <p:strVal val="visible"/>
                                      </p:to>
                                    </p:set>
                                    <p:animEffect transition="in" filter="fade">
                                      <p:cBhvr>
                                        <p:cTn id="42" dur="500"/>
                                        <p:tgtEl>
                                          <p:spTgt spid="19"/>
                                        </p:tgtEl>
                                      </p:cBhvr>
                                    </p:animEffect>
                                  </p:childTnLst>
                                </p:cTn>
                              </p:par>
                              <p:par>
                                <p:cTn id="43" presetID="10" presetClass="entr" presetSubtype="0" fill="hold" grpId="0" nodeType="withEffect">
                                  <p:stCondLst>
                                    <p:cond delay="0"/>
                                  </p:stCondLst>
                                  <p:childTnLst>
                                    <p:set>
                                      <p:cBhvr>
                                        <p:cTn id="44" dur="1" fill="hold">
                                          <p:stCondLst>
                                            <p:cond delay="0"/>
                                          </p:stCondLst>
                                        </p:cTn>
                                        <p:tgtEl>
                                          <p:spTgt spid="20"/>
                                        </p:tgtEl>
                                        <p:attrNameLst>
                                          <p:attrName>style.visibility</p:attrName>
                                        </p:attrNameLst>
                                      </p:cBhvr>
                                      <p:to>
                                        <p:strVal val="visible"/>
                                      </p:to>
                                    </p:set>
                                    <p:animEffect transition="in" filter="fade">
                                      <p:cBhvr>
                                        <p:cTn id="45" dur="500"/>
                                        <p:tgtEl>
                                          <p:spTgt spid="20"/>
                                        </p:tgtEl>
                                      </p:cBhvr>
                                    </p:animEffect>
                                  </p:childTnLst>
                                </p:cTn>
                              </p:par>
                              <p:par>
                                <p:cTn id="46" presetID="10" presetClass="entr" presetSubtype="0" fill="hold" grpId="0" nodeType="withEffect">
                                  <p:stCondLst>
                                    <p:cond delay="0"/>
                                  </p:stCondLst>
                                  <p:childTnLst>
                                    <p:set>
                                      <p:cBhvr>
                                        <p:cTn id="47" dur="1" fill="hold">
                                          <p:stCondLst>
                                            <p:cond delay="0"/>
                                          </p:stCondLst>
                                        </p:cTn>
                                        <p:tgtEl>
                                          <p:spTgt spid="21"/>
                                        </p:tgtEl>
                                        <p:attrNameLst>
                                          <p:attrName>style.visibility</p:attrName>
                                        </p:attrNameLst>
                                      </p:cBhvr>
                                      <p:to>
                                        <p:strVal val="visible"/>
                                      </p:to>
                                    </p:set>
                                    <p:animEffect transition="in" filter="fade">
                                      <p:cBhvr>
                                        <p:cTn id="48" dur="500"/>
                                        <p:tgtEl>
                                          <p:spTgt spid="21"/>
                                        </p:tgtEl>
                                      </p:cBhvr>
                                    </p:animEffect>
                                  </p:childTnLst>
                                </p:cTn>
                              </p:par>
                              <p:par>
                                <p:cTn id="49" presetID="10" presetClass="entr" presetSubtype="0" fill="hold" grpId="0" nodeType="withEffect">
                                  <p:stCondLst>
                                    <p:cond delay="0"/>
                                  </p:stCondLst>
                                  <p:childTnLst>
                                    <p:set>
                                      <p:cBhvr>
                                        <p:cTn id="50" dur="1" fill="hold">
                                          <p:stCondLst>
                                            <p:cond delay="0"/>
                                          </p:stCondLst>
                                        </p:cTn>
                                        <p:tgtEl>
                                          <p:spTgt spid="22"/>
                                        </p:tgtEl>
                                        <p:attrNameLst>
                                          <p:attrName>style.visibility</p:attrName>
                                        </p:attrNameLst>
                                      </p:cBhvr>
                                      <p:to>
                                        <p:strVal val="visible"/>
                                      </p:to>
                                    </p:set>
                                    <p:animEffect transition="in" filter="fade">
                                      <p:cBhvr>
                                        <p:cTn id="51" dur="500"/>
                                        <p:tgtEl>
                                          <p:spTgt spid="22"/>
                                        </p:tgtEl>
                                      </p:cBhvr>
                                    </p:animEffect>
                                  </p:childTnLst>
                                </p:cTn>
                              </p:par>
                            </p:childTnLst>
                          </p:cTn>
                        </p:par>
                      </p:childTnLst>
                    </p:cTn>
                  </p:par>
                  <p:par>
                    <p:cTn id="69" fill="hold">
                      <p:stCondLst>
                        <p:cond delay="indefinite"/>
                      </p:stCondLst>
                      <p:childTnLst>
                        <p:par>
                          <p:cTn id="70" fill="hold">
                            <p:stCondLst>
                              <p:cond delay="0"/>
                            </p:stCondLst>
                            <p:childTnLst>
                              <p:par>
                                <p:cTn id="54" presetID="10" presetClass="entr" presetSubtype="0" fill="hold" grpId="0" nodeType="clickEffect">
                                  <p:stCondLst>
                                    <p:cond delay="0"/>
                                  </p:stCondLst>
                                  <p:childTnLst>
                                    <p:set>
                                      <p:cBhvr>
                                        <p:cTn id="55" dur="1" fill="hold">
                                          <p:stCondLst>
                                            <p:cond delay="0"/>
                                          </p:stCondLst>
                                        </p:cTn>
                                        <p:tgtEl>
                                          <p:spTgt spid="23"/>
                                        </p:tgtEl>
                                        <p:attrNameLst>
                                          <p:attrName>style.visibility</p:attrName>
                                        </p:attrNameLst>
                                      </p:cBhvr>
                                      <p:to>
                                        <p:strVal val="visible"/>
                                      </p:to>
                                    </p:set>
                                    <p:animEffect transition="in" filter="fade">
                                      <p:cBhvr>
                                        <p:cTn id="56" dur="500"/>
                                        <p:tgtEl>
                                          <p:spTgt spid="23"/>
                                        </p:tgtEl>
                                      </p:cBhvr>
                                    </p:animEffect>
                                  </p:childTnLst>
                                </p:cTn>
                              </p:par>
                              <p:par>
                                <p:cTn id="57" presetID="10" presetClass="entr" presetSubtype="0" fill="hold" grpId="0" nodeType="withEffect">
                                  <p:stCondLst>
                                    <p:cond delay="0"/>
                                  </p:stCondLst>
                                  <p:childTnLst>
                                    <p:set>
                                      <p:cBhvr>
                                        <p:cTn id="58" dur="1" fill="hold">
                                          <p:stCondLst>
                                            <p:cond delay="0"/>
                                          </p:stCondLst>
                                        </p:cTn>
                                        <p:tgtEl>
                                          <p:spTgt spid="24"/>
                                        </p:tgtEl>
                                        <p:attrNameLst>
                                          <p:attrName>style.visibility</p:attrName>
                                        </p:attrNameLst>
                                      </p:cBhvr>
                                      <p:to>
                                        <p:strVal val="visible"/>
                                      </p:to>
                                    </p:set>
                                    <p:animEffect transition="in" filter="fade">
                                      <p:cBhvr>
                                        <p:cTn id="59" dur="500"/>
                                        <p:tgtEl>
                                          <p:spTgt spid="24"/>
                                        </p:tgtEl>
                                      </p:cBhvr>
                                    </p:animEffect>
                                  </p:childTnLst>
                                </p:cTn>
                              </p:par>
                              <p:par>
                                <p:cTn id="60" presetID="10" presetClass="entr" presetSubtype="0" fill="hold" grpId="0" nodeType="withEffect">
                                  <p:stCondLst>
                                    <p:cond delay="0"/>
                                  </p:stCondLst>
                                  <p:childTnLst>
                                    <p:set>
                                      <p:cBhvr>
                                        <p:cTn id="61" dur="1" fill="hold">
                                          <p:stCondLst>
                                            <p:cond delay="0"/>
                                          </p:stCondLst>
                                        </p:cTn>
                                        <p:tgtEl>
                                          <p:spTgt spid="25"/>
                                        </p:tgtEl>
                                        <p:attrNameLst>
                                          <p:attrName>style.visibility</p:attrName>
                                        </p:attrNameLst>
                                      </p:cBhvr>
                                      <p:to>
                                        <p:strVal val="visible"/>
                                      </p:to>
                                    </p:set>
                                    <p:animEffect transition="in" filter="fade">
                                      <p:cBhvr>
                                        <p:cTn id="62" dur="500"/>
                                        <p:tgtEl>
                                          <p:spTgt spid="25"/>
                                        </p:tgtEl>
                                      </p:cBhvr>
                                    </p:animEffect>
                                  </p:childTnLst>
                                </p:cTn>
                              </p:par>
                              <p:par>
                                <p:cTn id="63" presetID="10" presetClass="entr" presetSubtype="0" fill="hold" grpId="0" nodeType="withEffect">
                                  <p:stCondLst>
                                    <p:cond delay="0"/>
                                  </p:stCondLst>
                                  <p:childTnLst>
                                    <p:set>
                                      <p:cBhvr>
                                        <p:cTn id="64" dur="1" fill="hold">
                                          <p:stCondLst>
                                            <p:cond delay="0"/>
                                          </p:stCondLst>
                                        </p:cTn>
                                        <p:tgtEl>
                                          <p:spTgt spid="26"/>
                                        </p:tgtEl>
                                        <p:attrNameLst>
                                          <p:attrName>style.visibility</p:attrName>
                                        </p:attrNameLst>
                                      </p:cBhvr>
                                      <p:to>
                                        <p:strVal val="visible"/>
                                      </p:to>
                                    </p:set>
                                    <p:animEffect transition="in" filter="fade">
                                      <p:cBhvr>
                                        <p:cTn id="65" dur="500"/>
                                        <p:tgtEl>
                                          <p:spTgt spid="26"/>
                                        </p:tgtEl>
                                      </p:cBhvr>
                                    </p:animEffect>
                                  </p:childTnLst>
                                </p:cTn>
                              </p:par>
                              <p:par>
                                <p:cTn id="66" presetID="10" presetClass="entr" presetSubtype="0" fill="hold" grpId="0" nodeType="withEffect">
                                  <p:stCondLst>
                                    <p:cond delay="0"/>
                                  </p:stCondLst>
                                  <p:childTnLst>
                                    <p:set>
                                      <p:cBhvr>
                                        <p:cTn id="67" dur="1" fill="hold">
                                          <p:stCondLst>
                                            <p:cond delay="0"/>
                                          </p:stCondLst>
                                        </p:cTn>
                                        <p:tgtEl>
                                          <p:spTgt spid="27"/>
                                        </p:tgtEl>
                                        <p:attrNameLst>
                                          <p:attrName>style.visibility</p:attrName>
                                        </p:attrNameLst>
                                      </p:cBhvr>
                                      <p:to>
                                        <p:strVal val="visible"/>
                                      </p:to>
                                    </p:set>
                                    <p:animEffect transition="in" filter="fade">
                                      <p:cBhvr>
                                        <p:cTn id="68" dur="500"/>
                                        <p:tgtEl>
                                          <p:spTgt spid="27"/>
                                        </p:tgtEl>
                                      </p:cBhvr>
                                    </p:animEffect>
                                  </p:childTnLst>
                                </p:cTn>
                              </p:par>
                            </p:childTnLst>
                          </p:cTn>
                        </p:par>
                      </p:childTnLst>
                    </p:cTn>
                  </p:par>
                  <p:par>
                    <p:cTn id="86" fill="hold">
                      <p:stCondLst>
                        <p:cond delay="indefinite"/>
                      </p:stCondLst>
                      <p:childTnLst>
                        <p:par>
                          <p:cTn id="87" fill="hold">
                            <p:stCondLst>
                              <p:cond delay="0"/>
                            </p:stCondLst>
                            <p:childTnLst>
                              <p:par>
                                <p:cTn id="71" presetID="10" presetClass="entr" presetSubtype="0" fill="hold" grpId="0" nodeType="clickEffect">
                                  <p:stCondLst>
                                    <p:cond delay="0"/>
                                  </p:stCondLst>
                                  <p:childTnLst>
                                    <p:set>
                                      <p:cBhvr>
                                        <p:cTn id="72" dur="1" fill="hold">
                                          <p:stCondLst>
                                            <p:cond delay="0"/>
                                          </p:stCondLst>
                                        </p:cTn>
                                        <p:tgtEl>
                                          <p:spTgt spid="28"/>
                                        </p:tgtEl>
                                        <p:attrNameLst>
                                          <p:attrName>style.visibility</p:attrName>
                                        </p:attrNameLst>
                                      </p:cBhvr>
                                      <p:to>
                                        <p:strVal val="visible"/>
                                      </p:to>
                                    </p:set>
                                    <p:animEffect transition="in" filter="fade">
                                      <p:cBhvr>
                                        <p:cTn id="73" dur="500"/>
                                        <p:tgtEl>
                                          <p:spTgt spid="28"/>
                                        </p:tgtEl>
                                      </p:cBhvr>
                                    </p:animEffect>
                                  </p:childTnLst>
                                </p:cTn>
                              </p:par>
                              <p:par>
                                <p:cTn id="74" presetID="10" presetClass="entr" presetSubtype="0" fill="hold" grpId="0" nodeType="withEffect">
                                  <p:stCondLst>
                                    <p:cond delay="0"/>
                                  </p:stCondLst>
                                  <p:childTnLst>
                                    <p:set>
                                      <p:cBhvr>
                                        <p:cTn id="75" dur="1" fill="hold">
                                          <p:stCondLst>
                                            <p:cond delay="0"/>
                                          </p:stCondLst>
                                        </p:cTn>
                                        <p:tgtEl>
                                          <p:spTgt spid="29"/>
                                        </p:tgtEl>
                                        <p:attrNameLst>
                                          <p:attrName>style.visibility</p:attrName>
                                        </p:attrNameLst>
                                      </p:cBhvr>
                                      <p:to>
                                        <p:strVal val="visible"/>
                                      </p:to>
                                    </p:set>
                                    <p:animEffect transition="in" filter="fade">
                                      <p:cBhvr>
                                        <p:cTn id="76" dur="500"/>
                                        <p:tgtEl>
                                          <p:spTgt spid="29"/>
                                        </p:tgtEl>
                                      </p:cBhvr>
                                    </p:animEffect>
                                  </p:childTnLst>
                                </p:cTn>
                              </p:par>
                              <p:par>
                                <p:cTn id="77" presetID="10" presetClass="entr" presetSubtype="0" fill="hold" grpId="0" nodeType="withEffect">
                                  <p:stCondLst>
                                    <p:cond delay="0"/>
                                  </p:stCondLst>
                                  <p:childTnLst>
                                    <p:set>
                                      <p:cBhvr>
                                        <p:cTn id="78" dur="1" fill="hold">
                                          <p:stCondLst>
                                            <p:cond delay="0"/>
                                          </p:stCondLst>
                                        </p:cTn>
                                        <p:tgtEl>
                                          <p:spTgt spid="30"/>
                                        </p:tgtEl>
                                        <p:attrNameLst>
                                          <p:attrName>style.visibility</p:attrName>
                                        </p:attrNameLst>
                                      </p:cBhvr>
                                      <p:to>
                                        <p:strVal val="visible"/>
                                      </p:to>
                                    </p:set>
                                    <p:animEffect transition="in" filter="fade">
                                      <p:cBhvr>
                                        <p:cTn id="79" dur="500"/>
                                        <p:tgtEl>
                                          <p:spTgt spid="30"/>
                                        </p:tgtEl>
                                      </p:cBhvr>
                                    </p:animEffect>
                                  </p:childTnLst>
                                </p:cTn>
                              </p:par>
                              <p:par>
                                <p:cTn id="80" presetID="10" presetClass="entr" presetSubtype="0" fill="hold" grpId="0" nodeType="withEffect">
                                  <p:stCondLst>
                                    <p:cond delay="0"/>
                                  </p:stCondLst>
                                  <p:childTnLst>
                                    <p:set>
                                      <p:cBhvr>
                                        <p:cTn id="81" dur="1" fill="hold">
                                          <p:stCondLst>
                                            <p:cond delay="0"/>
                                          </p:stCondLst>
                                        </p:cTn>
                                        <p:tgtEl>
                                          <p:spTgt spid="31"/>
                                        </p:tgtEl>
                                        <p:attrNameLst>
                                          <p:attrName>style.visibility</p:attrName>
                                        </p:attrNameLst>
                                      </p:cBhvr>
                                      <p:to>
                                        <p:strVal val="visible"/>
                                      </p:to>
                                    </p:set>
                                    <p:animEffect transition="in" filter="fade">
                                      <p:cBhvr>
                                        <p:cTn id="82" dur="500"/>
                                        <p:tgtEl>
                                          <p:spTgt spid="31"/>
                                        </p:tgtEl>
                                      </p:cBhvr>
                                    </p:animEffect>
                                  </p:childTnLst>
                                </p:cTn>
                              </p:par>
                              <p:par>
                                <p:cTn id="83" presetID="10" presetClass="entr" presetSubtype="0" fill="hold" grpId="0" nodeType="withEffect">
                                  <p:stCondLst>
                                    <p:cond delay="0"/>
                                  </p:stCondLst>
                                  <p:childTnLst>
                                    <p:set>
                                      <p:cBhvr>
                                        <p:cTn id="84" dur="1" fill="hold">
                                          <p:stCondLst>
                                            <p:cond delay="0"/>
                                          </p:stCondLst>
                                        </p:cTn>
                                        <p:tgtEl>
                                          <p:spTgt spid="32"/>
                                        </p:tgtEl>
                                        <p:attrNameLst>
                                          <p:attrName>style.visibility</p:attrName>
                                        </p:attrNameLst>
                                      </p:cBhvr>
                                      <p:to>
                                        <p:strVal val="visible"/>
                                      </p:to>
                                    </p:set>
                                    <p:animEffect transition="in" filter="fade">
                                      <p:cBhvr>
                                        <p:cTn id="85" dur="5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64592"/>
          </a:xfrm>
          <a:prstGeom prst="rect">
            <a:avLst/>
          </a:prstGeom>
          <a:solidFill>
            <a:srgbClr val="143D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92608"/>
            <a:ext cx="10972800" cy="274320"/>
          </a:xfrm>
          <a:prstGeom prst="rect">
            <a:avLst/>
          </a:prstGeom>
          <a:noFill/>
        </p:spPr>
        <p:txBody>
          <a:bodyPr wrap="square" lIns="0" rIns="0" tIns="0" bIns="0">
            <a:spAutoFit/>
          </a:bodyPr>
          <a:lstStyle/>
          <a:p>
            <a:pPr>
              <a:lnSpc>
                <a:spcPct val="100000"/>
              </a:lnSpc>
            </a:pPr>
            <a:r>
              <a:rPr sz="1100" b="1">
                <a:solidFill>
                  <a:srgbClr val="2A9D8F"/>
                </a:solidFill>
                <a:latin typeface="Calibri"/>
              </a:rPr>
              <a:t>THE PILOT  ·  STEP 2 OF 3  ·  2028</a:t>
            </a:r>
          </a:p>
        </p:txBody>
      </p:sp>
      <p:sp>
        <p:nvSpPr>
          <p:cNvPr id="4" name="TextBox 3"/>
          <p:cNvSpPr txBox="1"/>
          <p:nvPr/>
        </p:nvSpPr>
        <p:spPr>
          <a:xfrm>
            <a:off x="548640" y="548640"/>
            <a:ext cx="11064240" cy="548640"/>
          </a:xfrm>
          <a:prstGeom prst="rect">
            <a:avLst/>
          </a:prstGeom>
          <a:noFill/>
        </p:spPr>
        <p:txBody>
          <a:bodyPr wrap="square" lIns="0" rIns="0" tIns="0" bIns="0">
            <a:spAutoFit/>
          </a:bodyPr>
          <a:lstStyle/>
          <a:p>
            <a:pPr>
              <a:lnSpc>
                <a:spcPct val="100000"/>
              </a:lnSpc>
            </a:pPr>
            <a:r>
              <a:rPr sz="2800" b="1">
                <a:solidFill>
                  <a:srgbClr val="143D59"/>
                </a:solidFill>
                <a:latin typeface="Calibri"/>
              </a:rPr>
              <a:t>Step 2: connect to Spain</a:t>
            </a:r>
          </a:p>
        </p:txBody>
      </p:sp>
      <p:sp>
        <p:nvSpPr>
          <p:cNvPr id="5" name="TextBox 4"/>
          <p:cNvSpPr txBox="1"/>
          <p:nvPr/>
        </p:nvSpPr>
        <p:spPr>
          <a:xfrm>
            <a:off x="548640" y="1097280"/>
            <a:ext cx="11064240" cy="365760"/>
          </a:xfrm>
          <a:prstGeom prst="rect">
            <a:avLst/>
          </a:prstGeom>
          <a:noFill/>
        </p:spPr>
        <p:txBody>
          <a:bodyPr wrap="square" lIns="0" rIns="0" tIns="0" bIns="0">
            <a:spAutoFit/>
          </a:bodyPr>
          <a:lstStyle/>
          <a:p>
            <a:pPr>
              <a:lnSpc>
                <a:spcPct val="100000"/>
              </a:lnSpc>
            </a:pPr>
            <a:r>
              <a:rPr sz="1500" b="0">
                <a:solidFill>
                  <a:srgbClr val="4F5560"/>
                </a:solidFill>
                <a:latin typeface="Calibri"/>
              </a:rPr>
              <a:t>Align with the Ministry of Health and the Ministry for Digital Transformation (MTDFP).</a:t>
            </a:r>
          </a:p>
        </p:txBody>
      </p:sp>
      <p:sp>
        <p:nvSpPr>
          <p:cNvPr id="6" name="TextBox 5"/>
          <p:cNvSpPr txBox="1"/>
          <p:nvPr/>
        </p:nvSpPr>
        <p:spPr>
          <a:xfrm>
            <a:off x="548640" y="6446520"/>
            <a:ext cx="7315200" cy="274320"/>
          </a:xfrm>
          <a:prstGeom prst="rect">
            <a:avLst/>
          </a:prstGeom>
          <a:noFill/>
        </p:spPr>
        <p:txBody>
          <a:bodyPr wrap="square" lIns="0" rIns="0" tIns="0" bIns="0">
            <a:spAutoFit/>
          </a:bodyPr>
          <a:lstStyle/>
          <a:p>
            <a:pPr>
              <a:lnSpc>
                <a:spcPct val="100000"/>
              </a:lnSpc>
            </a:pPr>
            <a:r>
              <a:rPr sz="1000" b="0">
                <a:solidFill>
                  <a:srgbClr val="4F5560"/>
                </a:solidFill>
                <a:latin typeface="Calibri"/>
              </a:rPr>
              <a:t>Reunión de preparación  ·  Espacio de Datos EJIE  ·  País Vasco  ·  status October 2026</a:t>
            </a:r>
          </a:p>
        </p:txBody>
      </p:sp>
      <p:sp>
        <p:nvSpPr>
          <p:cNvPr id="7" name="Rounded Rectangle 6"/>
          <p:cNvSpPr/>
          <p:nvPr/>
        </p:nvSpPr>
        <p:spPr>
          <a:xfrm>
            <a:off x="548640" y="1600200"/>
            <a:ext cx="11091672" cy="4709160"/>
          </a:xfrm>
          <a:prstGeom prst="roundRect">
            <a:avLst>
              <a:gd name="adj" fmla="val 5000"/>
            </a:avLst>
          </a:prstGeom>
          <a:solidFill>
            <a:srgbClr val="5F6B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731520" y="1755648"/>
            <a:ext cx="10725912" cy="987552"/>
          </a:xfrm>
          <a:prstGeom prst="roundRect">
            <a:avLst>
              <a:gd name="adj" fmla="val 5000"/>
            </a:avLst>
          </a:prstGeom>
          <a:solidFill>
            <a:srgbClr val="F1F3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1847088"/>
            <a:ext cx="8622792" cy="292608"/>
          </a:xfrm>
          <a:prstGeom prst="rect">
            <a:avLst/>
          </a:prstGeom>
          <a:noFill/>
        </p:spPr>
        <p:txBody>
          <a:bodyPr wrap="square" lIns="0" rIns="0" tIns="0" bIns="0">
            <a:spAutoFit/>
          </a:bodyPr>
          <a:lstStyle/>
          <a:p>
            <a:pPr>
              <a:lnSpc>
                <a:spcPct val="100000"/>
              </a:lnSpc>
            </a:pPr>
            <a:r>
              <a:rPr sz="1450" b="1">
                <a:solidFill>
                  <a:srgbClr val="143D59"/>
                </a:solidFill>
                <a:latin typeface="Calibri"/>
              </a:rPr>
              <a:t>ENDS, the National Health Data Space: the interface for regional nodes</a:t>
            </a:r>
          </a:p>
        </p:txBody>
      </p:sp>
      <p:sp>
        <p:nvSpPr>
          <p:cNvPr id="10" name="TextBox 9"/>
          <p:cNvSpPr txBox="1"/>
          <p:nvPr/>
        </p:nvSpPr>
        <p:spPr>
          <a:xfrm>
            <a:off x="914400" y="2157984"/>
            <a:ext cx="8622792" cy="530352"/>
          </a:xfrm>
          <a:prstGeom prst="rect">
            <a:avLst/>
          </a:prstGeom>
          <a:noFill/>
        </p:spPr>
        <p:txBody>
          <a:bodyPr wrap="square" lIns="0" rIns="0" tIns="0" bIns="0">
            <a:spAutoFit/>
          </a:bodyPr>
          <a:lstStyle/>
          <a:p>
            <a:r>
              <a:rPr sz="1150" u="sng">
                <a:solidFill>
                  <a:srgbClr val="2A9D8F"/>
                </a:solidFill>
                <a:latin typeface="Calibri"/>
                <a:hlinkClick r:id="rId2"/>
              </a:rPr>
              <a:t>Opened January 2026</a:t>
            </a:r>
            <a:r>
              <a:rPr sz="1150">
                <a:solidFill>
                  <a:srgbClr val="4F5560"/>
                </a:solidFill>
                <a:latin typeface="Calibri"/>
              </a:rPr>
              <a:t>: a network of regional platforms on common protocols, with €28M for the regions. </a:t>
            </a:r>
            <a:r>
              <a:rPr sz="1150" u="sng">
                <a:solidFill>
                  <a:srgbClr val="2A9D8F"/>
                </a:solidFill>
                <a:latin typeface="Calibri"/>
                <a:hlinkClick r:id="rId3"/>
              </a:rPr>
              <a:t>ENDS home</a:t>
            </a:r>
          </a:p>
        </p:txBody>
      </p:sp>
      <p:sp>
        <p:nvSpPr>
          <p:cNvPr id="11" name="Rounded Rectangle 10"/>
          <p:cNvSpPr/>
          <p:nvPr/>
        </p:nvSpPr>
        <p:spPr>
          <a:xfrm>
            <a:off x="9765792" y="2084831"/>
            <a:ext cx="1508760" cy="329184"/>
          </a:xfrm>
          <a:prstGeom prst="roundRect">
            <a:avLst>
              <a:gd name="adj" fmla="val 50000"/>
            </a:avLst>
          </a:prstGeom>
          <a:solidFill>
            <a:srgbClr val="F2C1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765792" y="2084831"/>
            <a:ext cx="1508760" cy="329184"/>
          </a:xfrm>
          <a:prstGeom prst="rect">
            <a:avLst/>
          </a:prstGeom>
          <a:noFill/>
        </p:spPr>
        <p:txBody>
          <a:bodyPr wrap="square" lIns="0" rIns="0" tIns="0" bIns="0" anchor="ctr">
            <a:spAutoFit/>
          </a:bodyPr>
          <a:lstStyle/>
          <a:p>
            <a:pPr algn="ctr">
              <a:lnSpc>
                <a:spcPct val="100000"/>
              </a:lnSpc>
            </a:pPr>
            <a:r>
              <a:rPr sz="1100" b="1">
                <a:solidFill>
                  <a:srgbClr val="143D59"/>
                </a:solidFill>
                <a:latin typeface="Calibri"/>
              </a:rPr>
              <a:t>in progress</a:t>
            </a:r>
          </a:p>
        </p:txBody>
      </p:sp>
      <p:sp>
        <p:nvSpPr>
          <p:cNvPr id="13" name="Rounded Rectangle 12"/>
          <p:cNvSpPr/>
          <p:nvPr/>
        </p:nvSpPr>
        <p:spPr>
          <a:xfrm>
            <a:off x="731520" y="2871215"/>
            <a:ext cx="10725912" cy="987552"/>
          </a:xfrm>
          <a:prstGeom prst="roundRect">
            <a:avLst>
              <a:gd name="adj" fmla="val 5000"/>
            </a:avLst>
          </a:prstGeom>
          <a:solidFill>
            <a:srgbClr val="F1F3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14400" y="2962656"/>
            <a:ext cx="8622792" cy="292608"/>
          </a:xfrm>
          <a:prstGeom prst="rect">
            <a:avLst/>
          </a:prstGeom>
          <a:noFill/>
        </p:spPr>
        <p:txBody>
          <a:bodyPr wrap="square" lIns="0" rIns="0" tIns="0" bIns="0">
            <a:spAutoFit/>
          </a:bodyPr>
          <a:lstStyle/>
          <a:p>
            <a:pPr>
              <a:lnSpc>
                <a:spcPct val="100000"/>
              </a:lnSpc>
            </a:pPr>
            <a:r>
              <a:rPr sz="1450" b="1">
                <a:solidFill>
                  <a:srgbClr val="143D59"/>
                </a:solidFill>
                <a:latin typeface="Calibri"/>
              </a:rPr>
              <a:t>The access body for Spain: one national, or regional ones with a coordinator?</a:t>
            </a:r>
          </a:p>
        </p:txBody>
      </p:sp>
      <p:sp>
        <p:nvSpPr>
          <p:cNvPr id="15" name="TextBox 14"/>
          <p:cNvSpPr txBox="1"/>
          <p:nvPr/>
        </p:nvSpPr>
        <p:spPr>
          <a:xfrm>
            <a:off x="914400" y="3273551"/>
            <a:ext cx="8622792" cy="530352"/>
          </a:xfrm>
          <a:prstGeom prst="rect">
            <a:avLst/>
          </a:prstGeom>
          <a:noFill/>
        </p:spPr>
        <p:txBody>
          <a:bodyPr wrap="square" lIns="0" rIns="0" tIns="0" bIns="0">
            <a:spAutoFit/>
          </a:bodyPr>
          <a:lstStyle/>
          <a:p>
            <a:r>
              <a:rPr sz="1150">
                <a:solidFill>
                  <a:srgbClr val="4F5560"/>
                </a:solidFill>
                <a:latin typeface="Calibri"/>
              </a:rPr>
              <a:t>It must be designated by 26 March 2027. The Regulation allows several bodies with one coordinator: </a:t>
            </a:r>
            <a:r>
              <a:rPr sz="1150" u="sng">
                <a:solidFill>
                  <a:srgbClr val="2A9D8F"/>
                </a:solidFill>
                <a:latin typeface="Calibri"/>
                <a:hlinkClick r:id="rId4"/>
              </a:rPr>
              <a:t>Art. 55(1)</a:t>
            </a:r>
            <a:r>
              <a:rPr sz="1150">
                <a:solidFill>
                  <a:srgbClr val="4F5560"/>
                </a:solidFill>
                <a:latin typeface="Calibri"/>
              </a:rPr>
              <a:t>.</a:t>
            </a:r>
          </a:p>
        </p:txBody>
      </p:sp>
      <p:sp>
        <p:nvSpPr>
          <p:cNvPr id="16" name="Rounded Rectangle 15"/>
          <p:cNvSpPr/>
          <p:nvPr/>
        </p:nvSpPr>
        <p:spPr>
          <a:xfrm>
            <a:off x="9765792" y="3200399"/>
            <a:ext cx="1508760" cy="329184"/>
          </a:xfrm>
          <a:prstGeom prst="roundRect">
            <a:avLst>
              <a:gd name="adj" fmla="val 50000"/>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765792" y="3200399"/>
            <a:ext cx="1508760" cy="329184"/>
          </a:xfrm>
          <a:prstGeom prst="rect">
            <a:avLst/>
          </a:prstGeom>
          <a:noFill/>
        </p:spPr>
        <p:txBody>
          <a:bodyPr wrap="square" lIns="0" rIns="0" tIns="0" bIns="0" anchor="ctr">
            <a:spAutoFit/>
          </a:bodyPr>
          <a:lstStyle/>
          <a:p>
            <a:pPr algn="ctr">
              <a:lnSpc>
                <a:spcPct val="100000"/>
              </a:lnSpc>
            </a:pPr>
            <a:r>
              <a:rPr sz="1100" b="1">
                <a:solidFill>
                  <a:srgbClr val="FFFFFF"/>
                </a:solidFill>
                <a:latin typeface="Calibri"/>
              </a:rPr>
              <a:t>open decision</a:t>
            </a:r>
          </a:p>
        </p:txBody>
      </p:sp>
      <p:sp>
        <p:nvSpPr>
          <p:cNvPr id="18" name="Rounded Rectangle 17"/>
          <p:cNvSpPr/>
          <p:nvPr/>
        </p:nvSpPr>
        <p:spPr>
          <a:xfrm>
            <a:off x="731520" y="3986783"/>
            <a:ext cx="10725912" cy="987552"/>
          </a:xfrm>
          <a:prstGeom prst="roundRect">
            <a:avLst>
              <a:gd name="adj" fmla="val 5000"/>
            </a:avLst>
          </a:prstGeom>
          <a:solidFill>
            <a:srgbClr val="F1F3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14400" y="4078223"/>
            <a:ext cx="8622792" cy="292608"/>
          </a:xfrm>
          <a:prstGeom prst="rect">
            <a:avLst/>
          </a:prstGeom>
          <a:noFill/>
        </p:spPr>
        <p:txBody>
          <a:bodyPr wrap="square" lIns="0" rIns="0" tIns="0" bIns="0">
            <a:spAutoFit/>
          </a:bodyPr>
          <a:lstStyle/>
          <a:p>
            <a:pPr>
              <a:lnSpc>
                <a:spcPct val="100000"/>
              </a:lnSpc>
            </a:pPr>
            <a:r>
              <a:rPr sz="1450" b="1">
                <a:solidFill>
                  <a:srgbClr val="143D59"/>
                </a:solidFill>
                <a:latin typeface="Calibri"/>
              </a:rPr>
              <a:t>Ley de Salud Digital: the legal role of the regions</a:t>
            </a:r>
          </a:p>
        </p:txBody>
      </p:sp>
      <p:sp>
        <p:nvSpPr>
          <p:cNvPr id="20" name="TextBox 19"/>
          <p:cNvSpPr txBox="1"/>
          <p:nvPr/>
        </p:nvSpPr>
        <p:spPr>
          <a:xfrm>
            <a:off x="914400" y="4389120"/>
            <a:ext cx="8622792" cy="530352"/>
          </a:xfrm>
          <a:prstGeom prst="rect">
            <a:avLst/>
          </a:prstGeom>
          <a:noFill/>
        </p:spPr>
        <p:txBody>
          <a:bodyPr wrap="square" lIns="0" rIns="0" tIns="0" bIns="0">
            <a:spAutoFit/>
          </a:bodyPr>
          <a:lstStyle/>
          <a:p>
            <a:r>
              <a:rPr sz="1150">
                <a:solidFill>
                  <a:srgbClr val="4F5560"/>
                </a:solidFill>
                <a:latin typeface="Calibri"/>
              </a:rPr>
              <a:t>Still a draft (</a:t>
            </a:r>
            <a:r>
              <a:rPr sz="1150" u="sng">
                <a:solidFill>
                  <a:srgbClr val="2A9D8F"/>
                </a:solidFill>
                <a:latin typeface="Calibri"/>
                <a:hlinkClick r:id="rId5"/>
              </a:rPr>
              <a:t>public consultation</a:t>
            </a:r>
            <a:r>
              <a:rPr sz="1150">
                <a:solidFill>
                  <a:srgbClr val="4F5560"/>
                </a:solidFill>
                <a:latin typeface="Calibri"/>
              </a:rPr>
              <a:t> from September 2025). It sets up the access bodies and national and regional catalogues.</a:t>
            </a:r>
          </a:p>
        </p:txBody>
      </p:sp>
      <p:sp>
        <p:nvSpPr>
          <p:cNvPr id="21" name="Rounded Rectangle 20"/>
          <p:cNvSpPr/>
          <p:nvPr/>
        </p:nvSpPr>
        <p:spPr>
          <a:xfrm>
            <a:off x="9765792" y="4315968"/>
            <a:ext cx="1508760" cy="329184"/>
          </a:xfrm>
          <a:prstGeom prst="roundRect">
            <a:avLst>
              <a:gd name="adj" fmla="val 50000"/>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765792" y="4315968"/>
            <a:ext cx="1508760" cy="329184"/>
          </a:xfrm>
          <a:prstGeom prst="rect">
            <a:avLst/>
          </a:prstGeom>
          <a:noFill/>
        </p:spPr>
        <p:txBody>
          <a:bodyPr wrap="square" lIns="0" rIns="0" tIns="0" bIns="0" anchor="ctr">
            <a:spAutoFit/>
          </a:bodyPr>
          <a:lstStyle/>
          <a:p>
            <a:pPr algn="ctr">
              <a:lnSpc>
                <a:spcPct val="100000"/>
              </a:lnSpc>
            </a:pPr>
            <a:r>
              <a:rPr sz="1100" b="1">
                <a:solidFill>
                  <a:srgbClr val="FFFFFF"/>
                </a:solidFill>
                <a:latin typeface="Calibri"/>
              </a:rPr>
              <a:t>open decision</a:t>
            </a:r>
          </a:p>
        </p:txBody>
      </p:sp>
      <p:sp>
        <p:nvSpPr>
          <p:cNvPr id="23" name="Rounded Rectangle 22"/>
          <p:cNvSpPr/>
          <p:nvPr/>
        </p:nvSpPr>
        <p:spPr>
          <a:xfrm>
            <a:off x="731520" y="5102352"/>
            <a:ext cx="10725912" cy="987552"/>
          </a:xfrm>
          <a:prstGeom prst="roundRect">
            <a:avLst>
              <a:gd name="adj" fmla="val 5000"/>
            </a:avLst>
          </a:prstGeom>
          <a:solidFill>
            <a:srgbClr val="F1F3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14400" y="5193792"/>
            <a:ext cx="8622792" cy="292608"/>
          </a:xfrm>
          <a:prstGeom prst="rect">
            <a:avLst/>
          </a:prstGeom>
          <a:noFill/>
        </p:spPr>
        <p:txBody>
          <a:bodyPr wrap="square" lIns="0" rIns="0" tIns="0" bIns="0">
            <a:spAutoFit/>
          </a:bodyPr>
          <a:lstStyle/>
          <a:p>
            <a:pPr>
              <a:lnSpc>
                <a:spcPct val="100000"/>
              </a:lnSpc>
            </a:pPr>
            <a:r>
              <a:rPr sz="1450" b="1">
                <a:solidFill>
                  <a:srgbClr val="143D59"/>
                </a:solidFill>
                <a:latin typeface="Calibri"/>
              </a:rPr>
              <a:t>MyHealth@EU national contact point: HCDSNS and e-Receta</a:t>
            </a:r>
          </a:p>
        </p:txBody>
      </p:sp>
      <p:sp>
        <p:nvSpPr>
          <p:cNvPr id="25" name="TextBox 24"/>
          <p:cNvSpPr txBox="1"/>
          <p:nvPr/>
        </p:nvSpPr>
        <p:spPr>
          <a:xfrm>
            <a:off x="914400" y="5504688"/>
            <a:ext cx="8622792" cy="530352"/>
          </a:xfrm>
          <a:prstGeom prst="rect">
            <a:avLst/>
          </a:prstGeom>
          <a:noFill/>
        </p:spPr>
        <p:txBody>
          <a:bodyPr wrap="square" lIns="0" rIns="0" tIns="0" bIns="0">
            <a:spAutoFit/>
          </a:bodyPr>
          <a:lstStyle/>
          <a:p>
            <a:r>
              <a:rPr sz="1150">
                <a:solidFill>
                  <a:srgbClr val="4F5560"/>
                </a:solidFill>
                <a:latin typeface="Calibri"/>
              </a:rPr>
              <a:t>Primary use, already live: the Basque Country is </a:t>
            </a:r>
            <a:r>
              <a:rPr sz="1150" u="sng">
                <a:solidFill>
                  <a:srgbClr val="2A9D8F"/>
                </a:solidFill>
                <a:latin typeface="Calibri"/>
                <a:hlinkClick r:id="rId6"/>
              </a:rPr>
              <a:t>connected since 2023</a:t>
            </a:r>
            <a:r>
              <a:rPr sz="1150">
                <a:solidFill>
                  <a:srgbClr val="4F5560"/>
                </a:solidFill>
                <a:latin typeface="Calibri"/>
              </a:rPr>
              <a:t>. The path upwards works. </a:t>
            </a:r>
            <a:r>
              <a:rPr sz="1150" u="sng">
                <a:solidFill>
                  <a:srgbClr val="2A9D8F"/>
                </a:solidFill>
                <a:latin typeface="Calibri"/>
                <a:hlinkClick r:id="rId7"/>
              </a:rPr>
              <a:t>MyHealth@EU</a:t>
            </a:r>
          </a:p>
        </p:txBody>
      </p:sp>
      <p:sp>
        <p:nvSpPr>
          <p:cNvPr id="26" name="Rounded Rectangle 25"/>
          <p:cNvSpPr/>
          <p:nvPr/>
        </p:nvSpPr>
        <p:spPr>
          <a:xfrm>
            <a:off x="9765792" y="5431536"/>
            <a:ext cx="1508760" cy="329184"/>
          </a:xfrm>
          <a:prstGeom prst="roundRect">
            <a:avLst>
              <a:gd name="adj" fmla="val 50000"/>
            </a:avLst>
          </a:prstGeom>
          <a:solidFill>
            <a:srgbClr val="2E7D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9765792" y="5431536"/>
            <a:ext cx="1508760" cy="329184"/>
          </a:xfrm>
          <a:prstGeom prst="rect">
            <a:avLst/>
          </a:prstGeom>
          <a:noFill/>
        </p:spPr>
        <p:txBody>
          <a:bodyPr wrap="square" lIns="0" rIns="0" tIns="0" bIns="0" anchor="ctr">
            <a:spAutoFit/>
          </a:bodyPr>
          <a:lstStyle/>
          <a:p>
            <a:pPr algn="ctr">
              <a:lnSpc>
                <a:spcPct val="100000"/>
              </a:lnSpc>
            </a:pPr>
            <a:r>
              <a:rPr sz="1100" b="1">
                <a:solidFill>
                  <a:srgbClr val="FFFFFF"/>
                </a:solidFill>
                <a:latin typeface="Calibri"/>
              </a:rPr>
              <a:t>available</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18" fill="hold">
                      <p:stCondLst>
                        <p:cond delay="indefinite"/>
                      </p:stCondLst>
                      <p:childTnLst>
                        <p:par>
                          <p:cTn id="19" fill="hold">
                            <p:stCondLst>
                              <p:cond delay="0"/>
                            </p:stCondLst>
                            <p:childTnLst>
                              <p:par>
                                <p:cTn id="3" presetID="10" presetClass="entr" presetSubtype="0" fill="hold" grpId="0" nodeType="clickEffect">
                                  <p:stCondLst>
                                    <p:cond delay="0"/>
                                  </p:stCondLst>
                                  <p:childTnLst>
                                    <p:set>
                                      <p:cBhvr>
                                        <p:cTn id="4" dur="1" fill="hold">
                                          <p:stCondLst>
                                            <p:cond delay="0"/>
                                          </p:stCondLst>
                                        </p:cTn>
                                        <p:tgtEl>
                                          <p:spTgt spid="8"/>
                                        </p:tgtEl>
                                        <p:attrNameLst>
                                          <p:attrName>style.visibility</p:attrName>
                                        </p:attrNameLst>
                                      </p:cBhvr>
                                      <p:to>
                                        <p:strVal val="visible"/>
                                      </p:to>
                                    </p:set>
                                    <p:animEffect transition="in" filter="fade">
                                      <p:cBhvr>
                                        <p:cTn id="5" dur="500"/>
                                        <p:tgtEl>
                                          <p:spTgt spid="8"/>
                                        </p:tgtEl>
                                      </p:cBhvr>
                                    </p:animEffect>
                                  </p:childTnLst>
                                </p:cTn>
                              </p:par>
                              <p:par>
                                <p:cTn id="6" presetID="10" presetClass="entr" presetSubtype="0" fill="hold" grpId="0" nodeType="withEffect">
                                  <p:stCondLst>
                                    <p:cond delay="0"/>
                                  </p:stCondLst>
                                  <p:childTnLst>
                                    <p:set>
                                      <p:cBhvr>
                                        <p:cTn id="7" dur="1" fill="hold">
                                          <p:stCondLst>
                                            <p:cond delay="0"/>
                                          </p:stCondLst>
                                        </p:cTn>
                                        <p:tgtEl>
                                          <p:spTgt spid="9"/>
                                        </p:tgtEl>
                                        <p:attrNameLst>
                                          <p:attrName>style.visibility</p:attrName>
                                        </p:attrNameLst>
                                      </p:cBhvr>
                                      <p:to>
                                        <p:strVal val="visible"/>
                                      </p:to>
                                    </p:set>
                                    <p:animEffect transition="in" filter="fade">
                                      <p:cBhvr>
                                        <p:cTn id="8" dur="500"/>
                                        <p:tgtEl>
                                          <p:spTgt spid="9"/>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10"/>
                                        </p:tgtEl>
                                        <p:attrNameLst>
                                          <p:attrName>style.visibility</p:attrName>
                                        </p:attrNameLst>
                                      </p:cBhvr>
                                      <p:to>
                                        <p:strVal val="visible"/>
                                      </p:to>
                                    </p:set>
                                    <p:animEffect transition="in" filter="fade">
                                      <p:cBhvr>
                                        <p:cTn id="11" dur="500"/>
                                        <p:tgtEl>
                                          <p:spTgt spid="10"/>
                                        </p:tgtEl>
                                      </p:cBhvr>
                                    </p:animEffect>
                                  </p:childTnLst>
                                </p:cTn>
                              </p:par>
                              <p:par>
                                <p:cTn id="12" presetID="10" presetClass="entr" presetSubtype="0" fill="hold" grpId="0" nodeType="withEffect">
                                  <p:stCondLst>
                                    <p:cond delay="0"/>
                                  </p:stCondLst>
                                  <p:childTnLst>
                                    <p:set>
                                      <p:cBhvr>
                                        <p:cTn id="13" dur="1" fill="hold">
                                          <p:stCondLst>
                                            <p:cond delay="0"/>
                                          </p:stCondLst>
                                        </p:cTn>
                                        <p:tgtEl>
                                          <p:spTgt spid="11"/>
                                        </p:tgtEl>
                                        <p:attrNameLst>
                                          <p:attrName>style.visibility</p:attrName>
                                        </p:attrNameLst>
                                      </p:cBhvr>
                                      <p:to>
                                        <p:strVal val="visible"/>
                                      </p:to>
                                    </p:set>
                                    <p:animEffect transition="in" filter="fade">
                                      <p:cBhvr>
                                        <p:cTn id="14" dur="500"/>
                                        <p:tgtEl>
                                          <p:spTgt spid="11"/>
                                        </p:tgtEl>
                                      </p:cBhvr>
                                    </p:animEffect>
                                  </p:childTnLst>
                                </p:cTn>
                              </p:par>
                              <p:par>
                                <p:cTn id="15" presetID="10" presetClass="entr" presetSubtype="0" fill="hold" grpId="0" nodeType="withEffect">
                                  <p:stCondLst>
                                    <p:cond delay="0"/>
                                  </p:stCondLst>
                                  <p:childTnLst>
                                    <p:set>
                                      <p:cBhvr>
                                        <p:cTn id="16" dur="1" fill="hold">
                                          <p:stCondLst>
                                            <p:cond delay="0"/>
                                          </p:stCondLst>
                                        </p:cTn>
                                        <p:tgtEl>
                                          <p:spTgt spid="12"/>
                                        </p:tgtEl>
                                        <p:attrNameLst>
                                          <p:attrName>style.visibility</p:attrName>
                                        </p:attrNameLst>
                                      </p:cBhvr>
                                      <p:to>
                                        <p:strVal val="visible"/>
                                      </p:to>
                                    </p:set>
                                    <p:animEffect transition="in" filter="fade">
                                      <p:cBhvr>
                                        <p:cTn id="17" dur="500"/>
                                        <p:tgtEl>
                                          <p:spTgt spid="12"/>
                                        </p:tgtEl>
                                      </p:cBhvr>
                                    </p:animEffect>
                                  </p:childTnLst>
                                </p:cTn>
                              </p:par>
                            </p:childTnLst>
                          </p:cTn>
                        </p:par>
                      </p:childTnLst>
                    </p:cTn>
                  </p:par>
                  <p:par>
                    <p:cTn id="35" fill="hold">
                      <p:stCondLst>
                        <p:cond delay="indefinite"/>
                      </p:stCondLst>
                      <p:childTnLst>
                        <p:par>
                          <p:cTn id="36"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13"/>
                                        </p:tgtEl>
                                        <p:attrNameLst>
                                          <p:attrName>style.visibility</p:attrName>
                                        </p:attrNameLst>
                                      </p:cBhvr>
                                      <p:to>
                                        <p:strVal val="visible"/>
                                      </p:to>
                                    </p:set>
                                    <p:animEffect transition="in" filter="fade">
                                      <p:cBhvr>
                                        <p:cTn id="22" dur="500"/>
                                        <p:tgtEl>
                                          <p:spTgt spid="13"/>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14"/>
                                        </p:tgtEl>
                                        <p:attrNameLst>
                                          <p:attrName>style.visibility</p:attrName>
                                        </p:attrNameLst>
                                      </p:cBhvr>
                                      <p:to>
                                        <p:strVal val="visible"/>
                                      </p:to>
                                    </p:set>
                                    <p:animEffect transition="in" filter="fade">
                                      <p:cBhvr>
                                        <p:cTn id="25" dur="500"/>
                                        <p:tgtEl>
                                          <p:spTgt spid="14"/>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15"/>
                                        </p:tgtEl>
                                        <p:attrNameLst>
                                          <p:attrName>style.visibility</p:attrName>
                                        </p:attrNameLst>
                                      </p:cBhvr>
                                      <p:to>
                                        <p:strVal val="visible"/>
                                      </p:to>
                                    </p:set>
                                    <p:animEffect transition="in" filter="fade">
                                      <p:cBhvr>
                                        <p:cTn id="28" dur="500"/>
                                        <p:tgtEl>
                                          <p:spTgt spid="15"/>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16"/>
                                        </p:tgtEl>
                                        <p:attrNameLst>
                                          <p:attrName>style.visibility</p:attrName>
                                        </p:attrNameLst>
                                      </p:cBhvr>
                                      <p:to>
                                        <p:strVal val="visible"/>
                                      </p:to>
                                    </p:set>
                                    <p:animEffect transition="in" filter="fade">
                                      <p:cBhvr>
                                        <p:cTn id="31" dur="500"/>
                                        <p:tgtEl>
                                          <p:spTgt spid="16"/>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17"/>
                                        </p:tgtEl>
                                        <p:attrNameLst>
                                          <p:attrName>style.visibility</p:attrName>
                                        </p:attrNameLst>
                                      </p:cBhvr>
                                      <p:to>
                                        <p:strVal val="visible"/>
                                      </p:to>
                                    </p:set>
                                    <p:animEffect transition="in" filter="fade">
                                      <p:cBhvr>
                                        <p:cTn id="34" dur="500"/>
                                        <p:tgtEl>
                                          <p:spTgt spid="17"/>
                                        </p:tgtEl>
                                      </p:cBhvr>
                                    </p:animEffect>
                                  </p:childTnLst>
                                </p:cTn>
                              </p:par>
                            </p:childTnLst>
                          </p:cTn>
                        </p:par>
                      </p:childTnLst>
                    </p:cTn>
                  </p:par>
                  <p:par>
                    <p:cTn id="52" fill="hold">
                      <p:stCondLst>
                        <p:cond delay="indefinite"/>
                      </p:stCondLst>
                      <p:childTnLst>
                        <p:par>
                          <p:cTn id="53" fill="hold">
                            <p:stCondLst>
                              <p:cond delay="0"/>
                            </p:stCondLst>
                            <p:childTnLst>
                              <p:par>
                                <p:cTn id="37" presetID="10" presetClass="entr" presetSubtype="0" fill="hold" grpId="0" nodeType="clickEffect">
                                  <p:stCondLst>
                                    <p:cond delay="0"/>
                                  </p:stCondLst>
                                  <p:childTnLst>
                                    <p:set>
                                      <p:cBhvr>
                                        <p:cTn id="38" dur="1" fill="hold">
                                          <p:stCondLst>
                                            <p:cond delay="0"/>
                                          </p:stCondLst>
                                        </p:cTn>
                                        <p:tgtEl>
                                          <p:spTgt spid="18"/>
                                        </p:tgtEl>
                                        <p:attrNameLst>
                                          <p:attrName>style.visibility</p:attrName>
                                        </p:attrNameLst>
                                      </p:cBhvr>
                                      <p:to>
                                        <p:strVal val="visible"/>
                                      </p:to>
                                    </p:set>
                                    <p:animEffect transition="in" filter="fade">
                                      <p:cBhvr>
                                        <p:cTn id="39" dur="500"/>
                                        <p:tgtEl>
                                          <p:spTgt spid="18"/>
                                        </p:tgtEl>
                                      </p:cBhvr>
                                    </p:animEffect>
                                  </p:childTnLst>
                                </p:cTn>
                              </p:par>
                              <p:par>
                                <p:cTn id="40" presetID="10" presetClass="entr" presetSubtype="0" fill="hold" grpId="0" nodeType="withEffect">
                                  <p:stCondLst>
                                    <p:cond delay="0"/>
                                  </p:stCondLst>
                                  <p:childTnLst>
                                    <p:set>
                                      <p:cBhvr>
                                        <p:cTn id="41" dur="1" fill="hold">
                                          <p:stCondLst>
                                            <p:cond delay="0"/>
                                          </p:stCondLst>
                                        </p:cTn>
                                        <p:tgtEl>
                                          <p:spTgt spid="19"/>
                                        </p:tgtEl>
                                        <p:attrNameLst>
                                          <p:attrName>style.visibility</p:attrName>
                                        </p:attrNameLst>
                                      </p:cBhvr>
                                      <p:to>
                                        <p:strVal val="visible"/>
                                      </p:to>
                                    </p:set>
                                    <p:animEffect transition="in" filter="fade">
                                      <p:cBhvr>
                                        <p:cTn id="42" dur="500"/>
                                        <p:tgtEl>
                                          <p:spTgt spid="19"/>
                                        </p:tgtEl>
                                      </p:cBhvr>
                                    </p:animEffect>
                                  </p:childTnLst>
                                </p:cTn>
                              </p:par>
                              <p:par>
                                <p:cTn id="43" presetID="10" presetClass="entr" presetSubtype="0" fill="hold" grpId="0" nodeType="withEffect">
                                  <p:stCondLst>
                                    <p:cond delay="0"/>
                                  </p:stCondLst>
                                  <p:childTnLst>
                                    <p:set>
                                      <p:cBhvr>
                                        <p:cTn id="44" dur="1" fill="hold">
                                          <p:stCondLst>
                                            <p:cond delay="0"/>
                                          </p:stCondLst>
                                        </p:cTn>
                                        <p:tgtEl>
                                          <p:spTgt spid="20"/>
                                        </p:tgtEl>
                                        <p:attrNameLst>
                                          <p:attrName>style.visibility</p:attrName>
                                        </p:attrNameLst>
                                      </p:cBhvr>
                                      <p:to>
                                        <p:strVal val="visible"/>
                                      </p:to>
                                    </p:set>
                                    <p:animEffect transition="in" filter="fade">
                                      <p:cBhvr>
                                        <p:cTn id="45" dur="500"/>
                                        <p:tgtEl>
                                          <p:spTgt spid="20"/>
                                        </p:tgtEl>
                                      </p:cBhvr>
                                    </p:animEffect>
                                  </p:childTnLst>
                                </p:cTn>
                              </p:par>
                              <p:par>
                                <p:cTn id="46" presetID="10" presetClass="entr" presetSubtype="0" fill="hold" grpId="0" nodeType="withEffect">
                                  <p:stCondLst>
                                    <p:cond delay="0"/>
                                  </p:stCondLst>
                                  <p:childTnLst>
                                    <p:set>
                                      <p:cBhvr>
                                        <p:cTn id="47" dur="1" fill="hold">
                                          <p:stCondLst>
                                            <p:cond delay="0"/>
                                          </p:stCondLst>
                                        </p:cTn>
                                        <p:tgtEl>
                                          <p:spTgt spid="21"/>
                                        </p:tgtEl>
                                        <p:attrNameLst>
                                          <p:attrName>style.visibility</p:attrName>
                                        </p:attrNameLst>
                                      </p:cBhvr>
                                      <p:to>
                                        <p:strVal val="visible"/>
                                      </p:to>
                                    </p:set>
                                    <p:animEffect transition="in" filter="fade">
                                      <p:cBhvr>
                                        <p:cTn id="48" dur="500"/>
                                        <p:tgtEl>
                                          <p:spTgt spid="21"/>
                                        </p:tgtEl>
                                      </p:cBhvr>
                                    </p:animEffect>
                                  </p:childTnLst>
                                </p:cTn>
                              </p:par>
                              <p:par>
                                <p:cTn id="49" presetID="10" presetClass="entr" presetSubtype="0" fill="hold" grpId="0" nodeType="withEffect">
                                  <p:stCondLst>
                                    <p:cond delay="0"/>
                                  </p:stCondLst>
                                  <p:childTnLst>
                                    <p:set>
                                      <p:cBhvr>
                                        <p:cTn id="50" dur="1" fill="hold">
                                          <p:stCondLst>
                                            <p:cond delay="0"/>
                                          </p:stCondLst>
                                        </p:cTn>
                                        <p:tgtEl>
                                          <p:spTgt spid="22"/>
                                        </p:tgtEl>
                                        <p:attrNameLst>
                                          <p:attrName>style.visibility</p:attrName>
                                        </p:attrNameLst>
                                      </p:cBhvr>
                                      <p:to>
                                        <p:strVal val="visible"/>
                                      </p:to>
                                    </p:set>
                                    <p:animEffect transition="in" filter="fade">
                                      <p:cBhvr>
                                        <p:cTn id="51" dur="500"/>
                                        <p:tgtEl>
                                          <p:spTgt spid="22"/>
                                        </p:tgtEl>
                                      </p:cBhvr>
                                    </p:animEffect>
                                  </p:childTnLst>
                                </p:cTn>
                              </p:par>
                            </p:childTnLst>
                          </p:cTn>
                        </p:par>
                      </p:childTnLst>
                    </p:cTn>
                  </p:par>
                  <p:par>
                    <p:cTn id="69" fill="hold">
                      <p:stCondLst>
                        <p:cond delay="indefinite"/>
                      </p:stCondLst>
                      <p:childTnLst>
                        <p:par>
                          <p:cTn id="70" fill="hold">
                            <p:stCondLst>
                              <p:cond delay="0"/>
                            </p:stCondLst>
                            <p:childTnLst>
                              <p:par>
                                <p:cTn id="54" presetID="10" presetClass="entr" presetSubtype="0" fill="hold" grpId="0" nodeType="clickEffect">
                                  <p:stCondLst>
                                    <p:cond delay="0"/>
                                  </p:stCondLst>
                                  <p:childTnLst>
                                    <p:set>
                                      <p:cBhvr>
                                        <p:cTn id="55" dur="1" fill="hold">
                                          <p:stCondLst>
                                            <p:cond delay="0"/>
                                          </p:stCondLst>
                                        </p:cTn>
                                        <p:tgtEl>
                                          <p:spTgt spid="23"/>
                                        </p:tgtEl>
                                        <p:attrNameLst>
                                          <p:attrName>style.visibility</p:attrName>
                                        </p:attrNameLst>
                                      </p:cBhvr>
                                      <p:to>
                                        <p:strVal val="visible"/>
                                      </p:to>
                                    </p:set>
                                    <p:animEffect transition="in" filter="fade">
                                      <p:cBhvr>
                                        <p:cTn id="56" dur="500"/>
                                        <p:tgtEl>
                                          <p:spTgt spid="23"/>
                                        </p:tgtEl>
                                      </p:cBhvr>
                                    </p:animEffect>
                                  </p:childTnLst>
                                </p:cTn>
                              </p:par>
                              <p:par>
                                <p:cTn id="57" presetID="10" presetClass="entr" presetSubtype="0" fill="hold" grpId="0" nodeType="withEffect">
                                  <p:stCondLst>
                                    <p:cond delay="0"/>
                                  </p:stCondLst>
                                  <p:childTnLst>
                                    <p:set>
                                      <p:cBhvr>
                                        <p:cTn id="58" dur="1" fill="hold">
                                          <p:stCondLst>
                                            <p:cond delay="0"/>
                                          </p:stCondLst>
                                        </p:cTn>
                                        <p:tgtEl>
                                          <p:spTgt spid="24"/>
                                        </p:tgtEl>
                                        <p:attrNameLst>
                                          <p:attrName>style.visibility</p:attrName>
                                        </p:attrNameLst>
                                      </p:cBhvr>
                                      <p:to>
                                        <p:strVal val="visible"/>
                                      </p:to>
                                    </p:set>
                                    <p:animEffect transition="in" filter="fade">
                                      <p:cBhvr>
                                        <p:cTn id="59" dur="500"/>
                                        <p:tgtEl>
                                          <p:spTgt spid="24"/>
                                        </p:tgtEl>
                                      </p:cBhvr>
                                    </p:animEffect>
                                  </p:childTnLst>
                                </p:cTn>
                              </p:par>
                              <p:par>
                                <p:cTn id="60" presetID="10" presetClass="entr" presetSubtype="0" fill="hold" grpId="0" nodeType="withEffect">
                                  <p:stCondLst>
                                    <p:cond delay="0"/>
                                  </p:stCondLst>
                                  <p:childTnLst>
                                    <p:set>
                                      <p:cBhvr>
                                        <p:cTn id="61" dur="1" fill="hold">
                                          <p:stCondLst>
                                            <p:cond delay="0"/>
                                          </p:stCondLst>
                                        </p:cTn>
                                        <p:tgtEl>
                                          <p:spTgt spid="25"/>
                                        </p:tgtEl>
                                        <p:attrNameLst>
                                          <p:attrName>style.visibility</p:attrName>
                                        </p:attrNameLst>
                                      </p:cBhvr>
                                      <p:to>
                                        <p:strVal val="visible"/>
                                      </p:to>
                                    </p:set>
                                    <p:animEffect transition="in" filter="fade">
                                      <p:cBhvr>
                                        <p:cTn id="62" dur="500"/>
                                        <p:tgtEl>
                                          <p:spTgt spid="25"/>
                                        </p:tgtEl>
                                      </p:cBhvr>
                                    </p:animEffect>
                                  </p:childTnLst>
                                </p:cTn>
                              </p:par>
                              <p:par>
                                <p:cTn id="63" presetID="10" presetClass="entr" presetSubtype="0" fill="hold" grpId="0" nodeType="withEffect">
                                  <p:stCondLst>
                                    <p:cond delay="0"/>
                                  </p:stCondLst>
                                  <p:childTnLst>
                                    <p:set>
                                      <p:cBhvr>
                                        <p:cTn id="64" dur="1" fill="hold">
                                          <p:stCondLst>
                                            <p:cond delay="0"/>
                                          </p:stCondLst>
                                        </p:cTn>
                                        <p:tgtEl>
                                          <p:spTgt spid="26"/>
                                        </p:tgtEl>
                                        <p:attrNameLst>
                                          <p:attrName>style.visibility</p:attrName>
                                        </p:attrNameLst>
                                      </p:cBhvr>
                                      <p:to>
                                        <p:strVal val="visible"/>
                                      </p:to>
                                    </p:set>
                                    <p:animEffect transition="in" filter="fade">
                                      <p:cBhvr>
                                        <p:cTn id="65" dur="500"/>
                                        <p:tgtEl>
                                          <p:spTgt spid="26"/>
                                        </p:tgtEl>
                                      </p:cBhvr>
                                    </p:animEffect>
                                  </p:childTnLst>
                                </p:cTn>
                              </p:par>
                              <p:par>
                                <p:cTn id="66" presetID="10" presetClass="entr" presetSubtype="0" fill="hold" grpId="0" nodeType="withEffect">
                                  <p:stCondLst>
                                    <p:cond delay="0"/>
                                  </p:stCondLst>
                                  <p:childTnLst>
                                    <p:set>
                                      <p:cBhvr>
                                        <p:cTn id="67" dur="1" fill="hold">
                                          <p:stCondLst>
                                            <p:cond delay="0"/>
                                          </p:stCondLst>
                                        </p:cTn>
                                        <p:tgtEl>
                                          <p:spTgt spid="27"/>
                                        </p:tgtEl>
                                        <p:attrNameLst>
                                          <p:attrName>style.visibility</p:attrName>
                                        </p:attrNameLst>
                                      </p:cBhvr>
                                      <p:to>
                                        <p:strVal val="visible"/>
                                      </p:to>
                                    </p:set>
                                    <p:animEffect transition="in" filter="fade">
                                      <p:cBhvr>
                                        <p:cTn id="68" dur="500"/>
                                        <p:tgtEl>
                                          <p:spTgt spid="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64592"/>
          </a:xfrm>
          <a:prstGeom prst="rect">
            <a:avLst/>
          </a:prstGeom>
          <a:solidFill>
            <a:srgbClr val="143D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92608"/>
            <a:ext cx="10972800" cy="274320"/>
          </a:xfrm>
          <a:prstGeom prst="rect">
            <a:avLst/>
          </a:prstGeom>
          <a:noFill/>
        </p:spPr>
        <p:txBody>
          <a:bodyPr wrap="square" lIns="0" rIns="0" tIns="0" bIns="0">
            <a:spAutoFit/>
          </a:bodyPr>
          <a:lstStyle/>
          <a:p>
            <a:pPr>
              <a:lnSpc>
                <a:spcPct val="100000"/>
              </a:lnSpc>
            </a:pPr>
            <a:r>
              <a:rPr sz="1100" b="1">
                <a:solidFill>
                  <a:srgbClr val="2A9D8F"/>
                </a:solidFill>
                <a:latin typeface="Calibri"/>
              </a:rPr>
              <a:t>THE PILOT  ·  STEP 3 OF 3  ·  MARCH 2029</a:t>
            </a:r>
          </a:p>
        </p:txBody>
      </p:sp>
      <p:sp>
        <p:nvSpPr>
          <p:cNvPr id="4" name="TextBox 3"/>
          <p:cNvSpPr txBox="1"/>
          <p:nvPr/>
        </p:nvSpPr>
        <p:spPr>
          <a:xfrm>
            <a:off x="548640" y="548640"/>
            <a:ext cx="11064240" cy="548640"/>
          </a:xfrm>
          <a:prstGeom prst="rect">
            <a:avLst/>
          </a:prstGeom>
          <a:noFill/>
        </p:spPr>
        <p:txBody>
          <a:bodyPr wrap="square" lIns="0" rIns="0" tIns="0" bIns="0">
            <a:spAutoFit/>
          </a:bodyPr>
          <a:lstStyle/>
          <a:p>
            <a:pPr>
              <a:lnSpc>
                <a:spcPct val="100000"/>
              </a:lnSpc>
            </a:pPr>
            <a:r>
              <a:rPr sz="2800" b="1">
                <a:solidFill>
                  <a:srgbClr val="143D59"/>
                </a:solidFill>
                <a:latin typeface="Calibri"/>
              </a:rPr>
              <a:t>Step 3: connect to the EU, on a ready foundation</a:t>
            </a:r>
          </a:p>
        </p:txBody>
      </p:sp>
      <p:sp>
        <p:nvSpPr>
          <p:cNvPr id="5" name="TextBox 4"/>
          <p:cNvSpPr txBox="1"/>
          <p:nvPr/>
        </p:nvSpPr>
        <p:spPr>
          <a:xfrm>
            <a:off x="548640" y="1097280"/>
            <a:ext cx="11064240" cy="365760"/>
          </a:xfrm>
          <a:prstGeom prst="rect">
            <a:avLst/>
          </a:prstGeom>
          <a:noFill/>
        </p:spPr>
        <p:txBody>
          <a:bodyPr wrap="square" lIns="0" rIns="0" tIns="0" bIns="0">
            <a:spAutoFit/>
          </a:bodyPr>
          <a:lstStyle/>
          <a:p>
            <a:pPr>
              <a:lnSpc>
                <a:spcPct val="100000"/>
              </a:lnSpc>
            </a:pPr>
            <a:r>
              <a:rPr sz="1500" b="0">
                <a:solidFill>
                  <a:srgbClr val="4F5560"/>
                </a:solidFill>
                <a:latin typeface="Calibri"/>
              </a:rPr>
              <a:t>Reuse what the European Commission builds. Most of the foundation is available today.</a:t>
            </a:r>
          </a:p>
        </p:txBody>
      </p:sp>
      <p:sp>
        <p:nvSpPr>
          <p:cNvPr id="6" name="TextBox 5"/>
          <p:cNvSpPr txBox="1"/>
          <p:nvPr/>
        </p:nvSpPr>
        <p:spPr>
          <a:xfrm>
            <a:off x="548640" y="6446520"/>
            <a:ext cx="7315200" cy="274320"/>
          </a:xfrm>
          <a:prstGeom prst="rect">
            <a:avLst/>
          </a:prstGeom>
          <a:noFill/>
        </p:spPr>
        <p:txBody>
          <a:bodyPr wrap="square" lIns="0" rIns="0" tIns="0" bIns="0">
            <a:spAutoFit/>
          </a:bodyPr>
          <a:lstStyle/>
          <a:p>
            <a:pPr>
              <a:lnSpc>
                <a:spcPct val="100000"/>
              </a:lnSpc>
            </a:pPr>
            <a:r>
              <a:rPr sz="1000" b="0">
                <a:solidFill>
                  <a:srgbClr val="4F5560"/>
                </a:solidFill>
                <a:latin typeface="Calibri"/>
              </a:rPr>
              <a:t>Reunión de preparación  ·  Espacio de Datos EJIE  ·  País Vasco  ·  status October 2026</a:t>
            </a:r>
          </a:p>
        </p:txBody>
      </p:sp>
      <p:sp>
        <p:nvSpPr>
          <p:cNvPr id="7" name="Rounded Rectangle 6"/>
          <p:cNvSpPr/>
          <p:nvPr/>
        </p:nvSpPr>
        <p:spPr>
          <a:xfrm>
            <a:off x="548640" y="1600200"/>
            <a:ext cx="11091672" cy="2514600"/>
          </a:xfrm>
          <a:prstGeom prst="roundRect">
            <a:avLst>
              <a:gd name="adj" fmla="val 5000"/>
            </a:avLst>
          </a:prstGeom>
          <a:solidFill>
            <a:srgbClr val="2226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731520" y="1719072"/>
            <a:ext cx="10725912" cy="694944"/>
          </a:xfrm>
          <a:prstGeom prst="roundRect">
            <a:avLst>
              <a:gd name="adj" fmla="val 5000"/>
            </a:avLst>
          </a:prstGeom>
          <a:solidFill>
            <a:srgbClr val="F1F1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1810512"/>
            <a:ext cx="8622792" cy="292608"/>
          </a:xfrm>
          <a:prstGeom prst="rect">
            <a:avLst/>
          </a:prstGeom>
          <a:noFill/>
        </p:spPr>
        <p:txBody>
          <a:bodyPr wrap="square" lIns="0" rIns="0" tIns="0" bIns="0">
            <a:spAutoFit/>
          </a:bodyPr>
          <a:lstStyle/>
          <a:p>
            <a:pPr>
              <a:lnSpc>
                <a:spcPct val="100000"/>
              </a:lnSpc>
            </a:pPr>
            <a:r>
              <a:rPr sz="1450" b="1">
                <a:solidFill>
                  <a:srgbClr val="143D59"/>
                </a:solidFill>
                <a:latin typeface="Calibri"/>
              </a:rPr>
              <a:t>HealthData@EU: cross-border access for research</a:t>
            </a:r>
          </a:p>
        </p:txBody>
      </p:sp>
      <p:sp>
        <p:nvSpPr>
          <p:cNvPr id="10" name="TextBox 9"/>
          <p:cNvSpPr txBox="1"/>
          <p:nvPr/>
        </p:nvSpPr>
        <p:spPr>
          <a:xfrm>
            <a:off x="914400" y="2121408"/>
            <a:ext cx="8622792" cy="237744"/>
          </a:xfrm>
          <a:prstGeom prst="rect">
            <a:avLst/>
          </a:prstGeom>
          <a:noFill/>
        </p:spPr>
        <p:txBody>
          <a:bodyPr wrap="square" lIns="0" rIns="0" tIns="0" bIns="0">
            <a:spAutoFit/>
          </a:bodyPr>
          <a:lstStyle/>
          <a:p>
            <a:r>
              <a:rPr sz="1150">
                <a:solidFill>
                  <a:srgbClr val="4F5560"/>
                </a:solidFill>
                <a:latin typeface="Calibri"/>
              </a:rPr>
              <a:t>Connection due 26 March 2029, and 2031 for the remaining data categories. </a:t>
            </a:r>
            <a:r>
              <a:rPr sz="1150" u="sng">
                <a:solidFill>
                  <a:srgbClr val="2A9D8F"/>
                </a:solidFill>
                <a:latin typeface="Calibri"/>
                <a:hlinkClick r:id="rId2"/>
              </a:rPr>
              <a:t>EHDS</a:t>
            </a:r>
          </a:p>
        </p:txBody>
      </p:sp>
      <p:sp>
        <p:nvSpPr>
          <p:cNvPr id="11" name="Rounded Rectangle 10"/>
          <p:cNvSpPr/>
          <p:nvPr/>
        </p:nvSpPr>
        <p:spPr>
          <a:xfrm>
            <a:off x="9765792" y="1901952"/>
            <a:ext cx="1508760" cy="329184"/>
          </a:xfrm>
          <a:prstGeom prst="roundRect">
            <a:avLst>
              <a:gd name="adj" fmla="val 50000"/>
            </a:avLst>
          </a:prstGeom>
          <a:solidFill>
            <a:srgbClr val="F2C1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765792" y="1901952"/>
            <a:ext cx="1508760" cy="329184"/>
          </a:xfrm>
          <a:prstGeom prst="rect">
            <a:avLst/>
          </a:prstGeom>
          <a:noFill/>
        </p:spPr>
        <p:txBody>
          <a:bodyPr wrap="square" lIns="0" rIns="0" tIns="0" bIns="0" anchor="ctr">
            <a:spAutoFit/>
          </a:bodyPr>
          <a:lstStyle/>
          <a:p>
            <a:pPr algn="ctr">
              <a:lnSpc>
                <a:spcPct val="100000"/>
              </a:lnSpc>
            </a:pPr>
            <a:r>
              <a:rPr sz="1100" b="1">
                <a:solidFill>
                  <a:srgbClr val="143D59"/>
                </a:solidFill>
                <a:latin typeface="Calibri"/>
              </a:rPr>
              <a:t>in progress</a:t>
            </a:r>
          </a:p>
        </p:txBody>
      </p:sp>
      <p:sp>
        <p:nvSpPr>
          <p:cNvPr id="13" name="Rounded Rectangle 12"/>
          <p:cNvSpPr/>
          <p:nvPr/>
        </p:nvSpPr>
        <p:spPr>
          <a:xfrm>
            <a:off x="731520" y="2505456"/>
            <a:ext cx="10725912" cy="694944"/>
          </a:xfrm>
          <a:prstGeom prst="roundRect">
            <a:avLst>
              <a:gd name="adj" fmla="val 5000"/>
            </a:avLst>
          </a:prstGeom>
          <a:solidFill>
            <a:srgbClr val="F1F1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14400" y="2596896"/>
            <a:ext cx="8622792" cy="292608"/>
          </a:xfrm>
          <a:prstGeom prst="rect">
            <a:avLst/>
          </a:prstGeom>
          <a:noFill/>
        </p:spPr>
        <p:txBody>
          <a:bodyPr wrap="square" lIns="0" rIns="0" tIns="0" bIns="0">
            <a:spAutoFit/>
          </a:bodyPr>
          <a:lstStyle/>
          <a:p>
            <a:pPr>
              <a:lnSpc>
                <a:spcPct val="100000"/>
              </a:lnSpc>
            </a:pPr>
            <a:r>
              <a:rPr sz="1450" b="1">
                <a:solidFill>
                  <a:srgbClr val="143D59"/>
                </a:solidFill>
                <a:latin typeface="Calibri"/>
              </a:rPr>
              <a:t>EHDS implementing acts: catalogue, permits, quality label</a:t>
            </a:r>
          </a:p>
        </p:txBody>
      </p:sp>
      <p:sp>
        <p:nvSpPr>
          <p:cNvPr id="15" name="TextBox 14"/>
          <p:cNvSpPr txBox="1"/>
          <p:nvPr/>
        </p:nvSpPr>
        <p:spPr>
          <a:xfrm>
            <a:off x="914400" y="2907791"/>
            <a:ext cx="8622792" cy="237744"/>
          </a:xfrm>
          <a:prstGeom prst="rect">
            <a:avLst/>
          </a:prstGeom>
          <a:noFill/>
        </p:spPr>
        <p:txBody>
          <a:bodyPr wrap="square" lIns="0" rIns="0" tIns="0" bIns="0">
            <a:spAutoFit/>
          </a:bodyPr>
          <a:lstStyle/>
          <a:p>
            <a:r>
              <a:rPr sz="1150">
                <a:solidFill>
                  <a:srgbClr val="4F5560"/>
                </a:solidFill>
                <a:latin typeface="Calibri"/>
              </a:rPr>
              <a:t>Due earlier, by 26 March 2027: they shape what Step 1 builds. </a:t>
            </a:r>
            <a:r>
              <a:rPr sz="1150" u="sng">
                <a:solidFill>
                  <a:srgbClr val="2A9D8F"/>
                </a:solidFill>
                <a:latin typeface="Calibri"/>
                <a:hlinkClick r:id="rId3"/>
              </a:rPr>
              <a:t>Regulation (EU) 2025/327</a:t>
            </a:r>
          </a:p>
        </p:txBody>
      </p:sp>
      <p:sp>
        <p:nvSpPr>
          <p:cNvPr id="16" name="Rounded Rectangle 15"/>
          <p:cNvSpPr/>
          <p:nvPr/>
        </p:nvSpPr>
        <p:spPr>
          <a:xfrm>
            <a:off x="9765792" y="2688336"/>
            <a:ext cx="1508760" cy="329184"/>
          </a:xfrm>
          <a:prstGeom prst="roundRect">
            <a:avLst>
              <a:gd name="adj" fmla="val 50000"/>
            </a:avLst>
          </a:prstGeom>
          <a:solidFill>
            <a:srgbClr val="F2C1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765792" y="2688336"/>
            <a:ext cx="1508760" cy="329184"/>
          </a:xfrm>
          <a:prstGeom prst="rect">
            <a:avLst/>
          </a:prstGeom>
          <a:noFill/>
        </p:spPr>
        <p:txBody>
          <a:bodyPr wrap="square" lIns="0" rIns="0" tIns="0" bIns="0" anchor="ctr">
            <a:spAutoFit/>
          </a:bodyPr>
          <a:lstStyle/>
          <a:p>
            <a:pPr algn="ctr">
              <a:lnSpc>
                <a:spcPct val="100000"/>
              </a:lnSpc>
            </a:pPr>
            <a:r>
              <a:rPr sz="1100" b="1">
                <a:solidFill>
                  <a:srgbClr val="143D59"/>
                </a:solidFill>
                <a:latin typeface="Calibri"/>
              </a:rPr>
              <a:t>in progress</a:t>
            </a:r>
          </a:p>
        </p:txBody>
      </p:sp>
      <p:sp>
        <p:nvSpPr>
          <p:cNvPr id="18" name="Rounded Rectangle 17"/>
          <p:cNvSpPr/>
          <p:nvPr/>
        </p:nvSpPr>
        <p:spPr>
          <a:xfrm>
            <a:off x="731520" y="3291839"/>
            <a:ext cx="10725912" cy="694944"/>
          </a:xfrm>
          <a:prstGeom prst="roundRect">
            <a:avLst>
              <a:gd name="adj" fmla="val 5000"/>
            </a:avLst>
          </a:prstGeom>
          <a:solidFill>
            <a:srgbClr val="F1F1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14400" y="3383279"/>
            <a:ext cx="8622792" cy="292608"/>
          </a:xfrm>
          <a:prstGeom prst="rect">
            <a:avLst/>
          </a:prstGeom>
          <a:noFill/>
        </p:spPr>
        <p:txBody>
          <a:bodyPr wrap="square" lIns="0" rIns="0" tIns="0" bIns="0">
            <a:spAutoFit/>
          </a:bodyPr>
          <a:lstStyle/>
          <a:p>
            <a:pPr>
              <a:lnSpc>
                <a:spcPct val="100000"/>
              </a:lnSpc>
            </a:pPr>
            <a:r>
              <a:rPr sz="1450" b="1">
                <a:solidFill>
                  <a:srgbClr val="143D59"/>
                </a:solidFill>
                <a:latin typeface="Calibri"/>
              </a:rPr>
              <a:t>EUDI Wallet and eIDAS 2: trust for citizens and users</a:t>
            </a:r>
          </a:p>
        </p:txBody>
      </p:sp>
      <p:sp>
        <p:nvSpPr>
          <p:cNvPr id="20" name="TextBox 19"/>
          <p:cNvSpPr txBox="1"/>
          <p:nvPr/>
        </p:nvSpPr>
        <p:spPr>
          <a:xfrm>
            <a:off x="914400" y="3694176"/>
            <a:ext cx="8622792" cy="237744"/>
          </a:xfrm>
          <a:prstGeom prst="rect">
            <a:avLst/>
          </a:prstGeom>
          <a:noFill/>
        </p:spPr>
        <p:txBody>
          <a:bodyPr wrap="square" lIns="0" rIns="0" tIns="0" bIns="0">
            <a:spAutoFit/>
          </a:bodyPr>
          <a:lstStyle/>
          <a:p>
            <a:r>
              <a:rPr sz="1150">
                <a:solidFill>
                  <a:srgbClr val="4F5560"/>
                </a:solidFill>
                <a:latin typeface="Calibri"/>
              </a:rPr>
              <a:t>Every Member State must offer a wallet by the end of 2026. </a:t>
            </a:r>
            <a:r>
              <a:rPr sz="1150" u="sng">
                <a:solidFill>
                  <a:srgbClr val="2A9D8F"/>
                </a:solidFill>
                <a:latin typeface="Calibri"/>
                <a:hlinkClick r:id="rId4"/>
              </a:rPr>
              <a:t>European Digital Identity</a:t>
            </a:r>
          </a:p>
        </p:txBody>
      </p:sp>
      <p:sp>
        <p:nvSpPr>
          <p:cNvPr id="21" name="Rounded Rectangle 20"/>
          <p:cNvSpPr/>
          <p:nvPr/>
        </p:nvSpPr>
        <p:spPr>
          <a:xfrm>
            <a:off x="9765792" y="3474720"/>
            <a:ext cx="1508760" cy="329184"/>
          </a:xfrm>
          <a:prstGeom prst="roundRect">
            <a:avLst>
              <a:gd name="adj" fmla="val 50000"/>
            </a:avLst>
          </a:prstGeom>
          <a:solidFill>
            <a:srgbClr val="F2C1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765792" y="3474720"/>
            <a:ext cx="1508760" cy="329184"/>
          </a:xfrm>
          <a:prstGeom prst="rect">
            <a:avLst/>
          </a:prstGeom>
          <a:noFill/>
        </p:spPr>
        <p:txBody>
          <a:bodyPr wrap="square" lIns="0" rIns="0" tIns="0" bIns="0" anchor="ctr">
            <a:spAutoFit/>
          </a:bodyPr>
          <a:lstStyle/>
          <a:p>
            <a:pPr algn="ctr">
              <a:lnSpc>
                <a:spcPct val="100000"/>
              </a:lnSpc>
            </a:pPr>
            <a:r>
              <a:rPr sz="1100" b="1">
                <a:solidFill>
                  <a:srgbClr val="143D59"/>
                </a:solidFill>
                <a:latin typeface="Calibri"/>
              </a:rPr>
              <a:t>in progress</a:t>
            </a:r>
          </a:p>
        </p:txBody>
      </p:sp>
      <p:sp>
        <p:nvSpPr>
          <p:cNvPr id="23" name="TextBox 22"/>
          <p:cNvSpPr txBox="1"/>
          <p:nvPr/>
        </p:nvSpPr>
        <p:spPr>
          <a:xfrm>
            <a:off x="548640" y="4224528"/>
            <a:ext cx="10972800" cy="274320"/>
          </a:xfrm>
          <a:prstGeom prst="rect">
            <a:avLst/>
          </a:prstGeom>
          <a:noFill/>
        </p:spPr>
        <p:txBody>
          <a:bodyPr wrap="square" lIns="0" rIns="0" tIns="0" bIns="0">
            <a:spAutoFit/>
          </a:bodyPr>
          <a:lstStyle/>
          <a:p>
            <a:pPr>
              <a:lnSpc>
                <a:spcPct val="100000"/>
              </a:lnSpc>
            </a:pPr>
            <a:r>
              <a:rPr sz="1100" b="1">
                <a:solidFill>
                  <a:srgbClr val="2E7D3A"/>
                </a:solidFill>
                <a:latin typeface="Calibri"/>
              </a:rPr>
              <a:t>FOUNDATION  ·  AVAILABLE TODAY  ·  REUSE FROM DAY ONE</a:t>
            </a:r>
          </a:p>
        </p:txBody>
      </p:sp>
      <p:sp>
        <p:nvSpPr>
          <p:cNvPr id="24" name="Rounded Rectangle 23"/>
          <p:cNvSpPr/>
          <p:nvPr/>
        </p:nvSpPr>
        <p:spPr>
          <a:xfrm>
            <a:off x="548640" y="4553712"/>
            <a:ext cx="5486400" cy="786384"/>
          </a:xfrm>
          <a:prstGeom prst="roundRect">
            <a:avLst>
              <a:gd name="adj" fmla="val 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548640" y="4553712"/>
            <a:ext cx="91440" cy="786384"/>
          </a:xfrm>
          <a:prstGeom prst="rect">
            <a:avLst/>
          </a:prstGeom>
          <a:solidFill>
            <a:srgbClr val="2E7D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22959" y="4626864"/>
            <a:ext cx="5029200" cy="274320"/>
          </a:xfrm>
          <a:prstGeom prst="rect">
            <a:avLst/>
          </a:prstGeom>
          <a:noFill/>
        </p:spPr>
        <p:txBody>
          <a:bodyPr wrap="square" lIns="0" rIns="0" tIns="0" bIns="0">
            <a:spAutoFit/>
          </a:bodyPr>
          <a:lstStyle/>
          <a:p>
            <a:pPr>
              <a:lnSpc>
                <a:spcPct val="100000"/>
              </a:lnSpc>
            </a:pPr>
            <a:r>
              <a:rPr sz="1350" b="1">
                <a:solidFill>
                  <a:srgbClr val="143D59"/>
                </a:solidFill>
                <a:latin typeface="Calibri"/>
              </a:rPr>
              <a:t>Eclipse EDC  ·  Simpl-Open</a:t>
            </a:r>
          </a:p>
        </p:txBody>
      </p:sp>
      <p:sp>
        <p:nvSpPr>
          <p:cNvPr id="27" name="TextBox 26"/>
          <p:cNvSpPr txBox="1"/>
          <p:nvPr/>
        </p:nvSpPr>
        <p:spPr>
          <a:xfrm>
            <a:off x="822959" y="4937760"/>
            <a:ext cx="5029200" cy="365760"/>
          </a:xfrm>
          <a:prstGeom prst="rect">
            <a:avLst/>
          </a:prstGeom>
          <a:noFill/>
        </p:spPr>
        <p:txBody>
          <a:bodyPr wrap="square" lIns="0" rIns="0" tIns="0" bIns="0">
            <a:spAutoFit/>
          </a:bodyPr>
          <a:lstStyle/>
          <a:p>
            <a:r>
              <a:rPr sz="1150" u="sng">
                <a:solidFill>
                  <a:srgbClr val="2A9D8F"/>
                </a:solidFill>
                <a:latin typeface="Calibri"/>
                <a:hlinkClick r:id="rId5"/>
              </a:rPr>
              <a:t>Open-source connector</a:t>
            </a:r>
            <a:r>
              <a:rPr sz="1150">
                <a:solidFill>
                  <a:srgbClr val="4F5560"/>
                </a:solidFill>
                <a:latin typeface="Calibri"/>
              </a:rPr>
              <a:t>; </a:t>
            </a:r>
            <a:r>
              <a:rPr sz="1150" u="sng">
                <a:solidFill>
                  <a:srgbClr val="2A9D8F"/>
                </a:solidFill>
                <a:latin typeface="Calibri"/>
                <a:hlinkClick r:id="rId6"/>
              </a:rPr>
              <a:t>Simpl-Open</a:t>
            </a:r>
            <a:r>
              <a:rPr sz="1150">
                <a:solidFill>
                  <a:srgbClr val="4F5560"/>
                </a:solidFill>
                <a:latin typeface="Calibri"/>
              </a:rPr>
              <a:t> release of July 2026.</a:t>
            </a:r>
          </a:p>
        </p:txBody>
      </p:sp>
      <p:sp>
        <p:nvSpPr>
          <p:cNvPr id="28" name="Rounded Rectangle 27"/>
          <p:cNvSpPr/>
          <p:nvPr/>
        </p:nvSpPr>
        <p:spPr>
          <a:xfrm>
            <a:off x="6153912" y="4553712"/>
            <a:ext cx="5486400" cy="786384"/>
          </a:xfrm>
          <a:prstGeom prst="roundRect">
            <a:avLst>
              <a:gd name="adj" fmla="val 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6153912" y="4553712"/>
            <a:ext cx="91440" cy="786384"/>
          </a:xfrm>
          <a:prstGeom prst="rect">
            <a:avLst/>
          </a:prstGeom>
          <a:solidFill>
            <a:srgbClr val="2E7D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428231" y="4626864"/>
            <a:ext cx="5029200" cy="274320"/>
          </a:xfrm>
          <a:prstGeom prst="rect">
            <a:avLst/>
          </a:prstGeom>
          <a:noFill/>
        </p:spPr>
        <p:txBody>
          <a:bodyPr wrap="square" lIns="0" rIns="0" tIns="0" bIns="0">
            <a:spAutoFit/>
          </a:bodyPr>
          <a:lstStyle/>
          <a:p>
            <a:pPr>
              <a:lnSpc>
                <a:spcPct val="100000"/>
              </a:lnSpc>
            </a:pPr>
            <a:r>
              <a:rPr sz="1350" b="1">
                <a:solidFill>
                  <a:srgbClr val="143D59"/>
                </a:solidFill>
                <a:latin typeface="Calibri"/>
              </a:rPr>
              <a:t>HealthData@EU platform code</a:t>
            </a:r>
          </a:p>
        </p:txBody>
      </p:sp>
      <p:sp>
        <p:nvSpPr>
          <p:cNvPr id="31" name="TextBox 30"/>
          <p:cNvSpPr txBox="1"/>
          <p:nvPr/>
        </p:nvSpPr>
        <p:spPr>
          <a:xfrm>
            <a:off x="6428231" y="4937760"/>
            <a:ext cx="5029200" cy="365760"/>
          </a:xfrm>
          <a:prstGeom prst="rect">
            <a:avLst/>
          </a:prstGeom>
          <a:noFill/>
        </p:spPr>
        <p:txBody>
          <a:bodyPr wrap="square" lIns="0" rIns="0" tIns="0" bIns="0">
            <a:spAutoFit/>
          </a:bodyPr>
          <a:lstStyle/>
          <a:p>
            <a:r>
              <a:rPr sz="1150">
                <a:solidFill>
                  <a:srgbClr val="4F5560"/>
                </a:solidFill>
                <a:latin typeface="Calibri"/>
              </a:rPr>
              <a:t>Open source </a:t>
            </a:r>
            <a:r>
              <a:rPr sz="1150" u="sng">
                <a:solidFill>
                  <a:srgbClr val="2A9D8F"/>
                </a:solidFill>
                <a:latin typeface="Calibri"/>
                <a:hlinkClick r:id="rId7"/>
              </a:rPr>
              <a:t>on code.europa.eu</a:t>
            </a:r>
            <a:r>
              <a:rPr sz="1150">
                <a:solidFill>
                  <a:srgbClr val="4F5560"/>
                </a:solidFill>
                <a:latin typeface="Calibri"/>
              </a:rPr>
              <a:t> since May 2025.</a:t>
            </a:r>
          </a:p>
        </p:txBody>
      </p:sp>
      <p:sp>
        <p:nvSpPr>
          <p:cNvPr id="32" name="Rounded Rectangle 31"/>
          <p:cNvSpPr/>
          <p:nvPr/>
        </p:nvSpPr>
        <p:spPr>
          <a:xfrm>
            <a:off x="548640" y="5449824"/>
            <a:ext cx="5486400" cy="786384"/>
          </a:xfrm>
          <a:prstGeom prst="roundRect">
            <a:avLst>
              <a:gd name="adj" fmla="val 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548640" y="5449824"/>
            <a:ext cx="91440" cy="786384"/>
          </a:xfrm>
          <a:prstGeom prst="rect">
            <a:avLst/>
          </a:prstGeom>
          <a:solidFill>
            <a:srgbClr val="2E7D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822959" y="5522976"/>
            <a:ext cx="5029200" cy="274320"/>
          </a:xfrm>
          <a:prstGeom prst="rect">
            <a:avLst/>
          </a:prstGeom>
          <a:noFill/>
        </p:spPr>
        <p:txBody>
          <a:bodyPr wrap="square" lIns="0" rIns="0" tIns="0" bIns="0">
            <a:spAutoFit/>
          </a:bodyPr>
          <a:lstStyle/>
          <a:p>
            <a:pPr>
              <a:lnSpc>
                <a:spcPct val="100000"/>
              </a:lnSpc>
            </a:pPr>
            <a:r>
              <a:rPr sz="1350" b="1">
                <a:solidFill>
                  <a:srgbClr val="143D59"/>
                </a:solidFill>
                <a:latin typeface="Calibri"/>
              </a:rPr>
              <a:t>FHIR  ·  OMOP  ·  SNOMED CT</a:t>
            </a:r>
          </a:p>
        </p:txBody>
      </p:sp>
      <p:sp>
        <p:nvSpPr>
          <p:cNvPr id="35" name="TextBox 34"/>
          <p:cNvSpPr txBox="1"/>
          <p:nvPr/>
        </p:nvSpPr>
        <p:spPr>
          <a:xfrm>
            <a:off x="822959" y="5833872"/>
            <a:ext cx="5029200" cy="365760"/>
          </a:xfrm>
          <a:prstGeom prst="rect">
            <a:avLst/>
          </a:prstGeom>
          <a:noFill/>
        </p:spPr>
        <p:txBody>
          <a:bodyPr wrap="square" lIns="0" rIns="0" tIns="0" bIns="0">
            <a:spAutoFit/>
          </a:bodyPr>
          <a:lstStyle/>
          <a:p>
            <a:r>
              <a:rPr sz="1150" u="sng">
                <a:solidFill>
                  <a:srgbClr val="2A9D8F"/>
                </a:solidFill>
                <a:latin typeface="Calibri"/>
                <a:hlinkClick r:id="rId8"/>
              </a:rPr>
              <a:t>FHIR R4</a:t>
            </a:r>
            <a:r>
              <a:rPr sz="1150">
                <a:solidFill>
                  <a:srgbClr val="4F5560"/>
                </a:solidFill>
                <a:latin typeface="Calibri"/>
              </a:rPr>
              <a:t>, </a:t>
            </a:r>
            <a:r>
              <a:rPr sz="1150" u="sng">
                <a:solidFill>
                  <a:srgbClr val="2A9D8F"/>
                </a:solidFill>
                <a:latin typeface="Calibri"/>
                <a:hlinkClick r:id="rId9"/>
              </a:rPr>
              <a:t>OMOP CDM</a:t>
            </a:r>
            <a:r>
              <a:rPr sz="1150">
                <a:solidFill>
                  <a:srgbClr val="4F5560"/>
                </a:solidFill>
                <a:latin typeface="Calibri"/>
              </a:rPr>
              <a:t> and </a:t>
            </a:r>
            <a:r>
              <a:rPr sz="1150" u="sng">
                <a:solidFill>
                  <a:srgbClr val="2A9D8F"/>
                </a:solidFill>
                <a:latin typeface="Calibri"/>
                <a:hlinkClick r:id="rId10"/>
              </a:rPr>
              <a:t>SNOMED CT</a:t>
            </a:r>
            <a:r>
              <a:rPr sz="1150">
                <a:solidFill>
                  <a:srgbClr val="4F5560"/>
                </a:solidFill>
                <a:latin typeface="Calibri"/>
              </a:rPr>
              <a:t>: mature, used worldwide.</a:t>
            </a:r>
          </a:p>
        </p:txBody>
      </p:sp>
      <p:sp>
        <p:nvSpPr>
          <p:cNvPr id="36" name="Rounded Rectangle 35"/>
          <p:cNvSpPr/>
          <p:nvPr/>
        </p:nvSpPr>
        <p:spPr>
          <a:xfrm>
            <a:off x="6153912" y="5449824"/>
            <a:ext cx="5486400" cy="786384"/>
          </a:xfrm>
          <a:prstGeom prst="roundRect">
            <a:avLst>
              <a:gd name="adj" fmla="val 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6153912" y="5449824"/>
            <a:ext cx="91440" cy="786384"/>
          </a:xfrm>
          <a:prstGeom prst="rect">
            <a:avLst/>
          </a:prstGeom>
          <a:solidFill>
            <a:srgbClr val="2E7D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6428231" y="5522976"/>
            <a:ext cx="5029200" cy="274320"/>
          </a:xfrm>
          <a:prstGeom prst="rect">
            <a:avLst/>
          </a:prstGeom>
          <a:noFill/>
        </p:spPr>
        <p:txBody>
          <a:bodyPr wrap="square" lIns="0" rIns="0" tIns="0" bIns="0">
            <a:spAutoFit/>
          </a:bodyPr>
          <a:lstStyle/>
          <a:p>
            <a:pPr>
              <a:lnSpc>
                <a:spcPct val="100000"/>
              </a:lnSpc>
            </a:pPr>
            <a:r>
              <a:rPr sz="1350" b="1">
                <a:solidFill>
                  <a:srgbClr val="143D59"/>
                </a:solidFill>
                <a:latin typeface="Calibri"/>
              </a:rPr>
              <a:t>Cl@ve  ·  FNMT  ·  ENS (CCN)</a:t>
            </a:r>
          </a:p>
        </p:txBody>
      </p:sp>
      <p:sp>
        <p:nvSpPr>
          <p:cNvPr id="39" name="TextBox 38"/>
          <p:cNvSpPr txBox="1"/>
          <p:nvPr/>
        </p:nvSpPr>
        <p:spPr>
          <a:xfrm>
            <a:off x="6428231" y="5833872"/>
            <a:ext cx="5029200" cy="365760"/>
          </a:xfrm>
          <a:prstGeom prst="rect">
            <a:avLst/>
          </a:prstGeom>
          <a:noFill/>
        </p:spPr>
        <p:txBody>
          <a:bodyPr wrap="square" lIns="0" rIns="0" tIns="0" bIns="0">
            <a:spAutoFit/>
          </a:bodyPr>
          <a:lstStyle/>
          <a:p>
            <a:r>
              <a:rPr sz="1150" u="sng">
                <a:solidFill>
                  <a:srgbClr val="2A9D8F"/>
                </a:solidFill>
                <a:latin typeface="Calibri"/>
                <a:hlinkClick r:id="rId11"/>
              </a:rPr>
              <a:t>Cl@ve</a:t>
            </a:r>
            <a:r>
              <a:rPr sz="1150">
                <a:solidFill>
                  <a:srgbClr val="4F5560"/>
                </a:solidFill>
                <a:latin typeface="Calibri"/>
              </a:rPr>
              <a:t> identity, </a:t>
            </a:r>
            <a:r>
              <a:rPr sz="1150" u="sng">
                <a:solidFill>
                  <a:srgbClr val="2A9D8F"/>
                </a:solidFill>
                <a:latin typeface="Calibri"/>
                <a:hlinkClick r:id="rId12"/>
              </a:rPr>
              <a:t>FNMT</a:t>
            </a:r>
            <a:r>
              <a:rPr sz="1150">
                <a:solidFill>
                  <a:srgbClr val="4F5560"/>
                </a:solidFill>
                <a:latin typeface="Calibri"/>
              </a:rPr>
              <a:t> certificates, the </a:t>
            </a:r>
            <a:r>
              <a:rPr sz="1150" u="sng">
                <a:solidFill>
                  <a:srgbClr val="2A9D8F"/>
                </a:solidFill>
                <a:latin typeface="Calibri"/>
                <a:hlinkClick r:id="rId13"/>
              </a:rPr>
              <a:t>ENS</a:t>
            </a:r>
            <a:r>
              <a:rPr sz="1150">
                <a:solidFill>
                  <a:srgbClr val="4F5560"/>
                </a:solidFill>
                <a:latin typeface="Calibri"/>
              </a:rPr>
              <a:t> security scheme.</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18" fill="hold">
                      <p:stCondLst>
                        <p:cond delay="indefinite"/>
                      </p:stCondLst>
                      <p:childTnLst>
                        <p:par>
                          <p:cTn id="19" fill="hold">
                            <p:stCondLst>
                              <p:cond delay="0"/>
                            </p:stCondLst>
                            <p:childTnLst>
                              <p:par>
                                <p:cTn id="3" presetID="10" presetClass="entr" presetSubtype="0" fill="hold" grpId="0" nodeType="clickEffect">
                                  <p:stCondLst>
                                    <p:cond delay="0"/>
                                  </p:stCondLst>
                                  <p:childTnLst>
                                    <p:set>
                                      <p:cBhvr>
                                        <p:cTn id="4" dur="1" fill="hold">
                                          <p:stCondLst>
                                            <p:cond delay="0"/>
                                          </p:stCondLst>
                                        </p:cTn>
                                        <p:tgtEl>
                                          <p:spTgt spid="8"/>
                                        </p:tgtEl>
                                        <p:attrNameLst>
                                          <p:attrName>style.visibility</p:attrName>
                                        </p:attrNameLst>
                                      </p:cBhvr>
                                      <p:to>
                                        <p:strVal val="visible"/>
                                      </p:to>
                                    </p:set>
                                    <p:animEffect transition="in" filter="fade">
                                      <p:cBhvr>
                                        <p:cTn id="5" dur="500"/>
                                        <p:tgtEl>
                                          <p:spTgt spid="8"/>
                                        </p:tgtEl>
                                      </p:cBhvr>
                                    </p:animEffect>
                                  </p:childTnLst>
                                </p:cTn>
                              </p:par>
                              <p:par>
                                <p:cTn id="6" presetID="10" presetClass="entr" presetSubtype="0" fill="hold" grpId="0" nodeType="withEffect">
                                  <p:stCondLst>
                                    <p:cond delay="0"/>
                                  </p:stCondLst>
                                  <p:childTnLst>
                                    <p:set>
                                      <p:cBhvr>
                                        <p:cTn id="7" dur="1" fill="hold">
                                          <p:stCondLst>
                                            <p:cond delay="0"/>
                                          </p:stCondLst>
                                        </p:cTn>
                                        <p:tgtEl>
                                          <p:spTgt spid="9"/>
                                        </p:tgtEl>
                                        <p:attrNameLst>
                                          <p:attrName>style.visibility</p:attrName>
                                        </p:attrNameLst>
                                      </p:cBhvr>
                                      <p:to>
                                        <p:strVal val="visible"/>
                                      </p:to>
                                    </p:set>
                                    <p:animEffect transition="in" filter="fade">
                                      <p:cBhvr>
                                        <p:cTn id="8" dur="500"/>
                                        <p:tgtEl>
                                          <p:spTgt spid="9"/>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10"/>
                                        </p:tgtEl>
                                        <p:attrNameLst>
                                          <p:attrName>style.visibility</p:attrName>
                                        </p:attrNameLst>
                                      </p:cBhvr>
                                      <p:to>
                                        <p:strVal val="visible"/>
                                      </p:to>
                                    </p:set>
                                    <p:animEffect transition="in" filter="fade">
                                      <p:cBhvr>
                                        <p:cTn id="11" dur="500"/>
                                        <p:tgtEl>
                                          <p:spTgt spid="10"/>
                                        </p:tgtEl>
                                      </p:cBhvr>
                                    </p:animEffect>
                                  </p:childTnLst>
                                </p:cTn>
                              </p:par>
                              <p:par>
                                <p:cTn id="12" presetID="10" presetClass="entr" presetSubtype="0" fill="hold" grpId="0" nodeType="withEffect">
                                  <p:stCondLst>
                                    <p:cond delay="0"/>
                                  </p:stCondLst>
                                  <p:childTnLst>
                                    <p:set>
                                      <p:cBhvr>
                                        <p:cTn id="13" dur="1" fill="hold">
                                          <p:stCondLst>
                                            <p:cond delay="0"/>
                                          </p:stCondLst>
                                        </p:cTn>
                                        <p:tgtEl>
                                          <p:spTgt spid="11"/>
                                        </p:tgtEl>
                                        <p:attrNameLst>
                                          <p:attrName>style.visibility</p:attrName>
                                        </p:attrNameLst>
                                      </p:cBhvr>
                                      <p:to>
                                        <p:strVal val="visible"/>
                                      </p:to>
                                    </p:set>
                                    <p:animEffect transition="in" filter="fade">
                                      <p:cBhvr>
                                        <p:cTn id="14" dur="500"/>
                                        <p:tgtEl>
                                          <p:spTgt spid="11"/>
                                        </p:tgtEl>
                                      </p:cBhvr>
                                    </p:animEffect>
                                  </p:childTnLst>
                                </p:cTn>
                              </p:par>
                              <p:par>
                                <p:cTn id="15" presetID="10" presetClass="entr" presetSubtype="0" fill="hold" grpId="0" nodeType="withEffect">
                                  <p:stCondLst>
                                    <p:cond delay="0"/>
                                  </p:stCondLst>
                                  <p:childTnLst>
                                    <p:set>
                                      <p:cBhvr>
                                        <p:cTn id="16" dur="1" fill="hold">
                                          <p:stCondLst>
                                            <p:cond delay="0"/>
                                          </p:stCondLst>
                                        </p:cTn>
                                        <p:tgtEl>
                                          <p:spTgt spid="12"/>
                                        </p:tgtEl>
                                        <p:attrNameLst>
                                          <p:attrName>style.visibility</p:attrName>
                                        </p:attrNameLst>
                                      </p:cBhvr>
                                      <p:to>
                                        <p:strVal val="visible"/>
                                      </p:to>
                                    </p:set>
                                    <p:animEffect transition="in" filter="fade">
                                      <p:cBhvr>
                                        <p:cTn id="17" dur="500"/>
                                        <p:tgtEl>
                                          <p:spTgt spid="12"/>
                                        </p:tgtEl>
                                      </p:cBhvr>
                                    </p:animEffect>
                                  </p:childTnLst>
                                </p:cTn>
                              </p:par>
                            </p:childTnLst>
                          </p:cTn>
                        </p:par>
                      </p:childTnLst>
                    </p:cTn>
                  </p:par>
                  <p:par>
                    <p:cTn id="35" fill="hold">
                      <p:stCondLst>
                        <p:cond delay="indefinite"/>
                      </p:stCondLst>
                      <p:childTnLst>
                        <p:par>
                          <p:cTn id="36"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13"/>
                                        </p:tgtEl>
                                        <p:attrNameLst>
                                          <p:attrName>style.visibility</p:attrName>
                                        </p:attrNameLst>
                                      </p:cBhvr>
                                      <p:to>
                                        <p:strVal val="visible"/>
                                      </p:to>
                                    </p:set>
                                    <p:animEffect transition="in" filter="fade">
                                      <p:cBhvr>
                                        <p:cTn id="22" dur="500"/>
                                        <p:tgtEl>
                                          <p:spTgt spid="13"/>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14"/>
                                        </p:tgtEl>
                                        <p:attrNameLst>
                                          <p:attrName>style.visibility</p:attrName>
                                        </p:attrNameLst>
                                      </p:cBhvr>
                                      <p:to>
                                        <p:strVal val="visible"/>
                                      </p:to>
                                    </p:set>
                                    <p:animEffect transition="in" filter="fade">
                                      <p:cBhvr>
                                        <p:cTn id="25" dur="500"/>
                                        <p:tgtEl>
                                          <p:spTgt spid="14"/>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15"/>
                                        </p:tgtEl>
                                        <p:attrNameLst>
                                          <p:attrName>style.visibility</p:attrName>
                                        </p:attrNameLst>
                                      </p:cBhvr>
                                      <p:to>
                                        <p:strVal val="visible"/>
                                      </p:to>
                                    </p:set>
                                    <p:animEffect transition="in" filter="fade">
                                      <p:cBhvr>
                                        <p:cTn id="28" dur="500"/>
                                        <p:tgtEl>
                                          <p:spTgt spid="15"/>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16"/>
                                        </p:tgtEl>
                                        <p:attrNameLst>
                                          <p:attrName>style.visibility</p:attrName>
                                        </p:attrNameLst>
                                      </p:cBhvr>
                                      <p:to>
                                        <p:strVal val="visible"/>
                                      </p:to>
                                    </p:set>
                                    <p:animEffect transition="in" filter="fade">
                                      <p:cBhvr>
                                        <p:cTn id="31" dur="500"/>
                                        <p:tgtEl>
                                          <p:spTgt spid="16"/>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17"/>
                                        </p:tgtEl>
                                        <p:attrNameLst>
                                          <p:attrName>style.visibility</p:attrName>
                                        </p:attrNameLst>
                                      </p:cBhvr>
                                      <p:to>
                                        <p:strVal val="visible"/>
                                      </p:to>
                                    </p:set>
                                    <p:animEffect transition="in" filter="fade">
                                      <p:cBhvr>
                                        <p:cTn id="34" dur="500"/>
                                        <p:tgtEl>
                                          <p:spTgt spid="17"/>
                                        </p:tgtEl>
                                      </p:cBhvr>
                                    </p:animEffect>
                                  </p:childTnLst>
                                </p:cTn>
                              </p:par>
                            </p:childTnLst>
                          </p:cTn>
                        </p:par>
                      </p:childTnLst>
                    </p:cTn>
                  </p:par>
                  <p:par>
                    <p:cTn id="52" fill="hold">
                      <p:stCondLst>
                        <p:cond delay="indefinite"/>
                      </p:stCondLst>
                      <p:childTnLst>
                        <p:par>
                          <p:cTn id="53" fill="hold">
                            <p:stCondLst>
                              <p:cond delay="0"/>
                            </p:stCondLst>
                            <p:childTnLst>
                              <p:par>
                                <p:cTn id="37" presetID="10" presetClass="entr" presetSubtype="0" fill="hold" grpId="0" nodeType="clickEffect">
                                  <p:stCondLst>
                                    <p:cond delay="0"/>
                                  </p:stCondLst>
                                  <p:childTnLst>
                                    <p:set>
                                      <p:cBhvr>
                                        <p:cTn id="38" dur="1" fill="hold">
                                          <p:stCondLst>
                                            <p:cond delay="0"/>
                                          </p:stCondLst>
                                        </p:cTn>
                                        <p:tgtEl>
                                          <p:spTgt spid="18"/>
                                        </p:tgtEl>
                                        <p:attrNameLst>
                                          <p:attrName>style.visibility</p:attrName>
                                        </p:attrNameLst>
                                      </p:cBhvr>
                                      <p:to>
                                        <p:strVal val="visible"/>
                                      </p:to>
                                    </p:set>
                                    <p:animEffect transition="in" filter="fade">
                                      <p:cBhvr>
                                        <p:cTn id="39" dur="500"/>
                                        <p:tgtEl>
                                          <p:spTgt spid="18"/>
                                        </p:tgtEl>
                                      </p:cBhvr>
                                    </p:animEffect>
                                  </p:childTnLst>
                                </p:cTn>
                              </p:par>
                              <p:par>
                                <p:cTn id="40" presetID="10" presetClass="entr" presetSubtype="0" fill="hold" grpId="0" nodeType="withEffect">
                                  <p:stCondLst>
                                    <p:cond delay="0"/>
                                  </p:stCondLst>
                                  <p:childTnLst>
                                    <p:set>
                                      <p:cBhvr>
                                        <p:cTn id="41" dur="1" fill="hold">
                                          <p:stCondLst>
                                            <p:cond delay="0"/>
                                          </p:stCondLst>
                                        </p:cTn>
                                        <p:tgtEl>
                                          <p:spTgt spid="19"/>
                                        </p:tgtEl>
                                        <p:attrNameLst>
                                          <p:attrName>style.visibility</p:attrName>
                                        </p:attrNameLst>
                                      </p:cBhvr>
                                      <p:to>
                                        <p:strVal val="visible"/>
                                      </p:to>
                                    </p:set>
                                    <p:animEffect transition="in" filter="fade">
                                      <p:cBhvr>
                                        <p:cTn id="42" dur="500"/>
                                        <p:tgtEl>
                                          <p:spTgt spid="19"/>
                                        </p:tgtEl>
                                      </p:cBhvr>
                                    </p:animEffect>
                                  </p:childTnLst>
                                </p:cTn>
                              </p:par>
                              <p:par>
                                <p:cTn id="43" presetID="10" presetClass="entr" presetSubtype="0" fill="hold" grpId="0" nodeType="withEffect">
                                  <p:stCondLst>
                                    <p:cond delay="0"/>
                                  </p:stCondLst>
                                  <p:childTnLst>
                                    <p:set>
                                      <p:cBhvr>
                                        <p:cTn id="44" dur="1" fill="hold">
                                          <p:stCondLst>
                                            <p:cond delay="0"/>
                                          </p:stCondLst>
                                        </p:cTn>
                                        <p:tgtEl>
                                          <p:spTgt spid="20"/>
                                        </p:tgtEl>
                                        <p:attrNameLst>
                                          <p:attrName>style.visibility</p:attrName>
                                        </p:attrNameLst>
                                      </p:cBhvr>
                                      <p:to>
                                        <p:strVal val="visible"/>
                                      </p:to>
                                    </p:set>
                                    <p:animEffect transition="in" filter="fade">
                                      <p:cBhvr>
                                        <p:cTn id="45" dur="500"/>
                                        <p:tgtEl>
                                          <p:spTgt spid="20"/>
                                        </p:tgtEl>
                                      </p:cBhvr>
                                    </p:animEffect>
                                  </p:childTnLst>
                                </p:cTn>
                              </p:par>
                              <p:par>
                                <p:cTn id="46" presetID="10" presetClass="entr" presetSubtype="0" fill="hold" grpId="0" nodeType="withEffect">
                                  <p:stCondLst>
                                    <p:cond delay="0"/>
                                  </p:stCondLst>
                                  <p:childTnLst>
                                    <p:set>
                                      <p:cBhvr>
                                        <p:cTn id="47" dur="1" fill="hold">
                                          <p:stCondLst>
                                            <p:cond delay="0"/>
                                          </p:stCondLst>
                                        </p:cTn>
                                        <p:tgtEl>
                                          <p:spTgt spid="21"/>
                                        </p:tgtEl>
                                        <p:attrNameLst>
                                          <p:attrName>style.visibility</p:attrName>
                                        </p:attrNameLst>
                                      </p:cBhvr>
                                      <p:to>
                                        <p:strVal val="visible"/>
                                      </p:to>
                                    </p:set>
                                    <p:animEffect transition="in" filter="fade">
                                      <p:cBhvr>
                                        <p:cTn id="48" dur="500"/>
                                        <p:tgtEl>
                                          <p:spTgt spid="21"/>
                                        </p:tgtEl>
                                      </p:cBhvr>
                                    </p:animEffect>
                                  </p:childTnLst>
                                </p:cTn>
                              </p:par>
                              <p:par>
                                <p:cTn id="49" presetID="10" presetClass="entr" presetSubtype="0" fill="hold" grpId="0" nodeType="withEffect">
                                  <p:stCondLst>
                                    <p:cond delay="0"/>
                                  </p:stCondLst>
                                  <p:childTnLst>
                                    <p:set>
                                      <p:cBhvr>
                                        <p:cTn id="50" dur="1" fill="hold">
                                          <p:stCondLst>
                                            <p:cond delay="0"/>
                                          </p:stCondLst>
                                        </p:cTn>
                                        <p:tgtEl>
                                          <p:spTgt spid="22"/>
                                        </p:tgtEl>
                                        <p:attrNameLst>
                                          <p:attrName>style.visibility</p:attrName>
                                        </p:attrNameLst>
                                      </p:cBhvr>
                                      <p:to>
                                        <p:strVal val="visible"/>
                                      </p:to>
                                    </p:set>
                                    <p:animEffect transition="in" filter="fade">
                                      <p:cBhvr>
                                        <p:cTn id="51" dur="500"/>
                                        <p:tgtEl>
                                          <p:spTgt spid="22"/>
                                        </p:tgtEl>
                                      </p:cBhvr>
                                    </p:animEffect>
                                  </p:childTnLst>
                                </p:cTn>
                              </p:par>
                            </p:childTnLst>
                          </p:cTn>
                        </p:par>
                      </p:childTnLst>
                    </p:cTn>
                  </p:par>
                  <p:par>
                    <p:cTn id="57" fill="hold">
                      <p:stCondLst>
                        <p:cond delay="indefinite"/>
                      </p:stCondLst>
                      <p:childTnLst>
                        <p:par>
                          <p:cTn id="58" fill="hold">
                            <p:stCondLst>
                              <p:cond delay="0"/>
                            </p:stCondLst>
                            <p:childTnLst>
                              <p:par>
                                <p:cTn id="54" presetID="10" presetClass="entr" presetSubtype="0" fill="hold" grpId="0" nodeType="clickEffect">
                                  <p:stCondLst>
                                    <p:cond delay="0"/>
                                  </p:stCondLst>
                                  <p:childTnLst>
                                    <p:set>
                                      <p:cBhvr>
                                        <p:cTn id="55" dur="1" fill="hold">
                                          <p:stCondLst>
                                            <p:cond delay="0"/>
                                          </p:stCondLst>
                                        </p:cTn>
                                        <p:tgtEl>
                                          <p:spTgt spid="23"/>
                                        </p:tgtEl>
                                        <p:attrNameLst>
                                          <p:attrName>style.visibility</p:attrName>
                                        </p:attrNameLst>
                                      </p:cBhvr>
                                      <p:to>
                                        <p:strVal val="visible"/>
                                      </p:to>
                                    </p:set>
                                    <p:animEffect transition="in" filter="fade">
                                      <p:cBhvr>
                                        <p:cTn id="56" dur="500"/>
                                        <p:tgtEl>
                                          <p:spTgt spid="23"/>
                                        </p:tgtEl>
                                      </p:cBhvr>
                                    </p:animEffect>
                                  </p:childTnLst>
                                </p:cTn>
                              </p:par>
                            </p:childTnLst>
                          </p:cTn>
                        </p:par>
                      </p:childTnLst>
                    </p:cTn>
                  </p:par>
                  <p:par>
                    <p:cTn id="71" fill="hold">
                      <p:stCondLst>
                        <p:cond delay="indefinite"/>
                      </p:stCondLst>
                      <p:childTnLst>
                        <p:par>
                          <p:cTn id="72" fill="hold">
                            <p:stCondLst>
                              <p:cond delay="0"/>
                            </p:stCondLst>
                            <p:childTnLst>
                              <p:par>
                                <p:cTn id="59" presetID="10" presetClass="entr" presetSubtype="0" fill="hold" grpId="0" nodeType="clickEffect">
                                  <p:stCondLst>
                                    <p:cond delay="0"/>
                                  </p:stCondLst>
                                  <p:childTnLst>
                                    <p:set>
                                      <p:cBhvr>
                                        <p:cTn id="60" dur="1" fill="hold">
                                          <p:stCondLst>
                                            <p:cond delay="0"/>
                                          </p:stCondLst>
                                        </p:cTn>
                                        <p:tgtEl>
                                          <p:spTgt spid="24"/>
                                        </p:tgtEl>
                                        <p:attrNameLst>
                                          <p:attrName>style.visibility</p:attrName>
                                        </p:attrNameLst>
                                      </p:cBhvr>
                                      <p:to>
                                        <p:strVal val="visible"/>
                                      </p:to>
                                    </p:set>
                                    <p:animEffect transition="in" filter="fade">
                                      <p:cBhvr>
                                        <p:cTn id="61" dur="500"/>
                                        <p:tgtEl>
                                          <p:spTgt spid="24"/>
                                        </p:tgtEl>
                                      </p:cBhvr>
                                    </p:animEffect>
                                  </p:childTnLst>
                                </p:cTn>
                              </p:par>
                              <p:par>
                                <p:cTn id="62" presetID="10" presetClass="entr" presetSubtype="0" fill="hold" grpId="0" nodeType="withEffect">
                                  <p:stCondLst>
                                    <p:cond delay="0"/>
                                  </p:stCondLst>
                                  <p:childTnLst>
                                    <p:set>
                                      <p:cBhvr>
                                        <p:cTn id="63" dur="1" fill="hold">
                                          <p:stCondLst>
                                            <p:cond delay="0"/>
                                          </p:stCondLst>
                                        </p:cTn>
                                        <p:tgtEl>
                                          <p:spTgt spid="25"/>
                                        </p:tgtEl>
                                        <p:attrNameLst>
                                          <p:attrName>style.visibility</p:attrName>
                                        </p:attrNameLst>
                                      </p:cBhvr>
                                      <p:to>
                                        <p:strVal val="visible"/>
                                      </p:to>
                                    </p:set>
                                    <p:animEffect transition="in" filter="fade">
                                      <p:cBhvr>
                                        <p:cTn id="64" dur="500"/>
                                        <p:tgtEl>
                                          <p:spTgt spid="25"/>
                                        </p:tgtEl>
                                      </p:cBhvr>
                                    </p:animEffect>
                                  </p:childTnLst>
                                </p:cTn>
                              </p:par>
                              <p:par>
                                <p:cTn id="65" presetID="10" presetClass="entr" presetSubtype="0" fill="hold" grpId="0" nodeType="withEffect">
                                  <p:stCondLst>
                                    <p:cond delay="0"/>
                                  </p:stCondLst>
                                  <p:childTnLst>
                                    <p:set>
                                      <p:cBhvr>
                                        <p:cTn id="66" dur="1" fill="hold">
                                          <p:stCondLst>
                                            <p:cond delay="0"/>
                                          </p:stCondLst>
                                        </p:cTn>
                                        <p:tgtEl>
                                          <p:spTgt spid="26"/>
                                        </p:tgtEl>
                                        <p:attrNameLst>
                                          <p:attrName>style.visibility</p:attrName>
                                        </p:attrNameLst>
                                      </p:cBhvr>
                                      <p:to>
                                        <p:strVal val="visible"/>
                                      </p:to>
                                    </p:set>
                                    <p:animEffect transition="in" filter="fade">
                                      <p:cBhvr>
                                        <p:cTn id="67" dur="500"/>
                                        <p:tgtEl>
                                          <p:spTgt spid="26"/>
                                        </p:tgtEl>
                                      </p:cBhvr>
                                    </p:animEffect>
                                  </p:childTnLst>
                                </p:cTn>
                              </p:par>
                              <p:par>
                                <p:cTn id="68" presetID="10" presetClass="entr" presetSubtype="0" fill="hold" grpId="0" nodeType="withEffect">
                                  <p:stCondLst>
                                    <p:cond delay="0"/>
                                  </p:stCondLst>
                                  <p:childTnLst>
                                    <p:set>
                                      <p:cBhvr>
                                        <p:cTn id="69" dur="1" fill="hold">
                                          <p:stCondLst>
                                            <p:cond delay="0"/>
                                          </p:stCondLst>
                                        </p:cTn>
                                        <p:tgtEl>
                                          <p:spTgt spid="27"/>
                                        </p:tgtEl>
                                        <p:attrNameLst>
                                          <p:attrName>style.visibility</p:attrName>
                                        </p:attrNameLst>
                                      </p:cBhvr>
                                      <p:to>
                                        <p:strVal val="visible"/>
                                      </p:to>
                                    </p:set>
                                    <p:animEffect transition="in" filter="fade">
                                      <p:cBhvr>
                                        <p:cTn id="70" dur="500"/>
                                        <p:tgtEl>
                                          <p:spTgt spid="27"/>
                                        </p:tgtEl>
                                      </p:cBhvr>
                                    </p:animEffect>
                                  </p:childTnLst>
                                </p:cTn>
                              </p:par>
                            </p:childTnLst>
                          </p:cTn>
                        </p:par>
                      </p:childTnLst>
                    </p:cTn>
                  </p:par>
                  <p:par>
                    <p:cTn id="85" fill="hold">
                      <p:stCondLst>
                        <p:cond delay="indefinite"/>
                      </p:stCondLst>
                      <p:childTnLst>
                        <p:par>
                          <p:cTn id="86" fill="hold">
                            <p:stCondLst>
                              <p:cond delay="0"/>
                            </p:stCondLst>
                            <p:childTnLst>
                              <p:par>
                                <p:cTn id="73" presetID="10" presetClass="entr" presetSubtype="0" fill="hold" grpId="0" nodeType="clickEffect">
                                  <p:stCondLst>
                                    <p:cond delay="0"/>
                                  </p:stCondLst>
                                  <p:childTnLst>
                                    <p:set>
                                      <p:cBhvr>
                                        <p:cTn id="74" dur="1" fill="hold">
                                          <p:stCondLst>
                                            <p:cond delay="0"/>
                                          </p:stCondLst>
                                        </p:cTn>
                                        <p:tgtEl>
                                          <p:spTgt spid="28"/>
                                        </p:tgtEl>
                                        <p:attrNameLst>
                                          <p:attrName>style.visibility</p:attrName>
                                        </p:attrNameLst>
                                      </p:cBhvr>
                                      <p:to>
                                        <p:strVal val="visible"/>
                                      </p:to>
                                    </p:set>
                                    <p:animEffect transition="in" filter="fade">
                                      <p:cBhvr>
                                        <p:cTn id="75" dur="500"/>
                                        <p:tgtEl>
                                          <p:spTgt spid="28"/>
                                        </p:tgtEl>
                                      </p:cBhvr>
                                    </p:animEffect>
                                  </p:childTnLst>
                                </p:cTn>
                              </p:par>
                              <p:par>
                                <p:cTn id="76" presetID="10" presetClass="entr" presetSubtype="0" fill="hold" grpId="0" nodeType="withEffect">
                                  <p:stCondLst>
                                    <p:cond delay="0"/>
                                  </p:stCondLst>
                                  <p:childTnLst>
                                    <p:set>
                                      <p:cBhvr>
                                        <p:cTn id="77" dur="1" fill="hold">
                                          <p:stCondLst>
                                            <p:cond delay="0"/>
                                          </p:stCondLst>
                                        </p:cTn>
                                        <p:tgtEl>
                                          <p:spTgt spid="29"/>
                                        </p:tgtEl>
                                        <p:attrNameLst>
                                          <p:attrName>style.visibility</p:attrName>
                                        </p:attrNameLst>
                                      </p:cBhvr>
                                      <p:to>
                                        <p:strVal val="visible"/>
                                      </p:to>
                                    </p:set>
                                    <p:animEffect transition="in" filter="fade">
                                      <p:cBhvr>
                                        <p:cTn id="78" dur="500"/>
                                        <p:tgtEl>
                                          <p:spTgt spid="29"/>
                                        </p:tgtEl>
                                      </p:cBhvr>
                                    </p:animEffect>
                                  </p:childTnLst>
                                </p:cTn>
                              </p:par>
                              <p:par>
                                <p:cTn id="79" presetID="10" presetClass="entr" presetSubtype="0" fill="hold" grpId="0" nodeType="withEffect">
                                  <p:stCondLst>
                                    <p:cond delay="0"/>
                                  </p:stCondLst>
                                  <p:childTnLst>
                                    <p:set>
                                      <p:cBhvr>
                                        <p:cTn id="80" dur="1" fill="hold">
                                          <p:stCondLst>
                                            <p:cond delay="0"/>
                                          </p:stCondLst>
                                        </p:cTn>
                                        <p:tgtEl>
                                          <p:spTgt spid="30"/>
                                        </p:tgtEl>
                                        <p:attrNameLst>
                                          <p:attrName>style.visibility</p:attrName>
                                        </p:attrNameLst>
                                      </p:cBhvr>
                                      <p:to>
                                        <p:strVal val="visible"/>
                                      </p:to>
                                    </p:set>
                                    <p:animEffect transition="in" filter="fade">
                                      <p:cBhvr>
                                        <p:cTn id="81" dur="500"/>
                                        <p:tgtEl>
                                          <p:spTgt spid="30"/>
                                        </p:tgtEl>
                                      </p:cBhvr>
                                    </p:animEffect>
                                  </p:childTnLst>
                                </p:cTn>
                              </p:par>
                              <p:par>
                                <p:cTn id="82" presetID="10" presetClass="entr" presetSubtype="0" fill="hold" grpId="0" nodeType="withEffect">
                                  <p:stCondLst>
                                    <p:cond delay="0"/>
                                  </p:stCondLst>
                                  <p:childTnLst>
                                    <p:set>
                                      <p:cBhvr>
                                        <p:cTn id="83" dur="1" fill="hold">
                                          <p:stCondLst>
                                            <p:cond delay="0"/>
                                          </p:stCondLst>
                                        </p:cTn>
                                        <p:tgtEl>
                                          <p:spTgt spid="31"/>
                                        </p:tgtEl>
                                        <p:attrNameLst>
                                          <p:attrName>style.visibility</p:attrName>
                                        </p:attrNameLst>
                                      </p:cBhvr>
                                      <p:to>
                                        <p:strVal val="visible"/>
                                      </p:to>
                                    </p:set>
                                    <p:animEffect transition="in" filter="fade">
                                      <p:cBhvr>
                                        <p:cTn id="84" dur="500"/>
                                        <p:tgtEl>
                                          <p:spTgt spid="31"/>
                                        </p:tgtEl>
                                      </p:cBhvr>
                                    </p:animEffect>
                                  </p:childTnLst>
                                </p:cTn>
                              </p:par>
                            </p:childTnLst>
                          </p:cTn>
                        </p:par>
                      </p:childTnLst>
                    </p:cTn>
                  </p:par>
                  <p:par>
                    <p:cTn id="99" fill="hold">
                      <p:stCondLst>
                        <p:cond delay="indefinite"/>
                      </p:stCondLst>
                      <p:childTnLst>
                        <p:par>
                          <p:cTn id="100" fill="hold">
                            <p:stCondLst>
                              <p:cond delay="0"/>
                            </p:stCondLst>
                            <p:childTnLst>
                              <p:par>
                                <p:cTn id="87" presetID="10" presetClass="entr" presetSubtype="0" fill="hold" grpId="0" nodeType="clickEffect">
                                  <p:stCondLst>
                                    <p:cond delay="0"/>
                                  </p:stCondLst>
                                  <p:childTnLst>
                                    <p:set>
                                      <p:cBhvr>
                                        <p:cTn id="88" dur="1" fill="hold">
                                          <p:stCondLst>
                                            <p:cond delay="0"/>
                                          </p:stCondLst>
                                        </p:cTn>
                                        <p:tgtEl>
                                          <p:spTgt spid="32"/>
                                        </p:tgtEl>
                                        <p:attrNameLst>
                                          <p:attrName>style.visibility</p:attrName>
                                        </p:attrNameLst>
                                      </p:cBhvr>
                                      <p:to>
                                        <p:strVal val="visible"/>
                                      </p:to>
                                    </p:set>
                                    <p:animEffect transition="in" filter="fade">
                                      <p:cBhvr>
                                        <p:cTn id="89" dur="500"/>
                                        <p:tgtEl>
                                          <p:spTgt spid="32"/>
                                        </p:tgtEl>
                                      </p:cBhvr>
                                    </p:animEffect>
                                  </p:childTnLst>
                                </p:cTn>
                              </p:par>
                              <p:par>
                                <p:cTn id="90" presetID="10" presetClass="entr" presetSubtype="0" fill="hold" grpId="0" nodeType="withEffect">
                                  <p:stCondLst>
                                    <p:cond delay="0"/>
                                  </p:stCondLst>
                                  <p:childTnLst>
                                    <p:set>
                                      <p:cBhvr>
                                        <p:cTn id="91" dur="1" fill="hold">
                                          <p:stCondLst>
                                            <p:cond delay="0"/>
                                          </p:stCondLst>
                                        </p:cTn>
                                        <p:tgtEl>
                                          <p:spTgt spid="33"/>
                                        </p:tgtEl>
                                        <p:attrNameLst>
                                          <p:attrName>style.visibility</p:attrName>
                                        </p:attrNameLst>
                                      </p:cBhvr>
                                      <p:to>
                                        <p:strVal val="visible"/>
                                      </p:to>
                                    </p:set>
                                    <p:animEffect transition="in" filter="fade">
                                      <p:cBhvr>
                                        <p:cTn id="92" dur="500"/>
                                        <p:tgtEl>
                                          <p:spTgt spid="33"/>
                                        </p:tgtEl>
                                      </p:cBhvr>
                                    </p:animEffect>
                                  </p:childTnLst>
                                </p:cTn>
                              </p:par>
                              <p:par>
                                <p:cTn id="93" presetID="10" presetClass="entr" presetSubtype="0" fill="hold" grpId="0" nodeType="withEffect">
                                  <p:stCondLst>
                                    <p:cond delay="0"/>
                                  </p:stCondLst>
                                  <p:childTnLst>
                                    <p:set>
                                      <p:cBhvr>
                                        <p:cTn id="94" dur="1" fill="hold">
                                          <p:stCondLst>
                                            <p:cond delay="0"/>
                                          </p:stCondLst>
                                        </p:cTn>
                                        <p:tgtEl>
                                          <p:spTgt spid="34"/>
                                        </p:tgtEl>
                                        <p:attrNameLst>
                                          <p:attrName>style.visibility</p:attrName>
                                        </p:attrNameLst>
                                      </p:cBhvr>
                                      <p:to>
                                        <p:strVal val="visible"/>
                                      </p:to>
                                    </p:set>
                                    <p:animEffect transition="in" filter="fade">
                                      <p:cBhvr>
                                        <p:cTn id="95" dur="500"/>
                                        <p:tgtEl>
                                          <p:spTgt spid="34"/>
                                        </p:tgtEl>
                                      </p:cBhvr>
                                    </p:animEffect>
                                  </p:childTnLst>
                                </p:cTn>
                              </p:par>
                              <p:par>
                                <p:cTn id="96" presetID="10" presetClass="entr" presetSubtype="0" fill="hold" grpId="0" nodeType="withEffect">
                                  <p:stCondLst>
                                    <p:cond delay="0"/>
                                  </p:stCondLst>
                                  <p:childTnLst>
                                    <p:set>
                                      <p:cBhvr>
                                        <p:cTn id="97" dur="1" fill="hold">
                                          <p:stCondLst>
                                            <p:cond delay="0"/>
                                          </p:stCondLst>
                                        </p:cTn>
                                        <p:tgtEl>
                                          <p:spTgt spid="35"/>
                                        </p:tgtEl>
                                        <p:attrNameLst>
                                          <p:attrName>style.visibility</p:attrName>
                                        </p:attrNameLst>
                                      </p:cBhvr>
                                      <p:to>
                                        <p:strVal val="visible"/>
                                      </p:to>
                                    </p:set>
                                    <p:animEffect transition="in" filter="fade">
                                      <p:cBhvr>
                                        <p:cTn id="98" dur="500"/>
                                        <p:tgtEl>
                                          <p:spTgt spid="35"/>
                                        </p:tgtEl>
                                      </p:cBhvr>
                                    </p:animEffect>
                                  </p:childTnLst>
                                </p:cTn>
                              </p:par>
                            </p:childTnLst>
                          </p:cTn>
                        </p:par>
                      </p:childTnLst>
                    </p:cTn>
                  </p:par>
                  <p:par>
                    <p:cTn id="113" fill="hold">
                      <p:stCondLst>
                        <p:cond delay="indefinite"/>
                      </p:stCondLst>
                      <p:childTnLst>
                        <p:par>
                          <p:cTn id="114" fill="hold">
                            <p:stCondLst>
                              <p:cond delay="0"/>
                            </p:stCondLst>
                            <p:childTnLst>
                              <p:par>
                                <p:cTn id="101" presetID="10" presetClass="entr" presetSubtype="0" fill="hold" grpId="0" nodeType="clickEffect">
                                  <p:stCondLst>
                                    <p:cond delay="0"/>
                                  </p:stCondLst>
                                  <p:childTnLst>
                                    <p:set>
                                      <p:cBhvr>
                                        <p:cTn id="102" dur="1" fill="hold">
                                          <p:stCondLst>
                                            <p:cond delay="0"/>
                                          </p:stCondLst>
                                        </p:cTn>
                                        <p:tgtEl>
                                          <p:spTgt spid="36"/>
                                        </p:tgtEl>
                                        <p:attrNameLst>
                                          <p:attrName>style.visibility</p:attrName>
                                        </p:attrNameLst>
                                      </p:cBhvr>
                                      <p:to>
                                        <p:strVal val="visible"/>
                                      </p:to>
                                    </p:set>
                                    <p:animEffect transition="in" filter="fade">
                                      <p:cBhvr>
                                        <p:cTn id="103" dur="500"/>
                                        <p:tgtEl>
                                          <p:spTgt spid="36"/>
                                        </p:tgtEl>
                                      </p:cBhvr>
                                    </p:animEffect>
                                  </p:childTnLst>
                                </p:cTn>
                              </p:par>
                              <p:par>
                                <p:cTn id="104" presetID="10" presetClass="entr" presetSubtype="0" fill="hold" grpId="0" nodeType="withEffect">
                                  <p:stCondLst>
                                    <p:cond delay="0"/>
                                  </p:stCondLst>
                                  <p:childTnLst>
                                    <p:set>
                                      <p:cBhvr>
                                        <p:cTn id="105" dur="1" fill="hold">
                                          <p:stCondLst>
                                            <p:cond delay="0"/>
                                          </p:stCondLst>
                                        </p:cTn>
                                        <p:tgtEl>
                                          <p:spTgt spid="37"/>
                                        </p:tgtEl>
                                        <p:attrNameLst>
                                          <p:attrName>style.visibility</p:attrName>
                                        </p:attrNameLst>
                                      </p:cBhvr>
                                      <p:to>
                                        <p:strVal val="visible"/>
                                      </p:to>
                                    </p:set>
                                    <p:animEffect transition="in" filter="fade">
                                      <p:cBhvr>
                                        <p:cTn id="106" dur="500"/>
                                        <p:tgtEl>
                                          <p:spTgt spid="37"/>
                                        </p:tgtEl>
                                      </p:cBhvr>
                                    </p:animEffect>
                                  </p:childTnLst>
                                </p:cTn>
                              </p:par>
                              <p:par>
                                <p:cTn id="107" presetID="10" presetClass="entr" presetSubtype="0" fill="hold" grpId="0" nodeType="withEffect">
                                  <p:stCondLst>
                                    <p:cond delay="0"/>
                                  </p:stCondLst>
                                  <p:childTnLst>
                                    <p:set>
                                      <p:cBhvr>
                                        <p:cTn id="108" dur="1" fill="hold">
                                          <p:stCondLst>
                                            <p:cond delay="0"/>
                                          </p:stCondLst>
                                        </p:cTn>
                                        <p:tgtEl>
                                          <p:spTgt spid="38"/>
                                        </p:tgtEl>
                                        <p:attrNameLst>
                                          <p:attrName>style.visibility</p:attrName>
                                        </p:attrNameLst>
                                      </p:cBhvr>
                                      <p:to>
                                        <p:strVal val="visible"/>
                                      </p:to>
                                    </p:set>
                                    <p:animEffect transition="in" filter="fade">
                                      <p:cBhvr>
                                        <p:cTn id="109" dur="500"/>
                                        <p:tgtEl>
                                          <p:spTgt spid="38"/>
                                        </p:tgtEl>
                                      </p:cBhvr>
                                    </p:animEffect>
                                  </p:childTnLst>
                                </p:cTn>
                              </p:par>
                              <p:par>
                                <p:cTn id="110" presetID="10" presetClass="entr" presetSubtype="0" fill="hold" grpId="0" nodeType="withEffect">
                                  <p:stCondLst>
                                    <p:cond delay="0"/>
                                  </p:stCondLst>
                                  <p:childTnLst>
                                    <p:set>
                                      <p:cBhvr>
                                        <p:cTn id="111" dur="1" fill="hold">
                                          <p:stCondLst>
                                            <p:cond delay="0"/>
                                          </p:stCondLst>
                                        </p:cTn>
                                        <p:tgtEl>
                                          <p:spTgt spid="39"/>
                                        </p:tgtEl>
                                        <p:attrNameLst>
                                          <p:attrName>style.visibility</p:attrName>
                                        </p:attrNameLst>
                                      </p:cBhvr>
                                      <p:to>
                                        <p:strVal val="visible"/>
                                      </p:to>
                                    </p:set>
                                    <p:animEffect transition="in" filter="fade">
                                      <p:cBhvr>
                                        <p:cTn id="112" dur="500"/>
                                        <p:tgtEl>
                                          <p:spTgt spid="3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64592"/>
          </a:xfrm>
          <a:prstGeom prst="rect">
            <a:avLst/>
          </a:prstGeom>
          <a:solidFill>
            <a:srgbClr val="143D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411480"/>
            <a:ext cx="6766560" cy="274320"/>
          </a:xfrm>
          <a:prstGeom prst="rect">
            <a:avLst/>
          </a:prstGeom>
          <a:noFill/>
        </p:spPr>
        <p:txBody>
          <a:bodyPr wrap="square" lIns="0" rIns="0" tIns="0" bIns="0">
            <a:spAutoFit/>
          </a:bodyPr>
          <a:lstStyle/>
          <a:p>
            <a:pPr>
              <a:lnSpc>
                <a:spcPct val="100000"/>
              </a:lnSpc>
            </a:pPr>
            <a:r>
              <a:rPr sz="1100" b="1">
                <a:solidFill>
                  <a:srgbClr val="2A9D8F"/>
                </a:solidFill>
                <a:latin typeface="Calibri"/>
              </a:rPr>
              <a:t>LET'S DISCUSS</a:t>
            </a:r>
          </a:p>
        </p:txBody>
      </p:sp>
      <p:sp>
        <p:nvSpPr>
          <p:cNvPr id="4" name="TextBox 3"/>
          <p:cNvSpPr txBox="1"/>
          <p:nvPr/>
        </p:nvSpPr>
        <p:spPr>
          <a:xfrm>
            <a:off x="548640" y="685800"/>
            <a:ext cx="6766560" cy="1097280"/>
          </a:xfrm>
          <a:prstGeom prst="rect">
            <a:avLst/>
          </a:prstGeom>
          <a:noFill/>
        </p:spPr>
        <p:txBody>
          <a:bodyPr wrap="square" lIns="0" rIns="0" tIns="0" bIns="0">
            <a:spAutoFit/>
          </a:bodyPr>
          <a:lstStyle/>
          <a:p>
            <a:pPr>
              <a:lnSpc>
                <a:spcPct val="100000"/>
              </a:lnSpc>
            </a:pPr>
            <a:r>
              <a:rPr sz="3000" b="1">
                <a:solidFill>
                  <a:srgbClr val="143D59"/>
                </a:solidFill>
                <a:latin typeface="Calibri"/>
              </a:rPr>
              <a:t>Three questions to start our discussion</a:t>
            </a:r>
          </a:p>
        </p:txBody>
      </p:sp>
      <p:sp>
        <p:nvSpPr>
          <p:cNvPr id="5" name="Rounded Rectangle 4"/>
          <p:cNvSpPr/>
          <p:nvPr/>
        </p:nvSpPr>
        <p:spPr>
          <a:xfrm>
            <a:off x="7635240" y="914400"/>
            <a:ext cx="4023360" cy="4846320"/>
          </a:xfrm>
          <a:prstGeom prst="roundRect">
            <a:avLst>
              <a:gd name="adj" fmla="val 5000"/>
            </a:avLst>
          </a:prstGeom>
          <a:solidFill>
            <a:srgbClr val="F4EFE6"/>
          </a:solidFill>
          <a:ln>
            <a:solidFill>
              <a:srgbClr val="E7E0D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qr-linkedin.png"/>
          <p:cNvPicPr>
            <a:picLocks noChangeAspect="1"/>
          </p:cNvPicPr>
          <p:nvPr/>
        </p:nvPicPr>
        <p:blipFill>
          <a:blip r:embed="rId2"/>
          <a:stretch>
            <a:fillRect/>
          </a:stretch>
        </p:blipFill>
        <p:spPr>
          <a:xfrm>
            <a:off x="8229600" y="1234440"/>
            <a:ext cx="2834640" cy="2834640"/>
          </a:xfrm>
          <a:prstGeom prst="rect">
            <a:avLst/>
          </a:prstGeom>
        </p:spPr>
      </p:pic>
      <p:sp>
        <p:nvSpPr>
          <p:cNvPr id="7" name="TextBox 6"/>
          <p:cNvSpPr txBox="1"/>
          <p:nvPr/>
        </p:nvSpPr>
        <p:spPr>
          <a:xfrm>
            <a:off x="7635240" y="4206240"/>
            <a:ext cx="4023360" cy="365760"/>
          </a:xfrm>
          <a:prstGeom prst="rect">
            <a:avLst/>
          </a:prstGeom>
          <a:noFill/>
        </p:spPr>
        <p:txBody>
          <a:bodyPr wrap="square" lIns="0" rIns="0" tIns="0" bIns="0">
            <a:spAutoFit/>
          </a:bodyPr>
          <a:lstStyle/>
          <a:p>
            <a:pPr algn="ctr">
              <a:lnSpc>
                <a:spcPct val="100000"/>
              </a:lnSpc>
            </a:pPr>
            <a:r>
              <a:rPr sz="2000" b="1">
                <a:solidFill>
                  <a:srgbClr val="143D59"/>
                </a:solidFill>
                <a:latin typeface="Calibri"/>
              </a:rPr>
              <a:t>Matthias Buchhorn</a:t>
            </a:r>
          </a:p>
        </p:txBody>
      </p:sp>
      <p:sp>
        <p:nvSpPr>
          <p:cNvPr id="8" name="TextBox 7"/>
          <p:cNvSpPr txBox="1"/>
          <p:nvPr/>
        </p:nvSpPr>
        <p:spPr>
          <a:xfrm>
            <a:off x="7635240" y="4617720"/>
            <a:ext cx="4023360" cy="274320"/>
          </a:xfrm>
          <a:prstGeom prst="rect">
            <a:avLst/>
          </a:prstGeom>
          <a:noFill/>
        </p:spPr>
        <p:txBody>
          <a:bodyPr wrap="square" lIns="0" rIns="0" tIns="0" bIns="0">
            <a:spAutoFit/>
          </a:bodyPr>
          <a:lstStyle/>
          <a:p>
            <a:pPr algn="ctr">
              <a:lnSpc>
                <a:spcPct val="100000"/>
              </a:lnSpc>
            </a:pPr>
            <a:r>
              <a:rPr sz="1300" b="0">
                <a:solidFill>
                  <a:srgbClr val="4F5560"/>
                </a:solidFill>
                <a:latin typeface="Calibri"/>
              </a:rPr>
              <a:t>Scan to continue on LinkedIn</a:t>
            </a:r>
          </a:p>
        </p:txBody>
      </p:sp>
      <p:sp>
        <p:nvSpPr>
          <p:cNvPr id="9" name="TextBox 8"/>
          <p:cNvSpPr txBox="1"/>
          <p:nvPr/>
        </p:nvSpPr>
        <p:spPr>
          <a:xfrm>
            <a:off x="7635240" y="4983480"/>
            <a:ext cx="4023360" cy="320040"/>
          </a:xfrm>
          <a:prstGeom prst="rect">
            <a:avLst/>
          </a:prstGeom>
          <a:noFill/>
        </p:spPr>
        <p:txBody>
          <a:bodyPr wrap="square" lIns="0" rIns="0" tIns="0" bIns="0">
            <a:spAutoFit/>
          </a:bodyPr>
          <a:lstStyle/>
          <a:p>
            <a:pPr algn="ctr"/>
            <a:r>
              <a:rPr sz="1400" u="sng">
                <a:solidFill>
                  <a:srgbClr val="2A9D8F"/>
                </a:solidFill>
                <a:latin typeface="Calibri"/>
                <a:hlinkClick r:id="rId3"/>
              </a:rPr>
              <a:t>linkedin.com/in/mbuchhorn</a:t>
            </a:r>
          </a:p>
        </p:txBody>
      </p:sp>
      <p:sp>
        <p:nvSpPr>
          <p:cNvPr id="10" name="Rounded Rectangle 9"/>
          <p:cNvSpPr/>
          <p:nvPr/>
        </p:nvSpPr>
        <p:spPr>
          <a:xfrm>
            <a:off x="548640" y="2011680"/>
            <a:ext cx="6766560" cy="868680"/>
          </a:xfrm>
          <a:prstGeom prst="roundRect">
            <a:avLst>
              <a:gd name="adj" fmla="val 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48640" y="2011680"/>
            <a:ext cx="109728" cy="868680"/>
          </a:xfrm>
          <a:prstGeom prst="rect">
            <a:avLst/>
          </a:prstGeom>
          <a:solidFill>
            <a:srgbClr val="2A9D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868680" y="2194560"/>
            <a:ext cx="502920" cy="502920"/>
          </a:xfrm>
          <a:prstGeom prst="ellipse">
            <a:avLst/>
          </a:prstGeom>
          <a:solidFill>
            <a:srgbClr val="2A9D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68680" y="2194560"/>
            <a:ext cx="502920" cy="502920"/>
          </a:xfrm>
          <a:prstGeom prst="rect">
            <a:avLst/>
          </a:prstGeom>
          <a:noFill/>
        </p:spPr>
        <p:txBody>
          <a:bodyPr wrap="square" lIns="0" rIns="0" tIns="0" bIns="0" anchor="ctr">
            <a:spAutoFit/>
          </a:bodyPr>
          <a:lstStyle/>
          <a:p>
            <a:pPr algn="ctr">
              <a:lnSpc>
                <a:spcPct val="100000"/>
              </a:lnSpc>
            </a:pPr>
            <a:r>
              <a:rPr sz="1600" b="1">
                <a:solidFill>
                  <a:srgbClr val="FFFFFF"/>
                </a:solidFill>
                <a:latin typeface="Calibri"/>
              </a:rPr>
              <a:t>1</a:t>
            </a:r>
          </a:p>
        </p:txBody>
      </p:sp>
      <p:sp>
        <p:nvSpPr>
          <p:cNvPr id="14" name="TextBox 13"/>
          <p:cNvSpPr txBox="1"/>
          <p:nvPr/>
        </p:nvSpPr>
        <p:spPr>
          <a:xfrm>
            <a:off x="1600200" y="2011680"/>
            <a:ext cx="5577840" cy="868680"/>
          </a:xfrm>
          <a:prstGeom prst="rect">
            <a:avLst/>
          </a:prstGeom>
          <a:noFill/>
        </p:spPr>
        <p:txBody>
          <a:bodyPr wrap="square" lIns="0" rIns="0" tIns="0" bIns="0" anchor="ctr">
            <a:spAutoFit/>
          </a:bodyPr>
          <a:lstStyle/>
          <a:p>
            <a:pPr>
              <a:lnSpc>
                <a:spcPct val="100000"/>
              </a:lnSpc>
            </a:pPr>
            <a:r>
              <a:rPr sz="1700" b="1">
                <a:solidFill>
                  <a:srgbClr val="143D59"/>
                </a:solidFill>
                <a:latin typeface="Calibri"/>
              </a:rPr>
              <a:t>Which one or two use cases would show value first?</a:t>
            </a:r>
          </a:p>
        </p:txBody>
      </p:sp>
      <p:sp>
        <p:nvSpPr>
          <p:cNvPr id="15" name="Rounded Rectangle 14"/>
          <p:cNvSpPr/>
          <p:nvPr/>
        </p:nvSpPr>
        <p:spPr>
          <a:xfrm>
            <a:off x="548640" y="3035808"/>
            <a:ext cx="6766560" cy="868680"/>
          </a:xfrm>
          <a:prstGeom prst="roundRect">
            <a:avLst>
              <a:gd name="adj" fmla="val 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48640" y="3035808"/>
            <a:ext cx="109728" cy="868680"/>
          </a:xfrm>
          <a:prstGeom prst="rect">
            <a:avLst/>
          </a:prstGeom>
          <a:solidFill>
            <a:srgbClr val="E6A8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868680" y="3218688"/>
            <a:ext cx="502920" cy="502920"/>
          </a:xfrm>
          <a:prstGeom prst="ellipse">
            <a:avLst/>
          </a:prstGeom>
          <a:solidFill>
            <a:srgbClr val="E6A8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68680" y="3218688"/>
            <a:ext cx="502920" cy="502920"/>
          </a:xfrm>
          <a:prstGeom prst="rect">
            <a:avLst/>
          </a:prstGeom>
          <a:noFill/>
        </p:spPr>
        <p:txBody>
          <a:bodyPr wrap="square" lIns="0" rIns="0" tIns="0" bIns="0" anchor="ctr">
            <a:spAutoFit/>
          </a:bodyPr>
          <a:lstStyle/>
          <a:p>
            <a:pPr algn="ctr">
              <a:lnSpc>
                <a:spcPct val="100000"/>
              </a:lnSpc>
            </a:pPr>
            <a:r>
              <a:rPr sz="1600" b="1">
                <a:solidFill>
                  <a:srgbClr val="FFFFFF"/>
                </a:solidFill>
                <a:latin typeface="Calibri"/>
              </a:rPr>
              <a:t>2</a:t>
            </a:r>
          </a:p>
        </p:txBody>
      </p:sp>
      <p:sp>
        <p:nvSpPr>
          <p:cNvPr id="19" name="TextBox 18"/>
          <p:cNvSpPr txBox="1"/>
          <p:nvPr/>
        </p:nvSpPr>
        <p:spPr>
          <a:xfrm>
            <a:off x="1600200" y="3035808"/>
            <a:ext cx="5577840" cy="868680"/>
          </a:xfrm>
          <a:prstGeom prst="rect">
            <a:avLst/>
          </a:prstGeom>
          <a:noFill/>
        </p:spPr>
        <p:txBody>
          <a:bodyPr wrap="square" lIns="0" rIns="0" tIns="0" bIns="0" anchor="ctr">
            <a:spAutoFit/>
          </a:bodyPr>
          <a:lstStyle/>
          <a:p>
            <a:pPr>
              <a:lnSpc>
                <a:spcPct val="100000"/>
              </a:lnSpc>
            </a:pPr>
            <a:r>
              <a:rPr sz="1700" b="1">
                <a:solidFill>
                  <a:srgbClr val="143D59"/>
                </a:solidFill>
                <a:latin typeface="Calibri"/>
              </a:rPr>
              <a:t>Who will set the rules, and who will run the services?</a:t>
            </a:r>
          </a:p>
        </p:txBody>
      </p:sp>
      <p:sp>
        <p:nvSpPr>
          <p:cNvPr id="20" name="Rounded Rectangle 19"/>
          <p:cNvSpPr/>
          <p:nvPr/>
        </p:nvSpPr>
        <p:spPr>
          <a:xfrm>
            <a:off x="548640" y="4059936"/>
            <a:ext cx="6766560" cy="868680"/>
          </a:xfrm>
          <a:prstGeom prst="roundRect">
            <a:avLst>
              <a:gd name="adj" fmla="val 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548640" y="4059936"/>
            <a:ext cx="109728" cy="868680"/>
          </a:xfrm>
          <a:prstGeom prst="rect">
            <a:avLst/>
          </a:prstGeom>
          <a:solidFill>
            <a:srgbClr val="143D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868680" y="4242816"/>
            <a:ext cx="502920" cy="502920"/>
          </a:xfrm>
          <a:prstGeom prst="ellipse">
            <a:avLst/>
          </a:prstGeom>
          <a:solidFill>
            <a:srgbClr val="143D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68680" y="4242816"/>
            <a:ext cx="502920" cy="502920"/>
          </a:xfrm>
          <a:prstGeom prst="rect">
            <a:avLst/>
          </a:prstGeom>
          <a:noFill/>
        </p:spPr>
        <p:txBody>
          <a:bodyPr wrap="square" lIns="0" rIns="0" tIns="0" bIns="0" anchor="ctr">
            <a:spAutoFit/>
          </a:bodyPr>
          <a:lstStyle/>
          <a:p>
            <a:pPr algn="ctr">
              <a:lnSpc>
                <a:spcPct val="100000"/>
              </a:lnSpc>
            </a:pPr>
            <a:r>
              <a:rPr sz="1600" b="1">
                <a:solidFill>
                  <a:srgbClr val="FFFFFF"/>
                </a:solidFill>
                <a:latin typeface="Calibri"/>
              </a:rPr>
              <a:t>3</a:t>
            </a:r>
          </a:p>
        </p:txBody>
      </p:sp>
      <p:sp>
        <p:nvSpPr>
          <p:cNvPr id="24" name="TextBox 23"/>
          <p:cNvSpPr txBox="1"/>
          <p:nvPr/>
        </p:nvSpPr>
        <p:spPr>
          <a:xfrm>
            <a:off x="1600200" y="4059936"/>
            <a:ext cx="5577840" cy="868680"/>
          </a:xfrm>
          <a:prstGeom prst="rect">
            <a:avLst/>
          </a:prstGeom>
          <a:noFill/>
        </p:spPr>
        <p:txBody>
          <a:bodyPr wrap="square" lIns="0" rIns="0" tIns="0" bIns="0" anchor="ctr">
            <a:spAutoFit/>
          </a:bodyPr>
          <a:lstStyle/>
          <a:p>
            <a:pPr>
              <a:lnSpc>
                <a:spcPct val="100000"/>
              </a:lnSpc>
            </a:pPr>
            <a:r>
              <a:rPr sz="1700" b="1">
                <a:solidFill>
                  <a:srgbClr val="143D59"/>
                </a:solidFill>
                <a:latin typeface="Calibri"/>
              </a:rPr>
              <a:t>Which hospitals would join the first working group?</a:t>
            </a:r>
          </a:p>
        </p:txBody>
      </p:sp>
      <p:sp>
        <p:nvSpPr>
          <p:cNvPr id="25" name="TextBox 24"/>
          <p:cNvSpPr txBox="1"/>
          <p:nvPr/>
        </p:nvSpPr>
        <p:spPr>
          <a:xfrm>
            <a:off x="548640" y="5257800"/>
            <a:ext cx="6766560" cy="457200"/>
          </a:xfrm>
          <a:prstGeom prst="rect">
            <a:avLst/>
          </a:prstGeom>
          <a:noFill/>
        </p:spPr>
        <p:txBody>
          <a:bodyPr wrap="square" lIns="0" rIns="0" tIns="0" bIns="0">
            <a:spAutoFit/>
          </a:bodyPr>
          <a:lstStyle/>
          <a:p>
            <a:pPr>
              <a:lnSpc>
                <a:spcPct val="100000"/>
              </a:lnSpc>
            </a:pPr>
            <a:r>
              <a:rPr sz="2200" b="1">
                <a:solidFill>
                  <a:srgbClr val="143D59"/>
                </a:solidFill>
                <a:latin typeface="Calibri"/>
              </a:rPr>
              <a:t>Eskerrik asko  ·  Gracias  ·  Thank you</a:t>
            </a:r>
          </a:p>
        </p:txBody>
      </p:sp>
      <p:sp>
        <p:nvSpPr>
          <p:cNvPr id="26" name="TextBox 25"/>
          <p:cNvSpPr txBox="1"/>
          <p:nvPr/>
        </p:nvSpPr>
        <p:spPr>
          <a:xfrm>
            <a:off x="548640" y="5760720"/>
            <a:ext cx="6766560" cy="320040"/>
          </a:xfrm>
          <a:prstGeom prst="rect">
            <a:avLst/>
          </a:prstGeom>
          <a:noFill/>
        </p:spPr>
        <p:txBody>
          <a:bodyPr wrap="square" lIns="0" rIns="0" tIns="0" bIns="0">
            <a:spAutoFit/>
          </a:bodyPr>
          <a:lstStyle/>
          <a:p>
            <a:r>
              <a:rPr sz="1400">
                <a:solidFill>
                  <a:srgbClr val="4F5560"/>
                </a:solidFill>
                <a:latin typeface="Calibri"/>
              </a:rPr>
              <a:t>Live demonstration: </a:t>
            </a:r>
            <a:r>
              <a:rPr sz="1400" u="sng">
                <a:solidFill>
                  <a:srgbClr val="2A9D8F"/>
                </a:solidFill>
                <a:latin typeface="Calibri"/>
                <a:hlinkClick r:id="rId4"/>
              </a:rPr>
              <a:t>ehds.mabu.red</a:t>
            </a:r>
          </a:p>
        </p:txBody>
      </p:sp>
      <p:sp>
        <p:nvSpPr>
          <p:cNvPr id="27" name="TextBox 26"/>
          <p:cNvSpPr txBox="1"/>
          <p:nvPr/>
        </p:nvSpPr>
        <p:spPr>
          <a:xfrm>
            <a:off x="548640" y="6446520"/>
            <a:ext cx="7315200" cy="274320"/>
          </a:xfrm>
          <a:prstGeom prst="rect">
            <a:avLst/>
          </a:prstGeom>
          <a:noFill/>
        </p:spPr>
        <p:txBody>
          <a:bodyPr wrap="square" lIns="0" rIns="0" tIns="0" bIns="0">
            <a:spAutoFit/>
          </a:bodyPr>
          <a:lstStyle/>
          <a:p>
            <a:pPr>
              <a:lnSpc>
                <a:spcPct val="100000"/>
              </a:lnSpc>
            </a:pPr>
            <a:r>
              <a:rPr sz="1000" b="0">
                <a:solidFill>
                  <a:srgbClr val="4F5560"/>
                </a:solidFill>
                <a:latin typeface="Calibri"/>
              </a:rPr>
              <a:t>Reunión de preparación  ·  Espacio de Datos EJIE  ·  País Vasco</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18" fill="hold">
                      <p:stCondLst>
                        <p:cond delay="indefinite"/>
                      </p:stCondLst>
                      <p:childTnLst>
                        <p:par>
                          <p:cTn id="19" fill="hold">
                            <p:stCondLst>
                              <p:cond delay="0"/>
                            </p:stCondLst>
                            <p:childTnLst>
                              <p:par>
                                <p:cTn id="3" presetID="10" presetClass="entr" presetSubtype="0" fill="hold" grpId="0" nodeType="clickEffect">
                                  <p:stCondLst>
                                    <p:cond delay="0"/>
                                  </p:stCondLst>
                                  <p:childTnLst>
                                    <p:set>
                                      <p:cBhvr>
                                        <p:cTn id="4" dur="1" fill="hold">
                                          <p:stCondLst>
                                            <p:cond delay="0"/>
                                          </p:stCondLst>
                                        </p:cTn>
                                        <p:tgtEl>
                                          <p:spTgt spid="10"/>
                                        </p:tgtEl>
                                        <p:attrNameLst>
                                          <p:attrName>style.visibility</p:attrName>
                                        </p:attrNameLst>
                                      </p:cBhvr>
                                      <p:to>
                                        <p:strVal val="visible"/>
                                      </p:to>
                                    </p:set>
                                    <p:animEffect transition="in" filter="fade">
                                      <p:cBhvr>
                                        <p:cTn id="5" dur="500"/>
                                        <p:tgtEl>
                                          <p:spTgt spid="10"/>
                                        </p:tgtEl>
                                      </p:cBhvr>
                                    </p:animEffect>
                                  </p:childTnLst>
                                </p:cTn>
                              </p:par>
                              <p:par>
                                <p:cTn id="6" presetID="10" presetClass="entr" presetSubtype="0" fill="hold" grpId="0" nodeType="withEffect">
                                  <p:stCondLst>
                                    <p:cond delay="0"/>
                                  </p:stCondLst>
                                  <p:childTnLst>
                                    <p:set>
                                      <p:cBhvr>
                                        <p:cTn id="7" dur="1" fill="hold">
                                          <p:stCondLst>
                                            <p:cond delay="0"/>
                                          </p:stCondLst>
                                        </p:cTn>
                                        <p:tgtEl>
                                          <p:spTgt spid="11"/>
                                        </p:tgtEl>
                                        <p:attrNameLst>
                                          <p:attrName>style.visibility</p:attrName>
                                        </p:attrNameLst>
                                      </p:cBhvr>
                                      <p:to>
                                        <p:strVal val="visible"/>
                                      </p:to>
                                    </p:set>
                                    <p:animEffect transition="in" filter="fade">
                                      <p:cBhvr>
                                        <p:cTn id="8" dur="500"/>
                                        <p:tgtEl>
                                          <p:spTgt spid="11"/>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12"/>
                                        </p:tgtEl>
                                        <p:attrNameLst>
                                          <p:attrName>style.visibility</p:attrName>
                                        </p:attrNameLst>
                                      </p:cBhvr>
                                      <p:to>
                                        <p:strVal val="visible"/>
                                      </p:to>
                                    </p:set>
                                    <p:animEffect transition="in" filter="fade">
                                      <p:cBhvr>
                                        <p:cTn id="11" dur="500"/>
                                        <p:tgtEl>
                                          <p:spTgt spid="12"/>
                                        </p:tgtEl>
                                      </p:cBhvr>
                                    </p:animEffect>
                                  </p:childTnLst>
                                </p:cTn>
                              </p:par>
                              <p:par>
                                <p:cTn id="12" presetID="10" presetClass="entr" presetSubtype="0" fill="hold" grpId="0" nodeType="withEffect">
                                  <p:stCondLst>
                                    <p:cond delay="0"/>
                                  </p:stCondLst>
                                  <p:childTnLst>
                                    <p:set>
                                      <p:cBhvr>
                                        <p:cTn id="13" dur="1" fill="hold">
                                          <p:stCondLst>
                                            <p:cond delay="0"/>
                                          </p:stCondLst>
                                        </p:cTn>
                                        <p:tgtEl>
                                          <p:spTgt spid="13"/>
                                        </p:tgtEl>
                                        <p:attrNameLst>
                                          <p:attrName>style.visibility</p:attrName>
                                        </p:attrNameLst>
                                      </p:cBhvr>
                                      <p:to>
                                        <p:strVal val="visible"/>
                                      </p:to>
                                    </p:set>
                                    <p:animEffect transition="in" filter="fade">
                                      <p:cBhvr>
                                        <p:cTn id="14" dur="500"/>
                                        <p:tgtEl>
                                          <p:spTgt spid="13"/>
                                        </p:tgtEl>
                                      </p:cBhvr>
                                    </p:animEffect>
                                  </p:childTnLst>
                                </p:cTn>
                              </p:par>
                              <p:par>
                                <p:cTn id="15" presetID="10" presetClass="entr" presetSubtype="0" fill="hold" grpId="0" nodeType="withEffect">
                                  <p:stCondLst>
                                    <p:cond delay="0"/>
                                  </p:stCondLst>
                                  <p:childTnLst>
                                    <p:set>
                                      <p:cBhvr>
                                        <p:cTn id="16" dur="1" fill="hold">
                                          <p:stCondLst>
                                            <p:cond delay="0"/>
                                          </p:stCondLst>
                                        </p:cTn>
                                        <p:tgtEl>
                                          <p:spTgt spid="14"/>
                                        </p:tgtEl>
                                        <p:attrNameLst>
                                          <p:attrName>style.visibility</p:attrName>
                                        </p:attrNameLst>
                                      </p:cBhvr>
                                      <p:to>
                                        <p:strVal val="visible"/>
                                      </p:to>
                                    </p:set>
                                    <p:animEffect transition="in" filter="fade">
                                      <p:cBhvr>
                                        <p:cTn id="17" dur="500"/>
                                        <p:tgtEl>
                                          <p:spTgt spid="14"/>
                                        </p:tgtEl>
                                      </p:cBhvr>
                                    </p:animEffect>
                                  </p:childTnLst>
                                </p:cTn>
                              </p:par>
                            </p:childTnLst>
                          </p:cTn>
                        </p:par>
                      </p:childTnLst>
                    </p:cTn>
                  </p:par>
                  <p:par>
                    <p:cTn id="35" fill="hold">
                      <p:stCondLst>
                        <p:cond delay="indefinite"/>
                      </p:stCondLst>
                      <p:childTnLst>
                        <p:par>
                          <p:cTn id="36"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15"/>
                                        </p:tgtEl>
                                        <p:attrNameLst>
                                          <p:attrName>style.visibility</p:attrName>
                                        </p:attrNameLst>
                                      </p:cBhvr>
                                      <p:to>
                                        <p:strVal val="visible"/>
                                      </p:to>
                                    </p:set>
                                    <p:animEffect transition="in" filter="fade">
                                      <p:cBhvr>
                                        <p:cTn id="22" dur="500"/>
                                        <p:tgtEl>
                                          <p:spTgt spid="15"/>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16"/>
                                        </p:tgtEl>
                                        <p:attrNameLst>
                                          <p:attrName>style.visibility</p:attrName>
                                        </p:attrNameLst>
                                      </p:cBhvr>
                                      <p:to>
                                        <p:strVal val="visible"/>
                                      </p:to>
                                    </p:set>
                                    <p:animEffect transition="in" filter="fade">
                                      <p:cBhvr>
                                        <p:cTn id="25" dur="500"/>
                                        <p:tgtEl>
                                          <p:spTgt spid="16"/>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17"/>
                                        </p:tgtEl>
                                        <p:attrNameLst>
                                          <p:attrName>style.visibility</p:attrName>
                                        </p:attrNameLst>
                                      </p:cBhvr>
                                      <p:to>
                                        <p:strVal val="visible"/>
                                      </p:to>
                                    </p:set>
                                    <p:animEffect transition="in" filter="fade">
                                      <p:cBhvr>
                                        <p:cTn id="28" dur="500"/>
                                        <p:tgtEl>
                                          <p:spTgt spid="17"/>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18"/>
                                        </p:tgtEl>
                                        <p:attrNameLst>
                                          <p:attrName>style.visibility</p:attrName>
                                        </p:attrNameLst>
                                      </p:cBhvr>
                                      <p:to>
                                        <p:strVal val="visible"/>
                                      </p:to>
                                    </p:set>
                                    <p:animEffect transition="in" filter="fade">
                                      <p:cBhvr>
                                        <p:cTn id="31" dur="500"/>
                                        <p:tgtEl>
                                          <p:spTgt spid="18"/>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19"/>
                                        </p:tgtEl>
                                        <p:attrNameLst>
                                          <p:attrName>style.visibility</p:attrName>
                                        </p:attrNameLst>
                                      </p:cBhvr>
                                      <p:to>
                                        <p:strVal val="visible"/>
                                      </p:to>
                                    </p:set>
                                    <p:animEffect transition="in" filter="fade">
                                      <p:cBhvr>
                                        <p:cTn id="34" dur="500"/>
                                        <p:tgtEl>
                                          <p:spTgt spid="19"/>
                                        </p:tgtEl>
                                      </p:cBhvr>
                                    </p:animEffect>
                                  </p:childTnLst>
                                </p:cTn>
                              </p:par>
                            </p:childTnLst>
                          </p:cTn>
                        </p:par>
                      </p:childTnLst>
                    </p:cTn>
                  </p:par>
                  <p:par>
                    <p:cTn id="52" fill="hold">
                      <p:stCondLst>
                        <p:cond delay="indefinite"/>
                      </p:stCondLst>
                      <p:childTnLst>
                        <p:par>
                          <p:cTn id="53" fill="hold">
                            <p:stCondLst>
                              <p:cond delay="0"/>
                            </p:stCondLst>
                            <p:childTnLst>
                              <p:par>
                                <p:cTn id="37" presetID="10" presetClass="entr" presetSubtype="0" fill="hold" grpId="0" nodeType="clickEffect">
                                  <p:stCondLst>
                                    <p:cond delay="0"/>
                                  </p:stCondLst>
                                  <p:childTnLst>
                                    <p:set>
                                      <p:cBhvr>
                                        <p:cTn id="38" dur="1" fill="hold">
                                          <p:stCondLst>
                                            <p:cond delay="0"/>
                                          </p:stCondLst>
                                        </p:cTn>
                                        <p:tgtEl>
                                          <p:spTgt spid="20"/>
                                        </p:tgtEl>
                                        <p:attrNameLst>
                                          <p:attrName>style.visibility</p:attrName>
                                        </p:attrNameLst>
                                      </p:cBhvr>
                                      <p:to>
                                        <p:strVal val="visible"/>
                                      </p:to>
                                    </p:set>
                                    <p:animEffect transition="in" filter="fade">
                                      <p:cBhvr>
                                        <p:cTn id="39" dur="500"/>
                                        <p:tgtEl>
                                          <p:spTgt spid="20"/>
                                        </p:tgtEl>
                                      </p:cBhvr>
                                    </p:animEffect>
                                  </p:childTnLst>
                                </p:cTn>
                              </p:par>
                              <p:par>
                                <p:cTn id="40" presetID="10" presetClass="entr" presetSubtype="0" fill="hold" grpId="0" nodeType="withEffect">
                                  <p:stCondLst>
                                    <p:cond delay="0"/>
                                  </p:stCondLst>
                                  <p:childTnLst>
                                    <p:set>
                                      <p:cBhvr>
                                        <p:cTn id="41" dur="1" fill="hold">
                                          <p:stCondLst>
                                            <p:cond delay="0"/>
                                          </p:stCondLst>
                                        </p:cTn>
                                        <p:tgtEl>
                                          <p:spTgt spid="21"/>
                                        </p:tgtEl>
                                        <p:attrNameLst>
                                          <p:attrName>style.visibility</p:attrName>
                                        </p:attrNameLst>
                                      </p:cBhvr>
                                      <p:to>
                                        <p:strVal val="visible"/>
                                      </p:to>
                                    </p:set>
                                    <p:animEffect transition="in" filter="fade">
                                      <p:cBhvr>
                                        <p:cTn id="42" dur="500"/>
                                        <p:tgtEl>
                                          <p:spTgt spid="21"/>
                                        </p:tgtEl>
                                      </p:cBhvr>
                                    </p:animEffect>
                                  </p:childTnLst>
                                </p:cTn>
                              </p:par>
                              <p:par>
                                <p:cTn id="43" presetID="10" presetClass="entr" presetSubtype="0" fill="hold" grpId="0" nodeType="withEffect">
                                  <p:stCondLst>
                                    <p:cond delay="0"/>
                                  </p:stCondLst>
                                  <p:childTnLst>
                                    <p:set>
                                      <p:cBhvr>
                                        <p:cTn id="44" dur="1" fill="hold">
                                          <p:stCondLst>
                                            <p:cond delay="0"/>
                                          </p:stCondLst>
                                        </p:cTn>
                                        <p:tgtEl>
                                          <p:spTgt spid="22"/>
                                        </p:tgtEl>
                                        <p:attrNameLst>
                                          <p:attrName>style.visibility</p:attrName>
                                        </p:attrNameLst>
                                      </p:cBhvr>
                                      <p:to>
                                        <p:strVal val="visible"/>
                                      </p:to>
                                    </p:set>
                                    <p:animEffect transition="in" filter="fade">
                                      <p:cBhvr>
                                        <p:cTn id="45" dur="500"/>
                                        <p:tgtEl>
                                          <p:spTgt spid="22"/>
                                        </p:tgtEl>
                                      </p:cBhvr>
                                    </p:animEffect>
                                  </p:childTnLst>
                                </p:cTn>
                              </p:par>
                              <p:par>
                                <p:cTn id="46" presetID="10" presetClass="entr" presetSubtype="0" fill="hold" grpId="0" nodeType="withEffect">
                                  <p:stCondLst>
                                    <p:cond delay="0"/>
                                  </p:stCondLst>
                                  <p:childTnLst>
                                    <p:set>
                                      <p:cBhvr>
                                        <p:cTn id="47" dur="1" fill="hold">
                                          <p:stCondLst>
                                            <p:cond delay="0"/>
                                          </p:stCondLst>
                                        </p:cTn>
                                        <p:tgtEl>
                                          <p:spTgt spid="23"/>
                                        </p:tgtEl>
                                        <p:attrNameLst>
                                          <p:attrName>style.visibility</p:attrName>
                                        </p:attrNameLst>
                                      </p:cBhvr>
                                      <p:to>
                                        <p:strVal val="visible"/>
                                      </p:to>
                                    </p:set>
                                    <p:animEffect transition="in" filter="fade">
                                      <p:cBhvr>
                                        <p:cTn id="48" dur="500"/>
                                        <p:tgtEl>
                                          <p:spTgt spid="23"/>
                                        </p:tgtEl>
                                      </p:cBhvr>
                                    </p:animEffect>
                                  </p:childTnLst>
                                </p:cTn>
                              </p:par>
                              <p:par>
                                <p:cTn id="49" presetID="10" presetClass="entr" presetSubtype="0" fill="hold" grpId="0" nodeType="withEffect">
                                  <p:stCondLst>
                                    <p:cond delay="0"/>
                                  </p:stCondLst>
                                  <p:childTnLst>
                                    <p:set>
                                      <p:cBhvr>
                                        <p:cTn id="50" dur="1" fill="hold">
                                          <p:stCondLst>
                                            <p:cond delay="0"/>
                                          </p:stCondLst>
                                        </p:cTn>
                                        <p:tgtEl>
                                          <p:spTgt spid="24"/>
                                        </p:tgtEl>
                                        <p:attrNameLst>
                                          <p:attrName>style.visibility</p:attrName>
                                        </p:attrNameLst>
                                      </p:cBhvr>
                                      <p:to>
                                        <p:strVal val="visible"/>
                                      </p:to>
                                    </p:set>
                                    <p:animEffect transition="in" filter="fade">
                                      <p:cBhvr>
                                        <p:cTn id="51" dur="500"/>
                                        <p:tgtEl>
                                          <p:spTgt spid="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Reunión preparación Espacio Datos EJIE País Vasco</dc:title>
  <dc:subject>European Health Data Space: eight answers and the Euskadi pilot</dc:subject>
  <dc:creator>Matthias Buchhorn</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